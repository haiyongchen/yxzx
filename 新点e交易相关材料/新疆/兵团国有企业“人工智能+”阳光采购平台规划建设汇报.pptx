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1"/>
  </p:handoutMasterIdLst>
  <p:sldIdLst>
    <p:sldId id="8156" r:id="rId3"/>
    <p:sldId id="8245" r:id="rId5"/>
    <p:sldId id="8282" r:id="rId6"/>
    <p:sldId id="8353" r:id="rId7"/>
    <p:sldId id="8356" r:id="rId8"/>
    <p:sldId id="8354" r:id="rId9"/>
    <p:sldId id="8355" r:id="rId10"/>
    <p:sldId id="8357" r:id="rId11"/>
    <p:sldId id="8346" r:id="rId12"/>
    <p:sldId id="8358" r:id="rId13"/>
    <p:sldId id="8362" r:id="rId14"/>
    <p:sldId id="8364" r:id="rId15"/>
    <p:sldId id="8365" r:id="rId16"/>
    <p:sldId id="8350" r:id="rId17"/>
    <p:sldId id="8361" r:id="rId18"/>
    <p:sldId id="8368" r:id="rId19"/>
    <p:sldId id="8163" r:id="rId20"/>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3999" userDrawn="1">
          <p15:clr>
            <a:srgbClr val="A4A3A4"/>
          </p15:clr>
        </p15:guide>
        <p15:guide id="4" pos="3952" userDrawn="1">
          <p15:clr>
            <a:srgbClr val="A4A3A4"/>
          </p15:clr>
        </p15:guide>
        <p15:guide id="6" pos="73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 yu" initials="zy" lastIdx="1" clrIdx="0"/>
  <p:cmAuthor id="2" name="微软用户" initials="微软用户" lastIdx="0" clrIdx="1"/>
  <p:cmAuthor id="3" name="Yiheng Qin" initials="Y" lastIdx="0" clrIdx="2"/>
  <p:cmAuthor id="4" name="Administrator" initials="A" lastIdx="0" clrIdx="3"/>
  <p:cmAuthor id="5" name="dengzhifang" initials="d" lastIdx="0" clrIdx="4"/>
  <p:cmAuthor id="6" name="Deakin" initials="D" lastIdx="0" clrIdx="5"/>
  <p:cmAuthor id="7" name="任 雨" initials="任" lastIdx="0" clrIdx="6"/>
  <p:cmAuthor id="8" name="huangyang" initials="h" lastIdx="0" clrIdx="7"/>
  <p:cmAuthor id="9" name="大洋悍马" initials="大" lastIdx="0" clrIdx="8"/>
  <p:cmAuthor id="10" name="Xue_峰" initials="X" lastIdx="0" clrIdx="9"/>
  <p:cmAuthor id="11" name="David_Q" initials="D" lastIdx="0" clrIdx="10"/>
  <p:cmAuthor id="12" name="刘硕" initials="刘" lastIdx="0" clrIdx="11"/>
  <p:cmAuthor id="13" name="zhangzhihao" initials="z" lastIdx="0" clrIdx="12"/>
  <p:cmAuthor id="14" name="Bevan" initials="B" lastIdx="0" clrIdx="13"/>
  <p:cmAuthor id="15" name="dou" initials="d" lastIdx="0" clrIdx="14"/>
  <p:cmAuthor id="16" name="cici" initials="c" lastIdx="0" clrIdx="15"/>
  <p:cmAuthor id="17" name="魏桦10133034" initials="魏桦10133034" lastIdx="0" clrIdx="16"/>
  <p:cmAuthor id="18" name="00110427" initials="0" lastIdx="0" clrIdx="17"/>
  <p:cmAuthor id="19" name="肖亚民10027915" initials="肖亚民10027915" lastIdx="0" clrIdx="18"/>
  <p:cmAuthor id="20" name="lshuyu" initials="l" lastIdx="0" clrIdx="19"/>
  <p:cmAuthor id="21" name="28048" initials="2" lastIdx="0" clrIdx="20"/>
  <p:cmAuthor id="22" name="10066351" initials="1" lastIdx="0" clrIdx="21"/>
  <p:cmAuthor id="23" name="张鹏翔10263117" initials="张" lastIdx="0" clrIdx="22"/>
  <p:cmAuthor id="24" name="sjun" initials="s" lastIdx="0" clrIdx="23"/>
  <p:cmAuthor id="25" name="李楠10047711" initials="李楠10047711" lastIdx="0" clrIdx="24"/>
  <p:cmAuthor id="26" name="作者" initials="A" lastIdx="0" clrIdx="25"/>
  <p:cmAuthor id="27" name="chai elaine" initials="ce" lastIdx="0" clrIdx="26"/>
  <p:cmAuthor id="28" name="张 留鹏" initials="张" lastIdx="0" clrIdx="27"/>
  <p:cmAuthor id="29" name="黄峰" initials="黄峰" lastIdx="0" clrIdx="28"/>
  <p:cmAuthor id="30" name="l gf" initials="lg" lastIdx="0" clrIdx="29"/>
  <p:cmAuthor id="31" name="Author" initials="A" lastIdx="0" clrIdx="30"/>
  <p:cmAuthor id="32" name="James" initials="J" lastIdx="0" clrIdx="31"/>
  <p:cmAuthor id="33" name="NTKO" initials="binw" lastIdx="0" clrIdx="32"/>
  <p:cmAuthor id="34" name="超 谢" initials="超谢" lastIdx="0" clrIdx="33"/>
  <p:cmAuthor id="35" name="dingyuemei" initials="d" lastIdx="0" clrIdx="34"/>
  <p:cmAuthor id="36" name="449030419@qq.com" initials="4" lastIdx="0" clrIdx="35"/>
  <p:cmAuthor id="37" name="lgp" initials="l" lastIdx="0" clrIdx="36"/>
  <p:cmAuthor id="38" name="系统管理" initials="系" lastIdx="0" clrIdx="37"/>
  <p:cmAuthor id="39" name="未知用户89" initials="未" lastIdx="0" clrIdx="38"/>
  <p:cmAuthor id="40" name="songchunhua" initials="s" lastIdx="0" clrIdx="39"/>
  <p:cmAuthor id="41" name="11" initials="1" lastIdx="0" clrIdx="40"/>
  <p:cmAuthor id="42" name="宋春华" initials="宋" lastIdx="0" clrIdx="41"/>
  <p:cmAuthor id="43" name="lixiaosong" initials="l" lastIdx="0" clrIdx="42"/>
  <p:cmAuthor id="44" name="未知用户78" initials="未" lastIdx="0" clrIdx="43"/>
  <p:cmAuthor id="45" name="yanqiqi-lgd" initials="y" lastIdx="0" clrIdx="44"/>
  <p:cmAuthor id="46" name="番茄花园" initials="番" lastIdx="0" clrIdx="45"/>
  <p:cmAuthor id="47" name="zq" initials="z" lastIdx="0" clrIdx="46"/>
  <p:cmAuthor id="48" name="吕永朋" initials="吕" lastIdx="0" clrIdx="47"/>
  <p:cmAuthor id="49" name="宋大凡奥里给" initials="宋" lastIdx="0" clrIdx="48"/>
  <p:cmAuthor id="50" name="殷格非" initials="殷" lastIdx="0" clrIdx="49"/>
  <p:cmAuthor id="51" name="10247451" initials="1" lastIdx="0" clrIdx="50"/>
  <p:cmAuthor id="52" name="z r" initials="z" lastIdx="0" clrIdx="51"/>
  <p:cmAuthor id="53" name="孟伟伟" initials="孟" lastIdx="0" clrIdx="52"/>
  <p:cmAuthor id="54" name="65191" initials="6" lastIdx="0" clrIdx="53"/>
  <p:cmAuthor id="55" name="Epoint" initials="E" lastIdx="0" clrIdx="54"/>
  <p:cmAuthor id="56" name="10012269" initials="1" lastIdx="0" clrIdx="55"/>
  <p:cmAuthor id="57" name="倪 成" initials="N" lastIdx="0" clrIdx="56"/>
  <p:cmAuthor id="58" name="ksing" initials="k" lastIdx="0" clrIdx="57"/>
  <p:cmAuthor id="59" name="黄佳灵" initials="黄" lastIdx="0" clrIdx="58"/>
  <p:cmAuthor id="60" name="xiaoxin" initials="x" lastIdx="0" clrIdx="59"/>
  <p:cmAuthor id="61" name="10270945" initials="1" lastIdx="0" clrIdx="60"/>
  <p:cmAuthor id="62" name="yuan" initials="y" lastIdx="0" clrIdx="61"/>
  <p:cmAuthor id="63" name="YXB" initials="Y" lastIdx="0" clrIdx="62"/>
  <p:cmAuthor id="64" name="wisdo" initials="w" lastIdx="0" clrIdx="63"/>
  <p:cmAuthor id="65" name="31595" initials="3" lastIdx="0" clrIdx="64"/>
  <p:cmAuthor id="66" name="未知用户21" initials="未" lastIdx="0" clrIdx="65"/>
  <p:cmAuthor id="67" name="王 胜利" initials="王" lastIdx="0" clrIdx="66"/>
  <p:cmAuthor id="68" name="feng xingbo" initials="fx" lastIdx="0" clrIdx="67"/>
  <p:cmAuthor id="69" name="fei Ren" initials="fR" lastIdx="0" clrIdx="68"/>
  <p:cmAuthor id="70" name="艾thinkpad" initials="艾" lastIdx="0" clrIdx="69"/>
  <p:cmAuthor id="71" name="ZW183UX" initials="Z" lastIdx="0" clrIdx="70"/>
  <p:cmAuthor id="72" name="常双龙" initials="常" lastIdx="0" clrIdx="71"/>
  <p:cmAuthor id="73" name="J" initials="J" lastIdx="0" clrIdx="72"/>
  <p:cmAuthor id="74" name="ZhouYang" initials="Z" lastIdx="0" clrIdx="73"/>
  <p:cmAuthor id="75" name="何杰" initials="何" lastIdx="0" clrIdx="74"/>
  <p:cmAuthor id="76" name="Evonlin" initials="E" lastIdx="0" clrIdx="75"/>
  <p:cmAuthor id="77" name="柯 少鹏" initials="柯" lastIdx="0" clrIdx="76"/>
  <p:cmAuthor id="78" name="Xiang" initials="X" lastIdx="0" clrIdx="77"/>
  <p:cmAuthor id="79" name="张黎明" initials="张" lastIdx="0" clrIdx="78"/>
  <p:cmAuthor id="80" name="孙现民" initials="孙" lastIdx="0" clrIdx="79"/>
  <p:cmAuthor id="81" name="王许培01" initials="王" lastIdx="0" clrIdx="80"/>
  <p:cmAuthor id="82" name="Q Q" initials="Q" lastIdx="0" clrIdx="81"/>
  <p:cmAuthor id="83" name="柳 先涛" initials="柳" lastIdx="0" clrIdx="82"/>
  <p:cmAuthor id="84" name="李寄思" initials="李" lastIdx="0" clrIdx="83"/>
  <p:cmAuthor id="85" name="张逸晨" initials="张" lastIdx="0" clrIdx="84"/>
  <p:cmAuthor id="86" name="wn" initials="w" lastIdx="0" clrIdx="85"/>
  <p:cmAuthor id="87" name="岳文甲" initials="岳" lastIdx="0" clrIdx="86"/>
  <p:cmAuthor id="88" name="黄晓平" initials="黄" lastIdx="0" clrIdx="87"/>
  <p:cmAuthor id="89" name="Picc" initials="P" lastIdx="0" clrIdx="88"/>
  <p:cmAuthor id="90" name="张 宇" initials="张" lastIdx="0" clrIdx="89"/>
  <p:cmAuthor id="91" name="guoge" initials="g" lastIdx="0" clrIdx="90"/>
  <p:cmAuthor id="92" name="未知用户10" initials="未" lastIdx="0" clrIdx="91"/>
  <p:cmAuthor id="93" name="东方_b3dea543bad08e97" initials="authorId_278826930" lastIdx="0" clrIdx="92"/>
  <p:cmAuthor id="94" name="wangchao" initials="w" lastIdx="0" clrIdx="93"/>
  <p:cmAuthor id="95" name="Ella Dong" initials="ED" lastIdx="0" clrIdx="94"/>
  <p:cmAuthor id="96" name="欧 志芳" initials="欧" lastIdx="0" clrIdx="95"/>
  <p:cmAuthor id="97" name="shenziqi" initials="s" lastIdx="0" clrIdx="96"/>
  <p:cmAuthor id="98" name="ida" initials="i" lastIdx="0" clrIdx="97"/>
  <p:cmAuthor id="99" name="exfeng" initials="e" lastIdx="0" clrIdx="98"/>
  <p:cmAuthor id="100" name="Office" initials="O" lastIdx="0" clrIdx="99"/>
  <p:cmAuthor id="101" name="仝德志" initials="仝" lastIdx="0" clrIdx="100"/>
  <p:cmAuthor id="102" name="韩冰" initials="韩" lastIdx="0" clrIdx="101"/>
  <p:cmAuthor id="103" name="caoyq0624" initials="c" lastIdx="0" clrIdx="102"/>
  <p:cmAuthor id="104" name="张妍" initials="张" lastIdx="0" clrIdx="103"/>
  <p:cmAuthor id="105" name="Windows 用户" initials="W" lastIdx="0" clrIdx="104"/>
  <p:cmAuthor id="106" name="minty minty" initials="m" lastIdx="0" clrIdx="105"/>
  <p:cmAuthor id="107" name="Windows" initials="W" lastIdx="0" clrIdx="106"/>
  <p:cmAuthor id="108" name="季玉洁" initials="季" lastIdx="0" clrIdx="107"/>
  <p:cmAuthor id="109" name="松 李" initials="松" lastIdx="0" clrIdx="108"/>
  <p:cmAuthor id="110" name="杨姗" initials="杨" lastIdx="0" clrIdx="109"/>
  <p:cmAuthor id="111" name="续晓婧" initials="续" lastIdx="0" clrIdx="110"/>
  <p:cmAuthor id="112" name="cpic" initials="c" lastIdx="0" clrIdx="111"/>
  <p:cmAuthor id="113" name="董苗苗" initials="董" lastIdx="0" clrIdx="112"/>
  <p:cmAuthor id="114" name="AutoBVT" initials="A" lastIdx="0" clrIdx="113"/>
  <p:cmAuthor id="115" name="91huhang" initials="9" lastIdx="0" clrIdx="114"/>
  <p:cmAuthor id="116" name="Wang, Cherry-J" initials="W" lastIdx="0" clrIdx="115"/>
  <p:cmAuthor id="117" name="HP" initials="H" lastIdx="0" clrIdx="116"/>
  <p:cmAuthor id="118" name="jxgy15" initials="j" lastIdx="0" clrIdx="117"/>
  <p:cmAuthor id="119" name="幺以谦" initials="幺" lastIdx="0" clrIdx="118"/>
  <p:cmAuthor id="120" name="徐 宁" initials="徐" lastIdx="0" clrIdx="119"/>
  <p:cmAuthor id="121" name="QBOSSCHEN" initials="Q" lastIdx="0" clrIdx="120"/>
  <p:cmAuthor id="122" name="pangyt" initials="p" lastIdx="0" clrIdx="121"/>
  <p:cmAuthor id="123" name="小延魔法师" initials="小" lastIdx="0" clrIdx="122"/>
  <p:cmAuthor id="124" name="xuqing" initials="x" lastIdx="0" clrIdx="123"/>
  <p:cmAuthor id="125" name="况 年虎" initials="况" lastIdx="0" clrIdx="124"/>
  <p:cmAuthor id="126" name="DELL" initials="D" lastIdx="0" clrIdx="125"/>
  <p:cmAuthor id="127" name="冯江宁" initials="U" lastIdx="0" clrIdx="126"/>
  <p:cmAuthor id="128" name="宋 歌" initials="宋" lastIdx="0" clrIdx="127"/>
  <p:cmAuthor id="129" name="顾超" initials="顾" lastIdx="0" clrIdx="128"/>
  <p:cmAuthor id="130" name="SHIRE" initials="S" lastIdx="0" clrIdx="129"/>
  <p:cmAuthor id="131" name="zhu li" initials="zl" lastIdx="0" clrIdx="130"/>
  <p:cmAuthor id="132" name="74192" initials="7" lastIdx="0" clrIdx="131"/>
  <p:cmAuthor id="133" name="dzf" initials="d" lastIdx="0" clrIdx="132"/>
  <p:cmAuthor id="134" name="8615995992029" initials="8" lastIdx="0" clrIdx="133"/>
  <p:cmAuthor id="135" name="周俊秀" initials="周" lastIdx="0" clrIdx="134"/>
  <p:cmAuthor id="136" name="Lau" initials="L" lastIdx="0" clrIdx="135"/>
  <p:cmAuthor id="137" name="hwd" initials="hwd" lastIdx="0" clrIdx="136"/>
  <p:cmAuthor id="138" name="CREO" initials="C" lastIdx="0" clrIdx="137"/>
  <p:cmAuthor id="139" name="xiaomx" initials="x" lastIdx="0" clrIdx="138"/>
  <p:cmAuthor id="140" name="林 蒋" initials="林" lastIdx="0" clrIdx="139"/>
  <p:cmAuthor id="141" name="a big world" initials="WU" lastIdx="0" clrIdx="140"/>
  <p:cmAuthor id="142" name="leo zsw" initials="lz" lastIdx="0" clrIdx="141"/>
  <p:cmAuthor id="143" name="LuJianPC" initials="L" lastIdx="0" clrIdx="142"/>
  <p:cmAuthor id="144" name="14270" initials="1" lastIdx="0" clrIdx="143"/>
  <p:cmAuthor id="145" name="hm" initials="h" lastIdx="0" clrIdx="144"/>
  <p:cmAuthor id="146" name="ZJK" initials="Z" lastIdx="0" clrIdx="145"/>
  <p:cmAuthor id="147" name="Microsoft" initials="M" lastIdx="0" clrIdx="146"/>
  <p:cmAuthor id="148" name="WPS_1679281038" initials="W" lastIdx="0" clrIdx="147"/>
  <p:cmAuthor id="149" name="我心飞翔" initials="我" lastIdx="0" clrIdx="148"/>
  <p:cmAuthor id="150" name="绿豆" initials="绿" lastIdx="0" clrIdx="149"/>
  <p:cmAuthor id="151" name="顾 思文" initials="顾" lastIdx="0" clrIdx="150"/>
  <p:cmAuthor id="152" name="15995997208@126.com" initials="1" lastIdx="0" clrIdx="151"/>
  <p:cmAuthor id="153" name="david" initials="d" lastIdx="0" clrIdx="152"/>
  <p:cmAuthor id="154" name="44697" initials="4" lastIdx="0" clrIdx="153"/>
  <p:cmAuthor id="155" name="Mr_Sun" initials="M" lastIdx="0" clrIdx="154"/>
  <p:cmAuthor id="156" name="huawei" initials="h" lastIdx="0" clrIdx="155"/>
  <p:cmAuthor id="157" name="asus" initials="a" lastIdx="0" clrIdx="156"/>
  <p:cmAuthor id="158" name="范颖捷" initials="Fanyj" lastIdx="0" clrIdx="157"/>
  <p:cmAuthor id="159" name="未知用户1" initials="未知用户1" lastIdx="0" clrIdx="158"/>
  <p:cmAuthor id="160" name="文辉 黄" initials="文黄" lastIdx="0" clrIdx="159"/>
  <p:cmAuthor id="161" name="Xsong" initials="X" lastIdx="0" clrIdx="160"/>
  <p:cmAuthor id="162" name="963678744@qq.com" initials="9" lastIdx="0" clrIdx="161"/>
  <p:cmAuthor id="163" name="96367" initials="9" lastIdx="0" clrIdx="162"/>
  <p:cmAuthor id="164" name="陈冲" initials="CC" lastIdx="0" clrIdx="163"/>
  <p:cmAuthor id="165" name="CMCC" initials="C" lastIdx="0" clrIdx="164"/>
  <p:cmAuthor id="166" name="轩轩轩" initials="轩" lastIdx="0" clrIdx="165"/>
  <p:cmAuthor id="167" name="WPS" initials="W" lastIdx="0" clrIdx="166"/>
  <p:cmAuthor id="168" name="mz5296" initials="m" lastIdx="0" clrIdx="16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DCFC"/>
    <a:srgbClr val="1654B5"/>
    <a:srgbClr val="65AFBE"/>
    <a:srgbClr val="4472C4"/>
    <a:srgbClr val="104596"/>
    <a:srgbClr val="7194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93" autoAdjust="0"/>
  </p:normalViewPr>
  <p:slideViewPr>
    <p:cSldViewPr snapToGrid="0" showGuides="1">
      <p:cViewPr>
        <p:scale>
          <a:sx n="29" d="100"/>
          <a:sy n="29" d="100"/>
        </p:scale>
        <p:origin x="1644" y="1096"/>
      </p:cViewPr>
      <p:guideLst>
        <p:guide orient="horz" pos="3999"/>
        <p:guide pos="3952"/>
        <p:guide pos="7344"/>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84.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zh-CN" sz="1080" b="0" i="0" u="none" strike="noStrike" kern="1200" spc="0" baseline="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defRPr>
            </a:pPr>
            <a:r>
              <a:rPr lang="zh-CN" dirty="0"/>
              <a:t>超过</a:t>
            </a:r>
            <a:r>
              <a:rPr lang="zh-CN" altLang="en-US" dirty="0"/>
              <a:t>四</a:t>
            </a:r>
            <a:r>
              <a:rPr lang="zh-CN" dirty="0"/>
              <a:t>成央国企数字化采购比例超过</a:t>
            </a:r>
            <a:r>
              <a:rPr lang="en-US" dirty="0"/>
              <a:t>50%</a:t>
            </a:r>
            <a:endParaRPr lang="en-US" dirty="0"/>
          </a:p>
        </c:rich>
      </c:tx>
      <c:layout>
        <c:manualLayout>
          <c:xMode val="edge"/>
          <c:yMode val="edge"/>
          <c:x val="0.115699825144261"/>
          <c:y val="0.879938564582872"/>
        </c:manualLayout>
      </c:layout>
      <c:overlay val="0"/>
      <c:spPr>
        <a:noFill/>
        <a:ln>
          <a:noFill/>
        </a:ln>
        <a:effectLst/>
      </c:spPr>
    </c:title>
    <c:autoTitleDeleted val="0"/>
    <c:plotArea>
      <c:layout>
        <c:manualLayout>
          <c:layoutTarget val="inner"/>
          <c:xMode val="edge"/>
          <c:yMode val="edge"/>
          <c:x val="0.196661208175686"/>
          <c:y val="0.219023114974782"/>
          <c:w val="0.550133672181256"/>
          <c:h val="0.623448052695065"/>
        </c:manualLayout>
      </c:layout>
      <c:pieChart>
        <c:varyColors val="1"/>
        <c:ser>
          <c:idx val="0"/>
          <c:order val="0"/>
          <c:tx>
            <c:strRef>
              <c:f>Sheet1!$B$1</c:f>
              <c:strCache>
                <c:ptCount val="1"/>
                <c:pt idx="0">
                  <c:v>销售额</c:v>
                </c:pt>
              </c:strCache>
            </c:strRef>
          </c:tx>
          <c:spPr/>
          <c:explosion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defRPr>
                </a:pPr>
              </a:p>
            </c:txPr>
            <c:dLblPos val="ct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20%以下</c:v>
                </c:pt>
                <c:pt idx="1">
                  <c:v>20%~50%</c:v>
                </c:pt>
                <c:pt idx="2">
                  <c:v>50%~80%</c:v>
                </c:pt>
                <c:pt idx="3">
                  <c:v>80%以上</c:v>
                </c:pt>
              </c:strCache>
            </c:strRef>
          </c:cat>
          <c:val>
            <c:numRef>
              <c:f>Sheet1!$B$2:$B$5</c:f>
              <c:numCache>
                <c:formatCode>0%</c:formatCode>
                <c:ptCount val="4"/>
                <c:pt idx="0">
                  <c:v>0.12</c:v>
                </c:pt>
                <c:pt idx="1">
                  <c:v>0.4352</c:v>
                </c:pt>
                <c:pt idx="2">
                  <c:v>0.2697</c:v>
                </c:pt>
                <c:pt idx="3">
                  <c:v>0.1661</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defRPr>
            </a:pPr>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defRPr>
            </a:pPr>
          </a:p>
        </c:txPr>
      </c:legendEntry>
      <c:legendEntry>
        <c:idx val="2"/>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defRPr>
            </a:pPr>
          </a:p>
        </c:txPr>
      </c:legendEntry>
      <c:legendEntry>
        <c:idx val="3"/>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defRPr>
            </a:pPr>
          </a:p>
        </c:txPr>
      </c:legendEntry>
      <c:layout>
        <c:manualLayout>
          <c:xMode val="edge"/>
          <c:yMode val="edge"/>
          <c:x val="0.0635143955455864"/>
          <c:y val="0.13250123281211"/>
          <c:w val="0.899999712708897"/>
          <c:h val="0.0872197439903499"/>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defRPr>
          </a:pPr>
        </a:p>
      </c:txPr>
    </c:legend>
    <c:plotVisOnly val="1"/>
    <c:dispBlanksAs val="gap"/>
    <c:showDLblsOverMax val="0"/>
    <c:extLst>
      <c:ext uri="{0b15fc19-7d7d-44ad-8c2d-2c3a37ce22c3}">
        <chartProps xmlns="https://web.wps.cn/et/2018/main" chartId="{f1e96f6a-e114-4282-8061-258d5bf014d4}"/>
      </c:ext>
    </c:extLst>
  </c:chart>
  <c:spPr>
    <a:noFill/>
    <a:ln>
      <a:noFill/>
    </a:ln>
    <a:effectLst/>
  </c:spPr>
  <c:txPr>
    <a:bodyPr/>
    <a:lstStyle/>
    <a:p>
      <a:pPr>
        <a:defRPr lang="zh-CN" sz="90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微软雅黑" panose="020B0503020204020204" charset="-122"/>
              </a:rPr>
            </a:fld>
            <a:endParaRPr lang="zh-CN" altLang="en-US">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微软雅黑" panose="020B0503020204020204" charset="-122"/>
              </a:rPr>
            </a:fld>
            <a:endParaRPr lang="zh-CN" altLang="en-US">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6B1C5DCE-B6B3-427A-A8D9-9DBDBE01057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23B2051E-B18C-4B0D-AA70-D0E60443A1C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我们先从国家宏观层面来看，从最早</a:t>
            </a:r>
            <a:r>
              <a:rPr lang="en-US" altLang="zh-CN"/>
              <a:t>2014</a:t>
            </a:r>
            <a:r>
              <a:rPr lang="zh-CN" altLang="en-US"/>
              <a:t>年国家发布电子招投标法以来，企业侧，尤其是央国企，主要是国务院国资委基本上也是每年都会下发一些数字化改革的通知要求</a:t>
            </a:r>
            <a:endParaRPr lang="zh-CN" altLang="en-US"/>
          </a:p>
          <a:p>
            <a:r>
              <a:rPr lang="zh-CN" altLang="en-US"/>
              <a:t>比如：</a:t>
            </a:r>
            <a:endParaRPr lang="zh-CN" altLang="en-US"/>
          </a:p>
          <a:p>
            <a:r>
              <a:rPr lang="en-US" altLang="zh-CN"/>
              <a:t>1</a:t>
            </a:r>
            <a:r>
              <a:rPr lang="zh-CN" altLang="en-US"/>
              <a:t>、</a:t>
            </a:r>
            <a:r>
              <a:rPr lang="en-US" altLang="zh-CN"/>
              <a:t>2015</a:t>
            </a:r>
            <a:r>
              <a:rPr lang="zh-CN" altLang="en-US"/>
              <a:t>年</a:t>
            </a:r>
            <a:r>
              <a:rPr lang="en-US" altLang="zh-CN"/>
              <a:t> </a:t>
            </a:r>
            <a:r>
              <a:rPr lang="zh-CN" altLang="en-US"/>
              <a:t>下发的关于开展</a:t>
            </a:r>
            <a:r>
              <a:rPr lang="zh-CN" altLang="en-US" b="1" dirty="0">
                <a:ln>
                  <a:noFill/>
                </a:ln>
                <a:solidFill>
                  <a:srgbClr val="0070C0"/>
                </a:solidFill>
                <a:cs typeface="+mn-ea"/>
                <a:sym typeface="+mn-lt"/>
              </a:rPr>
              <a:t>采购管理提升对标工作要求，四率</a:t>
            </a:r>
            <a:r>
              <a:rPr lang="en-US" altLang="zh-CN" b="1" dirty="0">
                <a:ln>
                  <a:noFill/>
                </a:ln>
                <a:solidFill>
                  <a:srgbClr val="0070C0"/>
                </a:solidFill>
                <a:cs typeface="+mn-ea"/>
                <a:sym typeface="+mn-lt"/>
              </a:rPr>
              <a:t>80%</a:t>
            </a:r>
            <a:r>
              <a:rPr lang="zh-CN" altLang="en-US" b="1" dirty="0">
                <a:ln>
                  <a:noFill/>
                </a:ln>
                <a:solidFill>
                  <a:srgbClr val="0070C0"/>
                </a:solidFill>
                <a:cs typeface="+mn-ea"/>
                <a:sym typeface="+mn-lt"/>
              </a:rPr>
              <a:t>的指标要求</a:t>
            </a:r>
            <a:endParaRPr lang="zh-CN" altLang="en-US" b="1" dirty="0">
              <a:ln>
                <a:noFill/>
              </a:ln>
              <a:solidFill>
                <a:srgbClr val="0070C0"/>
              </a:solidFill>
              <a:cs typeface="+mn-ea"/>
              <a:sym typeface="+mn-lt"/>
            </a:endParaRPr>
          </a:p>
          <a:p>
            <a:r>
              <a:rPr lang="en-US" altLang="zh-CN" dirty="0">
                <a:ln>
                  <a:noFill/>
                </a:ln>
                <a:solidFill>
                  <a:srgbClr val="0070C0"/>
                </a:solidFill>
                <a:cs typeface="+mn-ea"/>
                <a:sym typeface="+mn-lt"/>
              </a:rPr>
              <a:t>2</a:t>
            </a:r>
            <a:r>
              <a:rPr lang="zh-CN" altLang="en-US" dirty="0">
                <a:ln>
                  <a:noFill/>
                </a:ln>
                <a:solidFill>
                  <a:srgbClr val="0070C0"/>
                </a:solidFill>
                <a:cs typeface="+mn-ea"/>
                <a:sym typeface="+mn-lt"/>
              </a:rPr>
              <a:t>、</a:t>
            </a:r>
            <a:r>
              <a:rPr lang="en-US" altLang="zh-CN" dirty="0">
                <a:ln>
                  <a:noFill/>
                </a:ln>
                <a:solidFill>
                  <a:srgbClr val="0070C0"/>
                </a:solidFill>
                <a:cs typeface="+mn-ea"/>
                <a:sym typeface="+mn-lt"/>
              </a:rPr>
              <a:t>2020</a:t>
            </a:r>
            <a:r>
              <a:rPr lang="zh-CN" altLang="en-US" dirty="0">
                <a:ln>
                  <a:noFill/>
                </a:ln>
                <a:solidFill>
                  <a:srgbClr val="0070C0"/>
                </a:solidFill>
                <a:cs typeface="+mn-ea"/>
                <a:sym typeface="+mn-lt"/>
              </a:rPr>
              <a:t>年</a:t>
            </a:r>
            <a:r>
              <a:rPr lang="en-US" altLang="zh-CN" dirty="0">
                <a:ln>
                  <a:noFill/>
                </a:ln>
                <a:solidFill>
                  <a:srgbClr val="0070C0"/>
                </a:solidFill>
                <a:cs typeface="+mn-ea"/>
                <a:sym typeface="+mn-lt"/>
              </a:rPr>
              <a:t> </a:t>
            </a:r>
            <a:r>
              <a:rPr lang="zh-CN" altLang="en-US" dirty="0">
                <a:ln>
                  <a:noFill/>
                </a:ln>
                <a:solidFill>
                  <a:srgbClr val="0070C0"/>
                </a:solidFill>
                <a:cs typeface="+mn-ea"/>
                <a:sym typeface="+mn-lt"/>
              </a:rPr>
              <a:t>加快国有企业的数字化转型</a:t>
            </a:r>
            <a:r>
              <a:rPr lang="en-US" altLang="zh-CN" dirty="0">
                <a:ln>
                  <a:noFill/>
                </a:ln>
                <a:solidFill>
                  <a:srgbClr val="0070C0"/>
                </a:solidFill>
                <a:cs typeface="+mn-ea"/>
                <a:sym typeface="+mn-lt"/>
              </a:rPr>
              <a:t> </a:t>
            </a:r>
            <a:r>
              <a:rPr lang="zh-CN" altLang="en-US" dirty="0">
                <a:ln>
                  <a:noFill/>
                </a:ln>
                <a:solidFill>
                  <a:srgbClr val="0070C0"/>
                </a:solidFill>
                <a:cs typeface="+mn-ea"/>
                <a:sym typeface="+mn-lt"/>
              </a:rPr>
              <a:t>通知要求</a:t>
            </a:r>
            <a:endParaRPr lang="zh-CN" altLang="en-US" dirty="0">
              <a:ln>
                <a:noFill/>
              </a:ln>
              <a:solidFill>
                <a:srgbClr val="0070C0"/>
              </a:solidFill>
              <a:cs typeface="+mn-ea"/>
              <a:sym typeface="+mn-lt"/>
            </a:endParaRPr>
          </a:p>
          <a:p>
            <a:r>
              <a:rPr lang="en-US" altLang="zh-CN" dirty="0">
                <a:ln>
                  <a:noFill/>
                </a:ln>
                <a:solidFill>
                  <a:srgbClr val="0070C0"/>
                </a:solidFill>
                <a:cs typeface="+mn-ea"/>
                <a:sym typeface="+mn-lt"/>
              </a:rPr>
              <a:t>3</a:t>
            </a:r>
            <a:r>
              <a:rPr lang="zh-CN" altLang="en-US" dirty="0">
                <a:ln>
                  <a:noFill/>
                </a:ln>
                <a:solidFill>
                  <a:srgbClr val="0070C0"/>
                </a:solidFill>
                <a:cs typeface="+mn-ea"/>
                <a:sym typeface="+mn-lt"/>
              </a:rPr>
              <a:t>、</a:t>
            </a:r>
            <a:r>
              <a:rPr lang="en-US" altLang="zh-CN" dirty="0">
                <a:ln>
                  <a:noFill/>
                </a:ln>
                <a:solidFill>
                  <a:srgbClr val="0070C0"/>
                </a:solidFill>
                <a:cs typeface="+mn-ea"/>
                <a:sym typeface="+mn-lt"/>
              </a:rPr>
              <a:t>2021</a:t>
            </a:r>
            <a:r>
              <a:rPr lang="zh-CN" altLang="en-US" dirty="0">
                <a:ln>
                  <a:noFill/>
                </a:ln>
                <a:solidFill>
                  <a:srgbClr val="0070C0"/>
                </a:solidFill>
                <a:cs typeface="+mn-ea"/>
                <a:sym typeface="+mn-lt"/>
              </a:rPr>
              <a:t>年</a:t>
            </a:r>
            <a:r>
              <a:rPr lang="en-US" altLang="zh-CN" dirty="0">
                <a:ln>
                  <a:noFill/>
                </a:ln>
                <a:solidFill>
                  <a:srgbClr val="0070C0"/>
                </a:solidFill>
                <a:cs typeface="+mn-ea"/>
                <a:sym typeface="+mn-lt"/>
              </a:rPr>
              <a:t> 146</a:t>
            </a:r>
            <a:r>
              <a:rPr lang="zh-CN" altLang="en-US" dirty="0">
                <a:ln>
                  <a:noFill/>
                </a:ln>
                <a:solidFill>
                  <a:srgbClr val="0070C0"/>
                </a:solidFill>
                <a:cs typeface="+mn-ea"/>
                <a:sym typeface="+mn-lt"/>
              </a:rPr>
              <a:t>号问，进一步要求中央企业</a:t>
            </a:r>
            <a:r>
              <a:rPr lang="zh-CN" altLang="en-US" b="1" noProof="0" dirty="0">
                <a:ln>
                  <a:noFill/>
                </a:ln>
                <a:solidFill>
                  <a:sysClr val="windowText" lastClr="000000">
                    <a:lumMod val="65000"/>
                    <a:lumOff val="35000"/>
                  </a:sysClr>
                </a:solidFill>
                <a:effectLst/>
                <a:uLnTx/>
                <a:uFillTx/>
                <a:cs typeface="+mn-ea"/>
                <a:sym typeface="+mn-lt"/>
              </a:rPr>
              <a:t>强化集团采购力量，实现</a:t>
            </a:r>
            <a:r>
              <a:rPr lang="zh-CN" altLang="en-US" b="1" noProof="0" dirty="0">
                <a:ln>
                  <a:noFill/>
                </a:ln>
                <a:solidFill>
                  <a:srgbClr val="FF0000"/>
                </a:solidFill>
                <a:effectLst/>
                <a:uLnTx/>
                <a:uFillTx/>
                <a:cs typeface="+mn-ea"/>
                <a:sym typeface="+mn-lt"/>
              </a:rPr>
              <a:t>采购工作的归口统一管理</a:t>
            </a:r>
            <a:r>
              <a:rPr lang="zh-CN" altLang="en-US" noProof="0" dirty="0">
                <a:ln>
                  <a:noFill/>
                </a:ln>
                <a:solidFill>
                  <a:srgbClr val="FF0000"/>
                </a:solidFill>
                <a:effectLst/>
                <a:uLnTx/>
                <a:uFillTx/>
                <a:cs typeface="+mn-ea"/>
                <a:sym typeface="+mn-lt"/>
              </a:rPr>
              <a:t>。</a:t>
            </a:r>
            <a:endParaRPr lang="zh-CN" altLang="en-US" noProof="0" dirty="0">
              <a:ln>
                <a:noFill/>
              </a:ln>
              <a:solidFill>
                <a:srgbClr val="FF0000"/>
              </a:solidFill>
              <a:effectLst/>
              <a:uLnTx/>
              <a:uFillTx/>
              <a:cs typeface="+mn-ea"/>
              <a:sym typeface="+mn-lt"/>
            </a:endParaRPr>
          </a:p>
          <a:p>
            <a:r>
              <a:rPr lang="en-US" altLang="zh-CN" dirty="0">
                <a:ln>
                  <a:noFill/>
                </a:ln>
                <a:solidFill>
                  <a:srgbClr val="0070C0"/>
                </a:solidFill>
                <a:cs typeface="+mn-ea"/>
                <a:sym typeface="+mn-lt"/>
              </a:rPr>
              <a:t>4</a:t>
            </a:r>
            <a:r>
              <a:rPr lang="zh-CN" altLang="en-US" dirty="0">
                <a:ln>
                  <a:noFill/>
                </a:ln>
                <a:solidFill>
                  <a:srgbClr val="0070C0"/>
                </a:solidFill>
                <a:cs typeface="+mn-ea"/>
                <a:sym typeface="+mn-lt"/>
              </a:rPr>
              <a:t>、去年国务院令</a:t>
            </a:r>
            <a:r>
              <a:rPr lang="en-US" altLang="zh-CN" dirty="0">
                <a:ln>
                  <a:noFill/>
                </a:ln>
                <a:solidFill>
                  <a:srgbClr val="0070C0"/>
                </a:solidFill>
                <a:cs typeface="+mn-ea"/>
                <a:sym typeface="+mn-lt"/>
              </a:rPr>
              <a:t>42</a:t>
            </a:r>
            <a:r>
              <a:rPr lang="zh-CN" altLang="en-US" dirty="0">
                <a:ln>
                  <a:noFill/>
                </a:ln>
                <a:solidFill>
                  <a:srgbClr val="0070C0"/>
                </a:solidFill>
                <a:cs typeface="+mn-ea"/>
                <a:sym typeface="+mn-lt"/>
              </a:rPr>
              <a:t>号，</a:t>
            </a:r>
            <a:r>
              <a:rPr lang="en-US" altLang="zh-CN" dirty="0">
                <a:ln>
                  <a:noFill/>
                </a:ln>
                <a:solidFill>
                  <a:srgbClr val="0070C0"/>
                </a:solidFill>
                <a:cs typeface="+mn-ea"/>
                <a:sym typeface="+mn-lt"/>
              </a:rPr>
              <a:t> </a:t>
            </a:r>
            <a:r>
              <a:rPr lang="zh-CN" altLang="en-US" dirty="0">
                <a:ln>
                  <a:noFill/>
                </a:ln>
                <a:solidFill>
                  <a:srgbClr val="0070C0"/>
                </a:solidFill>
                <a:cs typeface="+mn-ea"/>
                <a:sym typeface="+mn-lt"/>
              </a:rPr>
              <a:t>加强国有资产的合规管理，跟上企业供应链数字化转型的不发要求，也已经从常规的采购流程电子化要求，增加了合规性要求，要加强对央国企国有资产使用的监督和风险控制。</a:t>
            </a:r>
            <a:endParaRPr lang="zh-CN" altLang="en-US" dirty="0">
              <a:ln>
                <a:noFill/>
              </a:ln>
              <a:solidFill>
                <a:srgbClr val="0070C0"/>
              </a:solidFill>
              <a:cs typeface="+mn-ea"/>
              <a:sym typeface="+mn-l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第二，再来看规范，以往企业侧除了招投标法，就基本没有什么专门的国家级的法律法规了，地方上的也基本没有。而企业生产经营过程中遇到的招标采购活动基本上以</a:t>
            </a:r>
            <a:r>
              <a:rPr lang="en-US" altLang="zh-CN" dirty="0"/>
              <a:t>421</a:t>
            </a:r>
            <a:r>
              <a:rPr lang="zh-CN" altLang="en-US" dirty="0"/>
              <a:t>限额以下的采购活动为主，所以一般也都是以非招方式的采购为主，少有公开招标的。</a:t>
            </a:r>
            <a:endParaRPr lang="zh-CN" altLang="en-US" dirty="0"/>
          </a:p>
          <a:p>
            <a:endParaRPr lang="zh-CN" altLang="en-US" dirty="0"/>
          </a:p>
          <a:p>
            <a:r>
              <a:rPr lang="zh-CN" altLang="en-US" dirty="0"/>
              <a:t>非招标方式的规范，前几年就两部</a:t>
            </a:r>
            <a:r>
              <a:rPr lang="en-US" altLang="zh-CN" dirty="0"/>
              <a:t>...</a:t>
            </a:r>
            <a:r>
              <a:rPr lang="zh-CN" altLang="en-US" dirty="0"/>
              <a:t>有些企业会参考政府采购的财政部</a:t>
            </a:r>
            <a:r>
              <a:rPr lang="en-US" altLang="zh-CN" dirty="0"/>
              <a:t>74</a:t>
            </a:r>
            <a:r>
              <a:rPr lang="zh-CN" altLang="en-US" dirty="0"/>
              <a:t>号令非招标方式、有些大型企业有自己的采购规范，这也就是为什么企业类项目为什么比各种各样类项目个性化多的原因之一。</a:t>
            </a:r>
            <a:endParaRPr lang="en-US" altLang="zh-CN" dirty="0"/>
          </a:p>
          <a:p>
            <a:endParaRPr lang="zh-CN" altLang="en-US" dirty="0"/>
          </a:p>
          <a:p>
            <a:r>
              <a:rPr lang="zh-CN" altLang="en-US" dirty="0"/>
              <a:t>那么今年我国首个</a:t>
            </a:r>
            <a:r>
              <a:rPr lang="zh-CN" altLang="en-US"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ea"/>
              </a:rPr>
              <a:t>电子采购交易规范 非招标方式发布，相当于国家层面对企业限额以下类的采购行为做了标准定义</a:t>
            </a:r>
            <a:r>
              <a:rPr lang="en-US" altLang="zh-CN"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ea"/>
              </a:rPr>
              <a:t>...</a:t>
            </a:r>
            <a:endParaRPr lang="en-US" altLang="zh-CN"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ea"/>
            </a:endParaRPr>
          </a:p>
          <a:p>
            <a:r>
              <a:rPr lang="zh-CN" altLang="en-US"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ea"/>
              </a:rPr>
              <a:t>我们也希望企业能在接下来的采购管理中趋向这个国家标准。</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第三，从整个行业来看，公共资源领域起步相对比较早，疫情前像江苏、浙江、安徽等地方的电子化率就已经达到了</a:t>
            </a:r>
            <a:r>
              <a:rPr lang="en-US" altLang="zh-CN"/>
              <a:t>90%</a:t>
            </a:r>
            <a:r>
              <a:rPr lang="zh-CN" altLang="en-US"/>
              <a:t>以上，疫情之后，更是把不见面常态化了，大部分地区的公共资源交易基本实现了</a:t>
            </a:r>
            <a:r>
              <a:rPr lang="en-US" altLang="zh-CN" spc="100" dirty="0">
                <a:solidFill>
                  <a:srgbClr val="000000">
                    <a:lumMod val="75000"/>
                    <a:lumOff val="25000"/>
                  </a:srgb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r>
              <a:rPr lang="zh-CN" altLang="en-US" spc="100" dirty="0">
                <a:solidFill>
                  <a:srgbClr val="000000">
                    <a:lumMod val="75000"/>
                    <a:lumOff val="25000"/>
                  </a:srgb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平台之外无交易”，电子化率接近</a:t>
            </a:r>
            <a:r>
              <a:rPr lang="en-US" altLang="zh-CN" spc="100" dirty="0">
                <a:solidFill>
                  <a:srgbClr val="000000">
                    <a:lumMod val="75000"/>
                    <a:lumOff val="25000"/>
                  </a:srgb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100</a:t>
            </a:r>
            <a:r>
              <a:rPr lang="zh-CN" altLang="en-US" spc="100" dirty="0">
                <a:solidFill>
                  <a:srgbClr val="000000">
                    <a:lumMod val="75000"/>
                    <a:lumOff val="25000"/>
                  </a:srgb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endParaRPr lang="zh-CN" altLang="en-US" spc="100" dirty="0">
              <a:solidFill>
                <a:srgbClr val="000000">
                  <a:lumMod val="75000"/>
                  <a:lumOff val="25000"/>
                </a:srgb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endParaRPr lang="zh-CN" altLang="en-US"/>
          </a:p>
          <a:p>
            <a:r>
              <a:rPr lang="zh-CN" altLang="en-US"/>
              <a:t>企业方面，有咨询机构进行抽样调研发布的数据来看，已经超过四成的央国企，数字化采购比例超过了50%</a:t>
            </a:r>
            <a:endParaRPr lang="zh-CN" altLang="en-US"/>
          </a:p>
          <a:p>
            <a:r>
              <a:rPr lang="zh-CN" altLang="en-US"/>
              <a:t>我们也从网上的公开资料统计过，全国</a:t>
            </a:r>
            <a:r>
              <a:rPr lang="en-US" altLang="zh-CN"/>
              <a:t>97</a:t>
            </a:r>
            <a:r>
              <a:rPr lang="zh-CN" altLang="en-US"/>
              <a:t>家央企，</a:t>
            </a:r>
            <a:r>
              <a:rPr lang="en-US" altLang="zh-CN"/>
              <a:t>86</a:t>
            </a:r>
            <a:r>
              <a:rPr lang="zh-CN" altLang="en-US"/>
              <a:t>家已经上线了电子招投标平台。</a:t>
            </a:r>
            <a:endParaRPr lang="zh-CN" altLang="en-US"/>
          </a:p>
          <a:p>
            <a:r>
              <a:rPr lang="zh-CN" altLang="en-US"/>
              <a:t>所以说，行业上来说，电子招投标已经是常态化的趋势，各个地方的供应商投标人、招标代理等都已经接受并且熟悉甚至是习惯了电子招投标。</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那么第五点回到我们企业自身的现状来看，很多企业都是从小到大一步步做大做强，采购工作可能有一些标准规范，但是真正实施起来未必会遵守，大量的流程、沟通、协同（内部、外部）工作要依靠采购人员线下</a:t>
            </a:r>
            <a:r>
              <a:rPr lang="zh-CN" altLang="en-US">
                <a:sym typeface="+mn-ea"/>
              </a:rPr>
              <a:t>人工</a:t>
            </a:r>
            <a:r>
              <a:rPr lang="zh-CN" altLang="en-US"/>
              <a:t>处理。</a:t>
            </a:r>
            <a:endParaRPr lang="zh-CN" altLang="en-US"/>
          </a:p>
          <a:p>
            <a:r>
              <a:rPr lang="zh-CN" altLang="en-US"/>
              <a:t>缺少信息化系统手段，还会使得企业想要实现多层级的集中采购很难，从需求的收集、上报、合并、集采实施，到最后的定标、签合同、供应商履约大量的协同工作是需要一个信息化的平台来支撑的运转的，光靠线下那么不仅费时费力，还容易出错，对人的能力依赖也极大，</a:t>
            </a:r>
            <a:r>
              <a:rPr lang="zh-CN" altLang="en-US">
                <a:sym typeface="+mn-ea"/>
              </a:rPr>
              <a:t>管理和监督的难度也极大，企业的公有资产流失、滋生出一些腐败行为，比如依次充好，灰色采购行为。</a:t>
            </a:r>
            <a:endParaRPr lang="zh-CN" altLang="en-US">
              <a:sym typeface="+mn-ea"/>
            </a:endParaRPr>
          </a:p>
          <a:p>
            <a:endParaRPr lang="zh-CN" altLang="en-US"/>
          </a:p>
          <a:p>
            <a:r>
              <a:rPr lang="zh-CN" altLang="en-US"/>
              <a:t>那么有些企业可能已经初步实现了一些信息化，但可能已经多年未更新已经过了软件的生命周期，系统技术框架已经老旧了，难以支撑新的业务扩张，可能系统随着业务量上来，卡、慢的问题凸显出来，还有就是系统之间协同性前期可能考虑不足，后期要集成或修改难度很大，代码也改不动，技术路线都不一样了。还有数据的结构化程度可能已经部门满足当下的数字化管理要求了。</a:t>
            </a:r>
            <a:endParaRPr lang="zh-CN" altLang="en-US"/>
          </a:p>
          <a:p>
            <a:endParaRPr lang="zh-CN" altLang="en-US"/>
          </a:p>
          <a:p>
            <a:r>
              <a:rPr lang="zh-CN" altLang="en-US"/>
              <a:t>最后，从发展的角度来说，市场环境一直在变，企业内部的管理形态也在改变，越来越多的企业要求我们采购管理部门要从</a:t>
            </a:r>
            <a:r>
              <a:rPr lang="zh-CN" altLang="en-US" b="1" dirty="0">
                <a:solidFill>
                  <a:srgbClr val="3271CD"/>
                </a:solidFill>
                <a:latin typeface="微软雅黑" panose="020B0503020204020204" charset="-122"/>
                <a:ea typeface="微软雅黑" panose="020B0503020204020204" charset="-122"/>
                <a:sym typeface="+mn-ea"/>
              </a:rPr>
              <a:t>成本中心转向利润中心</a:t>
            </a:r>
            <a:r>
              <a:rPr lang="zh-CN" altLang="en-US"/>
              <a:t>，而且对于大中型企业来说，采购不单单是一个部门的事情，是要逐步延伸和融入到企业的整个供应链体系中去的。</a:t>
            </a:r>
            <a:endParaRPr lang="zh-CN" altLang="en-US"/>
          </a:p>
          <a:p>
            <a:r>
              <a:rPr lang="zh-CN" altLang="en-US"/>
              <a:t>那么就要考虑如何把采购执行快速高效的完成，先实现降本增效、然后还要考虑怎么样的手段，从中赚取利润，比如基于信息化的平台面向社会承接采购代理工作、面向投标人提供增值服务。</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jpe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jpe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nvSpPr>
        <p:spPr>
          <a:xfrm rot="5400000">
            <a:off x="-127556" y="474209"/>
            <a:ext cx="432000" cy="1768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3" name="组合 2"/>
          <p:cNvGrpSpPr/>
          <p:nvPr userDrawn="1"/>
        </p:nvGrpSpPr>
        <p:grpSpPr>
          <a:xfrm>
            <a:off x="-1" y="-27039"/>
            <a:ext cx="12192001" cy="6885038"/>
            <a:chOff x="-1" y="-27039"/>
            <a:chExt cx="12192001" cy="6885038"/>
          </a:xfrm>
        </p:grpSpPr>
        <p:pic>
          <p:nvPicPr>
            <p:cNvPr id="4" name="图片 3"/>
            <p:cNvPicPr>
              <a:picLocks noChangeAspect="1"/>
            </p:cNvPicPr>
            <p:nvPr/>
          </p:nvPicPr>
          <p:blipFill>
            <a:blip r:embed="rId2">
              <a:extLst>
                <a:ext uri="{BEBA8EAE-BF5A-486C-A8C5-ECC9F3942E4B}">
                  <a14:imgProps xmlns:a14="http://schemas.microsoft.com/office/drawing/2010/main">
                    <a14:imgLayer r:embed="rId3">
                      <a14:imgEffect>
                        <a14:artisticFilmGrain trans="85000" grainSize="80"/>
                      </a14:imgEffect>
                    </a14:imgLayer>
                  </a14:imgProps>
                </a:ext>
              </a:extLst>
            </a:blip>
            <a:stretch>
              <a:fillRect/>
            </a:stretch>
          </p:blipFill>
          <p:spPr>
            <a:xfrm>
              <a:off x="0" y="0"/>
              <a:ext cx="12192000" cy="6857999"/>
            </a:xfrm>
            <a:prstGeom prst="rect">
              <a:avLst/>
            </a:prstGeom>
          </p:spPr>
        </p:pic>
        <p:pic>
          <p:nvPicPr>
            <p:cNvPr id="5" name="图片 4" descr="背景图案&#10;&#10;描述已自动生成"/>
            <p:cNvPicPr>
              <a:picLocks noChangeAspect="1"/>
            </p:cNvPicPr>
            <p:nvPr/>
          </p:nvPicPr>
          <p:blipFill>
            <a:blip r:embed="rId4" cstate="print">
              <a:alphaModFix amt="30000"/>
              <a:extLst>
                <a:ext uri="{28A0092B-C50C-407E-A947-70E740481C1C}">
                  <a14:useLocalDpi xmlns:a14="http://schemas.microsoft.com/office/drawing/2010/main" val="0"/>
                </a:ext>
              </a:extLst>
            </a:blip>
            <a:stretch>
              <a:fillRect/>
            </a:stretch>
          </p:blipFill>
          <p:spPr>
            <a:xfrm>
              <a:off x="-1" y="-27039"/>
              <a:ext cx="12192001" cy="6885037"/>
            </a:xfrm>
            <a:prstGeom prst="rect">
              <a:avLst/>
            </a:prstGeom>
          </p:spPr>
        </p:pic>
      </p:grpSp>
      <p:cxnSp>
        <p:nvCxnSpPr>
          <p:cNvPr id="17" name="直接连接符 16"/>
          <p:cNvCxnSpPr/>
          <p:nvPr userDrawn="1"/>
        </p:nvCxnSpPr>
        <p:spPr>
          <a:xfrm>
            <a:off x="642938" y="970358"/>
            <a:ext cx="11582401" cy="0"/>
          </a:xfrm>
          <a:prstGeom prst="line">
            <a:avLst/>
          </a:prstGeom>
          <a:noFill/>
          <a:ln w="12700" cap="flat" cmpd="sng" algn="ctr">
            <a:gradFill>
              <a:gsLst>
                <a:gs pos="0">
                  <a:srgbClr val="073F97">
                    <a:lumMod val="90000"/>
                    <a:lumOff val="10000"/>
                  </a:srgbClr>
                </a:gs>
                <a:gs pos="100000">
                  <a:srgbClr val="073F97">
                    <a:lumMod val="90000"/>
                  </a:srgbClr>
                </a:gs>
              </a:gsLst>
              <a:lin ang="0" scaled="0"/>
            </a:gradFill>
            <a:prstDash val="solid"/>
            <a:miter lim="800000"/>
          </a:ln>
          <a:effectLst/>
        </p:spPr>
      </p:cxnSp>
      <p:sp>
        <p:nvSpPr>
          <p:cNvPr id="18" name="矩形: 圆顶角 17"/>
          <p:cNvSpPr/>
          <p:nvPr userDrawn="1"/>
        </p:nvSpPr>
        <p:spPr>
          <a:xfrm rot="5400000">
            <a:off x="-273712" y="530467"/>
            <a:ext cx="696607" cy="452259"/>
          </a:xfrm>
          <a:prstGeom prst="round2SameRect">
            <a:avLst>
              <a:gd name="adj1" fmla="val 9587"/>
              <a:gd name="adj2" fmla="val 0"/>
            </a:avLst>
          </a:prstGeom>
          <a:gradFill>
            <a:gsLst>
              <a:gs pos="0">
                <a:srgbClr val="073F97">
                  <a:lumMod val="90000"/>
                  <a:lumOff val="10000"/>
                </a:srgbClr>
              </a:gs>
              <a:gs pos="100000">
                <a:srgbClr val="073F97">
                  <a:lumMod val="90000"/>
                </a:srgbClr>
              </a:gs>
            </a:gsLst>
            <a:lin ang="54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7" name="组合 6"/>
          <p:cNvGrpSpPr/>
          <p:nvPr userDrawn="1"/>
        </p:nvGrpSpPr>
        <p:grpSpPr>
          <a:xfrm>
            <a:off x="-1" y="-27039"/>
            <a:ext cx="12192001" cy="6885038"/>
            <a:chOff x="-1" y="-27039"/>
            <a:chExt cx="12192001" cy="6885038"/>
          </a:xfrm>
        </p:grpSpPr>
        <p:pic>
          <p:nvPicPr>
            <p:cNvPr id="8" name="图片 7"/>
            <p:cNvPicPr>
              <a:picLocks noChangeAspect="1"/>
            </p:cNvPicPr>
            <p:nvPr/>
          </p:nvPicPr>
          <p:blipFill>
            <a:blip r:embed="rId2">
              <a:extLst>
                <a:ext uri="{BEBA8EAE-BF5A-486C-A8C5-ECC9F3942E4B}">
                  <a14:imgProps xmlns:a14="http://schemas.microsoft.com/office/drawing/2010/main">
                    <a14:imgLayer r:embed="rId3">
                      <a14:imgEffect>
                        <a14:artisticFilmGrain trans="85000" grainSize="80"/>
                      </a14:imgEffect>
                    </a14:imgLayer>
                  </a14:imgProps>
                </a:ext>
              </a:extLst>
            </a:blip>
            <a:stretch>
              <a:fillRect/>
            </a:stretch>
          </p:blipFill>
          <p:spPr>
            <a:xfrm>
              <a:off x="0" y="0"/>
              <a:ext cx="12192000" cy="6857999"/>
            </a:xfrm>
            <a:prstGeom prst="rect">
              <a:avLst/>
            </a:prstGeom>
          </p:spPr>
        </p:pic>
        <p:pic>
          <p:nvPicPr>
            <p:cNvPr id="9" name="图片 8" descr="背景图案&#10;&#10;描述已自动生成"/>
            <p:cNvPicPr>
              <a:picLocks noChangeAspect="1"/>
            </p:cNvPicPr>
            <p:nvPr/>
          </p:nvPicPr>
          <p:blipFill>
            <a:blip r:embed="rId4" cstate="print">
              <a:alphaModFix amt="30000"/>
              <a:extLst>
                <a:ext uri="{28A0092B-C50C-407E-A947-70E740481C1C}">
                  <a14:useLocalDpi xmlns:a14="http://schemas.microsoft.com/office/drawing/2010/main" val="0"/>
                </a:ext>
              </a:extLst>
            </a:blip>
            <a:stretch>
              <a:fillRect/>
            </a:stretch>
          </p:blipFill>
          <p:spPr>
            <a:xfrm>
              <a:off x="-1" y="-27039"/>
              <a:ext cx="12192001" cy="6885037"/>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04EFD21-5105-4400-9A3A-E1892B944A3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688808-D4D5-4D87-85A6-B64B8898F2D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04EFD21-5105-4400-9A3A-E1892B944A3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B688808-D4D5-4D87-85A6-B64B8898F2D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04EFD21-5105-4400-9A3A-E1892B944A3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B688808-D4D5-4D87-85A6-B64B8898F2D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04EFD21-5105-4400-9A3A-E1892B944A3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B688808-D4D5-4D87-85A6-B64B8898F2D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04EFD21-5105-4400-9A3A-E1892B944A3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688808-D4D5-4D87-85A6-B64B8898F2D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04EFD21-5105-4400-9A3A-E1892B944A3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688808-D4D5-4D87-85A6-B64B8898F2D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04EFD21-5105-4400-9A3A-E1892B944A3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688808-D4D5-4D87-85A6-B64B8898F2D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04EFD21-5105-4400-9A3A-E1892B944A3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688808-D4D5-4D87-85A6-B64B8898F2D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defRPr>
            </a:lvl1pPr>
          </a:lstStyle>
          <a:p>
            <a:fld id="{E04EFD21-5105-4400-9A3A-E1892B944A3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defRPr>
            </a:lvl1pPr>
          </a:lstStyle>
          <a:p>
            <a:fld id="{EB688808-D4D5-4D87-85A6-B64B8898F2D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image" Target="../media/image3.jpe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7" Type="http://schemas.openxmlformats.org/officeDocument/2006/relationships/slideLayout" Target="../slideLayouts/slideLayout3.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image" Target="../media/image6.png"/><Relationship Id="rId5" Type="http://schemas.openxmlformats.org/officeDocument/2006/relationships/tags" Target="../tags/tag20.xml"/><Relationship Id="rId4" Type="http://schemas.openxmlformats.org/officeDocument/2006/relationships/image" Target="../media/image5.png"/><Relationship Id="rId35" Type="http://schemas.openxmlformats.org/officeDocument/2006/relationships/notesSlide" Target="../notesSlides/notesSlide3.xml"/><Relationship Id="rId34" Type="http://schemas.openxmlformats.org/officeDocument/2006/relationships/slideLayout" Target="../slideLayouts/slideLayout7.xml"/><Relationship Id="rId33" Type="http://schemas.openxmlformats.org/officeDocument/2006/relationships/tags" Target="../tags/tag43.xml"/><Relationship Id="rId32" Type="http://schemas.openxmlformats.org/officeDocument/2006/relationships/tags" Target="../tags/tag42.xml"/><Relationship Id="rId31" Type="http://schemas.openxmlformats.org/officeDocument/2006/relationships/tags" Target="../tags/tag41.xml"/><Relationship Id="rId30" Type="http://schemas.openxmlformats.org/officeDocument/2006/relationships/tags" Target="../tags/tag40.xml"/><Relationship Id="rId3" Type="http://schemas.openxmlformats.org/officeDocument/2006/relationships/tags" Target="../tags/tag19.xml"/><Relationship Id="rId29" Type="http://schemas.openxmlformats.org/officeDocument/2006/relationships/tags" Target="../tags/tag39.xml"/><Relationship Id="rId28" Type="http://schemas.openxmlformats.org/officeDocument/2006/relationships/tags" Target="../tags/tag38.xml"/><Relationship Id="rId27" Type="http://schemas.openxmlformats.org/officeDocument/2006/relationships/tags" Target="../tags/tag37.xml"/><Relationship Id="rId26" Type="http://schemas.openxmlformats.org/officeDocument/2006/relationships/tags" Target="../tags/tag36.xml"/><Relationship Id="rId25" Type="http://schemas.openxmlformats.org/officeDocument/2006/relationships/tags" Target="../tags/tag35.xml"/><Relationship Id="rId24" Type="http://schemas.openxmlformats.org/officeDocument/2006/relationships/tags" Target="../tags/tag34.xml"/><Relationship Id="rId23" Type="http://schemas.openxmlformats.org/officeDocument/2006/relationships/image" Target="../media/image10.jpeg"/><Relationship Id="rId22" Type="http://schemas.openxmlformats.org/officeDocument/2006/relationships/tags" Target="../tags/tag33.xml"/><Relationship Id="rId21" Type="http://schemas.openxmlformats.org/officeDocument/2006/relationships/image" Target="../media/image9.jpeg"/><Relationship Id="rId20" Type="http://schemas.openxmlformats.org/officeDocument/2006/relationships/tags" Target="../tags/tag32.xml"/><Relationship Id="rId2" Type="http://schemas.openxmlformats.org/officeDocument/2006/relationships/tags" Target="../tags/tag18.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image" Target="../media/image8.png"/><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image" Target="../media/image7.jpeg"/><Relationship Id="rId10" Type="http://schemas.openxmlformats.org/officeDocument/2006/relationships/tags" Target="../tags/tag24.xml"/><Relationship Id="rId1" Type="http://schemas.openxmlformats.org/officeDocument/2006/relationships/tags" Target="../tags/tag17.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1" Type="http://schemas.openxmlformats.org/officeDocument/2006/relationships/slideLayout" Target="../slideLayouts/slideLayout4.xml"/><Relationship Id="rId10" Type="http://schemas.openxmlformats.org/officeDocument/2006/relationships/tags" Target="../tags/tag47.xml"/><Relationship Id="rId1" Type="http://schemas.openxmlformats.org/officeDocument/2006/relationships/tags" Target="../tags/tag44.xml"/></Relationships>
</file>

<file path=ppt/slides/_rels/slide11.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9" Type="http://schemas.openxmlformats.org/officeDocument/2006/relationships/notesSlide" Target="../notesSlides/notesSlide8.xml"/><Relationship Id="rId18" Type="http://schemas.openxmlformats.org/officeDocument/2006/relationships/slideLayout" Target="../slideLayouts/slideLayout7.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tags" Target="../tags/tag4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1" Type="http://schemas.openxmlformats.org/officeDocument/2006/relationships/notesSlide" Target="../notesSlides/notesSlide10.xml"/><Relationship Id="rId20" Type="http://schemas.openxmlformats.org/officeDocument/2006/relationships/slideLayout" Target="../slideLayouts/slideLayout7.xml"/><Relationship Id="rId2" Type="http://schemas.openxmlformats.org/officeDocument/2006/relationships/tags" Target="../tags/tag66.xml"/><Relationship Id="rId19" Type="http://schemas.openxmlformats.org/officeDocument/2006/relationships/tags" Target="../tags/tag83.xml"/><Relationship Id="rId18" Type="http://schemas.openxmlformats.org/officeDocument/2006/relationships/tags" Target="../tags/tag82.xml"/><Relationship Id="rId17" Type="http://schemas.openxmlformats.org/officeDocument/2006/relationships/tags" Target="../tags/tag81.xml"/><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tags" Target="../tags/tag65.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image" Target="../media/image3.jpeg"/><Relationship Id="rId2" Type="http://schemas.microsoft.com/office/2007/relationships/hdphoto" Target="../media/image2.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0" y="-27039"/>
            <a:ext cx="12192000" cy="6885039"/>
            <a:chOff x="0" y="-27039"/>
            <a:chExt cx="12192000" cy="6885039"/>
          </a:xfrm>
        </p:grpSpPr>
        <p:pic>
          <p:nvPicPr>
            <p:cNvPr id="110" name="图片 109"/>
            <p:cNvPicPr>
              <a:picLocks noChangeAspect="1"/>
            </p:cNvPicPr>
            <p:nvPr/>
          </p:nvPicPr>
          <p:blipFill>
            <a:blip r:embed="rId1">
              <a:extLst>
                <a:ext uri="{BEBA8EAE-BF5A-486C-A8C5-ECC9F3942E4B}">
                  <a14:imgProps xmlns:a14="http://schemas.microsoft.com/office/drawing/2010/main">
                    <a14:imgLayer r:embed="rId2">
                      <a14:imgEffect>
                        <a14:artisticFilmGrain trans="85000" grainSize="80"/>
                      </a14:imgEffect>
                    </a14:imgLayer>
                  </a14:imgProps>
                </a:ext>
              </a:extLst>
            </a:blip>
            <a:stretch>
              <a:fillRect/>
            </a:stretch>
          </p:blipFill>
          <p:spPr>
            <a:xfrm>
              <a:off x="0" y="0"/>
              <a:ext cx="12192000" cy="6857999"/>
            </a:xfrm>
            <a:prstGeom prst="rect">
              <a:avLst/>
            </a:prstGeom>
          </p:spPr>
        </p:pic>
        <p:pic>
          <p:nvPicPr>
            <p:cNvPr id="111" name="图片 110" descr="背景图案&#10;&#10;描述已自动生成"/>
            <p:cNvPicPr>
              <a:picLocks noChangeAspect="1"/>
            </p:cNvPicPr>
            <p:nvPr/>
          </p:nvPicPr>
          <p:blipFill>
            <a:blip r:embed="rId3" cstate="print">
              <a:alphaModFix amt="20000"/>
              <a:extLst>
                <a:ext uri="{28A0092B-C50C-407E-A947-70E740481C1C}">
                  <a14:useLocalDpi xmlns:a14="http://schemas.microsoft.com/office/drawing/2010/main" val="0"/>
                </a:ext>
              </a:extLst>
            </a:blip>
            <a:stretch>
              <a:fillRect/>
            </a:stretch>
          </p:blipFill>
          <p:spPr>
            <a:xfrm>
              <a:off x="0" y="-27039"/>
              <a:ext cx="12191999" cy="6885039"/>
            </a:xfrm>
            <a:prstGeom prst="rect">
              <a:avLst/>
            </a:prstGeom>
          </p:spPr>
        </p:pic>
      </p:grpSp>
      <p:sp>
        <p:nvSpPr>
          <p:cNvPr id="112" name="任意多边形: 形状 111"/>
          <p:cNvSpPr/>
          <p:nvPr/>
        </p:nvSpPr>
        <p:spPr>
          <a:xfrm>
            <a:off x="1" y="-912186"/>
            <a:ext cx="12191999" cy="5978523"/>
          </a:xfrm>
          <a:custGeom>
            <a:avLst/>
            <a:gdLst>
              <a:gd name="connsiteX0" fmla="*/ 6096001 w 12191999"/>
              <a:gd name="connsiteY0" fmla="*/ 0 h 5978523"/>
              <a:gd name="connsiteX1" fmla="*/ 11879794 w 12191999"/>
              <a:gd name="connsiteY1" fmla="*/ 234911 h 5978523"/>
              <a:gd name="connsiteX2" fmla="*/ 12191999 w 12191999"/>
              <a:gd name="connsiteY2" fmla="*/ 263306 h 5978523"/>
              <a:gd name="connsiteX3" fmla="*/ 12191999 w 12191999"/>
              <a:gd name="connsiteY3" fmla="*/ 5715217 h 5978523"/>
              <a:gd name="connsiteX4" fmla="*/ 11879794 w 12191999"/>
              <a:gd name="connsiteY4" fmla="*/ 5743612 h 5978523"/>
              <a:gd name="connsiteX5" fmla="*/ 6096001 w 12191999"/>
              <a:gd name="connsiteY5" fmla="*/ 5978523 h 5978523"/>
              <a:gd name="connsiteX6" fmla="*/ 312207 w 12191999"/>
              <a:gd name="connsiteY6" fmla="*/ 5743612 h 5978523"/>
              <a:gd name="connsiteX7" fmla="*/ 0 w 12191999"/>
              <a:gd name="connsiteY7" fmla="*/ 5715217 h 5978523"/>
              <a:gd name="connsiteX8" fmla="*/ 0 w 12191999"/>
              <a:gd name="connsiteY8" fmla="*/ 263306 h 5978523"/>
              <a:gd name="connsiteX9" fmla="*/ 312207 w 12191999"/>
              <a:gd name="connsiteY9" fmla="*/ 234911 h 5978523"/>
              <a:gd name="connsiteX10" fmla="*/ 6096001 w 12191999"/>
              <a:gd name="connsiteY10" fmla="*/ 0 h 5978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9" h="5978523">
                <a:moveTo>
                  <a:pt x="6096001" y="0"/>
                </a:moveTo>
                <a:cubicBezTo>
                  <a:pt x="8147601" y="0"/>
                  <a:pt x="10102088" y="83646"/>
                  <a:pt x="11879794" y="234911"/>
                </a:cubicBezTo>
                <a:lnTo>
                  <a:pt x="12191999" y="263306"/>
                </a:lnTo>
                <a:lnTo>
                  <a:pt x="12191999" y="5715217"/>
                </a:lnTo>
                <a:lnTo>
                  <a:pt x="11879794" y="5743612"/>
                </a:lnTo>
                <a:cubicBezTo>
                  <a:pt x="10102088" y="5894877"/>
                  <a:pt x="8147601" y="5978523"/>
                  <a:pt x="6096001" y="5978523"/>
                </a:cubicBezTo>
                <a:cubicBezTo>
                  <a:pt x="4044401" y="5978523"/>
                  <a:pt x="2089914" y="5894877"/>
                  <a:pt x="312207" y="5743612"/>
                </a:cubicBezTo>
                <a:lnTo>
                  <a:pt x="0" y="5715217"/>
                </a:lnTo>
                <a:lnTo>
                  <a:pt x="0" y="263306"/>
                </a:lnTo>
                <a:lnTo>
                  <a:pt x="312207" y="234911"/>
                </a:lnTo>
                <a:cubicBezTo>
                  <a:pt x="2089914" y="83646"/>
                  <a:pt x="4044401" y="0"/>
                  <a:pt x="6096001" y="0"/>
                </a:cubicBezTo>
                <a:close/>
              </a:path>
            </a:pathLst>
          </a:custGeom>
          <a:gradFill>
            <a:gsLst>
              <a:gs pos="0">
                <a:srgbClr val="FEA725">
                  <a:lumMod val="90000"/>
                  <a:lumOff val="10000"/>
                </a:srgbClr>
              </a:gs>
              <a:gs pos="100000">
                <a:srgbClr val="FEA725">
                  <a:lumMod val="79000"/>
                </a:srgbClr>
              </a:gs>
            </a:gsLst>
            <a:lin ang="0" scaled="0"/>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sp>
        <p:nvSpPr>
          <p:cNvPr id="113" name="任意多边形: 形状 112"/>
          <p:cNvSpPr/>
          <p:nvPr/>
        </p:nvSpPr>
        <p:spPr>
          <a:xfrm>
            <a:off x="1" y="-912186"/>
            <a:ext cx="12191999" cy="5978523"/>
          </a:xfrm>
          <a:custGeom>
            <a:avLst/>
            <a:gdLst>
              <a:gd name="connsiteX0" fmla="*/ 6096001 w 12191999"/>
              <a:gd name="connsiteY0" fmla="*/ 0 h 5978523"/>
              <a:gd name="connsiteX1" fmla="*/ 11963602 w 12191999"/>
              <a:gd name="connsiteY1" fmla="*/ 432765 h 5978523"/>
              <a:gd name="connsiteX2" fmla="*/ 12191999 w 12191999"/>
              <a:gd name="connsiteY2" fmla="*/ 471445 h 5978523"/>
              <a:gd name="connsiteX3" fmla="*/ 12191999 w 12191999"/>
              <a:gd name="connsiteY3" fmla="*/ 5507078 h 5978523"/>
              <a:gd name="connsiteX4" fmla="*/ 11963602 w 12191999"/>
              <a:gd name="connsiteY4" fmla="*/ 5545758 h 5978523"/>
              <a:gd name="connsiteX5" fmla="*/ 6096001 w 12191999"/>
              <a:gd name="connsiteY5" fmla="*/ 5978523 h 5978523"/>
              <a:gd name="connsiteX6" fmla="*/ 228398 w 12191999"/>
              <a:gd name="connsiteY6" fmla="*/ 5545758 h 5978523"/>
              <a:gd name="connsiteX7" fmla="*/ 0 w 12191999"/>
              <a:gd name="connsiteY7" fmla="*/ 5507077 h 5978523"/>
              <a:gd name="connsiteX8" fmla="*/ 0 w 12191999"/>
              <a:gd name="connsiteY8" fmla="*/ 471445 h 5978523"/>
              <a:gd name="connsiteX9" fmla="*/ 228398 w 12191999"/>
              <a:gd name="connsiteY9" fmla="*/ 432765 h 5978523"/>
              <a:gd name="connsiteX10" fmla="*/ 6096001 w 12191999"/>
              <a:gd name="connsiteY10" fmla="*/ 0 h 5978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9" h="5978523">
                <a:moveTo>
                  <a:pt x="6096001" y="0"/>
                </a:moveTo>
                <a:cubicBezTo>
                  <a:pt x="8244262" y="0"/>
                  <a:pt x="10252702" y="158143"/>
                  <a:pt x="11963602" y="432765"/>
                </a:cubicBezTo>
                <a:lnTo>
                  <a:pt x="12191999" y="471445"/>
                </a:lnTo>
                <a:lnTo>
                  <a:pt x="12191999" y="5507078"/>
                </a:lnTo>
                <a:lnTo>
                  <a:pt x="11963602" y="5545758"/>
                </a:lnTo>
                <a:cubicBezTo>
                  <a:pt x="10252702" y="5820380"/>
                  <a:pt x="8244262" y="5978523"/>
                  <a:pt x="6096001" y="5978523"/>
                </a:cubicBezTo>
                <a:cubicBezTo>
                  <a:pt x="3947739" y="5978523"/>
                  <a:pt x="1939298" y="5820380"/>
                  <a:pt x="228398" y="5545758"/>
                </a:cubicBezTo>
                <a:lnTo>
                  <a:pt x="0" y="5507077"/>
                </a:lnTo>
                <a:lnTo>
                  <a:pt x="0" y="471445"/>
                </a:lnTo>
                <a:lnTo>
                  <a:pt x="228398" y="432765"/>
                </a:lnTo>
                <a:cubicBezTo>
                  <a:pt x="1939298" y="158143"/>
                  <a:pt x="3947739" y="0"/>
                  <a:pt x="6096001" y="0"/>
                </a:cubicBezTo>
                <a:close/>
              </a:path>
            </a:pathLst>
          </a:custGeom>
          <a:solidFill>
            <a:srgbClr val="FFFFFF"/>
          </a:solidFill>
          <a:ln w="12700" cap="flat" cmpd="sng" algn="ctr">
            <a:noFill/>
            <a:prstDash val="solid"/>
            <a:miter lim="800000"/>
          </a:ln>
          <a:effectLst>
            <a:outerShdw blurRad="127000" dist="63500" dir="5400000" algn="t" rotWithShape="0">
              <a:srgbClr val="073F97">
                <a:lumMod val="75000"/>
                <a:alpha val="30000"/>
              </a:srgb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pic>
        <p:nvPicPr>
          <p:cNvPr id="114" name="图片 113" descr="图片包含 物体, 发动机, 桌子, 大&#10;&#10;描述已自动生成"/>
          <p:cNvPicPr>
            <a:picLocks noChangeAspect="1"/>
          </p:cNvPicPr>
          <p:nvPr/>
        </p:nvPicPr>
        <p:blipFill rotWithShape="1">
          <a:blip r:embed="rId4" cstate="print">
            <a:grayscl/>
            <a:extLst>
              <a:ext uri="{28A0092B-C50C-407E-A947-70E740481C1C}">
                <a14:useLocalDpi xmlns:a14="http://schemas.microsoft.com/office/drawing/2010/main" val="0"/>
              </a:ext>
            </a:extLst>
          </a:blip>
          <a:srcRect t="1405" b="2344"/>
          <a:stretch>
            <a:fillRect/>
          </a:stretch>
        </p:blipFill>
        <p:spPr>
          <a:xfrm>
            <a:off x="0" y="-937874"/>
            <a:ext cx="12192000" cy="5867469"/>
          </a:xfrm>
          <a:custGeom>
            <a:avLst/>
            <a:gdLst>
              <a:gd name="connsiteX0" fmla="*/ 6096000 w 12192000"/>
              <a:gd name="connsiteY0" fmla="*/ 0 h 5867469"/>
              <a:gd name="connsiteX1" fmla="*/ 11851845 w 12192000"/>
              <a:gd name="connsiteY1" fmla="*/ 682602 h 5867469"/>
              <a:gd name="connsiteX2" fmla="*/ 12192000 w 12192000"/>
              <a:gd name="connsiteY2" fmla="*/ 784731 h 5867469"/>
              <a:gd name="connsiteX3" fmla="*/ 12192000 w 12192000"/>
              <a:gd name="connsiteY3" fmla="*/ 5193793 h 5867469"/>
              <a:gd name="connsiteX4" fmla="*/ 11851845 w 12192000"/>
              <a:gd name="connsiteY4" fmla="*/ 5295922 h 5867469"/>
              <a:gd name="connsiteX5" fmla="*/ 8786822 w 12192000"/>
              <a:gd name="connsiteY5" fmla="*/ 5844133 h 5867469"/>
              <a:gd name="connsiteX6" fmla="*/ 8512089 w 12192000"/>
              <a:gd name="connsiteY6" fmla="*/ 5867469 h 5867469"/>
              <a:gd name="connsiteX7" fmla="*/ 3679911 w 12192000"/>
              <a:gd name="connsiteY7" fmla="*/ 5867469 h 5867469"/>
              <a:gd name="connsiteX8" fmla="*/ 3405179 w 12192000"/>
              <a:gd name="connsiteY8" fmla="*/ 5844133 h 5867469"/>
              <a:gd name="connsiteX9" fmla="*/ 340155 w 12192000"/>
              <a:gd name="connsiteY9" fmla="*/ 5295922 h 5867469"/>
              <a:gd name="connsiteX10" fmla="*/ 0 w 12192000"/>
              <a:gd name="connsiteY10" fmla="*/ 5193793 h 5867469"/>
              <a:gd name="connsiteX11" fmla="*/ 0 w 12192000"/>
              <a:gd name="connsiteY11" fmla="*/ 784731 h 5867469"/>
              <a:gd name="connsiteX12" fmla="*/ 340155 w 12192000"/>
              <a:gd name="connsiteY12" fmla="*/ 682602 h 5867469"/>
              <a:gd name="connsiteX13" fmla="*/ 6096000 w 12192000"/>
              <a:gd name="connsiteY13" fmla="*/ 0 h 58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867469">
                <a:moveTo>
                  <a:pt x="6096000" y="0"/>
                </a:moveTo>
                <a:cubicBezTo>
                  <a:pt x="8282401" y="0"/>
                  <a:pt x="10287688" y="256166"/>
                  <a:pt x="11851845" y="682602"/>
                </a:cubicBezTo>
                <a:lnTo>
                  <a:pt x="12192000" y="784731"/>
                </a:lnTo>
                <a:lnTo>
                  <a:pt x="12192000" y="5193793"/>
                </a:lnTo>
                <a:lnTo>
                  <a:pt x="11851845" y="5295922"/>
                </a:lnTo>
                <a:cubicBezTo>
                  <a:pt x="10958041" y="5539600"/>
                  <a:pt x="9920194" y="5727679"/>
                  <a:pt x="8786822" y="5844133"/>
                </a:cubicBezTo>
                <a:lnTo>
                  <a:pt x="8512089" y="5867469"/>
                </a:lnTo>
                <a:lnTo>
                  <a:pt x="3679911" y="5867469"/>
                </a:lnTo>
                <a:lnTo>
                  <a:pt x="3405179" y="5844133"/>
                </a:lnTo>
                <a:cubicBezTo>
                  <a:pt x="2271806" y="5727679"/>
                  <a:pt x="1233959" y="5539600"/>
                  <a:pt x="340155" y="5295922"/>
                </a:cubicBezTo>
                <a:lnTo>
                  <a:pt x="0" y="5193793"/>
                </a:lnTo>
                <a:lnTo>
                  <a:pt x="0" y="784731"/>
                </a:lnTo>
                <a:lnTo>
                  <a:pt x="340155" y="682602"/>
                </a:lnTo>
                <a:cubicBezTo>
                  <a:pt x="1904312" y="256166"/>
                  <a:pt x="3909600" y="0"/>
                  <a:pt x="6096000" y="0"/>
                </a:cubicBezTo>
                <a:close/>
              </a:path>
            </a:pathLst>
          </a:custGeom>
        </p:spPr>
      </p:pic>
      <p:sp>
        <p:nvSpPr>
          <p:cNvPr id="115" name="任意多边形: 形状 114"/>
          <p:cNvSpPr/>
          <p:nvPr/>
        </p:nvSpPr>
        <p:spPr>
          <a:xfrm>
            <a:off x="1" y="-937873"/>
            <a:ext cx="12191999" cy="5978523"/>
          </a:xfrm>
          <a:custGeom>
            <a:avLst/>
            <a:gdLst>
              <a:gd name="connsiteX0" fmla="*/ 6096001 w 12191999"/>
              <a:gd name="connsiteY0" fmla="*/ 0 h 5978523"/>
              <a:gd name="connsiteX1" fmla="*/ 12180175 w 12191999"/>
              <a:gd name="connsiteY1" fmla="*/ 776555 h 5978523"/>
              <a:gd name="connsiteX2" fmla="*/ 12191999 w 12191999"/>
              <a:gd name="connsiteY2" fmla="*/ 780279 h 5978523"/>
              <a:gd name="connsiteX3" fmla="*/ 12191999 w 12191999"/>
              <a:gd name="connsiteY3" fmla="*/ 5198243 h 5978523"/>
              <a:gd name="connsiteX4" fmla="*/ 12180175 w 12191999"/>
              <a:gd name="connsiteY4" fmla="*/ 5201967 h 5978523"/>
              <a:gd name="connsiteX5" fmla="*/ 6096001 w 12191999"/>
              <a:gd name="connsiteY5" fmla="*/ 5978523 h 5978523"/>
              <a:gd name="connsiteX6" fmla="*/ 11825 w 12191999"/>
              <a:gd name="connsiteY6" fmla="*/ 5201967 h 5978523"/>
              <a:gd name="connsiteX7" fmla="*/ 0 w 12191999"/>
              <a:gd name="connsiteY7" fmla="*/ 5198243 h 5978523"/>
              <a:gd name="connsiteX8" fmla="*/ 0 w 12191999"/>
              <a:gd name="connsiteY8" fmla="*/ 780280 h 5978523"/>
              <a:gd name="connsiteX9" fmla="*/ 11825 w 12191999"/>
              <a:gd name="connsiteY9" fmla="*/ 776555 h 5978523"/>
              <a:gd name="connsiteX10" fmla="*/ 6096001 w 12191999"/>
              <a:gd name="connsiteY10" fmla="*/ 0 h 5978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9" h="5978523">
                <a:moveTo>
                  <a:pt x="6096001" y="0"/>
                </a:moveTo>
                <a:cubicBezTo>
                  <a:pt x="8438572" y="0"/>
                  <a:pt x="10573234" y="294068"/>
                  <a:pt x="12180175" y="776555"/>
                </a:cubicBezTo>
                <a:lnTo>
                  <a:pt x="12191999" y="780279"/>
                </a:lnTo>
                <a:lnTo>
                  <a:pt x="12191999" y="5198243"/>
                </a:lnTo>
                <a:lnTo>
                  <a:pt x="12180175" y="5201967"/>
                </a:lnTo>
                <a:cubicBezTo>
                  <a:pt x="10573234" y="5684455"/>
                  <a:pt x="8438572" y="5978523"/>
                  <a:pt x="6096001" y="5978523"/>
                </a:cubicBezTo>
                <a:cubicBezTo>
                  <a:pt x="3753429" y="5978523"/>
                  <a:pt x="1618767" y="5684455"/>
                  <a:pt x="11825" y="5201967"/>
                </a:cubicBezTo>
                <a:lnTo>
                  <a:pt x="0" y="5198243"/>
                </a:lnTo>
                <a:lnTo>
                  <a:pt x="0" y="780280"/>
                </a:lnTo>
                <a:lnTo>
                  <a:pt x="11825" y="776555"/>
                </a:lnTo>
                <a:cubicBezTo>
                  <a:pt x="1618767" y="294068"/>
                  <a:pt x="3753429" y="0"/>
                  <a:pt x="6096001" y="0"/>
                </a:cubicBezTo>
                <a:close/>
              </a:path>
            </a:pathLst>
          </a:custGeom>
          <a:gradFill>
            <a:gsLst>
              <a:gs pos="1000">
                <a:srgbClr val="073F97">
                  <a:lumMod val="90000"/>
                  <a:lumOff val="10000"/>
                  <a:alpha val="82000"/>
                </a:srgbClr>
              </a:gs>
              <a:gs pos="100000">
                <a:srgbClr val="073F97">
                  <a:lumMod val="95000"/>
                  <a:alpha val="88000"/>
                </a:srgbClr>
              </a:gs>
            </a:gsLst>
            <a:lin ang="0" scaled="0"/>
          </a:gradFill>
          <a:ln w="12700" cap="flat" cmpd="sng" algn="ctr">
            <a:noFill/>
            <a:prstDash val="solid"/>
            <a:miter lim="800000"/>
          </a:ln>
          <a:effectLst>
            <a:outerShdw blurRad="254000" dist="63500" dir="5400000" rotWithShape="0">
              <a:srgbClr val="073F97">
                <a:lumMod val="75000"/>
                <a:alpha val="35000"/>
              </a:srgb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sp>
        <p:nvSpPr>
          <p:cNvPr id="118" name="椭圆 117"/>
          <p:cNvSpPr/>
          <p:nvPr/>
        </p:nvSpPr>
        <p:spPr>
          <a:xfrm rot="8581646">
            <a:off x="-1891053" y="-2397629"/>
            <a:ext cx="7282933" cy="7282933"/>
          </a:xfrm>
          <a:prstGeom prst="ellipse">
            <a:avLst/>
          </a:prstGeom>
          <a:gradFill>
            <a:gsLst>
              <a:gs pos="0">
                <a:srgbClr val="073F97">
                  <a:lumMod val="20000"/>
                  <a:lumOff val="80000"/>
                  <a:alpha val="7000"/>
                </a:srgbClr>
              </a:gs>
              <a:gs pos="75000">
                <a:srgbClr val="073F97">
                  <a:lumMod val="20000"/>
                  <a:lumOff val="80000"/>
                  <a:alpha val="0"/>
                </a:srgbClr>
              </a:gs>
            </a:gsLst>
            <a:lin ang="54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sp>
        <p:nvSpPr>
          <p:cNvPr id="125" name="矩形 124"/>
          <p:cNvSpPr/>
          <p:nvPr/>
        </p:nvSpPr>
        <p:spPr>
          <a:xfrm>
            <a:off x="70944135" y="3826038"/>
            <a:ext cx="914400" cy="914400"/>
          </a:xfrm>
          <a:prstGeom prst="rect">
            <a:avLst/>
          </a:prstGeom>
          <a:solidFill>
            <a:srgbClr val="073F97"/>
          </a:solidFill>
          <a:ln w="12700" cap="flat" cmpd="sng" algn="ctr">
            <a:solidFill>
              <a:srgbClr val="073F9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sp>
        <p:nvSpPr>
          <p:cNvPr id="127" name="矩形 126"/>
          <p:cNvSpPr/>
          <p:nvPr/>
        </p:nvSpPr>
        <p:spPr>
          <a:xfrm>
            <a:off x="-61795905" y="1695450"/>
            <a:ext cx="914400" cy="914400"/>
          </a:xfrm>
          <a:prstGeom prst="rect">
            <a:avLst/>
          </a:prstGeom>
          <a:solidFill>
            <a:srgbClr val="073F97"/>
          </a:solidFill>
          <a:ln w="12700" cap="flat" cmpd="sng" algn="ctr">
            <a:solidFill>
              <a:srgbClr val="073F9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sp>
        <p:nvSpPr>
          <p:cNvPr id="128" name="任意多边形: 形状 127"/>
          <p:cNvSpPr/>
          <p:nvPr/>
        </p:nvSpPr>
        <p:spPr>
          <a:xfrm>
            <a:off x="511750" y="444500"/>
            <a:ext cx="142939" cy="176028"/>
          </a:xfrm>
          <a:custGeom>
            <a:avLst/>
            <a:gdLst>
              <a:gd name="connsiteX0" fmla="*/ 88014 w 142939"/>
              <a:gd name="connsiteY0" fmla="*/ 0 h 176028"/>
              <a:gd name="connsiteX1" fmla="*/ 122273 w 142939"/>
              <a:gd name="connsiteY1" fmla="*/ 6917 h 176028"/>
              <a:gd name="connsiteX2" fmla="*/ 142939 w 142939"/>
              <a:gd name="connsiteY2" fmla="*/ 20850 h 176028"/>
              <a:gd name="connsiteX3" fmla="*/ 135628 w 142939"/>
              <a:gd name="connsiteY3" fmla="*/ 25779 h 176028"/>
              <a:gd name="connsiteX4" fmla="*/ 109849 w 142939"/>
              <a:gd name="connsiteY4" fmla="*/ 88014 h 176028"/>
              <a:gd name="connsiteX5" fmla="*/ 135628 w 142939"/>
              <a:gd name="connsiteY5" fmla="*/ 150249 h 176028"/>
              <a:gd name="connsiteX6" fmla="*/ 142939 w 142939"/>
              <a:gd name="connsiteY6" fmla="*/ 155179 h 176028"/>
              <a:gd name="connsiteX7" fmla="*/ 122273 w 142939"/>
              <a:gd name="connsiteY7" fmla="*/ 169111 h 176028"/>
              <a:gd name="connsiteX8" fmla="*/ 88014 w 142939"/>
              <a:gd name="connsiteY8" fmla="*/ 176028 h 176028"/>
              <a:gd name="connsiteX9" fmla="*/ 0 w 142939"/>
              <a:gd name="connsiteY9" fmla="*/ 88014 h 176028"/>
              <a:gd name="connsiteX10" fmla="*/ 88014 w 142939"/>
              <a:gd name="connsiteY10" fmla="*/ 0 h 17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39" h="176028">
                <a:moveTo>
                  <a:pt x="88014" y="0"/>
                </a:moveTo>
                <a:cubicBezTo>
                  <a:pt x="100166" y="0"/>
                  <a:pt x="111743" y="2463"/>
                  <a:pt x="122273" y="6917"/>
                </a:cubicBezTo>
                <a:lnTo>
                  <a:pt x="142939" y="20850"/>
                </a:lnTo>
                <a:lnTo>
                  <a:pt x="135628" y="25779"/>
                </a:lnTo>
                <a:cubicBezTo>
                  <a:pt x="119700" y="41706"/>
                  <a:pt x="109849" y="63710"/>
                  <a:pt x="109849" y="88014"/>
                </a:cubicBezTo>
                <a:cubicBezTo>
                  <a:pt x="109849" y="112319"/>
                  <a:pt x="119700" y="134322"/>
                  <a:pt x="135628" y="150249"/>
                </a:cubicBezTo>
                <a:lnTo>
                  <a:pt x="142939" y="155179"/>
                </a:lnTo>
                <a:lnTo>
                  <a:pt x="122273" y="169111"/>
                </a:lnTo>
                <a:cubicBezTo>
                  <a:pt x="111743" y="173565"/>
                  <a:pt x="100166" y="176028"/>
                  <a:pt x="88014" y="176028"/>
                </a:cubicBezTo>
                <a:cubicBezTo>
                  <a:pt x="39405" y="176028"/>
                  <a:pt x="0" y="136623"/>
                  <a:pt x="0" y="88014"/>
                </a:cubicBezTo>
                <a:cubicBezTo>
                  <a:pt x="0" y="39405"/>
                  <a:pt x="39405" y="0"/>
                  <a:pt x="88014" y="0"/>
                </a:cubicBezTo>
                <a:close/>
              </a:path>
            </a:pathLst>
          </a:custGeom>
          <a:noFill/>
          <a:ln w="9525" cap="flat" cmpd="sng" algn="ctr">
            <a:solidFill>
              <a:srgbClr val="FFFFFF">
                <a:alpha val="80000"/>
              </a:srgbClr>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sp>
        <p:nvSpPr>
          <p:cNvPr id="129" name="椭圆 128"/>
          <p:cNvSpPr/>
          <p:nvPr/>
        </p:nvSpPr>
        <p:spPr>
          <a:xfrm>
            <a:off x="621598" y="444500"/>
            <a:ext cx="176028" cy="176028"/>
          </a:xfrm>
          <a:prstGeom prst="ellipse">
            <a:avLst/>
          </a:prstGeom>
          <a:noFill/>
          <a:ln w="9525" cap="flat" cmpd="sng" algn="ctr">
            <a:solidFill>
              <a:srgbClr val="FFFFFF">
                <a:alpha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cxnSp>
        <p:nvCxnSpPr>
          <p:cNvPr id="130" name="直接连接符 129"/>
          <p:cNvCxnSpPr/>
          <p:nvPr/>
        </p:nvCxnSpPr>
        <p:spPr>
          <a:xfrm>
            <a:off x="797626" y="535781"/>
            <a:ext cx="969262" cy="0"/>
          </a:xfrm>
          <a:prstGeom prst="line">
            <a:avLst/>
          </a:prstGeom>
          <a:noFill/>
          <a:ln w="9525" cap="flat" cmpd="sng" algn="ctr">
            <a:solidFill>
              <a:srgbClr val="FFFFFF">
                <a:alpha val="80000"/>
              </a:srgbClr>
            </a:solidFill>
            <a:prstDash val="solid"/>
            <a:miter lim="800000"/>
          </a:ln>
          <a:effectLst/>
        </p:spPr>
      </p:cxnSp>
      <p:sp>
        <p:nvSpPr>
          <p:cNvPr id="134" name="椭圆 133"/>
          <p:cNvSpPr/>
          <p:nvPr/>
        </p:nvSpPr>
        <p:spPr>
          <a:xfrm rot="19172093">
            <a:off x="9171997" y="2035670"/>
            <a:ext cx="4035249" cy="4035249"/>
          </a:xfrm>
          <a:prstGeom prst="ellipse">
            <a:avLst/>
          </a:prstGeom>
          <a:gradFill>
            <a:gsLst>
              <a:gs pos="0">
                <a:srgbClr val="073F97">
                  <a:lumMod val="20000"/>
                  <a:lumOff val="80000"/>
                  <a:alpha val="5000"/>
                </a:srgbClr>
              </a:gs>
              <a:gs pos="75000">
                <a:srgbClr val="073F97">
                  <a:lumMod val="20000"/>
                  <a:lumOff val="80000"/>
                  <a:alpha val="0"/>
                </a:srgbClr>
              </a:gs>
            </a:gsLst>
            <a:lin ang="54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sp>
        <p:nvSpPr>
          <p:cNvPr id="135" name="椭圆 134"/>
          <p:cNvSpPr/>
          <p:nvPr/>
        </p:nvSpPr>
        <p:spPr>
          <a:xfrm rot="9939948">
            <a:off x="5980521" y="-2004212"/>
            <a:ext cx="3502136" cy="3502136"/>
          </a:xfrm>
          <a:prstGeom prst="ellipse">
            <a:avLst/>
          </a:prstGeom>
          <a:gradFill>
            <a:gsLst>
              <a:gs pos="0">
                <a:srgbClr val="073F97">
                  <a:lumMod val="20000"/>
                  <a:lumOff val="80000"/>
                  <a:alpha val="5000"/>
                </a:srgbClr>
              </a:gs>
              <a:gs pos="52000">
                <a:srgbClr val="073F97">
                  <a:lumMod val="20000"/>
                  <a:lumOff val="80000"/>
                  <a:alpha val="0"/>
                </a:srgbClr>
              </a:gs>
            </a:gsLst>
            <a:lin ang="54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grpSp>
        <p:nvGrpSpPr>
          <p:cNvPr id="141" name="组合 140"/>
          <p:cNvGrpSpPr/>
          <p:nvPr/>
        </p:nvGrpSpPr>
        <p:grpSpPr>
          <a:xfrm>
            <a:off x="489099" y="881952"/>
            <a:ext cx="274523" cy="3129650"/>
            <a:chOff x="-4651596" y="-2431303"/>
            <a:chExt cx="286657" cy="3267983"/>
          </a:xfrm>
        </p:grpSpPr>
        <p:cxnSp>
          <p:nvCxnSpPr>
            <p:cNvPr id="142" name="直接连接符 141"/>
            <p:cNvCxnSpPr/>
            <p:nvPr/>
          </p:nvCxnSpPr>
          <p:spPr>
            <a:xfrm rot="5400000">
              <a:off x="-4508267" y="-2574632"/>
              <a:ext cx="0" cy="286657"/>
            </a:xfrm>
            <a:prstGeom prst="line">
              <a:avLst/>
            </a:prstGeom>
            <a:noFill/>
            <a:ln w="25400" cap="flat" cmpd="sng" algn="ctr">
              <a:solidFill>
                <a:srgbClr val="FFFFFF">
                  <a:alpha val="6000"/>
                </a:srgbClr>
              </a:solidFill>
              <a:prstDash val="solid"/>
              <a:miter lim="800000"/>
            </a:ln>
            <a:effectLst/>
          </p:spPr>
        </p:cxnSp>
        <p:cxnSp>
          <p:nvCxnSpPr>
            <p:cNvPr id="143" name="直接连接符 142"/>
            <p:cNvCxnSpPr/>
            <p:nvPr/>
          </p:nvCxnSpPr>
          <p:spPr>
            <a:xfrm rot="5400000">
              <a:off x="-4562696" y="-2426833"/>
              <a:ext cx="0" cy="177800"/>
            </a:xfrm>
            <a:prstGeom prst="line">
              <a:avLst/>
            </a:prstGeom>
            <a:noFill/>
            <a:ln w="12700" cap="flat" cmpd="sng" algn="ctr">
              <a:solidFill>
                <a:srgbClr val="FFFFFF">
                  <a:alpha val="6000"/>
                </a:srgbClr>
              </a:solidFill>
              <a:prstDash val="solid"/>
              <a:miter lim="800000"/>
            </a:ln>
            <a:effectLst/>
          </p:spPr>
        </p:cxnSp>
        <p:cxnSp>
          <p:nvCxnSpPr>
            <p:cNvPr id="144" name="直接连接符 143"/>
            <p:cNvCxnSpPr/>
            <p:nvPr/>
          </p:nvCxnSpPr>
          <p:spPr>
            <a:xfrm rot="5400000">
              <a:off x="-4562696" y="-2333462"/>
              <a:ext cx="0" cy="177800"/>
            </a:xfrm>
            <a:prstGeom prst="line">
              <a:avLst/>
            </a:prstGeom>
            <a:noFill/>
            <a:ln w="12700" cap="flat" cmpd="sng" algn="ctr">
              <a:solidFill>
                <a:srgbClr val="FFFFFF">
                  <a:alpha val="6000"/>
                </a:srgbClr>
              </a:solidFill>
              <a:prstDash val="solid"/>
              <a:miter lim="800000"/>
            </a:ln>
            <a:effectLst/>
          </p:spPr>
        </p:cxnSp>
        <p:cxnSp>
          <p:nvCxnSpPr>
            <p:cNvPr id="145" name="直接连接符 144"/>
            <p:cNvCxnSpPr/>
            <p:nvPr/>
          </p:nvCxnSpPr>
          <p:spPr>
            <a:xfrm rot="5400000">
              <a:off x="-4562696" y="-2240091"/>
              <a:ext cx="0" cy="177800"/>
            </a:xfrm>
            <a:prstGeom prst="line">
              <a:avLst/>
            </a:prstGeom>
            <a:noFill/>
            <a:ln w="12700" cap="flat" cmpd="sng" algn="ctr">
              <a:solidFill>
                <a:srgbClr val="FFFFFF">
                  <a:alpha val="6000"/>
                </a:srgbClr>
              </a:solidFill>
              <a:prstDash val="solid"/>
              <a:miter lim="800000"/>
            </a:ln>
            <a:effectLst/>
          </p:spPr>
        </p:cxnSp>
        <p:cxnSp>
          <p:nvCxnSpPr>
            <p:cNvPr id="146" name="直接连接符 145"/>
            <p:cNvCxnSpPr/>
            <p:nvPr/>
          </p:nvCxnSpPr>
          <p:spPr>
            <a:xfrm rot="5400000">
              <a:off x="-4562696" y="-2146720"/>
              <a:ext cx="0" cy="177800"/>
            </a:xfrm>
            <a:prstGeom prst="line">
              <a:avLst/>
            </a:prstGeom>
            <a:noFill/>
            <a:ln w="12700" cap="flat" cmpd="sng" algn="ctr">
              <a:solidFill>
                <a:srgbClr val="FFFFFF">
                  <a:alpha val="6000"/>
                </a:srgbClr>
              </a:solidFill>
              <a:prstDash val="solid"/>
              <a:miter lim="800000"/>
            </a:ln>
            <a:effectLst/>
          </p:spPr>
        </p:cxnSp>
        <p:cxnSp>
          <p:nvCxnSpPr>
            <p:cNvPr id="147" name="直接连接符 146"/>
            <p:cNvCxnSpPr/>
            <p:nvPr/>
          </p:nvCxnSpPr>
          <p:spPr>
            <a:xfrm rot="5400000">
              <a:off x="-4508267" y="-2107777"/>
              <a:ext cx="0" cy="286657"/>
            </a:xfrm>
            <a:prstGeom prst="line">
              <a:avLst/>
            </a:prstGeom>
            <a:noFill/>
            <a:ln w="25400" cap="flat" cmpd="sng" algn="ctr">
              <a:solidFill>
                <a:srgbClr val="FFFFFF">
                  <a:alpha val="6000"/>
                </a:srgbClr>
              </a:solidFill>
              <a:prstDash val="solid"/>
              <a:miter lim="800000"/>
            </a:ln>
            <a:effectLst/>
          </p:spPr>
        </p:cxnSp>
        <p:cxnSp>
          <p:nvCxnSpPr>
            <p:cNvPr id="148" name="直接连接符 147"/>
            <p:cNvCxnSpPr/>
            <p:nvPr/>
          </p:nvCxnSpPr>
          <p:spPr>
            <a:xfrm rot="5400000">
              <a:off x="-4562696" y="-1959978"/>
              <a:ext cx="0" cy="177800"/>
            </a:xfrm>
            <a:prstGeom prst="line">
              <a:avLst/>
            </a:prstGeom>
            <a:noFill/>
            <a:ln w="12700" cap="flat" cmpd="sng" algn="ctr">
              <a:solidFill>
                <a:srgbClr val="FFFFFF">
                  <a:alpha val="6000"/>
                </a:srgbClr>
              </a:solidFill>
              <a:prstDash val="solid"/>
              <a:miter lim="800000"/>
            </a:ln>
            <a:effectLst/>
          </p:spPr>
        </p:cxnSp>
        <p:cxnSp>
          <p:nvCxnSpPr>
            <p:cNvPr id="149" name="直接连接符 148"/>
            <p:cNvCxnSpPr/>
            <p:nvPr/>
          </p:nvCxnSpPr>
          <p:spPr>
            <a:xfrm rot="5400000">
              <a:off x="-4562696" y="-1866607"/>
              <a:ext cx="0" cy="177800"/>
            </a:xfrm>
            <a:prstGeom prst="line">
              <a:avLst/>
            </a:prstGeom>
            <a:noFill/>
            <a:ln w="12700" cap="flat" cmpd="sng" algn="ctr">
              <a:solidFill>
                <a:srgbClr val="FFFFFF">
                  <a:alpha val="6000"/>
                </a:srgbClr>
              </a:solidFill>
              <a:prstDash val="solid"/>
              <a:miter lim="800000"/>
            </a:ln>
            <a:effectLst/>
          </p:spPr>
        </p:cxnSp>
        <p:cxnSp>
          <p:nvCxnSpPr>
            <p:cNvPr id="150" name="直接连接符 149"/>
            <p:cNvCxnSpPr/>
            <p:nvPr/>
          </p:nvCxnSpPr>
          <p:spPr>
            <a:xfrm rot="5400000">
              <a:off x="-4562696" y="-1773236"/>
              <a:ext cx="0" cy="177800"/>
            </a:xfrm>
            <a:prstGeom prst="line">
              <a:avLst/>
            </a:prstGeom>
            <a:noFill/>
            <a:ln w="12700" cap="flat" cmpd="sng" algn="ctr">
              <a:solidFill>
                <a:srgbClr val="FFFFFF">
                  <a:alpha val="6000"/>
                </a:srgbClr>
              </a:solidFill>
              <a:prstDash val="solid"/>
              <a:miter lim="800000"/>
            </a:ln>
            <a:effectLst/>
          </p:spPr>
        </p:cxnSp>
        <p:cxnSp>
          <p:nvCxnSpPr>
            <p:cNvPr id="151" name="直接连接符 150"/>
            <p:cNvCxnSpPr/>
            <p:nvPr/>
          </p:nvCxnSpPr>
          <p:spPr>
            <a:xfrm rot="5400000">
              <a:off x="-4562696" y="-1679865"/>
              <a:ext cx="0" cy="177800"/>
            </a:xfrm>
            <a:prstGeom prst="line">
              <a:avLst/>
            </a:prstGeom>
            <a:noFill/>
            <a:ln w="12700" cap="flat" cmpd="sng" algn="ctr">
              <a:solidFill>
                <a:srgbClr val="FFFFFF">
                  <a:alpha val="6000"/>
                </a:srgbClr>
              </a:solidFill>
              <a:prstDash val="solid"/>
              <a:miter lim="800000"/>
            </a:ln>
            <a:effectLst/>
          </p:spPr>
        </p:cxnSp>
        <p:cxnSp>
          <p:nvCxnSpPr>
            <p:cNvPr id="152" name="直接连接符 151"/>
            <p:cNvCxnSpPr/>
            <p:nvPr/>
          </p:nvCxnSpPr>
          <p:spPr>
            <a:xfrm rot="5400000">
              <a:off x="-4508267" y="-1640923"/>
              <a:ext cx="0" cy="286657"/>
            </a:xfrm>
            <a:prstGeom prst="line">
              <a:avLst/>
            </a:prstGeom>
            <a:noFill/>
            <a:ln w="25400" cap="flat" cmpd="sng" algn="ctr">
              <a:solidFill>
                <a:srgbClr val="FFFFFF">
                  <a:alpha val="6000"/>
                </a:srgbClr>
              </a:solidFill>
              <a:prstDash val="solid"/>
              <a:miter lim="800000"/>
            </a:ln>
            <a:effectLst/>
          </p:spPr>
        </p:cxnSp>
        <p:cxnSp>
          <p:nvCxnSpPr>
            <p:cNvPr id="153" name="直接连接符 152"/>
            <p:cNvCxnSpPr/>
            <p:nvPr/>
          </p:nvCxnSpPr>
          <p:spPr>
            <a:xfrm rot="5400000">
              <a:off x="-4562696" y="-1493123"/>
              <a:ext cx="0" cy="177800"/>
            </a:xfrm>
            <a:prstGeom prst="line">
              <a:avLst/>
            </a:prstGeom>
            <a:noFill/>
            <a:ln w="12700" cap="flat" cmpd="sng" algn="ctr">
              <a:solidFill>
                <a:srgbClr val="FFFFFF">
                  <a:alpha val="6000"/>
                </a:srgbClr>
              </a:solidFill>
              <a:prstDash val="solid"/>
              <a:miter lim="800000"/>
            </a:ln>
            <a:effectLst/>
          </p:spPr>
        </p:cxnSp>
        <p:cxnSp>
          <p:nvCxnSpPr>
            <p:cNvPr id="154" name="直接连接符 153"/>
            <p:cNvCxnSpPr/>
            <p:nvPr/>
          </p:nvCxnSpPr>
          <p:spPr>
            <a:xfrm rot="5400000">
              <a:off x="-4562696" y="-1399752"/>
              <a:ext cx="0" cy="177800"/>
            </a:xfrm>
            <a:prstGeom prst="line">
              <a:avLst/>
            </a:prstGeom>
            <a:noFill/>
            <a:ln w="12700" cap="flat" cmpd="sng" algn="ctr">
              <a:solidFill>
                <a:srgbClr val="FFFFFF">
                  <a:alpha val="6000"/>
                </a:srgbClr>
              </a:solidFill>
              <a:prstDash val="solid"/>
              <a:miter lim="800000"/>
            </a:ln>
            <a:effectLst/>
          </p:spPr>
        </p:cxnSp>
        <p:cxnSp>
          <p:nvCxnSpPr>
            <p:cNvPr id="155" name="直接连接符 154"/>
            <p:cNvCxnSpPr/>
            <p:nvPr/>
          </p:nvCxnSpPr>
          <p:spPr>
            <a:xfrm rot="5400000">
              <a:off x="-4562696" y="-1306381"/>
              <a:ext cx="0" cy="177800"/>
            </a:xfrm>
            <a:prstGeom prst="line">
              <a:avLst/>
            </a:prstGeom>
            <a:noFill/>
            <a:ln w="12700" cap="flat" cmpd="sng" algn="ctr">
              <a:solidFill>
                <a:srgbClr val="FFFFFF">
                  <a:alpha val="6000"/>
                </a:srgbClr>
              </a:solidFill>
              <a:prstDash val="solid"/>
              <a:miter lim="800000"/>
            </a:ln>
            <a:effectLst/>
          </p:spPr>
        </p:cxnSp>
        <p:cxnSp>
          <p:nvCxnSpPr>
            <p:cNvPr id="156" name="直接连接符 155"/>
            <p:cNvCxnSpPr/>
            <p:nvPr/>
          </p:nvCxnSpPr>
          <p:spPr>
            <a:xfrm rot="5400000">
              <a:off x="-4562696" y="-1213010"/>
              <a:ext cx="0" cy="177800"/>
            </a:xfrm>
            <a:prstGeom prst="line">
              <a:avLst/>
            </a:prstGeom>
            <a:noFill/>
            <a:ln w="12700" cap="flat" cmpd="sng" algn="ctr">
              <a:solidFill>
                <a:srgbClr val="FFFFFF">
                  <a:alpha val="6000"/>
                </a:srgbClr>
              </a:solidFill>
              <a:prstDash val="solid"/>
              <a:miter lim="800000"/>
            </a:ln>
            <a:effectLst/>
          </p:spPr>
        </p:cxnSp>
        <p:cxnSp>
          <p:nvCxnSpPr>
            <p:cNvPr id="157" name="直接连接符 156"/>
            <p:cNvCxnSpPr/>
            <p:nvPr/>
          </p:nvCxnSpPr>
          <p:spPr>
            <a:xfrm rot="5400000">
              <a:off x="-4508267" y="-1174068"/>
              <a:ext cx="0" cy="286657"/>
            </a:xfrm>
            <a:prstGeom prst="line">
              <a:avLst/>
            </a:prstGeom>
            <a:noFill/>
            <a:ln w="25400" cap="flat" cmpd="sng" algn="ctr">
              <a:solidFill>
                <a:srgbClr val="FFFFFF">
                  <a:alpha val="6000"/>
                </a:srgbClr>
              </a:solidFill>
              <a:prstDash val="solid"/>
              <a:miter lim="800000"/>
            </a:ln>
            <a:effectLst/>
          </p:spPr>
        </p:cxnSp>
        <p:cxnSp>
          <p:nvCxnSpPr>
            <p:cNvPr id="158" name="直接连接符 157"/>
            <p:cNvCxnSpPr/>
            <p:nvPr/>
          </p:nvCxnSpPr>
          <p:spPr>
            <a:xfrm rot="5400000">
              <a:off x="-4562696" y="-1026269"/>
              <a:ext cx="0" cy="177800"/>
            </a:xfrm>
            <a:prstGeom prst="line">
              <a:avLst/>
            </a:prstGeom>
            <a:noFill/>
            <a:ln w="12700" cap="flat" cmpd="sng" algn="ctr">
              <a:solidFill>
                <a:srgbClr val="FFFFFF">
                  <a:alpha val="6000"/>
                </a:srgbClr>
              </a:solidFill>
              <a:prstDash val="solid"/>
              <a:miter lim="800000"/>
            </a:ln>
            <a:effectLst/>
          </p:spPr>
        </p:cxnSp>
        <p:cxnSp>
          <p:nvCxnSpPr>
            <p:cNvPr id="159" name="直接连接符 158"/>
            <p:cNvCxnSpPr/>
            <p:nvPr/>
          </p:nvCxnSpPr>
          <p:spPr>
            <a:xfrm rot="5400000">
              <a:off x="-4562696" y="-932898"/>
              <a:ext cx="0" cy="177800"/>
            </a:xfrm>
            <a:prstGeom prst="line">
              <a:avLst/>
            </a:prstGeom>
            <a:noFill/>
            <a:ln w="12700" cap="flat" cmpd="sng" algn="ctr">
              <a:solidFill>
                <a:srgbClr val="FFFFFF">
                  <a:alpha val="6000"/>
                </a:srgbClr>
              </a:solidFill>
              <a:prstDash val="solid"/>
              <a:miter lim="800000"/>
            </a:ln>
            <a:effectLst/>
          </p:spPr>
        </p:cxnSp>
        <p:cxnSp>
          <p:nvCxnSpPr>
            <p:cNvPr id="160" name="直接连接符 159"/>
            <p:cNvCxnSpPr/>
            <p:nvPr/>
          </p:nvCxnSpPr>
          <p:spPr>
            <a:xfrm rot="5400000">
              <a:off x="-4562696" y="-839527"/>
              <a:ext cx="0" cy="177800"/>
            </a:xfrm>
            <a:prstGeom prst="line">
              <a:avLst/>
            </a:prstGeom>
            <a:noFill/>
            <a:ln w="12700" cap="flat" cmpd="sng" algn="ctr">
              <a:solidFill>
                <a:srgbClr val="FFFFFF">
                  <a:alpha val="6000"/>
                </a:srgbClr>
              </a:solidFill>
              <a:prstDash val="solid"/>
              <a:miter lim="800000"/>
            </a:ln>
            <a:effectLst/>
          </p:spPr>
        </p:cxnSp>
        <p:cxnSp>
          <p:nvCxnSpPr>
            <p:cNvPr id="161" name="直接连接符 160"/>
            <p:cNvCxnSpPr/>
            <p:nvPr/>
          </p:nvCxnSpPr>
          <p:spPr>
            <a:xfrm rot="5400000">
              <a:off x="-4562696" y="-746156"/>
              <a:ext cx="0" cy="177800"/>
            </a:xfrm>
            <a:prstGeom prst="line">
              <a:avLst/>
            </a:prstGeom>
            <a:noFill/>
            <a:ln w="12700" cap="flat" cmpd="sng" algn="ctr">
              <a:solidFill>
                <a:srgbClr val="FFFFFF">
                  <a:alpha val="6000"/>
                </a:srgbClr>
              </a:solidFill>
              <a:prstDash val="solid"/>
              <a:miter lim="800000"/>
            </a:ln>
            <a:effectLst/>
          </p:spPr>
        </p:cxnSp>
        <p:cxnSp>
          <p:nvCxnSpPr>
            <p:cNvPr id="162" name="直接连接符 161"/>
            <p:cNvCxnSpPr/>
            <p:nvPr/>
          </p:nvCxnSpPr>
          <p:spPr>
            <a:xfrm rot="5400000">
              <a:off x="-4508267" y="-707213"/>
              <a:ext cx="0" cy="286657"/>
            </a:xfrm>
            <a:prstGeom prst="line">
              <a:avLst/>
            </a:prstGeom>
            <a:noFill/>
            <a:ln w="25400" cap="flat" cmpd="sng" algn="ctr">
              <a:solidFill>
                <a:srgbClr val="FFFFFF">
                  <a:alpha val="6000"/>
                </a:srgbClr>
              </a:solidFill>
              <a:prstDash val="solid"/>
              <a:miter lim="800000"/>
            </a:ln>
            <a:effectLst/>
          </p:spPr>
        </p:cxnSp>
        <p:cxnSp>
          <p:nvCxnSpPr>
            <p:cNvPr id="163" name="直接连接符 162"/>
            <p:cNvCxnSpPr/>
            <p:nvPr/>
          </p:nvCxnSpPr>
          <p:spPr>
            <a:xfrm rot="5400000">
              <a:off x="-4562696" y="-559414"/>
              <a:ext cx="0" cy="177800"/>
            </a:xfrm>
            <a:prstGeom prst="line">
              <a:avLst/>
            </a:prstGeom>
            <a:noFill/>
            <a:ln w="12700" cap="flat" cmpd="sng" algn="ctr">
              <a:solidFill>
                <a:srgbClr val="FFFFFF">
                  <a:alpha val="6000"/>
                </a:srgbClr>
              </a:solidFill>
              <a:prstDash val="solid"/>
              <a:miter lim="800000"/>
            </a:ln>
            <a:effectLst/>
          </p:spPr>
        </p:cxnSp>
        <p:cxnSp>
          <p:nvCxnSpPr>
            <p:cNvPr id="164" name="直接连接符 163"/>
            <p:cNvCxnSpPr/>
            <p:nvPr/>
          </p:nvCxnSpPr>
          <p:spPr>
            <a:xfrm rot="5400000">
              <a:off x="-4562696" y="-466043"/>
              <a:ext cx="0" cy="177800"/>
            </a:xfrm>
            <a:prstGeom prst="line">
              <a:avLst/>
            </a:prstGeom>
            <a:noFill/>
            <a:ln w="12700" cap="flat" cmpd="sng" algn="ctr">
              <a:solidFill>
                <a:srgbClr val="FFFFFF">
                  <a:alpha val="6000"/>
                </a:srgbClr>
              </a:solidFill>
              <a:prstDash val="solid"/>
              <a:miter lim="800000"/>
            </a:ln>
            <a:effectLst/>
          </p:spPr>
        </p:cxnSp>
        <p:cxnSp>
          <p:nvCxnSpPr>
            <p:cNvPr id="165" name="直接连接符 164"/>
            <p:cNvCxnSpPr/>
            <p:nvPr/>
          </p:nvCxnSpPr>
          <p:spPr>
            <a:xfrm rot="5400000">
              <a:off x="-4562696" y="-372672"/>
              <a:ext cx="0" cy="177800"/>
            </a:xfrm>
            <a:prstGeom prst="line">
              <a:avLst/>
            </a:prstGeom>
            <a:noFill/>
            <a:ln w="12700" cap="flat" cmpd="sng" algn="ctr">
              <a:solidFill>
                <a:srgbClr val="FFFFFF">
                  <a:alpha val="6000"/>
                </a:srgbClr>
              </a:solidFill>
              <a:prstDash val="solid"/>
              <a:miter lim="800000"/>
            </a:ln>
            <a:effectLst/>
          </p:spPr>
        </p:cxnSp>
        <p:cxnSp>
          <p:nvCxnSpPr>
            <p:cNvPr id="166" name="直接连接符 165"/>
            <p:cNvCxnSpPr/>
            <p:nvPr/>
          </p:nvCxnSpPr>
          <p:spPr>
            <a:xfrm rot="5400000">
              <a:off x="-4562696" y="-279301"/>
              <a:ext cx="0" cy="177800"/>
            </a:xfrm>
            <a:prstGeom prst="line">
              <a:avLst/>
            </a:prstGeom>
            <a:noFill/>
            <a:ln w="12700" cap="flat" cmpd="sng" algn="ctr">
              <a:solidFill>
                <a:srgbClr val="FFFFFF">
                  <a:alpha val="6000"/>
                </a:srgbClr>
              </a:solidFill>
              <a:prstDash val="solid"/>
              <a:miter lim="800000"/>
            </a:ln>
            <a:effectLst/>
          </p:spPr>
        </p:cxnSp>
        <p:cxnSp>
          <p:nvCxnSpPr>
            <p:cNvPr id="167" name="直接连接符 166"/>
            <p:cNvCxnSpPr/>
            <p:nvPr/>
          </p:nvCxnSpPr>
          <p:spPr>
            <a:xfrm rot="5400000">
              <a:off x="-4508267" y="-240359"/>
              <a:ext cx="0" cy="286657"/>
            </a:xfrm>
            <a:prstGeom prst="line">
              <a:avLst/>
            </a:prstGeom>
            <a:noFill/>
            <a:ln w="25400" cap="flat" cmpd="sng" algn="ctr">
              <a:solidFill>
                <a:srgbClr val="FFFFFF">
                  <a:alpha val="6000"/>
                </a:srgbClr>
              </a:solidFill>
              <a:prstDash val="solid"/>
              <a:miter lim="800000"/>
            </a:ln>
            <a:effectLst/>
          </p:spPr>
        </p:cxnSp>
        <p:cxnSp>
          <p:nvCxnSpPr>
            <p:cNvPr id="168" name="直接连接符 167"/>
            <p:cNvCxnSpPr/>
            <p:nvPr/>
          </p:nvCxnSpPr>
          <p:spPr>
            <a:xfrm rot="5400000">
              <a:off x="-4562696" y="-92559"/>
              <a:ext cx="0" cy="177800"/>
            </a:xfrm>
            <a:prstGeom prst="line">
              <a:avLst/>
            </a:prstGeom>
            <a:noFill/>
            <a:ln w="12700" cap="flat" cmpd="sng" algn="ctr">
              <a:solidFill>
                <a:srgbClr val="FFFFFF">
                  <a:alpha val="6000"/>
                </a:srgbClr>
              </a:solidFill>
              <a:prstDash val="solid"/>
              <a:miter lim="800000"/>
            </a:ln>
            <a:effectLst/>
          </p:spPr>
        </p:cxnSp>
        <p:cxnSp>
          <p:nvCxnSpPr>
            <p:cNvPr id="169" name="直接连接符 168"/>
            <p:cNvCxnSpPr/>
            <p:nvPr/>
          </p:nvCxnSpPr>
          <p:spPr>
            <a:xfrm rot="5400000">
              <a:off x="-4562696" y="812"/>
              <a:ext cx="0" cy="177800"/>
            </a:xfrm>
            <a:prstGeom prst="line">
              <a:avLst/>
            </a:prstGeom>
            <a:noFill/>
            <a:ln w="12700" cap="flat" cmpd="sng" algn="ctr">
              <a:solidFill>
                <a:srgbClr val="FFFFFF">
                  <a:alpha val="6000"/>
                </a:srgbClr>
              </a:solidFill>
              <a:prstDash val="solid"/>
              <a:miter lim="800000"/>
            </a:ln>
            <a:effectLst/>
          </p:spPr>
        </p:cxnSp>
        <p:cxnSp>
          <p:nvCxnSpPr>
            <p:cNvPr id="170" name="直接连接符 169"/>
            <p:cNvCxnSpPr/>
            <p:nvPr/>
          </p:nvCxnSpPr>
          <p:spPr>
            <a:xfrm rot="5400000">
              <a:off x="-4562696" y="94183"/>
              <a:ext cx="0" cy="177800"/>
            </a:xfrm>
            <a:prstGeom prst="line">
              <a:avLst/>
            </a:prstGeom>
            <a:noFill/>
            <a:ln w="12700" cap="flat" cmpd="sng" algn="ctr">
              <a:solidFill>
                <a:srgbClr val="FFFFFF">
                  <a:alpha val="6000"/>
                </a:srgbClr>
              </a:solidFill>
              <a:prstDash val="solid"/>
              <a:miter lim="800000"/>
            </a:ln>
            <a:effectLst/>
          </p:spPr>
        </p:cxnSp>
        <p:cxnSp>
          <p:nvCxnSpPr>
            <p:cNvPr id="171" name="直接连接符 170"/>
            <p:cNvCxnSpPr/>
            <p:nvPr/>
          </p:nvCxnSpPr>
          <p:spPr>
            <a:xfrm rot="5400000">
              <a:off x="-4562696" y="187554"/>
              <a:ext cx="0" cy="177800"/>
            </a:xfrm>
            <a:prstGeom prst="line">
              <a:avLst/>
            </a:prstGeom>
            <a:noFill/>
            <a:ln w="12700" cap="flat" cmpd="sng" algn="ctr">
              <a:solidFill>
                <a:srgbClr val="FFFFFF">
                  <a:alpha val="6000"/>
                </a:srgbClr>
              </a:solidFill>
              <a:prstDash val="solid"/>
              <a:miter lim="800000"/>
            </a:ln>
            <a:effectLst/>
          </p:spPr>
        </p:cxnSp>
        <p:cxnSp>
          <p:nvCxnSpPr>
            <p:cNvPr id="172" name="直接连接符 171"/>
            <p:cNvCxnSpPr/>
            <p:nvPr/>
          </p:nvCxnSpPr>
          <p:spPr>
            <a:xfrm rot="5400000">
              <a:off x="-4508267" y="226496"/>
              <a:ext cx="0" cy="286657"/>
            </a:xfrm>
            <a:prstGeom prst="line">
              <a:avLst/>
            </a:prstGeom>
            <a:noFill/>
            <a:ln w="25400" cap="flat" cmpd="sng" algn="ctr">
              <a:solidFill>
                <a:srgbClr val="FFFFFF">
                  <a:alpha val="6000"/>
                </a:srgbClr>
              </a:solidFill>
              <a:prstDash val="solid"/>
              <a:miter lim="800000"/>
            </a:ln>
            <a:effectLst/>
          </p:spPr>
        </p:cxnSp>
        <p:cxnSp>
          <p:nvCxnSpPr>
            <p:cNvPr id="173" name="直接连接符 172"/>
            <p:cNvCxnSpPr/>
            <p:nvPr/>
          </p:nvCxnSpPr>
          <p:spPr>
            <a:xfrm rot="5400000">
              <a:off x="-4562696" y="374296"/>
              <a:ext cx="0" cy="177800"/>
            </a:xfrm>
            <a:prstGeom prst="line">
              <a:avLst/>
            </a:prstGeom>
            <a:noFill/>
            <a:ln w="12700" cap="flat" cmpd="sng" algn="ctr">
              <a:solidFill>
                <a:srgbClr val="FFFFFF">
                  <a:alpha val="6000"/>
                </a:srgbClr>
              </a:solidFill>
              <a:prstDash val="solid"/>
              <a:miter lim="800000"/>
            </a:ln>
            <a:effectLst/>
          </p:spPr>
        </p:cxnSp>
        <p:cxnSp>
          <p:nvCxnSpPr>
            <p:cNvPr id="174" name="直接连接符 173"/>
            <p:cNvCxnSpPr/>
            <p:nvPr/>
          </p:nvCxnSpPr>
          <p:spPr>
            <a:xfrm rot="5400000">
              <a:off x="-4562696" y="467666"/>
              <a:ext cx="0" cy="177800"/>
            </a:xfrm>
            <a:prstGeom prst="line">
              <a:avLst/>
            </a:prstGeom>
            <a:noFill/>
            <a:ln w="12700" cap="flat" cmpd="sng" algn="ctr">
              <a:solidFill>
                <a:srgbClr val="FFFFFF">
                  <a:alpha val="6000"/>
                </a:srgbClr>
              </a:solidFill>
              <a:prstDash val="solid"/>
              <a:miter lim="800000"/>
            </a:ln>
            <a:effectLst/>
          </p:spPr>
        </p:cxnSp>
        <p:cxnSp>
          <p:nvCxnSpPr>
            <p:cNvPr id="175" name="直接连接符 174"/>
            <p:cNvCxnSpPr/>
            <p:nvPr/>
          </p:nvCxnSpPr>
          <p:spPr>
            <a:xfrm rot="5400000">
              <a:off x="-4562696" y="561037"/>
              <a:ext cx="0" cy="177800"/>
            </a:xfrm>
            <a:prstGeom prst="line">
              <a:avLst/>
            </a:prstGeom>
            <a:noFill/>
            <a:ln w="12700" cap="flat" cmpd="sng" algn="ctr">
              <a:solidFill>
                <a:srgbClr val="FFFFFF">
                  <a:alpha val="6000"/>
                </a:srgbClr>
              </a:solidFill>
              <a:prstDash val="solid"/>
              <a:miter lim="800000"/>
            </a:ln>
            <a:effectLst/>
          </p:spPr>
        </p:cxnSp>
        <p:cxnSp>
          <p:nvCxnSpPr>
            <p:cNvPr id="176" name="直接连接符 175"/>
            <p:cNvCxnSpPr/>
            <p:nvPr/>
          </p:nvCxnSpPr>
          <p:spPr>
            <a:xfrm rot="5400000">
              <a:off x="-4562696" y="654408"/>
              <a:ext cx="0" cy="177800"/>
            </a:xfrm>
            <a:prstGeom prst="line">
              <a:avLst/>
            </a:prstGeom>
            <a:noFill/>
            <a:ln w="12700" cap="flat" cmpd="sng" algn="ctr">
              <a:solidFill>
                <a:srgbClr val="FFFFFF">
                  <a:alpha val="6000"/>
                </a:srgbClr>
              </a:solidFill>
              <a:prstDash val="solid"/>
              <a:miter lim="800000"/>
            </a:ln>
            <a:effectLst/>
          </p:spPr>
        </p:cxnSp>
        <p:cxnSp>
          <p:nvCxnSpPr>
            <p:cNvPr id="177" name="直接连接符 176"/>
            <p:cNvCxnSpPr/>
            <p:nvPr/>
          </p:nvCxnSpPr>
          <p:spPr>
            <a:xfrm rot="5400000">
              <a:off x="-4508267" y="693351"/>
              <a:ext cx="0" cy="286657"/>
            </a:xfrm>
            <a:prstGeom prst="line">
              <a:avLst/>
            </a:prstGeom>
            <a:noFill/>
            <a:ln w="25400" cap="flat" cmpd="sng" algn="ctr">
              <a:solidFill>
                <a:srgbClr val="FFFFFF">
                  <a:alpha val="6000"/>
                </a:srgbClr>
              </a:solidFill>
              <a:prstDash val="solid"/>
              <a:miter lim="800000"/>
            </a:ln>
            <a:effectLst/>
          </p:spPr>
        </p:cxnSp>
      </p:grpSp>
      <p:grpSp>
        <p:nvGrpSpPr>
          <p:cNvPr id="178" name="组合 177"/>
          <p:cNvGrpSpPr/>
          <p:nvPr/>
        </p:nvGrpSpPr>
        <p:grpSpPr>
          <a:xfrm flipH="1">
            <a:off x="11426344" y="881952"/>
            <a:ext cx="274523" cy="3129650"/>
            <a:chOff x="-4651596" y="-2431303"/>
            <a:chExt cx="286657" cy="3267983"/>
          </a:xfrm>
        </p:grpSpPr>
        <p:cxnSp>
          <p:nvCxnSpPr>
            <p:cNvPr id="179" name="直接连接符 178"/>
            <p:cNvCxnSpPr/>
            <p:nvPr/>
          </p:nvCxnSpPr>
          <p:spPr>
            <a:xfrm rot="5400000">
              <a:off x="-4508267" y="-2574632"/>
              <a:ext cx="0" cy="286657"/>
            </a:xfrm>
            <a:prstGeom prst="line">
              <a:avLst/>
            </a:prstGeom>
            <a:noFill/>
            <a:ln w="25400" cap="flat" cmpd="sng" algn="ctr">
              <a:solidFill>
                <a:srgbClr val="FFFFFF">
                  <a:alpha val="6000"/>
                </a:srgbClr>
              </a:solidFill>
              <a:prstDash val="solid"/>
              <a:miter lim="800000"/>
            </a:ln>
            <a:effectLst/>
          </p:spPr>
        </p:cxnSp>
        <p:cxnSp>
          <p:nvCxnSpPr>
            <p:cNvPr id="180" name="直接连接符 179"/>
            <p:cNvCxnSpPr/>
            <p:nvPr/>
          </p:nvCxnSpPr>
          <p:spPr>
            <a:xfrm rot="5400000">
              <a:off x="-4562696" y="-2426833"/>
              <a:ext cx="0" cy="177800"/>
            </a:xfrm>
            <a:prstGeom prst="line">
              <a:avLst/>
            </a:prstGeom>
            <a:noFill/>
            <a:ln w="12700" cap="flat" cmpd="sng" algn="ctr">
              <a:solidFill>
                <a:srgbClr val="FFFFFF">
                  <a:alpha val="6000"/>
                </a:srgbClr>
              </a:solidFill>
              <a:prstDash val="solid"/>
              <a:miter lim="800000"/>
            </a:ln>
            <a:effectLst/>
          </p:spPr>
        </p:cxnSp>
        <p:cxnSp>
          <p:nvCxnSpPr>
            <p:cNvPr id="181" name="直接连接符 180"/>
            <p:cNvCxnSpPr/>
            <p:nvPr/>
          </p:nvCxnSpPr>
          <p:spPr>
            <a:xfrm rot="5400000">
              <a:off x="-4562696" y="-2333462"/>
              <a:ext cx="0" cy="177800"/>
            </a:xfrm>
            <a:prstGeom prst="line">
              <a:avLst/>
            </a:prstGeom>
            <a:noFill/>
            <a:ln w="12700" cap="flat" cmpd="sng" algn="ctr">
              <a:solidFill>
                <a:srgbClr val="FFFFFF">
                  <a:alpha val="6000"/>
                </a:srgbClr>
              </a:solidFill>
              <a:prstDash val="solid"/>
              <a:miter lim="800000"/>
            </a:ln>
            <a:effectLst/>
          </p:spPr>
        </p:cxnSp>
        <p:cxnSp>
          <p:nvCxnSpPr>
            <p:cNvPr id="182" name="直接连接符 181"/>
            <p:cNvCxnSpPr/>
            <p:nvPr/>
          </p:nvCxnSpPr>
          <p:spPr>
            <a:xfrm rot="5400000">
              <a:off x="-4562696" y="-2240091"/>
              <a:ext cx="0" cy="177800"/>
            </a:xfrm>
            <a:prstGeom prst="line">
              <a:avLst/>
            </a:prstGeom>
            <a:noFill/>
            <a:ln w="12700" cap="flat" cmpd="sng" algn="ctr">
              <a:solidFill>
                <a:srgbClr val="FFFFFF">
                  <a:alpha val="6000"/>
                </a:srgbClr>
              </a:solidFill>
              <a:prstDash val="solid"/>
              <a:miter lim="800000"/>
            </a:ln>
            <a:effectLst/>
          </p:spPr>
        </p:cxnSp>
        <p:cxnSp>
          <p:nvCxnSpPr>
            <p:cNvPr id="183" name="直接连接符 182"/>
            <p:cNvCxnSpPr/>
            <p:nvPr/>
          </p:nvCxnSpPr>
          <p:spPr>
            <a:xfrm rot="5400000">
              <a:off x="-4562696" y="-2146720"/>
              <a:ext cx="0" cy="177800"/>
            </a:xfrm>
            <a:prstGeom prst="line">
              <a:avLst/>
            </a:prstGeom>
            <a:noFill/>
            <a:ln w="12700" cap="flat" cmpd="sng" algn="ctr">
              <a:solidFill>
                <a:srgbClr val="FFFFFF">
                  <a:alpha val="6000"/>
                </a:srgbClr>
              </a:solidFill>
              <a:prstDash val="solid"/>
              <a:miter lim="800000"/>
            </a:ln>
            <a:effectLst/>
          </p:spPr>
        </p:cxnSp>
        <p:cxnSp>
          <p:nvCxnSpPr>
            <p:cNvPr id="184" name="直接连接符 183"/>
            <p:cNvCxnSpPr/>
            <p:nvPr/>
          </p:nvCxnSpPr>
          <p:spPr>
            <a:xfrm rot="5400000">
              <a:off x="-4508267" y="-2107777"/>
              <a:ext cx="0" cy="286657"/>
            </a:xfrm>
            <a:prstGeom prst="line">
              <a:avLst/>
            </a:prstGeom>
            <a:noFill/>
            <a:ln w="25400" cap="flat" cmpd="sng" algn="ctr">
              <a:solidFill>
                <a:srgbClr val="FFFFFF">
                  <a:alpha val="6000"/>
                </a:srgbClr>
              </a:solidFill>
              <a:prstDash val="solid"/>
              <a:miter lim="800000"/>
            </a:ln>
            <a:effectLst/>
          </p:spPr>
        </p:cxnSp>
        <p:cxnSp>
          <p:nvCxnSpPr>
            <p:cNvPr id="185" name="直接连接符 184"/>
            <p:cNvCxnSpPr/>
            <p:nvPr/>
          </p:nvCxnSpPr>
          <p:spPr>
            <a:xfrm rot="5400000">
              <a:off x="-4562696" y="-1959978"/>
              <a:ext cx="0" cy="177800"/>
            </a:xfrm>
            <a:prstGeom prst="line">
              <a:avLst/>
            </a:prstGeom>
            <a:noFill/>
            <a:ln w="12700" cap="flat" cmpd="sng" algn="ctr">
              <a:solidFill>
                <a:srgbClr val="FFFFFF">
                  <a:alpha val="6000"/>
                </a:srgbClr>
              </a:solidFill>
              <a:prstDash val="solid"/>
              <a:miter lim="800000"/>
            </a:ln>
            <a:effectLst/>
          </p:spPr>
        </p:cxnSp>
        <p:cxnSp>
          <p:nvCxnSpPr>
            <p:cNvPr id="186" name="直接连接符 185"/>
            <p:cNvCxnSpPr/>
            <p:nvPr/>
          </p:nvCxnSpPr>
          <p:spPr>
            <a:xfrm rot="5400000">
              <a:off x="-4562696" y="-1866607"/>
              <a:ext cx="0" cy="177800"/>
            </a:xfrm>
            <a:prstGeom prst="line">
              <a:avLst/>
            </a:prstGeom>
            <a:noFill/>
            <a:ln w="12700" cap="flat" cmpd="sng" algn="ctr">
              <a:solidFill>
                <a:srgbClr val="FFFFFF">
                  <a:alpha val="6000"/>
                </a:srgbClr>
              </a:solidFill>
              <a:prstDash val="solid"/>
              <a:miter lim="800000"/>
            </a:ln>
            <a:effectLst/>
          </p:spPr>
        </p:cxnSp>
        <p:cxnSp>
          <p:nvCxnSpPr>
            <p:cNvPr id="187" name="直接连接符 186"/>
            <p:cNvCxnSpPr/>
            <p:nvPr/>
          </p:nvCxnSpPr>
          <p:spPr>
            <a:xfrm rot="5400000">
              <a:off x="-4562696" y="-1773236"/>
              <a:ext cx="0" cy="177800"/>
            </a:xfrm>
            <a:prstGeom prst="line">
              <a:avLst/>
            </a:prstGeom>
            <a:noFill/>
            <a:ln w="12700" cap="flat" cmpd="sng" algn="ctr">
              <a:solidFill>
                <a:srgbClr val="FFFFFF">
                  <a:alpha val="6000"/>
                </a:srgbClr>
              </a:solidFill>
              <a:prstDash val="solid"/>
              <a:miter lim="800000"/>
            </a:ln>
            <a:effectLst/>
          </p:spPr>
        </p:cxnSp>
        <p:cxnSp>
          <p:nvCxnSpPr>
            <p:cNvPr id="188" name="直接连接符 187"/>
            <p:cNvCxnSpPr/>
            <p:nvPr/>
          </p:nvCxnSpPr>
          <p:spPr>
            <a:xfrm rot="5400000">
              <a:off x="-4562696" y="-1679865"/>
              <a:ext cx="0" cy="177800"/>
            </a:xfrm>
            <a:prstGeom prst="line">
              <a:avLst/>
            </a:prstGeom>
            <a:noFill/>
            <a:ln w="12700" cap="flat" cmpd="sng" algn="ctr">
              <a:solidFill>
                <a:srgbClr val="FFFFFF">
                  <a:alpha val="6000"/>
                </a:srgbClr>
              </a:solidFill>
              <a:prstDash val="solid"/>
              <a:miter lim="800000"/>
            </a:ln>
            <a:effectLst/>
          </p:spPr>
        </p:cxnSp>
        <p:cxnSp>
          <p:nvCxnSpPr>
            <p:cNvPr id="189" name="直接连接符 188"/>
            <p:cNvCxnSpPr/>
            <p:nvPr/>
          </p:nvCxnSpPr>
          <p:spPr>
            <a:xfrm rot="5400000">
              <a:off x="-4508267" y="-1640923"/>
              <a:ext cx="0" cy="286657"/>
            </a:xfrm>
            <a:prstGeom prst="line">
              <a:avLst/>
            </a:prstGeom>
            <a:noFill/>
            <a:ln w="25400" cap="flat" cmpd="sng" algn="ctr">
              <a:solidFill>
                <a:srgbClr val="FFFFFF">
                  <a:alpha val="6000"/>
                </a:srgbClr>
              </a:solidFill>
              <a:prstDash val="solid"/>
              <a:miter lim="800000"/>
            </a:ln>
            <a:effectLst/>
          </p:spPr>
        </p:cxnSp>
        <p:cxnSp>
          <p:nvCxnSpPr>
            <p:cNvPr id="190" name="直接连接符 189"/>
            <p:cNvCxnSpPr/>
            <p:nvPr/>
          </p:nvCxnSpPr>
          <p:spPr>
            <a:xfrm rot="5400000">
              <a:off x="-4562696" y="-1493123"/>
              <a:ext cx="0" cy="177800"/>
            </a:xfrm>
            <a:prstGeom prst="line">
              <a:avLst/>
            </a:prstGeom>
            <a:noFill/>
            <a:ln w="12700" cap="flat" cmpd="sng" algn="ctr">
              <a:solidFill>
                <a:srgbClr val="FFFFFF">
                  <a:alpha val="6000"/>
                </a:srgbClr>
              </a:solidFill>
              <a:prstDash val="solid"/>
              <a:miter lim="800000"/>
            </a:ln>
            <a:effectLst/>
          </p:spPr>
        </p:cxnSp>
        <p:cxnSp>
          <p:nvCxnSpPr>
            <p:cNvPr id="191" name="直接连接符 190"/>
            <p:cNvCxnSpPr/>
            <p:nvPr/>
          </p:nvCxnSpPr>
          <p:spPr>
            <a:xfrm rot="5400000">
              <a:off x="-4562696" y="-1399752"/>
              <a:ext cx="0" cy="177800"/>
            </a:xfrm>
            <a:prstGeom prst="line">
              <a:avLst/>
            </a:prstGeom>
            <a:noFill/>
            <a:ln w="12700" cap="flat" cmpd="sng" algn="ctr">
              <a:solidFill>
                <a:srgbClr val="FFFFFF">
                  <a:alpha val="6000"/>
                </a:srgbClr>
              </a:solidFill>
              <a:prstDash val="solid"/>
              <a:miter lim="800000"/>
            </a:ln>
            <a:effectLst/>
          </p:spPr>
        </p:cxnSp>
        <p:cxnSp>
          <p:nvCxnSpPr>
            <p:cNvPr id="192" name="直接连接符 191"/>
            <p:cNvCxnSpPr/>
            <p:nvPr/>
          </p:nvCxnSpPr>
          <p:spPr>
            <a:xfrm rot="5400000">
              <a:off x="-4562696" y="-1306381"/>
              <a:ext cx="0" cy="177800"/>
            </a:xfrm>
            <a:prstGeom prst="line">
              <a:avLst/>
            </a:prstGeom>
            <a:noFill/>
            <a:ln w="12700" cap="flat" cmpd="sng" algn="ctr">
              <a:solidFill>
                <a:srgbClr val="FFFFFF">
                  <a:alpha val="6000"/>
                </a:srgbClr>
              </a:solidFill>
              <a:prstDash val="solid"/>
              <a:miter lim="800000"/>
            </a:ln>
            <a:effectLst/>
          </p:spPr>
        </p:cxnSp>
        <p:cxnSp>
          <p:nvCxnSpPr>
            <p:cNvPr id="193" name="直接连接符 192"/>
            <p:cNvCxnSpPr/>
            <p:nvPr/>
          </p:nvCxnSpPr>
          <p:spPr>
            <a:xfrm rot="5400000">
              <a:off x="-4562696" y="-1213010"/>
              <a:ext cx="0" cy="177800"/>
            </a:xfrm>
            <a:prstGeom prst="line">
              <a:avLst/>
            </a:prstGeom>
            <a:noFill/>
            <a:ln w="12700" cap="flat" cmpd="sng" algn="ctr">
              <a:solidFill>
                <a:srgbClr val="FFFFFF">
                  <a:alpha val="6000"/>
                </a:srgbClr>
              </a:solidFill>
              <a:prstDash val="solid"/>
              <a:miter lim="800000"/>
            </a:ln>
            <a:effectLst/>
          </p:spPr>
        </p:cxnSp>
        <p:cxnSp>
          <p:nvCxnSpPr>
            <p:cNvPr id="194" name="直接连接符 193"/>
            <p:cNvCxnSpPr/>
            <p:nvPr/>
          </p:nvCxnSpPr>
          <p:spPr>
            <a:xfrm rot="5400000">
              <a:off x="-4508267" y="-1174068"/>
              <a:ext cx="0" cy="286657"/>
            </a:xfrm>
            <a:prstGeom prst="line">
              <a:avLst/>
            </a:prstGeom>
            <a:noFill/>
            <a:ln w="25400" cap="flat" cmpd="sng" algn="ctr">
              <a:solidFill>
                <a:srgbClr val="FFFFFF">
                  <a:alpha val="6000"/>
                </a:srgbClr>
              </a:solidFill>
              <a:prstDash val="solid"/>
              <a:miter lim="800000"/>
            </a:ln>
            <a:effectLst/>
          </p:spPr>
        </p:cxnSp>
        <p:cxnSp>
          <p:nvCxnSpPr>
            <p:cNvPr id="195" name="直接连接符 194"/>
            <p:cNvCxnSpPr/>
            <p:nvPr/>
          </p:nvCxnSpPr>
          <p:spPr>
            <a:xfrm rot="5400000">
              <a:off x="-4562696" y="-1026269"/>
              <a:ext cx="0" cy="177800"/>
            </a:xfrm>
            <a:prstGeom prst="line">
              <a:avLst/>
            </a:prstGeom>
            <a:noFill/>
            <a:ln w="12700" cap="flat" cmpd="sng" algn="ctr">
              <a:solidFill>
                <a:srgbClr val="FFFFFF">
                  <a:alpha val="6000"/>
                </a:srgbClr>
              </a:solidFill>
              <a:prstDash val="solid"/>
              <a:miter lim="800000"/>
            </a:ln>
            <a:effectLst/>
          </p:spPr>
        </p:cxnSp>
        <p:cxnSp>
          <p:nvCxnSpPr>
            <p:cNvPr id="196" name="直接连接符 195"/>
            <p:cNvCxnSpPr/>
            <p:nvPr/>
          </p:nvCxnSpPr>
          <p:spPr>
            <a:xfrm rot="5400000">
              <a:off x="-4562696" y="-932898"/>
              <a:ext cx="0" cy="177800"/>
            </a:xfrm>
            <a:prstGeom prst="line">
              <a:avLst/>
            </a:prstGeom>
            <a:noFill/>
            <a:ln w="12700" cap="flat" cmpd="sng" algn="ctr">
              <a:solidFill>
                <a:srgbClr val="FFFFFF">
                  <a:alpha val="6000"/>
                </a:srgbClr>
              </a:solidFill>
              <a:prstDash val="solid"/>
              <a:miter lim="800000"/>
            </a:ln>
            <a:effectLst/>
          </p:spPr>
        </p:cxnSp>
        <p:cxnSp>
          <p:nvCxnSpPr>
            <p:cNvPr id="197" name="直接连接符 196"/>
            <p:cNvCxnSpPr/>
            <p:nvPr/>
          </p:nvCxnSpPr>
          <p:spPr>
            <a:xfrm rot="5400000">
              <a:off x="-4562696" y="-839527"/>
              <a:ext cx="0" cy="177800"/>
            </a:xfrm>
            <a:prstGeom prst="line">
              <a:avLst/>
            </a:prstGeom>
            <a:noFill/>
            <a:ln w="12700" cap="flat" cmpd="sng" algn="ctr">
              <a:solidFill>
                <a:srgbClr val="FFFFFF">
                  <a:alpha val="6000"/>
                </a:srgbClr>
              </a:solidFill>
              <a:prstDash val="solid"/>
              <a:miter lim="800000"/>
            </a:ln>
            <a:effectLst/>
          </p:spPr>
        </p:cxnSp>
        <p:cxnSp>
          <p:nvCxnSpPr>
            <p:cNvPr id="198" name="直接连接符 197"/>
            <p:cNvCxnSpPr/>
            <p:nvPr/>
          </p:nvCxnSpPr>
          <p:spPr>
            <a:xfrm rot="5400000">
              <a:off x="-4562696" y="-746156"/>
              <a:ext cx="0" cy="177800"/>
            </a:xfrm>
            <a:prstGeom prst="line">
              <a:avLst/>
            </a:prstGeom>
            <a:noFill/>
            <a:ln w="12700" cap="flat" cmpd="sng" algn="ctr">
              <a:solidFill>
                <a:srgbClr val="FFFFFF">
                  <a:alpha val="6000"/>
                </a:srgbClr>
              </a:solidFill>
              <a:prstDash val="solid"/>
              <a:miter lim="800000"/>
            </a:ln>
            <a:effectLst/>
          </p:spPr>
        </p:cxnSp>
        <p:cxnSp>
          <p:nvCxnSpPr>
            <p:cNvPr id="199" name="直接连接符 198"/>
            <p:cNvCxnSpPr/>
            <p:nvPr/>
          </p:nvCxnSpPr>
          <p:spPr>
            <a:xfrm rot="5400000">
              <a:off x="-4508267" y="-707213"/>
              <a:ext cx="0" cy="286657"/>
            </a:xfrm>
            <a:prstGeom prst="line">
              <a:avLst/>
            </a:prstGeom>
            <a:noFill/>
            <a:ln w="25400" cap="flat" cmpd="sng" algn="ctr">
              <a:solidFill>
                <a:srgbClr val="FFFFFF">
                  <a:alpha val="6000"/>
                </a:srgbClr>
              </a:solidFill>
              <a:prstDash val="solid"/>
              <a:miter lim="800000"/>
            </a:ln>
            <a:effectLst/>
          </p:spPr>
        </p:cxnSp>
        <p:cxnSp>
          <p:nvCxnSpPr>
            <p:cNvPr id="200" name="直接连接符 199"/>
            <p:cNvCxnSpPr/>
            <p:nvPr/>
          </p:nvCxnSpPr>
          <p:spPr>
            <a:xfrm rot="5400000">
              <a:off x="-4562696" y="-559414"/>
              <a:ext cx="0" cy="177800"/>
            </a:xfrm>
            <a:prstGeom prst="line">
              <a:avLst/>
            </a:prstGeom>
            <a:noFill/>
            <a:ln w="12700" cap="flat" cmpd="sng" algn="ctr">
              <a:solidFill>
                <a:srgbClr val="FFFFFF">
                  <a:alpha val="6000"/>
                </a:srgbClr>
              </a:solidFill>
              <a:prstDash val="solid"/>
              <a:miter lim="800000"/>
            </a:ln>
            <a:effectLst/>
          </p:spPr>
        </p:cxnSp>
        <p:cxnSp>
          <p:nvCxnSpPr>
            <p:cNvPr id="201" name="直接连接符 200"/>
            <p:cNvCxnSpPr/>
            <p:nvPr/>
          </p:nvCxnSpPr>
          <p:spPr>
            <a:xfrm rot="5400000">
              <a:off x="-4562696" y="-466043"/>
              <a:ext cx="0" cy="177800"/>
            </a:xfrm>
            <a:prstGeom prst="line">
              <a:avLst/>
            </a:prstGeom>
            <a:noFill/>
            <a:ln w="12700" cap="flat" cmpd="sng" algn="ctr">
              <a:solidFill>
                <a:srgbClr val="FFFFFF">
                  <a:alpha val="6000"/>
                </a:srgbClr>
              </a:solidFill>
              <a:prstDash val="solid"/>
              <a:miter lim="800000"/>
            </a:ln>
            <a:effectLst/>
          </p:spPr>
        </p:cxnSp>
        <p:cxnSp>
          <p:nvCxnSpPr>
            <p:cNvPr id="202" name="直接连接符 201"/>
            <p:cNvCxnSpPr/>
            <p:nvPr/>
          </p:nvCxnSpPr>
          <p:spPr>
            <a:xfrm rot="5400000">
              <a:off x="-4562696" y="-372672"/>
              <a:ext cx="0" cy="177800"/>
            </a:xfrm>
            <a:prstGeom prst="line">
              <a:avLst/>
            </a:prstGeom>
            <a:noFill/>
            <a:ln w="12700" cap="flat" cmpd="sng" algn="ctr">
              <a:solidFill>
                <a:srgbClr val="FFFFFF">
                  <a:alpha val="6000"/>
                </a:srgbClr>
              </a:solidFill>
              <a:prstDash val="solid"/>
              <a:miter lim="800000"/>
            </a:ln>
            <a:effectLst/>
          </p:spPr>
        </p:cxnSp>
        <p:cxnSp>
          <p:nvCxnSpPr>
            <p:cNvPr id="203" name="直接连接符 202"/>
            <p:cNvCxnSpPr/>
            <p:nvPr/>
          </p:nvCxnSpPr>
          <p:spPr>
            <a:xfrm rot="5400000">
              <a:off x="-4562696" y="-279301"/>
              <a:ext cx="0" cy="177800"/>
            </a:xfrm>
            <a:prstGeom prst="line">
              <a:avLst/>
            </a:prstGeom>
            <a:noFill/>
            <a:ln w="12700" cap="flat" cmpd="sng" algn="ctr">
              <a:solidFill>
                <a:srgbClr val="FFFFFF">
                  <a:alpha val="6000"/>
                </a:srgbClr>
              </a:solidFill>
              <a:prstDash val="solid"/>
              <a:miter lim="800000"/>
            </a:ln>
            <a:effectLst/>
          </p:spPr>
        </p:cxnSp>
        <p:cxnSp>
          <p:nvCxnSpPr>
            <p:cNvPr id="204" name="直接连接符 203"/>
            <p:cNvCxnSpPr/>
            <p:nvPr/>
          </p:nvCxnSpPr>
          <p:spPr>
            <a:xfrm rot="5400000">
              <a:off x="-4508267" y="-240359"/>
              <a:ext cx="0" cy="286657"/>
            </a:xfrm>
            <a:prstGeom prst="line">
              <a:avLst/>
            </a:prstGeom>
            <a:noFill/>
            <a:ln w="25400" cap="flat" cmpd="sng" algn="ctr">
              <a:solidFill>
                <a:srgbClr val="FFFFFF">
                  <a:alpha val="6000"/>
                </a:srgbClr>
              </a:solidFill>
              <a:prstDash val="solid"/>
              <a:miter lim="800000"/>
            </a:ln>
            <a:effectLst/>
          </p:spPr>
        </p:cxnSp>
        <p:cxnSp>
          <p:nvCxnSpPr>
            <p:cNvPr id="205" name="直接连接符 204"/>
            <p:cNvCxnSpPr/>
            <p:nvPr/>
          </p:nvCxnSpPr>
          <p:spPr>
            <a:xfrm rot="5400000">
              <a:off x="-4562696" y="-92559"/>
              <a:ext cx="0" cy="177800"/>
            </a:xfrm>
            <a:prstGeom prst="line">
              <a:avLst/>
            </a:prstGeom>
            <a:noFill/>
            <a:ln w="12700" cap="flat" cmpd="sng" algn="ctr">
              <a:solidFill>
                <a:srgbClr val="FFFFFF">
                  <a:alpha val="6000"/>
                </a:srgbClr>
              </a:solidFill>
              <a:prstDash val="solid"/>
              <a:miter lim="800000"/>
            </a:ln>
            <a:effectLst/>
          </p:spPr>
        </p:cxnSp>
        <p:cxnSp>
          <p:nvCxnSpPr>
            <p:cNvPr id="206" name="直接连接符 205"/>
            <p:cNvCxnSpPr/>
            <p:nvPr/>
          </p:nvCxnSpPr>
          <p:spPr>
            <a:xfrm rot="5400000">
              <a:off x="-4562696" y="812"/>
              <a:ext cx="0" cy="177800"/>
            </a:xfrm>
            <a:prstGeom prst="line">
              <a:avLst/>
            </a:prstGeom>
            <a:noFill/>
            <a:ln w="12700" cap="flat" cmpd="sng" algn="ctr">
              <a:solidFill>
                <a:srgbClr val="FFFFFF">
                  <a:alpha val="6000"/>
                </a:srgbClr>
              </a:solidFill>
              <a:prstDash val="solid"/>
              <a:miter lim="800000"/>
            </a:ln>
            <a:effectLst/>
          </p:spPr>
        </p:cxnSp>
        <p:cxnSp>
          <p:nvCxnSpPr>
            <p:cNvPr id="207" name="直接连接符 206"/>
            <p:cNvCxnSpPr/>
            <p:nvPr/>
          </p:nvCxnSpPr>
          <p:spPr>
            <a:xfrm rot="5400000">
              <a:off x="-4562696" y="94183"/>
              <a:ext cx="0" cy="177800"/>
            </a:xfrm>
            <a:prstGeom prst="line">
              <a:avLst/>
            </a:prstGeom>
            <a:noFill/>
            <a:ln w="12700" cap="flat" cmpd="sng" algn="ctr">
              <a:solidFill>
                <a:srgbClr val="FFFFFF">
                  <a:alpha val="6000"/>
                </a:srgbClr>
              </a:solidFill>
              <a:prstDash val="solid"/>
              <a:miter lim="800000"/>
            </a:ln>
            <a:effectLst/>
          </p:spPr>
        </p:cxnSp>
        <p:cxnSp>
          <p:nvCxnSpPr>
            <p:cNvPr id="208" name="直接连接符 207"/>
            <p:cNvCxnSpPr/>
            <p:nvPr/>
          </p:nvCxnSpPr>
          <p:spPr>
            <a:xfrm rot="5400000">
              <a:off x="-4562696" y="187554"/>
              <a:ext cx="0" cy="177800"/>
            </a:xfrm>
            <a:prstGeom prst="line">
              <a:avLst/>
            </a:prstGeom>
            <a:noFill/>
            <a:ln w="12700" cap="flat" cmpd="sng" algn="ctr">
              <a:solidFill>
                <a:srgbClr val="FFFFFF">
                  <a:alpha val="6000"/>
                </a:srgbClr>
              </a:solidFill>
              <a:prstDash val="solid"/>
              <a:miter lim="800000"/>
            </a:ln>
            <a:effectLst/>
          </p:spPr>
        </p:cxnSp>
        <p:cxnSp>
          <p:nvCxnSpPr>
            <p:cNvPr id="209" name="直接连接符 208"/>
            <p:cNvCxnSpPr/>
            <p:nvPr/>
          </p:nvCxnSpPr>
          <p:spPr>
            <a:xfrm rot="5400000">
              <a:off x="-4508267" y="226496"/>
              <a:ext cx="0" cy="286657"/>
            </a:xfrm>
            <a:prstGeom prst="line">
              <a:avLst/>
            </a:prstGeom>
            <a:noFill/>
            <a:ln w="25400" cap="flat" cmpd="sng" algn="ctr">
              <a:solidFill>
                <a:srgbClr val="FFFFFF">
                  <a:alpha val="6000"/>
                </a:srgbClr>
              </a:solidFill>
              <a:prstDash val="solid"/>
              <a:miter lim="800000"/>
            </a:ln>
            <a:effectLst/>
          </p:spPr>
        </p:cxnSp>
        <p:cxnSp>
          <p:nvCxnSpPr>
            <p:cNvPr id="210" name="直接连接符 209"/>
            <p:cNvCxnSpPr/>
            <p:nvPr/>
          </p:nvCxnSpPr>
          <p:spPr>
            <a:xfrm rot="5400000">
              <a:off x="-4562696" y="374296"/>
              <a:ext cx="0" cy="177800"/>
            </a:xfrm>
            <a:prstGeom prst="line">
              <a:avLst/>
            </a:prstGeom>
            <a:noFill/>
            <a:ln w="12700" cap="flat" cmpd="sng" algn="ctr">
              <a:solidFill>
                <a:srgbClr val="FFFFFF">
                  <a:alpha val="6000"/>
                </a:srgbClr>
              </a:solidFill>
              <a:prstDash val="solid"/>
              <a:miter lim="800000"/>
            </a:ln>
            <a:effectLst/>
          </p:spPr>
        </p:cxnSp>
        <p:cxnSp>
          <p:nvCxnSpPr>
            <p:cNvPr id="211" name="直接连接符 210"/>
            <p:cNvCxnSpPr/>
            <p:nvPr/>
          </p:nvCxnSpPr>
          <p:spPr>
            <a:xfrm rot="5400000">
              <a:off x="-4562696" y="467666"/>
              <a:ext cx="0" cy="177800"/>
            </a:xfrm>
            <a:prstGeom prst="line">
              <a:avLst/>
            </a:prstGeom>
            <a:noFill/>
            <a:ln w="12700" cap="flat" cmpd="sng" algn="ctr">
              <a:solidFill>
                <a:srgbClr val="FFFFFF">
                  <a:alpha val="6000"/>
                </a:srgbClr>
              </a:solidFill>
              <a:prstDash val="solid"/>
              <a:miter lim="800000"/>
            </a:ln>
            <a:effectLst/>
          </p:spPr>
        </p:cxnSp>
        <p:cxnSp>
          <p:nvCxnSpPr>
            <p:cNvPr id="212" name="直接连接符 211"/>
            <p:cNvCxnSpPr/>
            <p:nvPr/>
          </p:nvCxnSpPr>
          <p:spPr>
            <a:xfrm rot="5400000">
              <a:off x="-4562696" y="561037"/>
              <a:ext cx="0" cy="177800"/>
            </a:xfrm>
            <a:prstGeom prst="line">
              <a:avLst/>
            </a:prstGeom>
            <a:noFill/>
            <a:ln w="12700" cap="flat" cmpd="sng" algn="ctr">
              <a:solidFill>
                <a:srgbClr val="FFFFFF">
                  <a:alpha val="6000"/>
                </a:srgbClr>
              </a:solidFill>
              <a:prstDash val="solid"/>
              <a:miter lim="800000"/>
            </a:ln>
            <a:effectLst/>
          </p:spPr>
        </p:cxnSp>
        <p:cxnSp>
          <p:nvCxnSpPr>
            <p:cNvPr id="213" name="直接连接符 212"/>
            <p:cNvCxnSpPr/>
            <p:nvPr/>
          </p:nvCxnSpPr>
          <p:spPr>
            <a:xfrm rot="5400000">
              <a:off x="-4562696" y="654408"/>
              <a:ext cx="0" cy="177800"/>
            </a:xfrm>
            <a:prstGeom prst="line">
              <a:avLst/>
            </a:prstGeom>
            <a:noFill/>
            <a:ln w="12700" cap="flat" cmpd="sng" algn="ctr">
              <a:solidFill>
                <a:srgbClr val="FFFFFF">
                  <a:alpha val="6000"/>
                </a:srgbClr>
              </a:solidFill>
              <a:prstDash val="solid"/>
              <a:miter lim="800000"/>
            </a:ln>
            <a:effectLst/>
          </p:spPr>
        </p:cxnSp>
        <p:cxnSp>
          <p:nvCxnSpPr>
            <p:cNvPr id="214" name="直接连接符 213"/>
            <p:cNvCxnSpPr/>
            <p:nvPr/>
          </p:nvCxnSpPr>
          <p:spPr>
            <a:xfrm rot="5400000">
              <a:off x="-4508267" y="693351"/>
              <a:ext cx="0" cy="286657"/>
            </a:xfrm>
            <a:prstGeom prst="line">
              <a:avLst/>
            </a:prstGeom>
            <a:noFill/>
            <a:ln w="25400" cap="flat" cmpd="sng" algn="ctr">
              <a:solidFill>
                <a:srgbClr val="FFFFFF">
                  <a:alpha val="6000"/>
                </a:srgbClr>
              </a:solidFill>
              <a:prstDash val="solid"/>
              <a:miter lim="800000"/>
            </a:ln>
            <a:effectLst/>
          </p:spPr>
        </p:cxnSp>
      </p:grpSp>
      <p:sp>
        <p:nvSpPr>
          <p:cNvPr id="217" name="矩形 216"/>
          <p:cNvSpPr/>
          <p:nvPr/>
        </p:nvSpPr>
        <p:spPr>
          <a:xfrm>
            <a:off x="759229" y="1061308"/>
            <a:ext cx="10666730" cy="1445260"/>
          </a:xfrm>
          <a:prstGeom prst="rect">
            <a:avLst/>
          </a:prstGeom>
        </p:spPr>
        <p:txBody>
          <a:bodyPr wrap="none">
            <a:spAutoFit/>
          </a:bodyPr>
          <a:lstStyle/>
          <a:p>
            <a:pPr algn="ctr"/>
            <a:r>
              <a:rPr lang="zh-CN" altLang="en-US" sz="4400" b="1" dirty="0">
                <a:gradFill>
                  <a:gsLst>
                    <a:gs pos="0">
                      <a:schemeClr val="bg1"/>
                    </a:gs>
                    <a:gs pos="100000">
                      <a:schemeClr val="accent5"/>
                    </a:gs>
                  </a:gsLst>
                  <a:lin ang="5400000" scaled="0"/>
                </a:gradFill>
                <a:latin typeface="微软雅黑" panose="020B0503020204020204" charset="-122"/>
                <a:ea typeface="微软雅黑" panose="020B0503020204020204" charset="-122"/>
              </a:rPr>
              <a:t>兵团国有企业</a:t>
            </a:r>
            <a:r>
              <a:rPr lang="en-US" altLang="zh-CN" sz="4400" b="1" dirty="0">
                <a:gradFill>
                  <a:gsLst>
                    <a:gs pos="0">
                      <a:schemeClr val="bg1"/>
                    </a:gs>
                    <a:gs pos="100000">
                      <a:schemeClr val="accent5"/>
                    </a:gs>
                  </a:gsLst>
                  <a:lin ang="5400000" scaled="0"/>
                </a:gradFill>
                <a:latin typeface="微软雅黑" panose="020B0503020204020204" charset="-122"/>
                <a:ea typeface="微软雅黑" panose="020B0503020204020204" charset="-122"/>
              </a:rPr>
              <a:t>“</a:t>
            </a:r>
            <a:r>
              <a:rPr lang="zh-CN" altLang="en-US" sz="4400" b="1" dirty="0">
                <a:gradFill>
                  <a:gsLst>
                    <a:gs pos="0">
                      <a:schemeClr val="bg1"/>
                    </a:gs>
                    <a:gs pos="100000">
                      <a:schemeClr val="accent5"/>
                    </a:gs>
                  </a:gsLst>
                  <a:lin ang="5400000" scaled="0"/>
                </a:gradFill>
                <a:latin typeface="微软雅黑" panose="020B0503020204020204" charset="-122"/>
                <a:ea typeface="微软雅黑" panose="020B0503020204020204" charset="-122"/>
              </a:rPr>
              <a:t>人工智能</a:t>
            </a:r>
            <a:r>
              <a:rPr lang="en-US" altLang="zh-CN" sz="4400" b="1" dirty="0">
                <a:gradFill>
                  <a:gsLst>
                    <a:gs pos="0">
                      <a:schemeClr val="bg1"/>
                    </a:gs>
                    <a:gs pos="100000">
                      <a:schemeClr val="accent5"/>
                    </a:gs>
                  </a:gsLst>
                  <a:lin ang="5400000" scaled="0"/>
                </a:gradFill>
                <a:latin typeface="微软雅黑" panose="020B0503020204020204" charset="-122"/>
                <a:ea typeface="微软雅黑" panose="020B0503020204020204" charset="-122"/>
              </a:rPr>
              <a:t>+”</a:t>
            </a:r>
            <a:r>
              <a:rPr lang="zh-CN" altLang="en-US" sz="4400" b="1" dirty="0">
                <a:gradFill>
                  <a:gsLst>
                    <a:gs pos="0">
                      <a:schemeClr val="bg1"/>
                    </a:gs>
                    <a:gs pos="100000">
                      <a:schemeClr val="accent5"/>
                    </a:gs>
                  </a:gsLst>
                  <a:lin ang="5400000" scaled="0"/>
                </a:gradFill>
                <a:latin typeface="微软雅黑" panose="020B0503020204020204" charset="-122"/>
                <a:ea typeface="微软雅黑" panose="020B0503020204020204" charset="-122"/>
              </a:rPr>
              <a:t>阳光采购平台</a:t>
            </a:r>
            <a:endParaRPr lang="zh-CN" altLang="en-US" sz="4400" b="1" dirty="0">
              <a:gradFill>
                <a:gsLst>
                  <a:gs pos="0">
                    <a:schemeClr val="bg1"/>
                  </a:gs>
                  <a:gs pos="100000">
                    <a:schemeClr val="accent5"/>
                  </a:gs>
                </a:gsLst>
                <a:lin ang="5400000" scaled="0"/>
              </a:gradFill>
              <a:latin typeface="微软雅黑" panose="020B0503020204020204" charset="-122"/>
              <a:ea typeface="微软雅黑" panose="020B0503020204020204" charset="-122"/>
            </a:endParaRPr>
          </a:p>
          <a:p>
            <a:pPr algn="ctr"/>
            <a:r>
              <a:rPr lang="zh-CN" altLang="en-US" sz="4400" b="1" dirty="0">
                <a:gradFill>
                  <a:gsLst>
                    <a:gs pos="0">
                      <a:schemeClr val="bg1"/>
                    </a:gs>
                    <a:gs pos="100000">
                      <a:schemeClr val="accent5"/>
                    </a:gs>
                  </a:gsLst>
                  <a:lin ang="5400000" scaled="0"/>
                </a:gradFill>
                <a:latin typeface="微软雅黑" panose="020B0503020204020204" charset="-122"/>
                <a:ea typeface="微软雅黑" panose="020B0503020204020204" charset="-122"/>
              </a:rPr>
              <a:t>规划建设</a:t>
            </a:r>
            <a:r>
              <a:rPr lang="zh-CN" altLang="en-US" sz="4400" b="1" dirty="0">
                <a:gradFill>
                  <a:gsLst>
                    <a:gs pos="0">
                      <a:schemeClr val="bg1"/>
                    </a:gs>
                    <a:gs pos="100000">
                      <a:schemeClr val="accent5"/>
                    </a:gs>
                  </a:gsLst>
                  <a:lin ang="5400000" scaled="0"/>
                </a:gradFill>
                <a:latin typeface="微软雅黑" panose="020B0503020204020204" charset="-122"/>
                <a:ea typeface="微软雅黑" panose="020B0503020204020204" charset="-122"/>
              </a:rPr>
              <a:t>汇报</a:t>
            </a:r>
            <a:endParaRPr lang="zh-CN" altLang="en-US" sz="4400" b="1" dirty="0">
              <a:gradFill>
                <a:gsLst>
                  <a:gs pos="0">
                    <a:schemeClr val="bg1"/>
                  </a:gs>
                  <a:gs pos="100000">
                    <a:schemeClr val="accent5"/>
                  </a:gs>
                </a:gsLst>
                <a:lin ang="5400000" scaled="0"/>
              </a:gradFill>
              <a:latin typeface="微软雅黑" panose="020B0503020204020204" charset="-122"/>
              <a:ea typeface="微软雅黑" panose="020B0503020204020204" charset="-122"/>
            </a:endParaRPr>
          </a:p>
        </p:txBody>
      </p:sp>
      <p:sp>
        <p:nvSpPr>
          <p:cNvPr id="218" name="文本框 217"/>
          <p:cNvSpPr txBox="1"/>
          <p:nvPr/>
        </p:nvSpPr>
        <p:spPr>
          <a:xfrm>
            <a:off x="5247468" y="5646948"/>
            <a:ext cx="1697064" cy="215265"/>
          </a:xfrm>
          <a:prstGeom prst="rect">
            <a:avLst/>
          </a:prstGeom>
          <a:noFill/>
        </p:spPr>
        <p:txBody>
          <a:bodyPr wrap="square" lIns="0" tIns="0" rIns="0" bIns="0" rtlCol="0">
            <a:spAutoFit/>
          </a:bodyPr>
          <a:lstStyle/>
          <a:p>
            <a:pPr algn="ctr">
              <a:defRPr/>
            </a:pPr>
            <a:r>
              <a:rPr lang="en-US" altLang="zh-CN" sz="1400">
                <a:solidFill>
                  <a:srgbClr val="073F97"/>
                </a:solidFill>
                <a:latin typeface="微软雅黑" panose="020B0503020204020204" charset="-122"/>
                <a:ea typeface="微软雅黑" panose="020B0503020204020204" charset="-122"/>
                <a:cs typeface="微软雅黑" panose="020B0503020204020204" charset="-122"/>
              </a:rPr>
              <a:t>2025</a:t>
            </a:r>
            <a:r>
              <a:rPr lang="zh-CN" altLang="en-US" sz="1400">
                <a:solidFill>
                  <a:srgbClr val="073F97"/>
                </a:solidFill>
                <a:latin typeface="微软雅黑" panose="020B0503020204020204" charset="-122"/>
                <a:ea typeface="微软雅黑" panose="020B0503020204020204" charset="-122"/>
                <a:cs typeface="微软雅黑" panose="020B0503020204020204" charset="-122"/>
              </a:rPr>
              <a:t>年</a:t>
            </a:r>
            <a:r>
              <a:rPr lang="en-US" altLang="zh-CN" sz="1400">
                <a:solidFill>
                  <a:srgbClr val="073F97"/>
                </a:solidFill>
                <a:latin typeface="微软雅黑" panose="020B0503020204020204" charset="-122"/>
                <a:ea typeface="微软雅黑" panose="020B0503020204020204" charset="-122"/>
                <a:cs typeface="微软雅黑" panose="020B0503020204020204" charset="-122"/>
              </a:rPr>
              <a:t>11</a:t>
            </a:r>
            <a:r>
              <a:rPr lang="zh-CN" altLang="en-US" sz="1400">
                <a:solidFill>
                  <a:srgbClr val="073F97"/>
                </a:solidFill>
                <a:latin typeface="微软雅黑" panose="020B0503020204020204" charset="-122"/>
                <a:ea typeface="微软雅黑" panose="020B0503020204020204" charset="-122"/>
                <a:cs typeface="微软雅黑" panose="020B0503020204020204" charset="-122"/>
              </a:rPr>
              <a:t>月</a:t>
            </a:r>
            <a:endParaRPr lang="en-US" altLang="zh-CN" sz="1400" dirty="0">
              <a:solidFill>
                <a:srgbClr val="073F9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任意多边形: 形状 33"/>
          <p:cNvSpPr/>
          <p:nvPr/>
        </p:nvSpPr>
        <p:spPr>
          <a:xfrm rot="20871997" flipH="1" flipV="1">
            <a:off x="-2238926" y="-3304188"/>
            <a:ext cx="7448399" cy="6443522"/>
          </a:xfrm>
          <a:custGeom>
            <a:avLst/>
            <a:gdLst>
              <a:gd name="connsiteX0" fmla="*/ 759999 w 16607872"/>
              <a:gd name="connsiteY0" fmla="*/ 2280444 h 6443522"/>
              <a:gd name="connsiteX1" fmla="*/ 6747844 w 16607872"/>
              <a:gd name="connsiteY1" fmla="*/ 3076857 h 6443522"/>
              <a:gd name="connsiteX2" fmla="*/ 15478889 w 16607872"/>
              <a:gd name="connsiteY2" fmla="*/ 451644 h 6443522"/>
              <a:gd name="connsiteX3" fmla="*/ 16304799 w 16607872"/>
              <a:gd name="connsiteY3" fmla="*/ 451644 h 6443522"/>
              <a:gd name="connsiteX4" fmla="*/ 15124928 w 16607872"/>
              <a:gd name="connsiteY4" fmla="*/ 4935154 h 6443522"/>
              <a:gd name="connsiteX5" fmla="*/ 1674399 w 16607872"/>
              <a:gd name="connsiteY5" fmla="*/ 6321502 h 6443522"/>
              <a:gd name="connsiteX6" fmla="*/ 759999 w 16607872"/>
              <a:gd name="connsiteY6" fmla="*/ 2280444 h 6443522"/>
              <a:gd name="connsiteX0-1" fmla="*/ 759999 w 16607872"/>
              <a:gd name="connsiteY0-2" fmla="*/ 2280444 h 6443522"/>
              <a:gd name="connsiteX1-3" fmla="*/ 6747844 w 16607872"/>
              <a:gd name="connsiteY1-4" fmla="*/ 3076857 h 6443522"/>
              <a:gd name="connsiteX2-5" fmla="*/ 15478889 w 16607872"/>
              <a:gd name="connsiteY2-6" fmla="*/ 451644 h 6443522"/>
              <a:gd name="connsiteX3-7" fmla="*/ 16304799 w 16607872"/>
              <a:gd name="connsiteY3-8" fmla="*/ 451644 h 6443522"/>
              <a:gd name="connsiteX4-9" fmla="*/ 15124928 w 16607872"/>
              <a:gd name="connsiteY4-10" fmla="*/ 4935154 h 6443522"/>
              <a:gd name="connsiteX5-11" fmla="*/ 1674399 w 16607872"/>
              <a:gd name="connsiteY5-12" fmla="*/ 6321502 h 6443522"/>
              <a:gd name="connsiteX6-13" fmla="*/ 759999 w 16607872"/>
              <a:gd name="connsiteY6-14" fmla="*/ 2280444 h 6443522"/>
              <a:gd name="connsiteX0-15" fmla="*/ 759999 w 16607872"/>
              <a:gd name="connsiteY0-16" fmla="*/ 2280444 h 6443522"/>
              <a:gd name="connsiteX1-17" fmla="*/ 6747844 w 16607872"/>
              <a:gd name="connsiteY1-18" fmla="*/ 3076857 h 6443522"/>
              <a:gd name="connsiteX2-19" fmla="*/ 15478889 w 16607872"/>
              <a:gd name="connsiteY2-20" fmla="*/ 451644 h 6443522"/>
              <a:gd name="connsiteX3-21" fmla="*/ 16304799 w 16607872"/>
              <a:gd name="connsiteY3-22" fmla="*/ 451644 h 6443522"/>
              <a:gd name="connsiteX4-23" fmla="*/ 15124928 w 16607872"/>
              <a:gd name="connsiteY4-24" fmla="*/ 4935154 h 6443522"/>
              <a:gd name="connsiteX5-25" fmla="*/ 1674399 w 16607872"/>
              <a:gd name="connsiteY5-26" fmla="*/ 6321502 h 6443522"/>
              <a:gd name="connsiteX6-27" fmla="*/ 759999 w 16607872"/>
              <a:gd name="connsiteY6-28" fmla="*/ 2280444 h 64435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607872" h="6443522">
                <a:moveTo>
                  <a:pt x="759999" y="2280444"/>
                </a:moveTo>
                <a:cubicBezTo>
                  <a:pt x="1605573" y="1739670"/>
                  <a:pt x="3148068" y="3309085"/>
                  <a:pt x="6747844" y="3076857"/>
                </a:cubicBezTo>
                <a:cubicBezTo>
                  <a:pt x="10347620" y="2844629"/>
                  <a:pt x="13886063" y="889179"/>
                  <a:pt x="15478889" y="451644"/>
                </a:cubicBezTo>
                <a:cubicBezTo>
                  <a:pt x="17071715" y="14109"/>
                  <a:pt x="16363792" y="-295608"/>
                  <a:pt x="16304799" y="451644"/>
                </a:cubicBezTo>
                <a:cubicBezTo>
                  <a:pt x="16245806" y="1198896"/>
                  <a:pt x="17563328" y="3956844"/>
                  <a:pt x="15124928" y="4935154"/>
                </a:cubicBezTo>
                <a:cubicBezTo>
                  <a:pt x="12686528" y="5913464"/>
                  <a:pt x="4068554" y="6768870"/>
                  <a:pt x="1674399" y="6321502"/>
                </a:cubicBezTo>
                <a:cubicBezTo>
                  <a:pt x="-719756" y="5874134"/>
                  <a:pt x="-85575" y="2821218"/>
                  <a:pt x="759999" y="2280444"/>
                </a:cubicBezTo>
                <a:close/>
              </a:path>
            </a:pathLst>
          </a:custGeom>
          <a:solidFill>
            <a:srgbClr val="FFFFFF"/>
          </a:solidFill>
          <a:ln w="12700" cap="flat" cmpd="sng" algn="ctr">
            <a:noFill/>
            <a:prstDash val="solid"/>
            <a:miter lim="800000"/>
          </a:ln>
          <a:effectLst/>
        </p:spPr>
        <p:txBody>
          <a:bodyPr rtlCol="0" anchor="ctr"/>
          <a:lstStyle/>
          <a:p>
            <a:pPr algn="ctr"/>
            <a:endParaRPr lang="zh-CN" altLang="en-US" kern="0" dirty="0">
              <a:solidFill>
                <a:srgbClr val="FFFFFF"/>
              </a:solidFill>
              <a:latin typeface="Source Sans Pro SemiBold"/>
            </a:endParaRPr>
          </a:p>
        </p:txBody>
      </p:sp>
      <p:grpSp>
        <p:nvGrpSpPr>
          <p:cNvPr id="6" name="组合 5"/>
          <p:cNvGrpSpPr/>
          <p:nvPr/>
        </p:nvGrpSpPr>
        <p:grpSpPr>
          <a:xfrm>
            <a:off x="1236584" y="1537103"/>
            <a:ext cx="2419744" cy="2198539"/>
            <a:chOff x="1341021" y="1974257"/>
            <a:chExt cx="2419744" cy="2198539"/>
          </a:xfrm>
        </p:grpSpPr>
        <p:sp>
          <p:nvSpPr>
            <p:cNvPr id="7" name="矩形 6"/>
            <p:cNvSpPr/>
            <p:nvPr/>
          </p:nvSpPr>
          <p:spPr>
            <a:xfrm>
              <a:off x="1652820" y="1974257"/>
              <a:ext cx="1110881" cy="135421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1" i="0" u="none" strike="noStrike" kern="1200" cap="none" spc="0" normalizeH="0" baseline="0" noProof="0" dirty="0">
                  <a:ln>
                    <a:noFill/>
                  </a:ln>
                  <a:solidFill>
                    <a:srgbClr val="104596"/>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目</a:t>
              </a:r>
              <a:endParaRPr kumimoji="0" lang="zh-CN" altLang="en-US" sz="8800" b="1" i="0" u="none" strike="noStrike" kern="1200" cap="none" spc="0" normalizeH="0" baseline="0" noProof="0" dirty="0">
                <a:ln>
                  <a:noFill/>
                </a:ln>
                <a:solidFill>
                  <a:srgbClr val="104596"/>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8" name="矩形 7"/>
            <p:cNvSpPr/>
            <p:nvPr/>
          </p:nvSpPr>
          <p:spPr>
            <a:xfrm>
              <a:off x="2649884" y="2818579"/>
              <a:ext cx="1110881" cy="1354217"/>
            </a:xfrm>
            <a:prstGeom prst="rect">
              <a:avLst/>
            </a:prstGeom>
          </p:spPr>
          <p:txBody>
            <a:bodyPr wrap="none" lIns="0" tIns="0" rIns="0" bIns="0">
              <a:spAutoFit/>
            </a:bodyPr>
            <a:lstStyle/>
            <a:p>
              <a:pPr algn="ctr">
                <a:defRPr/>
              </a:pPr>
              <a:r>
                <a:rPr lang="zh-CN" altLang="en-US" sz="8800" b="1" dirty="0">
                  <a:solidFill>
                    <a:srgbClr val="104596"/>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录</a:t>
              </a:r>
              <a:endParaRPr lang="zh-CN" altLang="en-US" sz="8800" b="1" dirty="0">
                <a:solidFill>
                  <a:srgbClr val="104596"/>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9" name="文本框 8"/>
            <p:cNvSpPr txBox="1"/>
            <p:nvPr/>
          </p:nvSpPr>
          <p:spPr>
            <a:xfrm>
              <a:off x="1341021" y="3290570"/>
              <a:ext cx="1308863"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lumMod val="50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CONTENTS</a:t>
              </a:r>
              <a:endParaRPr kumimoji="0" lang="zh-CN" altLang="en-US" sz="1600" b="0" i="0" u="none" strike="noStrike" kern="1200" cap="none" spc="0" normalizeH="0" baseline="0" noProof="0" dirty="0">
                <a:ln>
                  <a:noFill/>
                </a:ln>
                <a:solidFill>
                  <a:prstClr val="white">
                    <a:lumMod val="50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0" name="任意多边形: 形状 9"/>
          <p:cNvSpPr/>
          <p:nvPr/>
        </p:nvSpPr>
        <p:spPr>
          <a:xfrm>
            <a:off x="-1734797" y="3112733"/>
            <a:ext cx="16607872" cy="6420633"/>
          </a:xfrm>
          <a:custGeom>
            <a:avLst/>
            <a:gdLst>
              <a:gd name="connsiteX0" fmla="*/ 759999 w 16607872"/>
              <a:gd name="connsiteY0" fmla="*/ 2280444 h 6443522"/>
              <a:gd name="connsiteX1" fmla="*/ 6747844 w 16607872"/>
              <a:gd name="connsiteY1" fmla="*/ 3076857 h 6443522"/>
              <a:gd name="connsiteX2" fmla="*/ 15478889 w 16607872"/>
              <a:gd name="connsiteY2" fmla="*/ 451644 h 6443522"/>
              <a:gd name="connsiteX3" fmla="*/ 16304799 w 16607872"/>
              <a:gd name="connsiteY3" fmla="*/ 451644 h 6443522"/>
              <a:gd name="connsiteX4" fmla="*/ 15124928 w 16607872"/>
              <a:gd name="connsiteY4" fmla="*/ 4935154 h 6443522"/>
              <a:gd name="connsiteX5" fmla="*/ 1674399 w 16607872"/>
              <a:gd name="connsiteY5" fmla="*/ 6321502 h 6443522"/>
              <a:gd name="connsiteX6" fmla="*/ 759999 w 16607872"/>
              <a:gd name="connsiteY6" fmla="*/ 2280444 h 6443522"/>
              <a:gd name="connsiteX0-1" fmla="*/ 759999 w 16607872"/>
              <a:gd name="connsiteY0-2" fmla="*/ 2280444 h 6443522"/>
              <a:gd name="connsiteX1-3" fmla="*/ 6747844 w 16607872"/>
              <a:gd name="connsiteY1-4" fmla="*/ 3076857 h 6443522"/>
              <a:gd name="connsiteX2-5" fmla="*/ 15478889 w 16607872"/>
              <a:gd name="connsiteY2-6" fmla="*/ 451644 h 6443522"/>
              <a:gd name="connsiteX3-7" fmla="*/ 16304799 w 16607872"/>
              <a:gd name="connsiteY3-8" fmla="*/ 451644 h 6443522"/>
              <a:gd name="connsiteX4-9" fmla="*/ 15124928 w 16607872"/>
              <a:gd name="connsiteY4-10" fmla="*/ 4935154 h 6443522"/>
              <a:gd name="connsiteX5-11" fmla="*/ 1674399 w 16607872"/>
              <a:gd name="connsiteY5-12" fmla="*/ 6321502 h 6443522"/>
              <a:gd name="connsiteX6-13" fmla="*/ 759999 w 16607872"/>
              <a:gd name="connsiteY6-14" fmla="*/ 2280444 h 6443522"/>
              <a:gd name="connsiteX0-15" fmla="*/ 759999 w 16607872"/>
              <a:gd name="connsiteY0-16" fmla="*/ 2280444 h 6443522"/>
              <a:gd name="connsiteX1-17" fmla="*/ 6747844 w 16607872"/>
              <a:gd name="connsiteY1-18" fmla="*/ 3076857 h 6443522"/>
              <a:gd name="connsiteX2-19" fmla="*/ 15478889 w 16607872"/>
              <a:gd name="connsiteY2-20" fmla="*/ 451644 h 6443522"/>
              <a:gd name="connsiteX3-21" fmla="*/ 16304799 w 16607872"/>
              <a:gd name="connsiteY3-22" fmla="*/ 451644 h 6443522"/>
              <a:gd name="connsiteX4-23" fmla="*/ 15124928 w 16607872"/>
              <a:gd name="connsiteY4-24" fmla="*/ 4935154 h 6443522"/>
              <a:gd name="connsiteX5-25" fmla="*/ 1674399 w 16607872"/>
              <a:gd name="connsiteY5-26" fmla="*/ 6321502 h 6443522"/>
              <a:gd name="connsiteX6-27" fmla="*/ 759999 w 16607872"/>
              <a:gd name="connsiteY6-28" fmla="*/ 2280444 h 6443522"/>
              <a:gd name="connsiteX0-29" fmla="*/ 759999 w 16607872"/>
              <a:gd name="connsiteY0-30" fmla="*/ 2257555 h 6420633"/>
              <a:gd name="connsiteX1-31" fmla="*/ 6747844 w 16607872"/>
              <a:gd name="connsiteY1-32" fmla="*/ 3053968 h 6420633"/>
              <a:gd name="connsiteX2-33" fmla="*/ 15478889 w 16607872"/>
              <a:gd name="connsiteY2-34" fmla="*/ 428755 h 6420633"/>
              <a:gd name="connsiteX3-35" fmla="*/ 16304799 w 16607872"/>
              <a:gd name="connsiteY3-36" fmla="*/ 428755 h 6420633"/>
              <a:gd name="connsiteX4-37" fmla="*/ 15124928 w 16607872"/>
              <a:gd name="connsiteY4-38" fmla="*/ 4912265 h 6420633"/>
              <a:gd name="connsiteX5-39" fmla="*/ 1674399 w 16607872"/>
              <a:gd name="connsiteY5-40" fmla="*/ 6298613 h 6420633"/>
              <a:gd name="connsiteX6-41" fmla="*/ 759999 w 16607872"/>
              <a:gd name="connsiteY6-42" fmla="*/ 2257555 h 642063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607872" h="6420633">
                <a:moveTo>
                  <a:pt x="759999" y="2257555"/>
                </a:moveTo>
                <a:cubicBezTo>
                  <a:pt x="1605573" y="1716781"/>
                  <a:pt x="3148068" y="3286196"/>
                  <a:pt x="6747844" y="3053968"/>
                </a:cubicBezTo>
                <a:cubicBezTo>
                  <a:pt x="10347620" y="2821740"/>
                  <a:pt x="13857034" y="793718"/>
                  <a:pt x="15478889" y="428755"/>
                </a:cubicBezTo>
                <a:cubicBezTo>
                  <a:pt x="17100744" y="63792"/>
                  <a:pt x="16363792" y="-318497"/>
                  <a:pt x="16304799" y="428755"/>
                </a:cubicBezTo>
                <a:cubicBezTo>
                  <a:pt x="16245806" y="1176007"/>
                  <a:pt x="17563328" y="3933955"/>
                  <a:pt x="15124928" y="4912265"/>
                </a:cubicBezTo>
                <a:cubicBezTo>
                  <a:pt x="12686528" y="5890575"/>
                  <a:pt x="4068554" y="6745981"/>
                  <a:pt x="1674399" y="6298613"/>
                </a:cubicBezTo>
                <a:cubicBezTo>
                  <a:pt x="-719756" y="5851245"/>
                  <a:pt x="-85575" y="2798329"/>
                  <a:pt x="759999" y="2257555"/>
                </a:cubicBezTo>
                <a:close/>
              </a:path>
            </a:pathLst>
          </a:cu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思源黑体 CN Medium" panose="020B0600000000000000" charset="-122"/>
              <a:cs typeface="+mn-cs"/>
            </a:endParaRPr>
          </a:p>
        </p:txBody>
      </p:sp>
      <p:sp>
        <p:nvSpPr>
          <p:cNvPr id="11" name="任意多边形: 形状 10"/>
          <p:cNvSpPr/>
          <p:nvPr/>
        </p:nvSpPr>
        <p:spPr>
          <a:xfrm>
            <a:off x="-1821883" y="3205956"/>
            <a:ext cx="16607872" cy="6443522"/>
          </a:xfrm>
          <a:custGeom>
            <a:avLst/>
            <a:gdLst>
              <a:gd name="connsiteX0" fmla="*/ 759999 w 16607872"/>
              <a:gd name="connsiteY0" fmla="*/ 2280444 h 6443522"/>
              <a:gd name="connsiteX1" fmla="*/ 6747844 w 16607872"/>
              <a:gd name="connsiteY1" fmla="*/ 3076857 h 6443522"/>
              <a:gd name="connsiteX2" fmla="*/ 15478889 w 16607872"/>
              <a:gd name="connsiteY2" fmla="*/ 451644 h 6443522"/>
              <a:gd name="connsiteX3" fmla="*/ 16304799 w 16607872"/>
              <a:gd name="connsiteY3" fmla="*/ 451644 h 6443522"/>
              <a:gd name="connsiteX4" fmla="*/ 15124928 w 16607872"/>
              <a:gd name="connsiteY4" fmla="*/ 4935154 h 6443522"/>
              <a:gd name="connsiteX5" fmla="*/ 1674399 w 16607872"/>
              <a:gd name="connsiteY5" fmla="*/ 6321502 h 6443522"/>
              <a:gd name="connsiteX6" fmla="*/ 759999 w 16607872"/>
              <a:gd name="connsiteY6" fmla="*/ 2280444 h 6443522"/>
              <a:gd name="connsiteX0-1" fmla="*/ 759999 w 16607872"/>
              <a:gd name="connsiteY0-2" fmla="*/ 2280444 h 6443522"/>
              <a:gd name="connsiteX1-3" fmla="*/ 6747844 w 16607872"/>
              <a:gd name="connsiteY1-4" fmla="*/ 3076857 h 6443522"/>
              <a:gd name="connsiteX2-5" fmla="*/ 15478889 w 16607872"/>
              <a:gd name="connsiteY2-6" fmla="*/ 451644 h 6443522"/>
              <a:gd name="connsiteX3-7" fmla="*/ 16304799 w 16607872"/>
              <a:gd name="connsiteY3-8" fmla="*/ 451644 h 6443522"/>
              <a:gd name="connsiteX4-9" fmla="*/ 15124928 w 16607872"/>
              <a:gd name="connsiteY4-10" fmla="*/ 4935154 h 6443522"/>
              <a:gd name="connsiteX5-11" fmla="*/ 1674399 w 16607872"/>
              <a:gd name="connsiteY5-12" fmla="*/ 6321502 h 6443522"/>
              <a:gd name="connsiteX6-13" fmla="*/ 759999 w 16607872"/>
              <a:gd name="connsiteY6-14" fmla="*/ 2280444 h 6443522"/>
              <a:gd name="connsiteX0-15" fmla="*/ 759999 w 16607872"/>
              <a:gd name="connsiteY0-16" fmla="*/ 2280444 h 6443522"/>
              <a:gd name="connsiteX1-17" fmla="*/ 6747844 w 16607872"/>
              <a:gd name="connsiteY1-18" fmla="*/ 3076857 h 6443522"/>
              <a:gd name="connsiteX2-19" fmla="*/ 15478889 w 16607872"/>
              <a:gd name="connsiteY2-20" fmla="*/ 451644 h 6443522"/>
              <a:gd name="connsiteX3-21" fmla="*/ 16304799 w 16607872"/>
              <a:gd name="connsiteY3-22" fmla="*/ 451644 h 6443522"/>
              <a:gd name="connsiteX4-23" fmla="*/ 15124928 w 16607872"/>
              <a:gd name="connsiteY4-24" fmla="*/ 4935154 h 6443522"/>
              <a:gd name="connsiteX5-25" fmla="*/ 1674399 w 16607872"/>
              <a:gd name="connsiteY5-26" fmla="*/ 6321502 h 6443522"/>
              <a:gd name="connsiteX6-27" fmla="*/ 759999 w 16607872"/>
              <a:gd name="connsiteY6-28" fmla="*/ 2280444 h 64435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607872" h="6443522">
                <a:moveTo>
                  <a:pt x="759999" y="2280444"/>
                </a:moveTo>
                <a:cubicBezTo>
                  <a:pt x="1605573" y="1739670"/>
                  <a:pt x="3148068" y="3309085"/>
                  <a:pt x="6747844" y="3076857"/>
                </a:cubicBezTo>
                <a:cubicBezTo>
                  <a:pt x="10347620" y="2844629"/>
                  <a:pt x="13886063" y="889179"/>
                  <a:pt x="15478889" y="451644"/>
                </a:cubicBezTo>
                <a:cubicBezTo>
                  <a:pt x="17071715" y="14109"/>
                  <a:pt x="16363792" y="-295608"/>
                  <a:pt x="16304799" y="451644"/>
                </a:cubicBezTo>
                <a:cubicBezTo>
                  <a:pt x="16245806" y="1198896"/>
                  <a:pt x="17563328" y="3956844"/>
                  <a:pt x="15124928" y="4935154"/>
                </a:cubicBezTo>
                <a:cubicBezTo>
                  <a:pt x="12686528" y="5913464"/>
                  <a:pt x="4068554" y="6768870"/>
                  <a:pt x="1674399" y="6321502"/>
                </a:cubicBezTo>
                <a:cubicBezTo>
                  <a:pt x="-719756" y="5874134"/>
                  <a:pt x="-85575" y="2821218"/>
                  <a:pt x="759999" y="2280444"/>
                </a:cubicBezTo>
                <a:close/>
              </a:path>
            </a:pathLst>
          </a:custGeom>
          <a:gradFill>
            <a:gsLst>
              <a:gs pos="0">
                <a:srgbClr val="073F97">
                  <a:lumMod val="90000"/>
                  <a:lumOff val="10000"/>
                  <a:alpha val="90000"/>
                </a:srgbClr>
              </a:gs>
              <a:gs pos="100000">
                <a:srgbClr val="073F97">
                  <a:lumMod val="95000"/>
                  <a:alpha val="95000"/>
                </a:srgbClr>
              </a:gs>
            </a:gsLst>
            <a:lin ang="0" scaled="0"/>
          </a:gradFill>
          <a:ln w="12700" cap="flat" cmpd="sng" algn="ctr">
            <a:noFill/>
            <a:prstDash val="solid"/>
            <a:miter lim="800000"/>
          </a:ln>
          <a:effectLst>
            <a:outerShdw blurRad="254000" dist="63500" dir="16200000" rotWithShape="0">
              <a:srgbClr val="073F97">
                <a:lumMod val="75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思源黑体 CN Medium" panose="020B0600000000000000" charset="-122"/>
              <a:cs typeface="+mn-cs"/>
            </a:endParaRPr>
          </a:p>
        </p:txBody>
      </p:sp>
      <p:sp>
        <p:nvSpPr>
          <p:cNvPr id="13" name="矩形 12"/>
          <p:cNvSpPr/>
          <p:nvPr>
            <p:custDataLst>
              <p:tags r:id="rId1"/>
            </p:custDataLst>
          </p:nvPr>
        </p:nvSpPr>
        <p:spPr>
          <a:xfrm>
            <a:off x="6656868" y="1605451"/>
            <a:ext cx="1219200" cy="368935"/>
          </a:xfrm>
          <a:prstGeom prst="rect">
            <a:avLst/>
          </a:prstGeom>
        </p:spPr>
        <p:txBody>
          <a:bodyPr wrap="none" lIns="0" tIns="0" rIns="0" bIns="0">
            <a:spAutoFit/>
          </a:bodyPr>
          <a:lstStyle/>
          <a:p>
            <a:pPr lvl="0" algn="l">
              <a:defRPr/>
            </a:pPr>
            <a:r>
              <a:rPr lang="zh-CN" altLang="en-US" sz="240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建设</a:t>
            </a:r>
            <a:r>
              <a:rPr lang="zh-CN" altLang="en-US" sz="240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背景</a:t>
            </a:r>
            <a:endParaRPr lang="zh-CN" altLang="en-US" sz="240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p:cNvSpPr/>
          <p:nvPr>
            <p:custDataLst>
              <p:tags r:id="rId2"/>
            </p:custDataLst>
          </p:nvPr>
        </p:nvSpPr>
        <p:spPr>
          <a:xfrm>
            <a:off x="6656868" y="2588984"/>
            <a:ext cx="1219200" cy="368935"/>
          </a:xfrm>
          <a:prstGeom prst="rect">
            <a:avLst/>
          </a:prstGeom>
        </p:spPr>
        <p:txBody>
          <a:bodyPr wrap="none" lIns="0" tIns="0" rIns="0" bIns="0">
            <a:spAutoFit/>
          </a:bodyPr>
          <a:lstStyle/>
          <a:p>
            <a:pPr lvl="0">
              <a:defRPr/>
            </a:pPr>
            <a:r>
              <a:rPr lang="zh-CN" altLang="en-US" sz="2400" dirty="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规划</a:t>
            </a:r>
            <a:r>
              <a:rPr lang="zh-CN" altLang="en-US" sz="2400" dirty="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内容</a:t>
            </a:r>
            <a:endParaRPr lang="zh-CN" altLang="en-US" sz="2400" dirty="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矩形 14"/>
          <p:cNvSpPr/>
          <p:nvPr>
            <p:custDataLst>
              <p:tags r:id="rId3"/>
            </p:custDataLst>
          </p:nvPr>
        </p:nvSpPr>
        <p:spPr>
          <a:xfrm>
            <a:off x="6656868" y="3556335"/>
            <a:ext cx="1219200" cy="368935"/>
          </a:xfrm>
          <a:prstGeom prst="rect">
            <a:avLst/>
          </a:prstGeom>
        </p:spPr>
        <p:txBody>
          <a:bodyPr wrap="none" lIns="0" tIns="0" rIns="0" bIns="0">
            <a:spAutoFit/>
          </a:bodyPr>
          <a:lstStyle/>
          <a:p>
            <a:pPr lvl="0" algn="l">
              <a:defRPr/>
            </a:pPr>
            <a:r>
              <a:rPr lang="zh-CN" altLang="en-US" sz="240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运营</a:t>
            </a:r>
            <a:r>
              <a:rPr lang="zh-CN" altLang="en-US" sz="240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模式</a:t>
            </a:r>
            <a:endParaRPr lang="zh-CN" altLang="en-US" sz="240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17" name="直接连接符 16"/>
          <p:cNvCxnSpPr/>
          <p:nvPr>
            <p:custDataLst>
              <p:tags r:id="rId4"/>
            </p:custDataLst>
          </p:nvPr>
        </p:nvCxnSpPr>
        <p:spPr>
          <a:xfrm>
            <a:off x="5626516" y="2195051"/>
            <a:ext cx="364105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5"/>
            </p:custDataLst>
          </p:nvPr>
        </p:nvCxnSpPr>
        <p:spPr>
          <a:xfrm>
            <a:off x="8711754" y="2195051"/>
            <a:ext cx="555812" cy="0"/>
          </a:xfrm>
          <a:prstGeom prst="line">
            <a:avLst/>
          </a:prstGeom>
          <a:ln w="19050" cap="rnd">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6"/>
            </p:custDataLst>
          </p:nvPr>
        </p:nvCxnSpPr>
        <p:spPr>
          <a:xfrm>
            <a:off x="5626516" y="3160693"/>
            <a:ext cx="364105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7"/>
            </p:custDataLst>
          </p:nvPr>
        </p:nvCxnSpPr>
        <p:spPr>
          <a:xfrm>
            <a:off x="5626516" y="4126335"/>
            <a:ext cx="364105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8"/>
            </p:custDataLst>
          </p:nvPr>
        </p:nvCxnSpPr>
        <p:spPr>
          <a:xfrm>
            <a:off x="8711754" y="3160693"/>
            <a:ext cx="555812" cy="0"/>
          </a:xfrm>
          <a:prstGeom prst="line">
            <a:avLst/>
          </a:prstGeom>
          <a:ln w="19050" cap="rnd">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custDataLst>
              <p:tags r:id="rId9"/>
            </p:custDataLst>
          </p:nvPr>
        </p:nvCxnSpPr>
        <p:spPr>
          <a:xfrm>
            <a:off x="8711754" y="4126335"/>
            <a:ext cx="555812" cy="0"/>
          </a:xfrm>
          <a:prstGeom prst="line">
            <a:avLst/>
          </a:prstGeom>
          <a:ln w="19050" cap="rnd">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9" name="文本框 28"/>
          <p:cNvSpPr txBox="1"/>
          <p:nvPr>
            <p:custDataLst>
              <p:tags r:id="rId10"/>
            </p:custDataLst>
          </p:nvPr>
        </p:nvSpPr>
        <p:spPr>
          <a:xfrm>
            <a:off x="5691829" y="1475490"/>
            <a:ext cx="90143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u="none" strike="noStrike" kern="1200" cap="none" spc="0" normalizeH="0" baseline="0" noProof="0" dirty="0">
                <a:ln>
                  <a:noFill/>
                </a:ln>
                <a:solidFill>
                  <a:srgbClr val="1654B5"/>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01</a:t>
            </a:r>
            <a:endParaRPr kumimoji="0" lang="zh-CN" altLang="en-US" sz="3200" b="1" u="none" strike="noStrike" kern="1200" cap="none" spc="0" normalizeH="0" baseline="0" noProof="0" dirty="0">
              <a:ln>
                <a:noFill/>
              </a:ln>
              <a:solidFill>
                <a:srgbClr val="1654B5"/>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0" name="文本框 29"/>
          <p:cNvSpPr txBox="1"/>
          <p:nvPr>
            <p:custDataLst>
              <p:tags r:id="rId11"/>
            </p:custDataLst>
          </p:nvPr>
        </p:nvSpPr>
        <p:spPr>
          <a:xfrm>
            <a:off x="5691829" y="2478980"/>
            <a:ext cx="90143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u="none" strike="noStrike" kern="1200" cap="none" spc="0" normalizeH="0" baseline="0" noProof="0" dirty="0">
                <a:ln>
                  <a:noFill/>
                </a:ln>
                <a:solidFill>
                  <a:srgbClr val="1654B5"/>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02</a:t>
            </a:r>
            <a:endParaRPr kumimoji="0" lang="zh-CN" altLang="en-US" sz="3200" b="1" u="none" strike="noStrike" kern="1200" cap="none" spc="0" normalizeH="0" baseline="0" noProof="0" dirty="0">
              <a:ln>
                <a:noFill/>
              </a:ln>
              <a:solidFill>
                <a:srgbClr val="1654B5"/>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1" name="文本框 30"/>
          <p:cNvSpPr txBox="1"/>
          <p:nvPr>
            <p:custDataLst>
              <p:tags r:id="rId12"/>
            </p:custDataLst>
          </p:nvPr>
        </p:nvSpPr>
        <p:spPr>
          <a:xfrm>
            <a:off x="5691829" y="3429286"/>
            <a:ext cx="90143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u="none" strike="noStrike" kern="1200" cap="none" spc="0" normalizeH="0" baseline="0" noProof="0" dirty="0">
                <a:ln>
                  <a:noFill/>
                </a:ln>
                <a:solidFill>
                  <a:srgbClr val="1654B5"/>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03</a:t>
            </a:r>
            <a:endParaRPr kumimoji="0" lang="zh-CN" altLang="en-US" sz="3200" b="1" u="none" strike="noStrike" kern="1200" cap="none" spc="0" normalizeH="0" baseline="0" noProof="0" dirty="0">
              <a:ln>
                <a:noFill/>
              </a:ln>
              <a:solidFill>
                <a:srgbClr val="1654B5"/>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3" name="任意多边形: 形状 32"/>
          <p:cNvSpPr/>
          <p:nvPr/>
        </p:nvSpPr>
        <p:spPr>
          <a:xfrm rot="20871997" flipH="1" flipV="1">
            <a:off x="-2258883" y="-3374907"/>
            <a:ext cx="7448399" cy="6443522"/>
          </a:xfrm>
          <a:custGeom>
            <a:avLst/>
            <a:gdLst>
              <a:gd name="connsiteX0" fmla="*/ 759999 w 16607872"/>
              <a:gd name="connsiteY0" fmla="*/ 2280444 h 6443522"/>
              <a:gd name="connsiteX1" fmla="*/ 6747844 w 16607872"/>
              <a:gd name="connsiteY1" fmla="*/ 3076857 h 6443522"/>
              <a:gd name="connsiteX2" fmla="*/ 15478889 w 16607872"/>
              <a:gd name="connsiteY2" fmla="*/ 451644 h 6443522"/>
              <a:gd name="connsiteX3" fmla="*/ 16304799 w 16607872"/>
              <a:gd name="connsiteY3" fmla="*/ 451644 h 6443522"/>
              <a:gd name="connsiteX4" fmla="*/ 15124928 w 16607872"/>
              <a:gd name="connsiteY4" fmla="*/ 4935154 h 6443522"/>
              <a:gd name="connsiteX5" fmla="*/ 1674399 w 16607872"/>
              <a:gd name="connsiteY5" fmla="*/ 6321502 h 6443522"/>
              <a:gd name="connsiteX6" fmla="*/ 759999 w 16607872"/>
              <a:gd name="connsiteY6" fmla="*/ 2280444 h 6443522"/>
              <a:gd name="connsiteX0-1" fmla="*/ 759999 w 16607872"/>
              <a:gd name="connsiteY0-2" fmla="*/ 2280444 h 6443522"/>
              <a:gd name="connsiteX1-3" fmla="*/ 6747844 w 16607872"/>
              <a:gd name="connsiteY1-4" fmla="*/ 3076857 h 6443522"/>
              <a:gd name="connsiteX2-5" fmla="*/ 15478889 w 16607872"/>
              <a:gd name="connsiteY2-6" fmla="*/ 451644 h 6443522"/>
              <a:gd name="connsiteX3-7" fmla="*/ 16304799 w 16607872"/>
              <a:gd name="connsiteY3-8" fmla="*/ 451644 h 6443522"/>
              <a:gd name="connsiteX4-9" fmla="*/ 15124928 w 16607872"/>
              <a:gd name="connsiteY4-10" fmla="*/ 4935154 h 6443522"/>
              <a:gd name="connsiteX5-11" fmla="*/ 1674399 w 16607872"/>
              <a:gd name="connsiteY5-12" fmla="*/ 6321502 h 6443522"/>
              <a:gd name="connsiteX6-13" fmla="*/ 759999 w 16607872"/>
              <a:gd name="connsiteY6-14" fmla="*/ 2280444 h 6443522"/>
              <a:gd name="connsiteX0-15" fmla="*/ 759999 w 16607872"/>
              <a:gd name="connsiteY0-16" fmla="*/ 2280444 h 6443522"/>
              <a:gd name="connsiteX1-17" fmla="*/ 6747844 w 16607872"/>
              <a:gd name="connsiteY1-18" fmla="*/ 3076857 h 6443522"/>
              <a:gd name="connsiteX2-19" fmla="*/ 15478889 w 16607872"/>
              <a:gd name="connsiteY2-20" fmla="*/ 451644 h 6443522"/>
              <a:gd name="connsiteX3-21" fmla="*/ 16304799 w 16607872"/>
              <a:gd name="connsiteY3-22" fmla="*/ 451644 h 6443522"/>
              <a:gd name="connsiteX4-23" fmla="*/ 15124928 w 16607872"/>
              <a:gd name="connsiteY4-24" fmla="*/ 4935154 h 6443522"/>
              <a:gd name="connsiteX5-25" fmla="*/ 1674399 w 16607872"/>
              <a:gd name="connsiteY5-26" fmla="*/ 6321502 h 6443522"/>
              <a:gd name="connsiteX6-27" fmla="*/ 759999 w 16607872"/>
              <a:gd name="connsiteY6-28" fmla="*/ 2280444 h 64435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607872" h="6443522">
                <a:moveTo>
                  <a:pt x="759999" y="2280444"/>
                </a:moveTo>
                <a:cubicBezTo>
                  <a:pt x="1605573" y="1739670"/>
                  <a:pt x="3148068" y="3309085"/>
                  <a:pt x="6747844" y="3076857"/>
                </a:cubicBezTo>
                <a:cubicBezTo>
                  <a:pt x="10347620" y="2844629"/>
                  <a:pt x="13886063" y="889179"/>
                  <a:pt x="15478889" y="451644"/>
                </a:cubicBezTo>
                <a:cubicBezTo>
                  <a:pt x="17071715" y="14109"/>
                  <a:pt x="16363792" y="-295608"/>
                  <a:pt x="16304799" y="451644"/>
                </a:cubicBezTo>
                <a:cubicBezTo>
                  <a:pt x="16245806" y="1198896"/>
                  <a:pt x="17563328" y="3956844"/>
                  <a:pt x="15124928" y="4935154"/>
                </a:cubicBezTo>
                <a:cubicBezTo>
                  <a:pt x="12686528" y="5913464"/>
                  <a:pt x="4068554" y="6768870"/>
                  <a:pt x="1674399" y="6321502"/>
                </a:cubicBezTo>
                <a:cubicBezTo>
                  <a:pt x="-719756" y="5874134"/>
                  <a:pt x="-85575" y="2821218"/>
                  <a:pt x="759999" y="2280444"/>
                </a:cubicBezTo>
                <a:close/>
              </a:path>
            </a:pathLst>
          </a:custGeom>
          <a:gradFill>
            <a:gsLst>
              <a:gs pos="0">
                <a:srgbClr val="073F97">
                  <a:lumMod val="90000"/>
                  <a:lumOff val="10000"/>
                  <a:alpha val="90000"/>
                </a:srgbClr>
              </a:gs>
              <a:gs pos="100000">
                <a:srgbClr val="073F97">
                  <a:lumMod val="95000"/>
                  <a:alpha val="95000"/>
                </a:srgbClr>
              </a:gs>
            </a:gsLst>
            <a:lin ang="0" scaled="0"/>
          </a:gradFill>
          <a:ln w="12700" cap="flat" cmpd="sng" algn="ctr">
            <a:noFill/>
            <a:prstDash val="solid"/>
            <a:miter lim="800000"/>
          </a:ln>
          <a:effectLst>
            <a:outerShdw blurRad="254000" dist="63500" dir="16200000" rotWithShape="0">
              <a:srgbClr val="073F97">
                <a:lumMod val="75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思源黑体 CN Medium" panose="020B0600000000000000" charset="-122"/>
              <a:cs typeface="+mn-cs"/>
            </a:endParaRPr>
          </a:p>
        </p:txBody>
      </p:sp>
      <p:sp>
        <p:nvSpPr>
          <p:cNvPr id="2" name="矩形 1"/>
          <p:cNvSpPr/>
          <p:nvPr>
            <p:custDataLst>
              <p:tags r:id="rId13"/>
            </p:custDataLst>
          </p:nvPr>
        </p:nvSpPr>
        <p:spPr>
          <a:xfrm>
            <a:off x="6720368" y="4472640"/>
            <a:ext cx="1219200" cy="368935"/>
          </a:xfrm>
          <a:prstGeom prst="rect">
            <a:avLst/>
          </a:prstGeom>
        </p:spPr>
        <p:txBody>
          <a:bodyPr wrap="none" lIns="0" tIns="0" rIns="0" bIns="0">
            <a:spAutoFit/>
          </a:bodyPr>
          <a:lstStyle/>
          <a:p>
            <a:pPr lvl="0" algn="l">
              <a:defRPr/>
            </a:pPr>
            <a:r>
              <a:rPr lang="zh-CN" altLang="en-US" sz="240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运营</a:t>
            </a:r>
            <a:r>
              <a:rPr lang="zh-CN" altLang="en-US" sz="240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模式</a:t>
            </a:r>
            <a:endParaRPr lang="zh-CN" altLang="en-US" sz="2400">
              <a:solidFill>
                <a:srgbClr val="1654B5"/>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文本框 2"/>
          <p:cNvSpPr txBox="1"/>
          <p:nvPr>
            <p:custDataLst>
              <p:tags r:id="rId14"/>
            </p:custDataLst>
          </p:nvPr>
        </p:nvSpPr>
        <p:spPr>
          <a:xfrm>
            <a:off x="5755329" y="4345591"/>
            <a:ext cx="90143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u="none" strike="noStrike" kern="1200" cap="none" spc="0" normalizeH="0" baseline="0" noProof="0" dirty="0">
                <a:ln>
                  <a:noFill/>
                </a:ln>
                <a:solidFill>
                  <a:srgbClr val="1654B5"/>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03</a:t>
            </a:r>
            <a:endParaRPr kumimoji="0" lang="zh-CN" altLang="en-US" sz="3200" b="1" u="none" strike="noStrike" kern="1200" cap="none" spc="0" normalizeH="0" baseline="0" noProof="0" dirty="0">
              <a:ln>
                <a:noFill/>
              </a:ln>
              <a:solidFill>
                <a:srgbClr val="1654B5"/>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4" name="直接连接符 3"/>
          <p:cNvCxnSpPr/>
          <p:nvPr>
            <p:custDataLst>
              <p:tags r:id="rId15"/>
            </p:custDataLst>
          </p:nvPr>
        </p:nvCxnSpPr>
        <p:spPr>
          <a:xfrm>
            <a:off x="5648741" y="4929996"/>
            <a:ext cx="364105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16"/>
            </p:custDataLst>
          </p:nvPr>
        </p:nvCxnSpPr>
        <p:spPr>
          <a:xfrm>
            <a:off x="8733979" y="4929996"/>
            <a:ext cx="555812" cy="0"/>
          </a:xfrm>
          <a:prstGeom prst="line">
            <a:avLst/>
          </a:prstGeom>
          <a:ln w="19050" cap="rnd">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剪去对角 9"/>
          <p:cNvSpPr/>
          <p:nvPr/>
        </p:nvSpPr>
        <p:spPr>
          <a:xfrm>
            <a:off x="-1" y="0"/>
            <a:ext cx="12192001" cy="6858000"/>
          </a:xfrm>
          <a:prstGeom prst="snip2DiagRect">
            <a:avLst>
              <a:gd name="adj1" fmla="val 0"/>
              <a:gd name="adj2" fmla="val 50000"/>
            </a:avLst>
          </a:prstGeom>
          <a:solidFill>
            <a:srgbClr val="FFFFFF"/>
          </a:solidFill>
          <a:ln w="12700" cap="flat" cmpd="sng" algn="ctr">
            <a:noFill/>
            <a:prstDash val="solid"/>
            <a:miter lim="800000"/>
          </a:ln>
          <a:effectLst/>
        </p:spPr>
        <p:txBody>
          <a:bodyPr rtlCol="0" anchor="ctr"/>
          <a:lstStyle/>
          <a:p>
            <a:pPr algn="ctr"/>
            <a:endParaRPr lang="zh-CN" altLang="en-US" kern="0">
              <a:solidFill>
                <a:srgbClr val="FFFFFF"/>
              </a:solidFill>
              <a:latin typeface="Source Sans Pro SemiBold"/>
              <a:sym typeface="+mn-lt"/>
            </a:endParaRPr>
          </a:p>
        </p:txBody>
      </p:sp>
      <p:sp>
        <p:nvSpPr>
          <p:cNvPr id="9" name="矩形: 剪去对角 8"/>
          <p:cNvSpPr/>
          <p:nvPr/>
        </p:nvSpPr>
        <p:spPr>
          <a:xfrm flipH="1">
            <a:off x="131762" y="108643"/>
            <a:ext cx="11945938" cy="6682681"/>
          </a:xfrm>
          <a:prstGeom prst="snip2DiagRect">
            <a:avLst>
              <a:gd name="adj1" fmla="val 0"/>
              <a:gd name="adj2" fmla="val 50000"/>
            </a:avLst>
          </a:prstGeom>
          <a:gradFill>
            <a:gsLst>
              <a:gs pos="0">
                <a:srgbClr val="073F97">
                  <a:lumMod val="90000"/>
                  <a:lumOff val="10000"/>
                  <a:alpha val="90000"/>
                </a:srgbClr>
              </a:gs>
              <a:gs pos="100000">
                <a:srgbClr val="073F97">
                  <a:lumMod val="95000"/>
                  <a:alpha val="95000"/>
                </a:srgbClr>
              </a:gs>
            </a:gsLst>
            <a:lin ang="0" scaled="0"/>
          </a:gradFill>
          <a:ln w="12700" cap="flat" cmpd="sng" algn="ctr">
            <a:noFill/>
            <a:prstDash val="solid"/>
            <a:miter lim="800000"/>
          </a:ln>
          <a:effectLst>
            <a:outerShdw blurRad="254000" dist="63500" dir="16200000" rotWithShape="0">
              <a:srgbClr val="073F97">
                <a:lumMod val="75000"/>
                <a:alpha val="35000"/>
              </a:srgbClr>
            </a:outerShdw>
          </a:effectLst>
        </p:spPr>
        <p:txBody>
          <a:bodyPr rtlCol="0" anchor="ctr"/>
          <a:lstStyle/>
          <a:p>
            <a:pPr algn="ctr"/>
            <a:endParaRPr lang="zh-CN" altLang="en-US" kern="0">
              <a:solidFill>
                <a:srgbClr val="FFFFFF"/>
              </a:solidFill>
              <a:latin typeface="Source Sans Pro SemiBold"/>
              <a:sym typeface="+mn-lt"/>
            </a:endParaRPr>
          </a:p>
        </p:txBody>
      </p:sp>
      <p:sp>
        <p:nvSpPr>
          <p:cNvPr id="17" name="文本框 16"/>
          <p:cNvSpPr txBox="1"/>
          <p:nvPr/>
        </p:nvSpPr>
        <p:spPr>
          <a:xfrm>
            <a:off x="2992120" y="2804795"/>
            <a:ext cx="6191885" cy="1106805"/>
          </a:xfrm>
          <a:prstGeom prst="rect">
            <a:avLst/>
          </a:prstGeom>
          <a:noFill/>
        </p:spPr>
        <p:txBody>
          <a:bodyPr wrap="square" rtlCol="0">
            <a:spAutoFit/>
          </a:bodyPr>
          <a:lstStyle/>
          <a:p>
            <a:pPr algn="dist"/>
            <a:r>
              <a:rPr lang="zh-CN" altLang="en-US" sz="6600" b="1" spc="60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建设</a:t>
            </a:r>
            <a:r>
              <a:rPr lang="zh-CN" altLang="en-US" sz="6600" b="1" spc="60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背景</a:t>
            </a:r>
            <a:endParaRPr lang="zh-CN" altLang="en-US" sz="6600" b="1" spc="60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grpSp>
        <p:nvGrpSpPr>
          <p:cNvPr id="20" name="组合 19"/>
          <p:cNvGrpSpPr/>
          <p:nvPr/>
        </p:nvGrpSpPr>
        <p:grpSpPr>
          <a:xfrm>
            <a:off x="2465311" y="2830976"/>
            <a:ext cx="7268638" cy="999419"/>
            <a:chOff x="2465311" y="2754776"/>
            <a:chExt cx="7268638" cy="999419"/>
          </a:xfrm>
        </p:grpSpPr>
        <p:sp>
          <p:nvSpPr>
            <p:cNvPr id="21" name="任意多边形: 形状 20"/>
            <p:cNvSpPr/>
            <p:nvPr/>
          </p:nvSpPr>
          <p:spPr>
            <a:xfrm rot="5400000">
              <a:off x="9052208" y="3072455"/>
              <a:ext cx="992163" cy="371318"/>
            </a:xfrm>
            <a:custGeom>
              <a:avLst/>
              <a:gdLst>
                <a:gd name="connsiteX0" fmla="*/ 0 w 6591664"/>
                <a:gd name="connsiteY0" fmla="*/ 0 h 2679540"/>
                <a:gd name="connsiteX1" fmla="*/ 6591664 w 6591664"/>
                <a:gd name="connsiteY1" fmla="*/ 0 h 2679540"/>
                <a:gd name="connsiteX2" fmla="*/ 6591664 w 6591664"/>
                <a:gd name="connsiteY2" fmla="*/ 2679540 h 2679540"/>
                <a:gd name="connsiteX3" fmla="*/ 6130471 w 6591664"/>
                <a:gd name="connsiteY3" fmla="*/ 2679540 h 2679540"/>
                <a:gd name="connsiteX4" fmla="*/ 6130471 w 6591664"/>
                <a:gd name="connsiteY4" fmla="*/ 2594679 h 2679540"/>
                <a:gd name="connsiteX5" fmla="*/ 6506803 w 6591664"/>
                <a:gd name="connsiteY5" fmla="*/ 2594679 h 2679540"/>
                <a:gd name="connsiteX6" fmla="*/ 6506803 w 6591664"/>
                <a:gd name="connsiteY6" fmla="*/ 84861 h 2679540"/>
                <a:gd name="connsiteX7" fmla="*/ 84861 w 6591664"/>
                <a:gd name="connsiteY7" fmla="*/ 84861 h 2679540"/>
                <a:gd name="connsiteX8" fmla="*/ 84861 w 6591664"/>
                <a:gd name="connsiteY8" fmla="*/ 2594679 h 2679540"/>
                <a:gd name="connsiteX9" fmla="*/ 461193 w 6591664"/>
                <a:gd name="connsiteY9" fmla="*/ 2594679 h 2679540"/>
                <a:gd name="connsiteX10" fmla="*/ 461193 w 6591664"/>
                <a:gd name="connsiteY10" fmla="*/ 2679540 h 2679540"/>
                <a:gd name="connsiteX11" fmla="*/ 0 w 6591664"/>
                <a:gd name="connsiteY11" fmla="*/ 2679540 h 267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1664" h="2679540">
                  <a:moveTo>
                    <a:pt x="0" y="0"/>
                  </a:moveTo>
                  <a:lnTo>
                    <a:pt x="6591664" y="0"/>
                  </a:lnTo>
                  <a:lnTo>
                    <a:pt x="6591664" y="2679540"/>
                  </a:lnTo>
                  <a:lnTo>
                    <a:pt x="6130471" y="2679540"/>
                  </a:lnTo>
                  <a:lnTo>
                    <a:pt x="6130471" y="2594679"/>
                  </a:lnTo>
                  <a:lnTo>
                    <a:pt x="6506803" y="2594679"/>
                  </a:lnTo>
                  <a:lnTo>
                    <a:pt x="6506803" y="84861"/>
                  </a:lnTo>
                  <a:lnTo>
                    <a:pt x="84861" y="84861"/>
                  </a:lnTo>
                  <a:lnTo>
                    <a:pt x="84861" y="2594679"/>
                  </a:lnTo>
                  <a:lnTo>
                    <a:pt x="461193" y="2594679"/>
                  </a:lnTo>
                  <a:lnTo>
                    <a:pt x="461193" y="2679540"/>
                  </a:lnTo>
                  <a:lnTo>
                    <a:pt x="0" y="2679540"/>
                  </a:lnTo>
                  <a:close/>
                </a:path>
              </a:pathLst>
            </a:custGeom>
            <a:solidFill>
              <a:sysClr val="window" lastClr="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22" name="任意多边形: 形状 21"/>
            <p:cNvSpPr/>
            <p:nvPr/>
          </p:nvSpPr>
          <p:spPr>
            <a:xfrm rot="16200000" flipH="1">
              <a:off x="2154888" y="3065199"/>
              <a:ext cx="992163" cy="371318"/>
            </a:xfrm>
            <a:custGeom>
              <a:avLst/>
              <a:gdLst>
                <a:gd name="connsiteX0" fmla="*/ 0 w 6591664"/>
                <a:gd name="connsiteY0" fmla="*/ 0 h 2679540"/>
                <a:gd name="connsiteX1" fmla="*/ 6591664 w 6591664"/>
                <a:gd name="connsiteY1" fmla="*/ 0 h 2679540"/>
                <a:gd name="connsiteX2" fmla="*/ 6591664 w 6591664"/>
                <a:gd name="connsiteY2" fmla="*/ 2679540 h 2679540"/>
                <a:gd name="connsiteX3" fmla="*/ 6130471 w 6591664"/>
                <a:gd name="connsiteY3" fmla="*/ 2679540 h 2679540"/>
                <a:gd name="connsiteX4" fmla="*/ 6130471 w 6591664"/>
                <a:gd name="connsiteY4" fmla="*/ 2594679 h 2679540"/>
                <a:gd name="connsiteX5" fmla="*/ 6506803 w 6591664"/>
                <a:gd name="connsiteY5" fmla="*/ 2594679 h 2679540"/>
                <a:gd name="connsiteX6" fmla="*/ 6506803 w 6591664"/>
                <a:gd name="connsiteY6" fmla="*/ 84861 h 2679540"/>
                <a:gd name="connsiteX7" fmla="*/ 84861 w 6591664"/>
                <a:gd name="connsiteY7" fmla="*/ 84861 h 2679540"/>
                <a:gd name="connsiteX8" fmla="*/ 84861 w 6591664"/>
                <a:gd name="connsiteY8" fmla="*/ 2594679 h 2679540"/>
                <a:gd name="connsiteX9" fmla="*/ 461193 w 6591664"/>
                <a:gd name="connsiteY9" fmla="*/ 2594679 h 2679540"/>
                <a:gd name="connsiteX10" fmla="*/ 461193 w 6591664"/>
                <a:gd name="connsiteY10" fmla="*/ 2679540 h 2679540"/>
                <a:gd name="connsiteX11" fmla="*/ 0 w 6591664"/>
                <a:gd name="connsiteY11" fmla="*/ 2679540 h 267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1664" h="2679540">
                  <a:moveTo>
                    <a:pt x="0" y="0"/>
                  </a:moveTo>
                  <a:lnTo>
                    <a:pt x="6591664" y="0"/>
                  </a:lnTo>
                  <a:lnTo>
                    <a:pt x="6591664" y="2679540"/>
                  </a:lnTo>
                  <a:lnTo>
                    <a:pt x="6130471" y="2679540"/>
                  </a:lnTo>
                  <a:lnTo>
                    <a:pt x="6130471" y="2594679"/>
                  </a:lnTo>
                  <a:lnTo>
                    <a:pt x="6506803" y="2594679"/>
                  </a:lnTo>
                  <a:lnTo>
                    <a:pt x="6506803" y="84861"/>
                  </a:lnTo>
                  <a:lnTo>
                    <a:pt x="84861" y="84861"/>
                  </a:lnTo>
                  <a:lnTo>
                    <a:pt x="84861" y="2594679"/>
                  </a:lnTo>
                  <a:lnTo>
                    <a:pt x="461193" y="2594679"/>
                  </a:lnTo>
                  <a:lnTo>
                    <a:pt x="461193" y="2679540"/>
                  </a:lnTo>
                  <a:lnTo>
                    <a:pt x="0" y="2679540"/>
                  </a:lnTo>
                  <a:close/>
                </a:path>
              </a:pathLst>
            </a:custGeom>
            <a:solidFill>
              <a:sysClr val="window" lastClr="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09573" y="240598"/>
            <a:ext cx="1322628" cy="631070"/>
            <a:chOff x="-504068" y="174267"/>
            <a:chExt cx="1600668" cy="763731"/>
          </a:xfrm>
        </p:grpSpPr>
        <p:sp>
          <p:nvSpPr>
            <p:cNvPr id="4" name="平行四边形 3"/>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 name="平行四边形 4"/>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cs typeface="+mn-ea"/>
                <a:sym typeface="+mn-lt"/>
              </a:endParaRPr>
            </a:p>
          </p:txBody>
        </p:sp>
      </p:grpSp>
      <p:sp>
        <p:nvSpPr>
          <p:cNvPr id="6" name="文本框 5"/>
          <p:cNvSpPr txBox="1"/>
          <p:nvPr/>
        </p:nvSpPr>
        <p:spPr>
          <a:xfrm>
            <a:off x="673099" y="326390"/>
            <a:ext cx="10231089"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政策</a:t>
            </a:r>
            <a:r>
              <a:rPr lang="zh-CN" altLang="en-US" sz="3200" b="1" dirty="0">
                <a:solidFill>
                  <a:srgbClr val="3271CC"/>
                </a:solidFill>
                <a:latin typeface="微软雅黑" panose="020B0503020204020204" charset="-122"/>
                <a:ea typeface="微软雅黑" panose="020B0503020204020204" charset="-122"/>
                <a:cs typeface="+mn-ea"/>
                <a:sym typeface="+mn-lt"/>
              </a:rPr>
              <a:t>导向：采购的数智化转型已成为必然趋势</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sp>
        <p:nvSpPr>
          <p:cNvPr id="36" name="矩形: 圆角 35"/>
          <p:cNvSpPr/>
          <p:nvPr>
            <p:custDataLst>
              <p:tags r:id="rId1"/>
            </p:custDataLst>
          </p:nvPr>
        </p:nvSpPr>
        <p:spPr>
          <a:xfrm>
            <a:off x="104763" y="1091632"/>
            <a:ext cx="2260817" cy="5525770"/>
          </a:xfrm>
          <a:prstGeom prst="roundRect">
            <a:avLst>
              <a:gd name="adj" fmla="val 3364"/>
            </a:avLst>
          </a:prstGeom>
          <a:solidFill>
            <a:schemeClr val="accent5">
              <a:lumMod val="20000"/>
              <a:lumOff val="80000"/>
            </a:schemeClr>
          </a:solidFill>
          <a:ln w="12700" cap="flat" cmpd="sng" algn="ctr">
            <a:gradFill>
              <a:gsLst>
                <a:gs pos="0">
                  <a:srgbClr val="0F6FC6">
                    <a:lumMod val="20000"/>
                    <a:lumOff val="80000"/>
                    <a:alpha val="70000"/>
                  </a:srgbClr>
                </a:gs>
                <a:gs pos="100000">
                  <a:sysClr val="window" lastClr="FFFFFF">
                    <a:alpha val="70000"/>
                  </a:sysClr>
                </a:gs>
              </a:gsLst>
              <a:lin ang="5400000" scaled="1"/>
            </a:grad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cs typeface="+mn-ea"/>
              <a:sym typeface="+mn-lt"/>
            </a:endParaRPr>
          </a:p>
        </p:txBody>
      </p:sp>
      <p:sp>
        <p:nvSpPr>
          <p:cNvPr id="37" name="文本框 19"/>
          <p:cNvSpPr txBox="1"/>
          <p:nvPr>
            <p:custDataLst>
              <p:tags r:id="rId2"/>
            </p:custDataLst>
          </p:nvPr>
        </p:nvSpPr>
        <p:spPr>
          <a:xfrm>
            <a:off x="53003" y="1061601"/>
            <a:ext cx="2278066" cy="1028871"/>
          </a:xfrm>
          <a:prstGeom prst="rect">
            <a:avLst/>
          </a:prstGeom>
          <a:noFill/>
        </p:spPr>
        <p:txBody>
          <a:bodyPr wrap="square" rtlCol="0">
            <a:spAutoFit/>
          </a:bodyPr>
          <a:lstStyle>
            <a:defPPr>
              <a:defRPr lang="zh-CN"/>
            </a:defPPr>
            <a:lvl1pPr algn="ctr">
              <a:defRPr sz="5400">
                <a:ln w="6350">
                  <a:solidFill>
                    <a:schemeClr val="accent1">
                      <a:lumMod val="60000"/>
                      <a:lumOff val="40000"/>
                      <a:alpha val="30000"/>
                    </a:schemeClr>
                  </a:solidFill>
                </a:ln>
                <a:gradFill>
                  <a:gsLst>
                    <a:gs pos="100000">
                      <a:schemeClr val="accent1">
                        <a:lumMod val="80000"/>
                        <a:lumOff val="20000"/>
                      </a:schemeClr>
                    </a:gs>
                    <a:gs pos="0">
                      <a:schemeClr val="accent1">
                        <a:lumMod val="40000"/>
                        <a:lumOff val="60000"/>
                      </a:schemeClr>
                    </a:gs>
                  </a:gsLst>
                  <a:lin ang="5400000" scaled="1"/>
                </a:gradFill>
              </a:defRPr>
            </a:lvl1pPr>
          </a:lstStyle>
          <a:p>
            <a:pPr>
              <a:lnSpc>
                <a:spcPct val="130000"/>
              </a:lnSpc>
            </a:pPr>
            <a:r>
              <a:rPr lang="zh-CN" altLang="en-US" sz="1200" b="1" dirty="0">
                <a:ln>
                  <a:noFill/>
                </a:ln>
                <a:solidFill>
                  <a:srgbClr val="0070C0"/>
                </a:solidFill>
                <a:cs typeface="+mn-ea"/>
                <a:sym typeface="+mn-lt"/>
              </a:rPr>
              <a:t>国资委改革局下发《关于开展采购管理提升对标工作有关事项的通知》</a:t>
            </a:r>
            <a:r>
              <a:rPr lang="en-US" altLang="zh-CN" sz="1200" b="1" dirty="0" err="1">
                <a:ln>
                  <a:noFill/>
                </a:ln>
                <a:solidFill>
                  <a:srgbClr val="0070C0"/>
                </a:solidFill>
                <a:cs typeface="+mn-ea"/>
                <a:sym typeface="+mn-lt"/>
              </a:rPr>
              <a:t>国资厅</a:t>
            </a:r>
            <a:r>
              <a:rPr lang="zh-CN" altLang="en-US" sz="1200" b="1" dirty="0">
                <a:ln>
                  <a:noFill/>
                </a:ln>
                <a:solidFill>
                  <a:srgbClr val="0070C0"/>
                </a:solidFill>
                <a:cs typeface="+mn-ea"/>
                <a:sym typeface="+mn-lt"/>
              </a:rPr>
              <a:t>发</a:t>
            </a:r>
            <a:r>
              <a:rPr lang="en-US" altLang="zh-CN" sz="1200" b="1" dirty="0">
                <a:ln>
                  <a:noFill/>
                </a:ln>
                <a:solidFill>
                  <a:srgbClr val="0070C0"/>
                </a:solidFill>
                <a:cs typeface="+mn-ea"/>
                <a:sym typeface="+mn-lt"/>
              </a:rPr>
              <a:t>改革〔2015〕27号</a:t>
            </a:r>
            <a:endParaRPr lang="en-US" altLang="zh-CN" sz="1200" b="1" dirty="0">
              <a:ln>
                <a:noFill/>
              </a:ln>
              <a:solidFill>
                <a:srgbClr val="0070C0"/>
              </a:solidFill>
              <a:cs typeface="+mn-ea"/>
              <a:sym typeface="+mn-lt"/>
            </a:endParaRPr>
          </a:p>
        </p:txBody>
      </p:sp>
      <p:sp>
        <p:nvSpPr>
          <p:cNvPr id="38" name="文本框 20" descr="7b0a202020202262756c6c6574223a20227b5c2263617465676f727949645c223a31303030352c5c2274656d706c61746549645c223a32303233313538357d220a7d0a"/>
          <p:cNvSpPr txBox="1"/>
          <p:nvPr>
            <p:custDataLst>
              <p:tags r:id="rId3"/>
            </p:custDataLst>
          </p:nvPr>
        </p:nvSpPr>
        <p:spPr>
          <a:xfrm>
            <a:off x="104763" y="4757321"/>
            <a:ext cx="2209058" cy="183107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ysClr val="windowText" lastClr="000000">
                    <a:lumMod val="65000"/>
                    <a:lumOff val="35000"/>
                  </a:sysClr>
                </a:solidFill>
                <a:effectLst/>
                <a:uLnTx/>
                <a:uFillTx/>
                <a:cs typeface="+mn-ea"/>
                <a:sym typeface="+mn-lt"/>
              </a:rPr>
              <a:t>推行集中采购与电子化采购，推动央企电子化采购的蓬勃发展，提出采购先进水平的</a:t>
            </a:r>
            <a:r>
              <a:rPr kumimoji="0" lang="zh-CN" altLang="en-US" sz="1100" b="0" i="0" u="none" strike="noStrike" kern="1200" cap="none" spc="0" normalizeH="0" baseline="0" noProof="0" dirty="0">
                <a:ln>
                  <a:noFill/>
                </a:ln>
                <a:solidFill>
                  <a:srgbClr val="FF0000"/>
                </a:solidFill>
                <a:effectLst/>
                <a:uLnTx/>
                <a:uFillTx/>
                <a:cs typeface="+mn-ea"/>
                <a:sym typeface="+mn-lt"/>
              </a:rPr>
              <a:t>四个关键指标</a:t>
            </a:r>
            <a:r>
              <a:rPr kumimoji="0" lang="zh-CN" altLang="en-US" sz="1100" b="0" i="0" u="none" strike="noStrike" kern="1200" cap="none" spc="0" normalizeH="0" baseline="0" noProof="0" dirty="0">
                <a:ln>
                  <a:noFill/>
                </a:ln>
                <a:solidFill>
                  <a:sysClr val="windowText" lastClr="000000">
                    <a:lumMod val="65000"/>
                    <a:lumOff val="35000"/>
                  </a:sysClr>
                </a:solidFill>
                <a:effectLst/>
                <a:uLnTx/>
                <a:uFillTx/>
                <a:cs typeface="+mn-ea"/>
                <a:sym typeface="+mn-lt"/>
              </a:rPr>
              <a:t>：</a:t>
            </a:r>
            <a:endParaRPr kumimoji="0" lang="en-US" altLang="zh-CN" sz="1100" b="0" i="0" u="none" strike="noStrike" kern="1200" cap="none" spc="0" normalizeH="0" baseline="0" noProof="0" dirty="0">
              <a:ln>
                <a:noFill/>
              </a:ln>
              <a:solidFill>
                <a:sysClr val="windowText" lastClr="000000">
                  <a:lumMod val="65000"/>
                  <a:lumOff val="35000"/>
                </a:sysClr>
              </a:solidFill>
              <a:effectLst/>
              <a:uLnTx/>
              <a:uFillTx/>
              <a:cs typeface="+mn-ea"/>
              <a:sym typeface="+mn-lt"/>
            </a:endParaRPr>
          </a:p>
          <a:p>
            <a:pPr marL="144145" marR="0" lvl="0" indent="0" algn="l" defTabSz="914400" rtl="0" eaLnBrk="1" fontAlgn="auto" latinLnBrk="0" hangingPunct="1">
              <a:lnSpc>
                <a:spcPct val="130000"/>
              </a:lnSpc>
              <a:spcBef>
                <a:spcPts val="0"/>
              </a:spcBef>
              <a:spcAft>
                <a:spcPts val="0"/>
              </a:spcAft>
              <a:buClrTx/>
              <a:buSzTx/>
              <a:buFontTx/>
              <a:buBlip>
                <a:blip r:embed="rId4"/>
              </a:buBlip>
              <a:defRPr/>
            </a:pPr>
            <a:r>
              <a:rPr kumimoji="0" lang="zh-CN" altLang="en-US" sz="1100" b="0" i="0" u="none" strike="noStrike" kern="1200" cap="none" spc="0" normalizeH="0" baseline="0" noProof="0" dirty="0">
                <a:ln>
                  <a:noFill/>
                </a:ln>
                <a:solidFill>
                  <a:srgbClr val="1070FE"/>
                </a:solidFill>
                <a:effectLst/>
                <a:uLnTx/>
                <a:uFillTx/>
                <a:cs typeface="+mn-ea"/>
                <a:sym typeface="+mn-lt"/>
              </a:rPr>
              <a:t>公开采购率达80%以上</a:t>
            </a:r>
            <a:endParaRPr kumimoji="0" lang="en-US" altLang="zh-CN" sz="1100" b="0" i="0" u="none" strike="noStrike" kern="1200" cap="none" spc="0" normalizeH="0" baseline="0" noProof="0" dirty="0">
              <a:ln>
                <a:noFill/>
              </a:ln>
              <a:solidFill>
                <a:srgbClr val="1070FE"/>
              </a:solidFill>
              <a:effectLst/>
              <a:uLnTx/>
              <a:uFillTx/>
              <a:cs typeface="+mn-ea"/>
              <a:sym typeface="+mn-lt"/>
            </a:endParaRPr>
          </a:p>
          <a:p>
            <a:pPr marL="144145" marR="0" lvl="0" indent="0" algn="l" defTabSz="914400" rtl="0" eaLnBrk="1" fontAlgn="auto" latinLnBrk="0" hangingPunct="1">
              <a:lnSpc>
                <a:spcPct val="130000"/>
              </a:lnSpc>
              <a:spcBef>
                <a:spcPts val="0"/>
              </a:spcBef>
              <a:spcAft>
                <a:spcPts val="0"/>
              </a:spcAft>
              <a:buClrTx/>
              <a:buSzTx/>
              <a:buFontTx/>
              <a:buBlip>
                <a:blip r:embed="rId4"/>
              </a:buBlip>
              <a:defRPr/>
            </a:pPr>
            <a:r>
              <a:rPr kumimoji="0" lang="zh-CN" altLang="en-US" sz="1100" b="0" i="0" u="none" strike="noStrike" kern="1200" cap="none" spc="0" normalizeH="0" baseline="0" noProof="0" dirty="0">
                <a:ln>
                  <a:noFill/>
                </a:ln>
                <a:solidFill>
                  <a:srgbClr val="1070FE"/>
                </a:solidFill>
                <a:effectLst/>
                <a:uLnTx/>
                <a:uFillTx/>
                <a:cs typeface="+mn-ea"/>
                <a:sym typeface="+mn-lt"/>
              </a:rPr>
              <a:t>集中采购率达80%以上</a:t>
            </a:r>
            <a:endParaRPr kumimoji="0" lang="zh-CN" altLang="en-US" sz="1100" b="0" i="0" u="none" strike="noStrike" kern="1200" cap="none" spc="0" normalizeH="0" baseline="0" noProof="0" dirty="0">
              <a:ln>
                <a:noFill/>
              </a:ln>
              <a:solidFill>
                <a:srgbClr val="1070FE"/>
              </a:solidFill>
              <a:effectLst/>
              <a:uLnTx/>
              <a:uFillTx/>
              <a:cs typeface="+mn-ea"/>
              <a:sym typeface="+mn-lt"/>
            </a:endParaRPr>
          </a:p>
          <a:p>
            <a:pPr marL="144145" marR="0" lvl="0" indent="0" algn="l" defTabSz="914400" rtl="0" eaLnBrk="1" fontAlgn="auto" latinLnBrk="0" hangingPunct="1">
              <a:lnSpc>
                <a:spcPct val="130000"/>
              </a:lnSpc>
              <a:spcBef>
                <a:spcPts val="0"/>
              </a:spcBef>
              <a:spcAft>
                <a:spcPts val="0"/>
              </a:spcAft>
              <a:buClrTx/>
              <a:buSzTx/>
              <a:buFontTx/>
              <a:buBlip>
                <a:blip r:embed="rId4"/>
              </a:buBlip>
              <a:defRPr/>
            </a:pPr>
            <a:r>
              <a:rPr kumimoji="0" lang="zh-CN" altLang="en-US" sz="1100" b="0" i="0" u="none" strike="noStrike" kern="1200" cap="none" spc="0" normalizeH="0" baseline="0" noProof="0" dirty="0">
                <a:ln>
                  <a:noFill/>
                </a:ln>
                <a:solidFill>
                  <a:srgbClr val="1070FE"/>
                </a:solidFill>
                <a:effectLst/>
                <a:uLnTx/>
                <a:uFillTx/>
                <a:cs typeface="+mn-ea"/>
                <a:sym typeface="+mn-lt"/>
              </a:rPr>
              <a:t>网上采购率达80%以上</a:t>
            </a:r>
            <a:endParaRPr kumimoji="0" lang="zh-CN" altLang="en-US" sz="1100" b="0" i="0" u="none" strike="noStrike" kern="1200" cap="none" spc="0" normalizeH="0" baseline="0" noProof="0" dirty="0">
              <a:ln>
                <a:noFill/>
              </a:ln>
              <a:solidFill>
                <a:srgbClr val="1070FE"/>
              </a:solidFill>
              <a:effectLst/>
              <a:uLnTx/>
              <a:uFillTx/>
              <a:cs typeface="+mn-ea"/>
              <a:sym typeface="+mn-lt"/>
            </a:endParaRPr>
          </a:p>
          <a:p>
            <a:pPr marL="144145" marR="0" lvl="0" indent="0" algn="l" defTabSz="914400" rtl="0" eaLnBrk="1" fontAlgn="auto" latinLnBrk="0" hangingPunct="1">
              <a:lnSpc>
                <a:spcPct val="130000"/>
              </a:lnSpc>
              <a:spcBef>
                <a:spcPts val="0"/>
              </a:spcBef>
              <a:spcAft>
                <a:spcPts val="0"/>
              </a:spcAft>
              <a:buClrTx/>
              <a:buSzTx/>
              <a:buFontTx/>
              <a:buBlip>
                <a:blip r:embed="rId4"/>
              </a:buBlip>
              <a:defRPr/>
            </a:pPr>
            <a:r>
              <a:rPr kumimoji="0" lang="zh-CN" altLang="en-US" sz="1100" b="0" i="0" u="none" strike="noStrike" kern="1200" cap="none" spc="0" normalizeH="0" baseline="0" noProof="0" dirty="0">
                <a:ln>
                  <a:noFill/>
                </a:ln>
                <a:solidFill>
                  <a:srgbClr val="1070FE"/>
                </a:solidFill>
                <a:effectLst/>
                <a:uLnTx/>
                <a:uFillTx/>
                <a:cs typeface="+mn-ea"/>
                <a:sym typeface="+mn-lt"/>
              </a:rPr>
              <a:t>电子招标率达80%以上</a:t>
            </a:r>
            <a:endParaRPr kumimoji="0" lang="zh-CN" altLang="en-US" sz="1100" b="0" i="0" u="none" strike="noStrike" kern="1200" cap="none" spc="0" normalizeH="0" baseline="0" noProof="0" dirty="0">
              <a:ln>
                <a:noFill/>
              </a:ln>
              <a:solidFill>
                <a:srgbClr val="1070FE"/>
              </a:solidFill>
              <a:effectLst/>
              <a:uLnTx/>
              <a:uFillTx/>
              <a:cs typeface="+mn-ea"/>
              <a:sym typeface="+mn-lt"/>
            </a:endParaRPr>
          </a:p>
        </p:txBody>
      </p:sp>
      <p:pic>
        <p:nvPicPr>
          <p:cNvPr id="44" name="图片 43"/>
          <p:cNvPicPr>
            <a:picLocks noChangeAspect="1"/>
          </p:cNvPicPr>
          <p:nvPr>
            <p:custDataLst>
              <p:tags r:id="rId5"/>
            </p:custDataLst>
          </p:nvPr>
        </p:nvPicPr>
        <p:blipFill rotWithShape="1">
          <a:blip r:embed="rId6"/>
          <a:srcRect t="13762" b="8472"/>
          <a:stretch>
            <a:fillRect/>
          </a:stretch>
        </p:blipFill>
        <p:spPr>
          <a:xfrm>
            <a:off x="306669" y="2109936"/>
            <a:ext cx="1864076" cy="2078939"/>
          </a:xfrm>
          <a:prstGeom prst="rect">
            <a:avLst/>
          </a:prstGeom>
          <a:ln w="12700" cmpd="sng">
            <a:noFill/>
            <a:prstDash val="solid"/>
          </a:ln>
          <a:effectLst/>
        </p:spPr>
      </p:pic>
      <p:sp>
        <p:nvSpPr>
          <p:cNvPr id="2" name="矩形: 圆角 1"/>
          <p:cNvSpPr/>
          <p:nvPr>
            <p:custDataLst>
              <p:tags r:id="rId7"/>
            </p:custDataLst>
          </p:nvPr>
        </p:nvSpPr>
        <p:spPr>
          <a:xfrm>
            <a:off x="2528660" y="1091632"/>
            <a:ext cx="2260817" cy="5525770"/>
          </a:xfrm>
          <a:prstGeom prst="roundRect">
            <a:avLst>
              <a:gd name="adj" fmla="val 3364"/>
            </a:avLst>
          </a:prstGeom>
          <a:solidFill>
            <a:schemeClr val="accent5">
              <a:lumMod val="20000"/>
              <a:lumOff val="80000"/>
            </a:schemeClr>
          </a:solidFill>
          <a:ln w="12700" cap="flat" cmpd="sng" algn="ctr">
            <a:gradFill>
              <a:gsLst>
                <a:gs pos="0">
                  <a:srgbClr val="0F6FC6">
                    <a:lumMod val="20000"/>
                    <a:lumOff val="80000"/>
                    <a:alpha val="70000"/>
                  </a:srgbClr>
                </a:gs>
                <a:gs pos="100000">
                  <a:sysClr val="window" lastClr="FFFFFF">
                    <a:alpha val="70000"/>
                  </a:sysClr>
                </a:gs>
              </a:gsLst>
              <a:lin ang="5400000" scaled="1"/>
            </a:grad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ysClr val="window" lastClr="FFFFFF"/>
              </a:solidFill>
              <a:cs typeface="+mn-ea"/>
              <a:sym typeface="+mn-lt"/>
            </a:endParaRPr>
          </a:p>
        </p:txBody>
      </p:sp>
      <p:sp>
        <p:nvSpPr>
          <p:cNvPr id="7" name="文本框 19"/>
          <p:cNvSpPr txBox="1"/>
          <p:nvPr>
            <p:custDataLst>
              <p:tags r:id="rId8"/>
            </p:custDataLst>
          </p:nvPr>
        </p:nvSpPr>
        <p:spPr>
          <a:xfrm>
            <a:off x="2528659" y="1061601"/>
            <a:ext cx="2278066" cy="548740"/>
          </a:xfrm>
          <a:prstGeom prst="rect">
            <a:avLst/>
          </a:prstGeom>
          <a:noFill/>
        </p:spPr>
        <p:txBody>
          <a:bodyPr wrap="square" rtlCol="0">
            <a:spAutoFit/>
          </a:bodyPr>
          <a:lstStyle>
            <a:defPPr>
              <a:defRPr lang="zh-CN"/>
            </a:defPPr>
            <a:lvl1pPr algn="ctr">
              <a:defRPr sz="5400">
                <a:ln w="6350">
                  <a:solidFill>
                    <a:schemeClr val="accent1">
                      <a:lumMod val="60000"/>
                      <a:lumOff val="40000"/>
                      <a:alpha val="30000"/>
                    </a:schemeClr>
                  </a:solidFill>
                </a:ln>
                <a:gradFill>
                  <a:gsLst>
                    <a:gs pos="100000">
                      <a:schemeClr val="accent1">
                        <a:lumMod val="80000"/>
                        <a:lumOff val="20000"/>
                      </a:schemeClr>
                    </a:gs>
                    <a:gs pos="0">
                      <a:schemeClr val="accent1">
                        <a:lumMod val="40000"/>
                        <a:lumOff val="60000"/>
                      </a:schemeClr>
                    </a:gs>
                  </a:gsLst>
                  <a:lin ang="5400000" scaled="1"/>
                </a:gradFill>
              </a:defRPr>
            </a:lvl1pPr>
          </a:lstStyle>
          <a:p>
            <a:pPr>
              <a:lnSpc>
                <a:spcPct val="130000"/>
              </a:lnSpc>
            </a:pPr>
            <a:r>
              <a:rPr lang="en-US" altLang="zh-CN" sz="1200" b="1" dirty="0">
                <a:ln>
                  <a:noFill/>
                </a:ln>
                <a:solidFill>
                  <a:srgbClr val="0070C0"/>
                </a:solidFill>
                <a:cs typeface="+mn-ea"/>
                <a:sym typeface="+mn-lt"/>
              </a:rPr>
              <a:t>《</a:t>
            </a:r>
            <a:r>
              <a:rPr lang="zh-CN" altLang="en-US" sz="1200" b="1" dirty="0">
                <a:ln>
                  <a:noFill/>
                </a:ln>
                <a:solidFill>
                  <a:srgbClr val="0070C0"/>
                </a:solidFill>
                <a:cs typeface="+mn-ea"/>
                <a:sym typeface="+mn-lt"/>
              </a:rPr>
              <a:t>关于加快推进国有企业数字化转型工作的通知</a:t>
            </a:r>
            <a:r>
              <a:rPr lang="en-US" altLang="zh-CN" sz="1200" b="1" dirty="0">
                <a:ln>
                  <a:noFill/>
                </a:ln>
                <a:solidFill>
                  <a:srgbClr val="0070C0"/>
                </a:solidFill>
                <a:cs typeface="+mn-ea"/>
                <a:sym typeface="+mn-lt"/>
              </a:rPr>
              <a:t>》</a:t>
            </a:r>
            <a:endParaRPr lang="en-US" altLang="zh-CN" sz="1200" b="1" dirty="0">
              <a:ln>
                <a:noFill/>
              </a:ln>
              <a:solidFill>
                <a:srgbClr val="0070C0"/>
              </a:solidFill>
              <a:cs typeface="+mn-ea"/>
              <a:sym typeface="+mn-lt"/>
            </a:endParaRPr>
          </a:p>
        </p:txBody>
      </p:sp>
      <p:sp>
        <p:nvSpPr>
          <p:cNvPr id="8" name="文本框 20" descr="7b0a202020202262756c6c6574223a20227b5c2263617465676f727949645c223a31303030352c5c2274656d706c61746549645c223a32303233313538357d220a7d0a"/>
          <p:cNvSpPr txBox="1"/>
          <p:nvPr>
            <p:custDataLst>
              <p:tags r:id="rId9"/>
            </p:custDataLst>
          </p:nvPr>
        </p:nvSpPr>
        <p:spPr>
          <a:xfrm>
            <a:off x="2528659" y="4757321"/>
            <a:ext cx="2224706" cy="161101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30000"/>
              </a:lnSpc>
              <a:spcBef>
                <a:spcPts val="0"/>
              </a:spcBef>
              <a:spcAft>
                <a:spcPts val="0"/>
              </a:spcAft>
              <a:buClrTx/>
              <a:buSzTx/>
              <a:buFontTx/>
              <a:buNone/>
              <a:defRPr/>
            </a:pPr>
            <a:r>
              <a:rPr lang="zh-CN" altLang="en-US" sz="1100" dirty="0">
                <a:solidFill>
                  <a:sysClr val="windowText" lastClr="000000">
                    <a:lumMod val="65000"/>
                    <a:lumOff val="35000"/>
                  </a:sysClr>
                </a:solidFill>
                <a:cs typeface="+mn-ea"/>
                <a:sym typeface="+mn-lt"/>
              </a:rPr>
              <a:t>明确国有企业数字化转型的基础、方向、重点和举措，</a:t>
            </a:r>
            <a:r>
              <a:rPr lang="zh-CN" altLang="en-US" sz="1100" dirty="0">
                <a:solidFill>
                  <a:srgbClr val="FF0000"/>
                </a:solidFill>
                <a:cs typeface="+mn-ea"/>
                <a:sym typeface="+mn-lt"/>
              </a:rPr>
              <a:t>开启了国有企业数字化转型的新篇章</a:t>
            </a:r>
            <a:r>
              <a:rPr lang="zh-CN" altLang="en-US" sz="1100" dirty="0">
                <a:solidFill>
                  <a:sysClr val="windowText" lastClr="000000">
                    <a:lumMod val="65000"/>
                    <a:lumOff val="35000"/>
                  </a:sysClr>
                </a:solidFill>
                <a:cs typeface="+mn-ea"/>
                <a:sym typeface="+mn-lt"/>
              </a:rPr>
              <a:t>，积极引导国有企业在数字经济时代准确识变、科学应变、主动求变，加快改造提升传统动能、培育发展新动能。</a:t>
            </a:r>
            <a:endParaRPr lang="zh-CN" altLang="en-US" sz="1100" dirty="0">
              <a:solidFill>
                <a:sysClr val="windowText" lastClr="000000">
                  <a:lumMod val="65000"/>
                  <a:lumOff val="35000"/>
                </a:sysClr>
              </a:solidFill>
              <a:cs typeface="+mn-ea"/>
              <a:sym typeface="+mn-lt"/>
            </a:endParaRPr>
          </a:p>
        </p:txBody>
      </p:sp>
      <p:pic>
        <p:nvPicPr>
          <p:cNvPr id="11" name="图片 10"/>
          <p:cNvPicPr>
            <a:picLocks noChangeAspect="1"/>
          </p:cNvPicPr>
          <p:nvPr>
            <p:custDataLst>
              <p:tags r:id="rId10"/>
            </p:custDataLst>
          </p:nvPr>
        </p:nvPicPr>
        <p:blipFill>
          <a:blip r:embed="rId11" cstate="print">
            <a:extLst>
              <a:ext uri="{28A0092B-C50C-407E-A947-70E740481C1C}">
                <a14:useLocalDpi xmlns:a14="http://schemas.microsoft.com/office/drawing/2010/main" val="0"/>
              </a:ext>
            </a:extLst>
          </a:blip>
          <a:stretch>
            <a:fillRect/>
          </a:stretch>
        </p:blipFill>
        <p:spPr>
          <a:xfrm>
            <a:off x="2718396" y="2109936"/>
            <a:ext cx="1864076" cy="2097965"/>
          </a:xfrm>
          <a:prstGeom prst="rect">
            <a:avLst/>
          </a:prstGeom>
        </p:spPr>
      </p:pic>
      <p:sp>
        <p:nvSpPr>
          <p:cNvPr id="32" name="矩形: 圆角 31"/>
          <p:cNvSpPr/>
          <p:nvPr>
            <p:custDataLst>
              <p:tags r:id="rId12"/>
            </p:custDataLst>
          </p:nvPr>
        </p:nvSpPr>
        <p:spPr>
          <a:xfrm>
            <a:off x="4981646" y="1091632"/>
            <a:ext cx="2260817" cy="5525770"/>
          </a:xfrm>
          <a:prstGeom prst="roundRect">
            <a:avLst>
              <a:gd name="adj" fmla="val 3364"/>
            </a:avLst>
          </a:prstGeom>
          <a:solidFill>
            <a:schemeClr val="accent5">
              <a:lumMod val="20000"/>
              <a:lumOff val="80000"/>
            </a:schemeClr>
          </a:solidFill>
          <a:ln w="12700" cap="flat" cmpd="sng" algn="ctr">
            <a:gradFill>
              <a:gsLst>
                <a:gs pos="0">
                  <a:srgbClr val="0F6FC6">
                    <a:lumMod val="20000"/>
                    <a:lumOff val="80000"/>
                    <a:alpha val="70000"/>
                  </a:srgbClr>
                </a:gs>
                <a:gs pos="100000">
                  <a:sysClr val="window" lastClr="FFFFFF">
                    <a:alpha val="70000"/>
                  </a:sysClr>
                </a:gs>
              </a:gsLst>
              <a:lin ang="5400000" scaled="1"/>
            </a:grad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ysClr val="window" lastClr="FFFFFF"/>
              </a:solidFill>
              <a:cs typeface="+mn-ea"/>
              <a:sym typeface="+mn-lt"/>
            </a:endParaRPr>
          </a:p>
        </p:txBody>
      </p:sp>
      <p:sp>
        <p:nvSpPr>
          <p:cNvPr id="40" name="文本框 25"/>
          <p:cNvSpPr txBox="1"/>
          <p:nvPr>
            <p:custDataLst>
              <p:tags r:id="rId13"/>
            </p:custDataLst>
          </p:nvPr>
        </p:nvSpPr>
        <p:spPr>
          <a:xfrm>
            <a:off x="4969804" y="1120656"/>
            <a:ext cx="2257953" cy="788806"/>
          </a:xfrm>
          <a:prstGeom prst="rect">
            <a:avLst/>
          </a:prstGeom>
          <a:noFill/>
        </p:spPr>
        <p:txBody>
          <a:bodyPr wrap="square" rtlCol="0">
            <a:spAutoFit/>
          </a:bodyPr>
          <a:lstStyle>
            <a:defPPr>
              <a:defRPr lang="zh-CN"/>
            </a:defPPr>
            <a:lvl1pPr algn="ctr">
              <a:lnSpc>
                <a:spcPct val="130000"/>
              </a:lnSpc>
              <a:defRPr sz="1400" b="1">
                <a:ln>
                  <a:noFill/>
                </a:ln>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ctr" defTabSz="914400" eaLnBrk="1" fontAlgn="auto" latinLnBrk="0" hangingPunct="1">
              <a:lnSpc>
                <a:spcPct val="13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70C0"/>
                </a:solidFill>
                <a:effectLst/>
                <a:uLnTx/>
                <a:uFillTx/>
                <a:latin typeface="+mn-lt"/>
                <a:ea typeface="+mn-ea"/>
                <a:cs typeface="+mn-ea"/>
                <a:sym typeface="+mn-lt"/>
              </a:rPr>
              <a:t>关于进一步加强中央企业采购管理有关事项的通知</a:t>
            </a:r>
            <a:r>
              <a:rPr kumimoji="0" lang="en-US" altLang="zh-CN" sz="1200" b="1" i="0" u="none" strike="noStrike" kern="0" cap="none" spc="0" normalizeH="0" baseline="0" noProof="0" dirty="0">
                <a:ln>
                  <a:noFill/>
                </a:ln>
                <a:solidFill>
                  <a:srgbClr val="0070C0"/>
                </a:solidFill>
                <a:effectLst/>
                <a:uLnTx/>
                <a:uFillTx/>
                <a:latin typeface="+mn-lt"/>
                <a:ea typeface="+mn-ea"/>
                <a:cs typeface="+mn-ea"/>
                <a:sym typeface="+mn-lt"/>
              </a:rPr>
              <a:t>  </a:t>
            </a:r>
            <a:endParaRPr kumimoji="0" lang="en-US" altLang="zh-CN" sz="1200" b="1" i="0" u="none" strike="noStrike" kern="0" cap="none" spc="0" normalizeH="0" baseline="0" noProof="0" dirty="0">
              <a:ln>
                <a:noFill/>
              </a:ln>
              <a:solidFill>
                <a:srgbClr val="0070C0"/>
              </a:solidFill>
              <a:effectLst/>
              <a:uLnTx/>
              <a:uFillTx/>
              <a:latin typeface="+mn-lt"/>
              <a:ea typeface="+mn-ea"/>
              <a:cs typeface="+mn-ea"/>
              <a:sym typeface="+mn-lt"/>
            </a:endParaRPr>
          </a:p>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0070C0"/>
                </a:solidFill>
                <a:effectLst/>
                <a:uLnTx/>
                <a:uFillTx/>
                <a:latin typeface="+mn-lt"/>
                <a:ea typeface="+mn-ea"/>
                <a:cs typeface="+mn-ea"/>
                <a:sym typeface="+mn-lt"/>
              </a:rPr>
              <a:t>国资厅改革〔2021〕146号</a:t>
            </a:r>
            <a:endParaRPr kumimoji="0" lang="en-US" altLang="zh-CN" sz="1200" b="1" i="0" u="none" strike="noStrike" kern="0" cap="none" spc="0" normalizeH="0" baseline="0" noProof="0" dirty="0">
              <a:ln>
                <a:noFill/>
              </a:ln>
              <a:solidFill>
                <a:srgbClr val="0070C0"/>
              </a:solidFill>
              <a:effectLst/>
              <a:uLnTx/>
              <a:uFillTx/>
              <a:latin typeface="+mn-lt"/>
              <a:ea typeface="+mn-ea"/>
              <a:cs typeface="+mn-ea"/>
              <a:sym typeface="+mn-lt"/>
            </a:endParaRPr>
          </a:p>
        </p:txBody>
      </p:sp>
      <p:sp>
        <p:nvSpPr>
          <p:cNvPr id="41" name="文本框 26"/>
          <p:cNvSpPr txBox="1"/>
          <p:nvPr>
            <p:custDataLst>
              <p:tags r:id="rId14"/>
            </p:custDataLst>
          </p:nvPr>
        </p:nvSpPr>
        <p:spPr>
          <a:xfrm>
            <a:off x="4981646" y="4816691"/>
            <a:ext cx="2260817" cy="112776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ysClr val="windowText" lastClr="000000">
                    <a:lumMod val="65000"/>
                    <a:lumOff val="35000"/>
                  </a:sysClr>
                </a:solidFill>
                <a:effectLst/>
                <a:uLnTx/>
                <a:uFillTx/>
                <a:cs typeface="+mn-ea"/>
                <a:sym typeface="+mn-lt"/>
              </a:rPr>
              <a:t>强化集团采购力量，实现</a:t>
            </a:r>
            <a:r>
              <a:rPr kumimoji="0" lang="zh-CN" altLang="en-US" sz="1100" b="0" i="0" u="none" strike="noStrike" kern="1200" cap="none" spc="0" normalizeH="0" baseline="0" noProof="0" dirty="0">
                <a:ln>
                  <a:noFill/>
                </a:ln>
                <a:solidFill>
                  <a:srgbClr val="FF0000"/>
                </a:solidFill>
                <a:effectLst/>
                <a:uLnTx/>
                <a:uFillTx/>
                <a:cs typeface="+mn-ea"/>
                <a:sym typeface="+mn-lt"/>
              </a:rPr>
              <a:t>采购工作的归口统一管理。</a:t>
            </a:r>
            <a:endParaRPr kumimoji="0" lang="zh-CN" altLang="en-US" sz="1100" b="0" i="0" u="none" strike="noStrike" kern="1200" cap="none" spc="0" normalizeH="0" baseline="0" noProof="0" dirty="0">
              <a:ln>
                <a:noFill/>
              </a:ln>
              <a:solidFill>
                <a:srgbClr val="FF0000"/>
              </a:solidFill>
              <a:effectLst/>
              <a:uLnTx/>
              <a:uFillTx/>
              <a:cs typeface="+mn-ea"/>
              <a:sym typeface="+mn-lt"/>
            </a:endParaRPr>
          </a:p>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ysClr val="windowText" lastClr="000000"/>
                </a:solidFill>
                <a:effectLst/>
                <a:uLnTx/>
                <a:uFillTx/>
                <a:cs typeface="+mn-ea"/>
                <a:sym typeface="+mn-lt"/>
              </a:rPr>
              <a:t>强调</a:t>
            </a:r>
            <a:r>
              <a:rPr kumimoji="0" lang="zh-CN" altLang="en-US" sz="1100" b="0" i="0" u="none" strike="noStrike" kern="1200" cap="none" spc="0" normalizeH="0" baseline="0" noProof="0" dirty="0">
                <a:ln>
                  <a:noFill/>
                </a:ln>
                <a:solidFill>
                  <a:srgbClr val="FF0000"/>
                </a:solidFill>
                <a:effectLst/>
                <a:uLnTx/>
                <a:uFillTx/>
                <a:cs typeface="+mn-ea"/>
                <a:sym typeface="+mn-lt"/>
              </a:rPr>
              <a:t>采购管理系统不能成为信息孤岛。</a:t>
            </a:r>
            <a:endParaRPr kumimoji="0" lang="en-US" altLang="zh-CN" sz="1100" b="0" i="0" u="none" strike="noStrike" kern="1200" cap="none" spc="0" normalizeH="0" baseline="0" noProof="0" dirty="0">
              <a:ln>
                <a:noFill/>
              </a:ln>
              <a:solidFill>
                <a:srgbClr val="FF0000"/>
              </a:solidFill>
              <a:effectLst/>
              <a:uLnTx/>
              <a:uFillTx/>
              <a:cs typeface="+mn-ea"/>
              <a:sym typeface="+mn-lt"/>
            </a:endParaRPr>
          </a:p>
        </p:txBody>
      </p:sp>
      <p:pic>
        <p:nvPicPr>
          <p:cNvPr id="45" name="图片 44"/>
          <p:cNvPicPr>
            <a:picLocks noChangeAspect="1"/>
          </p:cNvPicPr>
          <p:nvPr>
            <p:custDataLst>
              <p:tags r:id="rId15"/>
            </p:custDataLst>
          </p:nvPr>
        </p:nvPicPr>
        <p:blipFill rotWithShape="1">
          <a:blip r:embed="rId16"/>
          <a:srcRect t="5733" b="5685"/>
          <a:stretch>
            <a:fillRect/>
          </a:stretch>
        </p:blipFill>
        <p:spPr>
          <a:xfrm>
            <a:off x="5208095" y="2109936"/>
            <a:ext cx="1864075" cy="2312658"/>
          </a:xfrm>
          <a:prstGeom prst="rect">
            <a:avLst/>
          </a:prstGeom>
          <a:ln w="12700" cmpd="sng">
            <a:noFill/>
            <a:prstDash val="solid"/>
          </a:ln>
          <a:effectLst/>
        </p:spPr>
      </p:pic>
      <p:sp>
        <p:nvSpPr>
          <p:cNvPr id="39" name="矩形: 圆角 38"/>
          <p:cNvSpPr/>
          <p:nvPr>
            <p:custDataLst>
              <p:tags r:id="rId17"/>
            </p:custDataLst>
          </p:nvPr>
        </p:nvSpPr>
        <p:spPr>
          <a:xfrm>
            <a:off x="7405542" y="1091632"/>
            <a:ext cx="2260817" cy="5525770"/>
          </a:xfrm>
          <a:prstGeom prst="roundRect">
            <a:avLst>
              <a:gd name="adj" fmla="val 3364"/>
            </a:avLst>
          </a:prstGeom>
          <a:solidFill>
            <a:schemeClr val="accent5">
              <a:lumMod val="20000"/>
              <a:lumOff val="80000"/>
            </a:schemeClr>
          </a:solidFill>
          <a:ln w="12700" cap="flat" cmpd="sng" algn="ctr">
            <a:gradFill>
              <a:gsLst>
                <a:gs pos="0">
                  <a:srgbClr val="0F6FC6">
                    <a:lumMod val="20000"/>
                    <a:lumOff val="80000"/>
                    <a:alpha val="70000"/>
                  </a:srgbClr>
                </a:gs>
                <a:gs pos="100000">
                  <a:sysClr val="window" lastClr="FFFFFF">
                    <a:alpha val="70000"/>
                  </a:sysClr>
                </a:gs>
              </a:gsLst>
              <a:lin ang="5400000" scaled="1"/>
            </a:grad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ysClr val="window" lastClr="FFFFFF"/>
              </a:solidFill>
              <a:cs typeface="+mn-ea"/>
              <a:sym typeface="+mn-lt"/>
            </a:endParaRPr>
          </a:p>
        </p:txBody>
      </p:sp>
      <p:sp>
        <p:nvSpPr>
          <p:cNvPr id="48" name="文本框 3"/>
          <p:cNvSpPr txBox="1"/>
          <p:nvPr>
            <p:custDataLst>
              <p:tags r:id="rId18"/>
            </p:custDataLst>
          </p:nvPr>
        </p:nvSpPr>
        <p:spPr>
          <a:xfrm>
            <a:off x="7434892" y="4821771"/>
            <a:ext cx="2231467" cy="133171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0000"/>
                </a:solidFill>
                <a:effectLst/>
                <a:uLnTx/>
                <a:uFillTx/>
                <a:cs typeface="+mn-ea"/>
                <a:sym typeface="+mn-lt"/>
              </a:rPr>
              <a:t>企业合规发展与供应链数字化转型步伐齐头并进；</a:t>
            </a:r>
            <a:endParaRPr kumimoji="0" lang="en-US" altLang="zh-CN" sz="1100" b="0" i="0" u="none" strike="noStrike" kern="1200" cap="none" spc="0" normalizeH="0" baseline="0" noProof="0" dirty="0">
              <a:ln>
                <a:noFill/>
              </a:ln>
              <a:solidFill>
                <a:srgbClr val="FF0000"/>
              </a:solidFill>
              <a:effectLst/>
              <a:uLnTx/>
              <a:uFillTx/>
              <a:cs typeface="+mn-ea"/>
              <a:sym typeface="+mn-lt"/>
            </a:endParaRPr>
          </a:p>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ysClr val="windowText" lastClr="000000">
                    <a:lumMod val="65000"/>
                    <a:lumOff val="35000"/>
                  </a:sysClr>
                </a:solidFill>
                <a:effectLst/>
                <a:uLnTx/>
                <a:uFillTx/>
                <a:cs typeface="+mn-ea"/>
                <a:sym typeface="+mn-lt"/>
              </a:rPr>
              <a:t>注重供应链风险识别，增强供应链的透明可视，做到实时识别和监控供应链风险。</a:t>
            </a:r>
            <a:endParaRPr kumimoji="0" lang="zh-CN" altLang="en-US" sz="1100" b="0" i="0" u="none" strike="noStrike" kern="1200" cap="none" spc="0" normalizeH="0" baseline="0" noProof="0" dirty="0">
              <a:ln>
                <a:noFill/>
              </a:ln>
              <a:solidFill>
                <a:sysClr val="windowText" lastClr="000000">
                  <a:lumMod val="65000"/>
                  <a:lumOff val="35000"/>
                </a:sysClr>
              </a:solidFill>
              <a:effectLst/>
              <a:uLnTx/>
              <a:uFillTx/>
              <a:cs typeface="+mn-ea"/>
              <a:sym typeface="+mn-lt"/>
            </a:endParaRPr>
          </a:p>
        </p:txBody>
      </p:sp>
      <p:sp>
        <p:nvSpPr>
          <p:cNvPr id="49" name="文本框 4"/>
          <p:cNvSpPr txBox="1"/>
          <p:nvPr>
            <p:custDataLst>
              <p:tags r:id="rId19"/>
            </p:custDataLst>
          </p:nvPr>
        </p:nvSpPr>
        <p:spPr>
          <a:xfrm>
            <a:off x="7408406" y="1120656"/>
            <a:ext cx="2257953" cy="788806"/>
          </a:xfrm>
          <a:prstGeom prst="rect">
            <a:avLst/>
          </a:prstGeom>
          <a:noFill/>
        </p:spPr>
        <p:txBody>
          <a:bodyPr wrap="square" rtlCol="0">
            <a:spAutoFit/>
          </a:bodyPr>
          <a:lstStyle>
            <a:defPPr>
              <a:defRPr lang="zh-CN"/>
            </a:defPPr>
            <a:lvl1pPr algn="ctr">
              <a:lnSpc>
                <a:spcPct val="130000"/>
              </a:lnSpc>
              <a:defRPr sz="1400" b="1">
                <a:ln>
                  <a:noFill/>
                </a:ln>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0070C0"/>
                </a:solidFill>
                <a:effectLst/>
                <a:uLnTx/>
                <a:uFillTx/>
                <a:latin typeface="+mn-lt"/>
                <a:ea typeface="+mn-ea"/>
                <a:cs typeface="+mn-ea"/>
                <a:sym typeface="+mn-lt"/>
              </a:rPr>
              <a:t>《</a:t>
            </a:r>
            <a:r>
              <a:rPr kumimoji="0" lang="zh-CN" altLang="en-US" sz="1200" b="1" i="0" u="none" strike="noStrike" kern="0" cap="none" spc="0" normalizeH="0" baseline="0" noProof="0" dirty="0">
                <a:ln>
                  <a:noFill/>
                </a:ln>
                <a:solidFill>
                  <a:srgbClr val="0070C0"/>
                </a:solidFill>
                <a:effectLst/>
                <a:uLnTx/>
                <a:uFillTx/>
                <a:latin typeface="+mn-lt"/>
                <a:ea typeface="+mn-ea"/>
                <a:cs typeface="+mn-ea"/>
                <a:sym typeface="+mn-lt"/>
              </a:rPr>
              <a:t>中央企业合规管理办法</a:t>
            </a:r>
            <a:r>
              <a:rPr kumimoji="0" lang="en-US" altLang="zh-CN" sz="1200" b="1" i="0" u="none" strike="noStrike" kern="0" cap="none" spc="0" normalizeH="0" baseline="0" noProof="0" dirty="0">
                <a:ln>
                  <a:noFill/>
                </a:ln>
                <a:solidFill>
                  <a:srgbClr val="0070C0"/>
                </a:solidFill>
                <a:effectLst/>
                <a:uLnTx/>
                <a:uFillTx/>
                <a:latin typeface="+mn-lt"/>
                <a:ea typeface="+mn-ea"/>
                <a:cs typeface="+mn-ea"/>
                <a:sym typeface="+mn-lt"/>
              </a:rPr>
              <a:t>》</a:t>
            </a:r>
            <a:r>
              <a:rPr kumimoji="0" lang="zh-CN" altLang="en-US" sz="1200" b="1" i="0" u="none" strike="noStrike" kern="0" cap="none" spc="0" normalizeH="0" baseline="0" noProof="0" dirty="0">
                <a:ln>
                  <a:noFill/>
                </a:ln>
                <a:solidFill>
                  <a:srgbClr val="0070C0"/>
                </a:solidFill>
                <a:effectLst/>
                <a:uLnTx/>
                <a:uFillTx/>
                <a:latin typeface="+mn-lt"/>
                <a:ea typeface="+mn-ea"/>
                <a:cs typeface="+mn-ea"/>
                <a:sym typeface="+mn-lt"/>
              </a:rPr>
              <a:t>国务院国有资产监督管理委员会令第 </a:t>
            </a:r>
            <a:r>
              <a:rPr kumimoji="0" lang="en-US" altLang="zh-CN" sz="1200" b="1" i="0" u="none" strike="noStrike" kern="0" cap="none" spc="0" normalizeH="0" baseline="0" noProof="0" dirty="0">
                <a:ln>
                  <a:noFill/>
                </a:ln>
                <a:solidFill>
                  <a:srgbClr val="0070C0"/>
                </a:solidFill>
                <a:effectLst/>
                <a:uLnTx/>
                <a:uFillTx/>
                <a:latin typeface="+mn-lt"/>
                <a:ea typeface="+mn-ea"/>
                <a:cs typeface="+mn-ea"/>
                <a:sym typeface="+mn-lt"/>
              </a:rPr>
              <a:t>42 </a:t>
            </a:r>
            <a:r>
              <a:rPr kumimoji="0" lang="zh-CN" altLang="en-US" sz="1200" b="1" i="0" u="none" strike="noStrike" kern="0" cap="none" spc="0" normalizeH="0" baseline="0" noProof="0" dirty="0">
                <a:ln>
                  <a:noFill/>
                </a:ln>
                <a:solidFill>
                  <a:srgbClr val="0070C0"/>
                </a:solidFill>
                <a:effectLst/>
                <a:uLnTx/>
                <a:uFillTx/>
                <a:latin typeface="+mn-lt"/>
                <a:ea typeface="+mn-ea"/>
                <a:cs typeface="+mn-ea"/>
                <a:sym typeface="+mn-lt"/>
              </a:rPr>
              <a:t>号</a:t>
            </a:r>
            <a:endParaRPr kumimoji="0" lang="zh-CN" altLang="en-US" sz="1200" b="1" i="0" u="none" strike="noStrike" kern="0" cap="none" spc="0" normalizeH="0" baseline="0" noProof="0" dirty="0">
              <a:ln>
                <a:noFill/>
              </a:ln>
              <a:solidFill>
                <a:srgbClr val="0070C0"/>
              </a:solidFill>
              <a:effectLst/>
              <a:uLnTx/>
              <a:uFillTx/>
              <a:latin typeface="+mn-lt"/>
              <a:ea typeface="+mn-ea"/>
              <a:cs typeface="+mn-ea"/>
              <a:sym typeface="+mn-lt"/>
            </a:endParaRPr>
          </a:p>
        </p:txBody>
      </p:sp>
      <p:pic>
        <p:nvPicPr>
          <p:cNvPr id="12" name="图片 11"/>
          <p:cNvPicPr>
            <a:picLocks noChangeAspect="1"/>
          </p:cNvPicPr>
          <p:nvPr>
            <p:custDataLst>
              <p:tags r:id="rId20"/>
            </p:custDataLst>
          </p:nvPr>
        </p:nvPicPr>
        <p:blipFill rotWithShape="1">
          <a:blip r:embed="rId21" cstate="print">
            <a:extLst>
              <a:ext uri="{28A0092B-C50C-407E-A947-70E740481C1C}">
                <a14:useLocalDpi xmlns:a14="http://schemas.microsoft.com/office/drawing/2010/main" val="0"/>
              </a:ext>
            </a:extLst>
          </a:blip>
          <a:srcRect l="-1" t="1" r="-1" b="1"/>
          <a:stretch>
            <a:fillRect/>
          </a:stretch>
        </p:blipFill>
        <p:spPr>
          <a:xfrm>
            <a:off x="7620498" y="2109936"/>
            <a:ext cx="1864076" cy="2084400"/>
          </a:xfrm>
          <a:prstGeom prst="rect">
            <a:avLst/>
          </a:prstGeom>
        </p:spPr>
      </p:pic>
      <p:sp>
        <p:nvSpPr>
          <p:cNvPr id="9" name="矩形: 圆角 8"/>
          <p:cNvSpPr/>
          <p:nvPr>
            <p:custDataLst>
              <p:tags r:id="rId22"/>
            </p:custDataLst>
          </p:nvPr>
        </p:nvSpPr>
        <p:spPr>
          <a:xfrm>
            <a:off x="9829437" y="1091632"/>
            <a:ext cx="2260817" cy="5525770"/>
          </a:xfrm>
          <a:prstGeom prst="roundRect">
            <a:avLst>
              <a:gd name="adj" fmla="val 3364"/>
            </a:avLst>
          </a:prstGeom>
          <a:solidFill>
            <a:schemeClr val="accent5">
              <a:lumMod val="20000"/>
              <a:lumOff val="80000"/>
            </a:schemeClr>
          </a:solidFill>
          <a:ln w="12700" cap="flat" cmpd="sng" algn="ctr">
            <a:gradFill>
              <a:gsLst>
                <a:gs pos="0">
                  <a:srgbClr val="0F6FC6">
                    <a:lumMod val="20000"/>
                    <a:lumOff val="80000"/>
                    <a:alpha val="70000"/>
                  </a:srgbClr>
                </a:gs>
                <a:gs pos="100000">
                  <a:sysClr val="window" lastClr="FFFFFF">
                    <a:alpha val="70000"/>
                  </a:sysClr>
                </a:gs>
              </a:gsLst>
              <a:lin ang="5400000" scaled="1"/>
            </a:grad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ysClr val="window" lastClr="FFFFFF"/>
              </a:solidFill>
              <a:cs typeface="+mn-ea"/>
              <a:sym typeface="+mn-lt"/>
            </a:endParaRPr>
          </a:p>
        </p:txBody>
      </p:sp>
      <p:pic>
        <p:nvPicPr>
          <p:cNvPr id="17" name="图片 16"/>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0042482" y="2109936"/>
            <a:ext cx="1864076" cy="2082864"/>
          </a:xfrm>
          <a:prstGeom prst="rect">
            <a:avLst/>
          </a:prstGeom>
        </p:spPr>
      </p:pic>
      <p:sp>
        <p:nvSpPr>
          <p:cNvPr id="10" name="文本框 3"/>
          <p:cNvSpPr txBox="1"/>
          <p:nvPr>
            <p:custDataLst>
              <p:tags r:id="rId24"/>
            </p:custDataLst>
          </p:nvPr>
        </p:nvSpPr>
        <p:spPr>
          <a:xfrm>
            <a:off x="9858787" y="4821771"/>
            <a:ext cx="2231467" cy="822726"/>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0"/>
              </a:spcBef>
              <a:spcAft>
                <a:spcPts val="0"/>
              </a:spcAft>
              <a:buClrTx/>
              <a:buSzTx/>
              <a:buFontTx/>
              <a:buNone/>
              <a:defRPr/>
            </a:pPr>
            <a:r>
              <a:rPr lang="zh-CN" altLang="en-US" sz="1100" dirty="0">
                <a:solidFill>
                  <a:sysClr val="windowText" lastClr="000000">
                    <a:lumMod val="65000"/>
                    <a:lumOff val="35000"/>
                  </a:sysClr>
                </a:solidFill>
                <a:cs typeface="+mn-ea"/>
                <a:sym typeface="+mn-lt"/>
              </a:rPr>
              <a:t>规范了央企的主要非招采购方式包括</a:t>
            </a:r>
            <a:r>
              <a:rPr lang="zh-CN" altLang="en-US" sz="1100" dirty="0">
                <a:solidFill>
                  <a:srgbClr val="FF0000"/>
                </a:solidFill>
                <a:cs typeface="+mn-ea"/>
                <a:sym typeface="+mn-lt"/>
              </a:rPr>
              <a:t>询比采购</a:t>
            </a:r>
            <a:r>
              <a:rPr lang="zh-CN" altLang="en-US" sz="1100" dirty="0">
                <a:solidFill>
                  <a:sysClr val="windowText" lastClr="000000">
                    <a:lumMod val="65000"/>
                    <a:lumOff val="35000"/>
                  </a:sysClr>
                </a:solidFill>
                <a:cs typeface="+mn-ea"/>
                <a:sym typeface="+mn-lt"/>
              </a:rPr>
              <a:t>、</a:t>
            </a:r>
            <a:r>
              <a:rPr lang="zh-CN" altLang="en-US" sz="1100" dirty="0">
                <a:solidFill>
                  <a:srgbClr val="FF0000"/>
                </a:solidFill>
                <a:cs typeface="+mn-ea"/>
                <a:sym typeface="+mn-lt"/>
              </a:rPr>
              <a:t>竞价采购</a:t>
            </a:r>
            <a:r>
              <a:rPr lang="zh-CN" altLang="en-US" sz="1100" dirty="0">
                <a:solidFill>
                  <a:sysClr val="windowText" lastClr="000000">
                    <a:lumMod val="65000"/>
                    <a:lumOff val="35000"/>
                  </a:sysClr>
                </a:solidFill>
                <a:cs typeface="+mn-ea"/>
                <a:sym typeface="+mn-lt"/>
              </a:rPr>
              <a:t>、</a:t>
            </a:r>
            <a:r>
              <a:rPr lang="zh-CN" altLang="en-US" sz="1100" dirty="0">
                <a:solidFill>
                  <a:srgbClr val="FF0000"/>
                </a:solidFill>
                <a:cs typeface="+mn-ea"/>
                <a:sym typeface="+mn-lt"/>
              </a:rPr>
              <a:t>谈判采购</a:t>
            </a:r>
            <a:r>
              <a:rPr lang="zh-CN" altLang="en-US" sz="1100" dirty="0">
                <a:solidFill>
                  <a:sysClr val="windowText" lastClr="000000">
                    <a:lumMod val="65000"/>
                    <a:lumOff val="35000"/>
                  </a:sysClr>
                </a:solidFill>
                <a:cs typeface="+mn-ea"/>
                <a:sym typeface="+mn-lt"/>
              </a:rPr>
              <a:t>、</a:t>
            </a:r>
            <a:r>
              <a:rPr lang="zh-CN" altLang="en-US" sz="1100" dirty="0">
                <a:solidFill>
                  <a:srgbClr val="FF0000"/>
                </a:solidFill>
                <a:cs typeface="+mn-ea"/>
                <a:sym typeface="+mn-lt"/>
              </a:rPr>
              <a:t>直接采购</a:t>
            </a:r>
            <a:r>
              <a:rPr lang="zh-CN" altLang="en-US" sz="1100" dirty="0">
                <a:solidFill>
                  <a:sysClr val="windowText" lastClr="000000">
                    <a:lumMod val="65000"/>
                    <a:lumOff val="35000"/>
                  </a:sysClr>
                </a:solidFill>
                <a:cs typeface="+mn-ea"/>
                <a:sym typeface="+mn-lt"/>
              </a:rPr>
              <a:t>四种。</a:t>
            </a:r>
            <a:endParaRPr lang="zh-CN" altLang="en-US" sz="1100" dirty="0">
              <a:solidFill>
                <a:sysClr val="windowText" lastClr="000000">
                  <a:lumMod val="65000"/>
                  <a:lumOff val="35000"/>
                </a:sysClr>
              </a:solidFill>
              <a:cs typeface="+mn-ea"/>
              <a:sym typeface="+mn-lt"/>
            </a:endParaRPr>
          </a:p>
        </p:txBody>
      </p:sp>
      <p:sp>
        <p:nvSpPr>
          <p:cNvPr id="13" name="文本框 4"/>
          <p:cNvSpPr txBox="1"/>
          <p:nvPr>
            <p:custDataLst>
              <p:tags r:id="rId25"/>
            </p:custDataLst>
          </p:nvPr>
        </p:nvSpPr>
        <p:spPr>
          <a:xfrm>
            <a:off x="9832301" y="1120656"/>
            <a:ext cx="2257953" cy="1028871"/>
          </a:xfrm>
          <a:prstGeom prst="rect">
            <a:avLst/>
          </a:prstGeom>
          <a:noFill/>
        </p:spPr>
        <p:txBody>
          <a:bodyPr wrap="square" rtlCol="0">
            <a:spAutoFit/>
          </a:bodyPr>
          <a:lstStyle>
            <a:defPPr>
              <a:defRPr lang="zh-CN"/>
            </a:defPPr>
            <a:lvl1pPr algn="ctr">
              <a:lnSpc>
                <a:spcPct val="130000"/>
              </a:lnSpc>
              <a:defRPr sz="1400" b="1">
                <a:ln>
                  <a:noFill/>
                </a:ln>
                <a:solidFill>
                  <a:srgbClr val="0070C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ctr" defTabSz="914400" eaLnBrk="1" fontAlgn="auto" latinLnBrk="0" hangingPunct="1">
              <a:lnSpc>
                <a:spcPct val="130000"/>
              </a:lnSpc>
              <a:spcBef>
                <a:spcPts val="0"/>
              </a:spcBef>
              <a:spcAft>
                <a:spcPts val="0"/>
              </a:spcAft>
              <a:buClrTx/>
              <a:buSzTx/>
              <a:buFontTx/>
              <a:buNone/>
              <a:defRPr/>
            </a:pPr>
            <a:r>
              <a:rPr kumimoji="0" lang="zh-CN" altLang="en-US" sz="1200" b="1" i="0" u="none" strike="noStrike" kern="0" cap="none" spc="0" normalizeH="0" baseline="0" noProof="0">
                <a:ln>
                  <a:noFill/>
                </a:ln>
                <a:solidFill>
                  <a:srgbClr val="0070C0"/>
                </a:solidFill>
                <a:effectLst/>
                <a:uLnTx/>
                <a:uFillTx/>
                <a:latin typeface="+mn-lt"/>
                <a:ea typeface="+mn-ea"/>
                <a:cs typeface="+mn-ea"/>
                <a:sym typeface="+mn-lt"/>
              </a:rPr>
              <a:t>国</a:t>
            </a:r>
            <a:r>
              <a:rPr kumimoji="0" lang="zh-CN" altLang="en-US" sz="1200" b="1" i="0" u="none" strike="noStrike" kern="0" cap="none" spc="0" normalizeH="0" baseline="0" noProof="0" dirty="0">
                <a:ln>
                  <a:noFill/>
                </a:ln>
                <a:solidFill>
                  <a:srgbClr val="0070C0"/>
                </a:solidFill>
                <a:effectLst/>
                <a:uLnTx/>
                <a:uFillTx/>
                <a:latin typeface="+mn-lt"/>
                <a:ea typeface="+mn-ea"/>
                <a:cs typeface="+mn-ea"/>
                <a:sym typeface="+mn-lt"/>
              </a:rPr>
              <a:t>资委、发</a:t>
            </a:r>
            <a:r>
              <a:rPr kumimoji="0" lang="zh-CN" altLang="en-US" sz="1200" b="1" i="0" u="none" strike="noStrike" kern="0" cap="none" spc="0" normalizeH="0" baseline="0" noProof="0">
                <a:ln>
                  <a:noFill/>
                </a:ln>
                <a:solidFill>
                  <a:srgbClr val="0070C0"/>
                </a:solidFill>
                <a:effectLst/>
                <a:uLnTx/>
                <a:uFillTx/>
                <a:latin typeface="+mn-lt"/>
                <a:ea typeface="+mn-ea"/>
                <a:cs typeface="+mn-ea"/>
                <a:sym typeface="+mn-lt"/>
              </a:rPr>
              <a:t>改委联合印发</a:t>
            </a:r>
            <a:r>
              <a:rPr kumimoji="0" lang="en-US" altLang="zh-CN" sz="1200" b="1" i="0" u="none" strike="noStrike" kern="0" cap="none" spc="0" normalizeH="0" baseline="0" noProof="0">
                <a:ln>
                  <a:noFill/>
                </a:ln>
                <a:solidFill>
                  <a:srgbClr val="0070C0"/>
                </a:solidFill>
                <a:effectLst/>
                <a:uLnTx/>
                <a:uFillTx/>
                <a:latin typeface="+mn-lt"/>
                <a:ea typeface="+mn-ea"/>
                <a:cs typeface="+mn-ea"/>
                <a:sym typeface="+mn-lt"/>
              </a:rPr>
              <a:t>《</a:t>
            </a:r>
            <a:r>
              <a:rPr lang="zh-CN" altLang="en-US" sz="1200" kern="0" dirty="0">
                <a:latin typeface="+mn-lt"/>
                <a:ea typeface="+mn-ea"/>
                <a:cs typeface="+mn-ea"/>
                <a:sym typeface="+mn-lt"/>
              </a:rPr>
              <a:t>关于规范中央企业采购管理工作的指导意见</a:t>
            </a:r>
            <a:r>
              <a:rPr kumimoji="0" lang="en-US" altLang="zh-CN" sz="1200" b="1" i="0" u="none" strike="noStrike" kern="0" cap="none" spc="0" normalizeH="0" baseline="0" noProof="0" dirty="0">
                <a:ln>
                  <a:noFill/>
                </a:ln>
                <a:solidFill>
                  <a:srgbClr val="0070C0"/>
                </a:solidFill>
                <a:effectLst/>
                <a:uLnTx/>
                <a:uFillTx/>
                <a:latin typeface="+mn-lt"/>
                <a:ea typeface="+mn-ea"/>
                <a:cs typeface="+mn-ea"/>
                <a:sym typeface="+mn-lt"/>
              </a:rPr>
              <a:t>》</a:t>
            </a:r>
            <a:r>
              <a:rPr lang="zh-CN" altLang="en-US" sz="1200" kern="0" dirty="0">
                <a:latin typeface="+mn-lt"/>
                <a:ea typeface="+mn-ea"/>
                <a:cs typeface="+mn-ea"/>
                <a:sym typeface="+mn-lt"/>
              </a:rPr>
              <a:t>国资发改规</a:t>
            </a:r>
            <a:r>
              <a:rPr kumimoji="0" lang="en-US" altLang="zh-CN" sz="1200" b="1" i="0" u="none" strike="noStrike" kern="0" cap="none" spc="0" normalizeH="0" baseline="0" noProof="0" dirty="0">
                <a:ln>
                  <a:noFill/>
                </a:ln>
                <a:solidFill>
                  <a:srgbClr val="0070C0"/>
                </a:solidFill>
                <a:effectLst/>
                <a:uLnTx/>
                <a:uFillTx/>
                <a:latin typeface="+mn-lt"/>
                <a:ea typeface="+mn-ea"/>
                <a:cs typeface="+mn-ea"/>
                <a:sym typeface="+mn-lt"/>
              </a:rPr>
              <a:t>〔2024〕</a:t>
            </a:r>
            <a:r>
              <a:rPr lang="en-US" altLang="zh-CN" sz="1200" kern="0" dirty="0">
                <a:latin typeface="+mn-lt"/>
                <a:ea typeface="+mn-ea"/>
                <a:cs typeface="+mn-ea"/>
                <a:sym typeface="+mn-lt"/>
              </a:rPr>
              <a:t>53</a:t>
            </a:r>
            <a:r>
              <a:rPr lang="zh-CN" altLang="en-US" sz="1200" kern="0" dirty="0">
                <a:latin typeface="+mn-lt"/>
                <a:ea typeface="+mn-ea"/>
                <a:cs typeface="+mn-ea"/>
                <a:sym typeface="+mn-lt"/>
              </a:rPr>
              <a:t>号</a:t>
            </a:r>
            <a:endParaRPr kumimoji="0" lang="zh-CN" altLang="en-US" sz="1200" b="1" i="0" u="none" strike="noStrike" kern="0" cap="none" spc="0" normalizeH="0" baseline="0" noProof="0" dirty="0">
              <a:ln>
                <a:noFill/>
              </a:ln>
              <a:solidFill>
                <a:srgbClr val="0070C0"/>
              </a:solidFill>
              <a:effectLst/>
              <a:uLnTx/>
              <a:uFillTx/>
              <a:latin typeface="+mn-lt"/>
              <a:ea typeface="+mn-ea"/>
              <a:cs typeface="+mn-ea"/>
              <a:sym typeface="+mn-lt"/>
            </a:endParaRPr>
          </a:p>
        </p:txBody>
      </p:sp>
      <p:sp>
        <p:nvSpPr>
          <p:cNvPr id="50" name="矩形: 圆角 49"/>
          <p:cNvSpPr/>
          <p:nvPr>
            <p:custDataLst>
              <p:tags r:id="rId26"/>
            </p:custDataLst>
          </p:nvPr>
        </p:nvSpPr>
        <p:spPr>
          <a:xfrm>
            <a:off x="-1405043" y="4154752"/>
            <a:ext cx="13630910" cy="581164"/>
          </a:xfrm>
          <a:prstGeom prst="roundRect">
            <a:avLst>
              <a:gd name="adj" fmla="val 50000"/>
            </a:avLst>
          </a:prstGeom>
          <a:gradFill flip="none" rotWithShape="1">
            <a:gsLst>
              <a:gs pos="25000">
                <a:srgbClr val="0F6FC6"/>
              </a:gs>
              <a:gs pos="74000">
                <a:srgbClr val="009DD9"/>
              </a:gs>
            </a:gsLst>
            <a:path path="circle">
              <a:fillToRect l="100000" b="100000"/>
            </a:path>
            <a:tileRect t="-100000" r="-100000"/>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51" name="六边形 3"/>
          <p:cNvSpPr/>
          <p:nvPr>
            <p:custDataLst>
              <p:tags r:id="rId27"/>
            </p:custDataLst>
          </p:nvPr>
        </p:nvSpPr>
        <p:spPr>
          <a:xfrm>
            <a:off x="306669" y="4238652"/>
            <a:ext cx="1864076" cy="400609"/>
          </a:xfrm>
          <a:prstGeom prst="roundRect">
            <a:avLst>
              <a:gd name="adj" fmla="val 50000"/>
            </a:avLst>
          </a:pr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F6FC6"/>
                </a:solidFill>
                <a:effectLst/>
                <a:uLnTx/>
                <a:uFillTx/>
                <a:cs typeface="+mn-ea"/>
                <a:sym typeface="+mn-lt"/>
              </a:rPr>
              <a:t>2015</a:t>
            </a:r>
            <a:endParaRPr kumimoji="0" lang="zh-CN" altLang="en-US" sz="1600" b="1" i="0" u="none" strike="noStrike" kern="1200" cap="none" spc="0" normalizeH="0" baseline="0" noProof="0" dirty="0">
              <a:ln>
                <a:noFill/>
              </a:ln>
              <a:solidFill>
                <a:srgbClr val="0F6FC6"/>
              </a:solidFill>
              <a:effectLst/>
              <a:uLnTx/>
              <a:uFillTx/>
              <a:cs typeface="+mn-ea"/>
              <a:sym typeface="+mn-lt"/>
            </a:endParaRPr>
          </a:p>
        </p:txBody>
      </p:sp>
      <p:sp>
        <p:nvSpPr>
          <p:cNvPr id="52" name="六边形 3"/>
          <p:cNvSpPr/>
          <p:nvPr>
            <p:custDataLst>
              <p:tags r:id="rId28"/>
            </p:custDataLst>
          </p:nvPr>
        </p:nvSpPr>
        <p:spPr>
          <a:xfrm>
            <a:off x="2718396" y="4238652"/>
            <a:ext cx="1864076" cy="400609"/>
          </a:xfrm>
          <a:prstGeom prst="roundRect">
            <a:avLst>
              <a:gd name="adj" fmla="val 50000"/>
            </a:avLst>
          </a:pr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F6FC6"/>
                </a:solidFill>
                <a:effectLst/>
                <a:uLnTx/>
                <a:uFillTx/>
                <a:cs typeface="+mn-ea"/>
                <a:sym typeface="+mn-lt"/>
              </a:rPr>
              <a:t>2020</a:t>
            </a:r>
            <a:endParaRPr kumimoji="0" lang="zh-CN" altLang="en-US" sz="1600" b="1" i="0" u="none" strike="noStrike" kern="1200" cap="none" spc="0" normalizeH="0" baseline="0" noProof="0" dirty="0">
              <a:ln>
                <a:noFill/>
              </a:ln>
              <a:solidFill>
                <a:srgbClr val="0F6FC6"/>
              </a:solidFill>
              <a:effectLst/>
              <a:uLnTx/>
              <a:uFillTx/>
              <a:cs typeface="+mn-ea"/>
              <a:sym typeface="+mn-lt"/>
            </a:endParaRPr>
          </a:p>
        </p:txBody>
      </p:sp>
      <p:sp>
        <p:nvSpPr>
          <p:cNvPr id="53" name="六边形 3"/>
          <p:cNvSpPr/>
          <p:nvPr>
            <p:custDataLst>
              <p:tags r:id="rId29"/>
            </p:custDataLst>
          </p:nvPr>
        </p:nvSpPr>
        <p:spPr>
          <a:xfrm>
            <a:off x="5208095" y="4238652"/>
            <a:ext cx="1864076" cy="400609"/>
          </a:xfrm>
          <a:prstGeom prst="roundRect">
            <a:avLst>
              <a:gd name="adj" fmla="val 50000"/>
            </a:avLst>
          </a:pr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F6FC6"/>
                </a:solidFill>
                <a:effectLst/>
                <a:uLnTx/>
                <a:uFillTx/>
                <a:cs typeface="+mn-ea"/>
                <a:sym typeface="+mn-lt"/>
              </a:rPr>
              <a:t>2021</a:t>
            </a:r>
            <a:endParaRPr kumimoji="0" lang="zh-CN" altLang="en-US" sz="1600" b="1" i="0" u="none" strike="noStrike" kern="1200" cap="none" spc="0" normalizeH="0" baseline="0" noProof="0" dirty="0">
              <a:ln>
                <a:noFill/>
              </a:ln>
              <a:solidFill>
                <a:srgbClr val="0F6FC6"/>
              </a:solidFill>
              <a:effectLst/>
              <a:uLnTx/>
              <a:uFillTx/>
              <a:cs typeface="+mn-ea"/>
              <a:sym typeface="+mn-lt"/>
            </a:endParaRPr>
          </a:p>
        </p:txBody>
      </p:sp>
      <p:sp>
        <p:nvSpPr>
          <p:cNvPr id="54" name="六边形 3"/>
          <p:cNvSpPr/>
          <p:nvPr>
            <p:custDataLst>
              <p:tags r:id="rId30"/>
            </p:custDataLst>
          </p:nvPr>
        </p:nvSpPr>
        <p:spPr>
          <a:xfrm>
            <a:off x="7620498" y="4238652"/>
            <a:ext cx="1864076" cy="400609"/>
          </a:xfrm>
          <a:prstGeom prst="roundRect">
            <a:avLst>
              <a:gd name="adj" fmla="val 50000"/>
            </a:avLst>
          </a:pr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F6FC6"/>
                </a:solidFill>
                <a:effectLst/>
                <a:uLnTx/>
                <a:uFillTx/>
                <a:cs typeface="+mn-ea"/>
                <a:sym typeface="+mn-lt"/>
              </a:rPr>
              <a:t>2023</a:t>
            </a:r>
            <a:endParaRPr kumimoji="0" lang="zh-CN" altLang="en-US" sz="1600" b="1" i="0" u="none" strike="noStrike" kern="1200" cap="none" spc="0" normalizeH="0" baseline="0" noProof="0" dirty="0">
              <a:ln>
                <a:noFill/>
              </a:ln>
              <a:solidFill>
                <a:srgbClr val="0F6FC6"/>
              </a:solidFill>
              <a:effectLst/>
              <a:uLnTx/>
              <a:uFillTx/>
              <a:cs typeface="+mn-ea"/>
              <a:sym typeface="+mn-lt"/>
            </a:endParaRPr>
          </a:p>
        </p:txBody>
      </p:sp>
      <p:sp>
        <p:nvSpPr>
          <p:cNvPr id="18" name="六边形 3"/>
          <p:cNvSpPr/>
          <p:nvPr>
            <p:custDataLst>
              <p:tags r:id="rId31"/>
            </p:custDataLst>
          </p:nvPr>
        </p:nvSpPr>
        <p:spPr>
          <a:xfrm>
            <a:off x="10042482" y="4238652"/>
            <a:ext cx="1864076" cy="400609"/>
          </a:xfrm>
          <a:prstGeom prst="roundRect">
            <a:avLst>
              <a:gd name="adj" fmla="val 50000"/>
            </a:avLst>
          </a:pr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F6FC6"/>
                </a:solidFill>
                <a:effectLst/>
                <a:uLnTx/>
                <a:uFillTx/>
                <a:cs typeface="+mn-ea"/>
                <a:sym typeface="+mn-lt"/>
              </a:rPr>
              <a:t>2024</a:t>
            </a:r>
            <a:endParaRPr kumimoji="0" lang="zh-CN" altLang="en-US" sz="1600" b="1" i="0" u="none" strike="noStrike" kern="1200" cap="none" spc="0" normalizeH="0" baseline="0" noProof="0" dirty="0">
              <a:ln>
                <a:noFill/>
              </a:ln>
              <a:solidFill>
                <a:srgbClr val="0F6FC6"/>
              </a:solidFill>
              <a:effectLst/>
              <a:uLnTx/>
              <a:uFillTx/>
              <a:cs typeface="+mn-ea"/>
              <a:sym typeface="+mn-lt"/>
            </a:endParaRPr>
          </a:p>
        </p:txBody>
      </p:sp>
      <p:sp>
        <p:nvSpPr>
          <p:cNvPr id="55" name="矩形 54"/>
          <p:cNvSpPr/>
          <p:nvPr>
            <p:custDataLst>
              <p:tags r:id="rId32"/>
            </p:custDataLst>
          </p:nvPr>
        </p:nvSpPr>
        <p:spPr>
          <a:xfrm>
            <a:off x="-52959" y="6536428"/>
            <a:ext cx="11780891" cy="72000"/>
          </a:xfrm>
          <a:prstGeom prst="rect">
            <a:avLst/>
          </a:prstGeom>
          <a:gradFill>
            <a:gsLst>
              <a:gs pos="100000">
                <a:srgbClr val="0F6FC6"/>
              </a:gs>
              <a:gs pos="5000">
                <a:srgbClr val="009DD9">
                  <a:alpha val="0"/>
                </a:srgbClr>
              </a:gs>
            </a:gsLst>
            <a:path path="circle">
              <a:fillToRect r="100000" b="100000"/>
            </a:path>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56" name="等腰三角形 55"/>
          <p:cNvSpPr/>
          <p:nvPr>
            <p:custDataLst>
              <p:tags r:id="rId33"/>
            </p:custDataLst>
          </p:nvPr>
        </p:nvSpPr>
        <p:spPr>
          <a:xfrm>
            <a:off x="11727932" y="6389086"/>
            <a:ext cx="540270" cy="219342"/>
          </a:xfrm>
          <a:prstGeom prst="triangle">
            <a:avLst>
              <a:gd name="adj" fmla="val 0"/>
            </a:avLst>
          </a:prstGeom>
          <a:gradFill>
            <a:gsLst>
              <a:gs pos="100000">
                <a:srgbClr val="0F6FC6"/>
              </a:gs>
              <a:gs pos="5000">
                <a:srgbClr val="009DD9">
                  <a:alpha val="0"/>
                </a:srgbClr>
              </a:gs>
            </a:gsLst>
            <a:path path="circle">
              <a:fillToRect r="100000" b="100000"/>
            </a:path>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09573" y="240598"/>
            <a:ext cx="1322628" cy="631070"/>
            <a:chOff x="-504068" y="174267"/>
            <a:chExt cx="1600668" cy="763731"/>
          </a:xfrm>
        </p:grpSpPr>
        <p:sp>
          <p:nvSpPr>
            <p:cNvPr id="3" name="平行四边形 2"/>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4" name="平行四边形 3"/>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latin typeface="微软雅黑" panose="020B0503020204020204" charset="-122"/>
                <a:ea typeface="微软雅黑" panose="020B0503020204020204" charset="-122"/>
                <a:cs typeface="+mn-ea"/>
                <a:sym typeface="+mn-lt"/>
              </a:endParaRPr>
            </a:p>
          </p:txBody>
        </p:sp>
      </p:grpSp>
      <p:sp>
        <p:nvSpPr>
          <p:cNvPr id="5" name="文本框 4"/>
          <p:cNvSpPr txBox="1"/>
          <p:nvPr/>
        </p:nvSpPr>
        <p:spPr>
          <a:xfrm>
            <a:off x="673099" y="326390"/>
            <a:ext cx="10550629"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规范指引：国有企业招标采购管理规范要求</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sp>
        <p:nvSpPr>
          <p:cNvPr id="6" name="ïşḻiḍé"/>
          <p:cNvSpPr/>
          <p:nvPr/>
        </p:nvSpPr>
        <p:spPr>
          <a:xfrm>
            <a:off x="83223" y="3952126"/>
            <a:ext cx="5566548" cy="2836024"/>
          </a:xfrm>
          <a:prstGeom prst="rect">
            <a:avLst/>
          </a:prstGeom>
          <a:solidFill>
            <a:srgbClr val="F2F8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95000"/>
                  <a:lumOff val="5000"/>
                </a:scheme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7" name="矩形 6"/>
          <p:cNvSpPr/>
          <p:nvPr/>
        </p:nvSpPr>
        <p:spPr>
          <a:xfrm>
            <a:off x="6102469" y="907808"/>
            <a:ext cx="5882789" cy="5950191"/>
          </a:xfrm>
          <a:prstGeom prst="rect">
            <a:avLst/>
          </a:prstGeom>
          <a:solidFill>
            <a:srgbClr val="F2F8FF"/>
          </a:solidFill>
          <a:ln>
            <a:noFill/>
            <a:prstDash val="dash"/>
          </a:ln>
          <a:effectLst>
            <a:outerShdw blurRad="190500" dist="114300" dir="2700000" sx="98000" sy="98000" algn="tl"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3" name="ïśḷïḓè"/>
          <p:cNvSpPr/>
          <p:nvPr/>
        </p:nvSpPr>
        <p:spPr bwMode="auto">
          <a:xfrm>
            <a:off x="7025527" y="4901269"/>
            <a:ext cx="4972925" cy="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algn="just">
              <a:lnSpc>
                <a:spcPct val="120000"/>
              </a:lnSpc>
              <a:tabLst>
                <a:tab pos="227965" algn="l"/>
              </a:tabLst>
              <a:defRPr/>
            </a:pPr>
            <a:r>
              <a:rPr lang="zh-CN" altLang="en-US"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规定了国有企业网上商城采购交易的术语定义、交易场景、业务模式和操作流程，明确了</a:t>
            </a:r>
            <a:r>
              <a:rPr lang="zh-CN" altLang="en-US" sz="11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国有企业通过网上商城进行采购交易的操作流程及操作要点</a:t>
            </a:r>
            <a:r>
              <a:rPr lang="zh-CN" altLang="en-US"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endParaRPr lang="zh-CN" altLang="en-US"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4" name="îṡļîḑé"/>
          <p:cNvSpPr txBox="1"/>
          <p:nvPr/>
        </p:nvSpPr>
        <p:spPr bwMode="auto">
          <a:xfrm>
            <a:off x="7489550" y="-1303499"/>
            <a:ext cx="2824087" cy="294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lnSpcReduction="10000"/>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indent="0" defTabSz="914400" rtl="0" eaLnBrk="1" fontAlgn="auto" latinLnBrk="0" hangingPunct="1">
              <a:lnSpc>
                <a:spcPct val="100000"/>
              </a:lnSpc>
              <a:spcBef>
                <a:spcPct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《国有企业网上商城采购交易操作规范》</a:t>
            </a:r>
            <a:r>
              <a:rPr lang="en-US" altLang="zh-CN" sz="14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—2021</a:t>
            </a:r>
            <a:r>
              <a:rPr lang="zh-CN" altLang="en-US" sz="14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年</a:t>
            </a:r>
            <a:endParaRPr kumimoji="0"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9" name="ïşḻiḍé"/>
          <p:cNvSpPr/>
          <p:nvPr/>
        </p:nvSpPr>
        <p:spPr>
          <a:xfrm>
            <a:off x="83223" y="1166919"/>
            <a:ext cx="5566548" cy="2603961"/>
          </a:xfrm>
          <a:prstGeom prst="rect">
            <a:avLst/>
          </a:prstGeom>
          <a:solidFill>
            <a:srgbClr val="F2F8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95000"/>
                  <a:lumOff val="5000"/>
                </a:scheme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20" name="矩形 19"/>
          <p:cNvSpPr/>
          <p:nvPr/>
        </p:nvSpPr>
        <p:spPr>
          <a:xfrm rot="5400000" flipH="1" flipV="1">
            <a:off x="2884425" y="-1783076"/>
            <a:ext cx="66182" cy="5447936"/>
          </a:xfrm>
          <a:prstGeom prst="rect">
            <a:avLst/>
          </a:prstGeom>
          <a:gradFill flip="none" rotWithShape="1">
            <a:gsLst>
              <a:gs pos="0">
                <a:srgbClr val="232AFF"/>
              </a:gs>
              <a:gs pos="100000">
                <a:srgbClr val="575BFF"/>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21" name="文本框 4"/>
          <p:cNvSpPr txBox="1"/>
          <p:nvPr/>
        </p:nvSpPr>
        <p:spPr>
          <a:xfrm>
            <a:off x="2425535" y="929813"/>
            <a:ext cx="1723549"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rgbClr val="3037FF"/>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国家标准规范</a:t>
            </a:r>
            <a:endParaRPr lang="zh-CN" altLang="en-US" sz="2000" b="1" dirty="0">
              <a:solidFill>
                <a:srgbClr val="3037FF"/>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28" name="矩形 27"/>
          <p:cNvSpPr/>
          <p:nvPr/>
        </p:nvSpPr>
        <p:spPr>
          <a:xfrm rot="5400000" flipH="1" flipV="1">
            <a:off x="9009346" y="-2000506"/>
            <a:ext cx="66182" cy="5882791"/>
          </a:xfrm>
          <a:prstGeom prst="rect">
            <a:avLst/>
          </a:prstGeom>
          <a:gradFill flip="none" rotWithShape="1">
            <a:gsLst>
              <a:gs pos="0">
                <a:srgbClr val="232AFF"/>
              </a:gs>
              <a:gs pos="100000">
                <a:srgbClr val="575BFF"/>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29" name="文本框 4"/>
          <p:cNvSpPr txBox="1"/>
          <p:nvPr/>
        </p:nvSpPr>
        <p:spPr>
          <a:xfrm>
            <a:off x="8021559" y="907798"/>
            <a:ext cx="2749472"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rgbClr val="3037FF"/>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行业指引（团体标准）</a:t>
            </a:r>
            <a:endParaRPr lang="zh-CN" altLang="en-US" sz="2000" b="1" dirty="0">
              <a:solidFill>
                <a:srgbClr val="3037FF"/>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35" name="矩形 34"/>
          <p:cNvSpPr/>
          <p:nvPr/>
        </p:nvSpPr>
        <p:spPr>
          <a:xfrm>
            <a:off x="6200223" y="1979285"/>
            <a:ext cx="5783609" cy="306298"/>
          </a:xfrm>
          <a:prstGeom prst="rect">
            <a:avLst/>
          </a:prstGeom>
          <a:gradFill>
            <a:gsLst>
              <a:gs pos="18000">
                <a:srgbClr val="006CF9">
                  <a:alpha val="0"/>
                </a:srgbClr>
              </a:gs>
              <a:gs pos="100000">
                <a:srgbClr val="006CF9">
                  <a:alpha val="2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grpSp>
        <p:nvGrpSpPr>
          <p:cNvPr id="45" name="组合 44"/>
          <p:cNvGrpSpPr/>
          <p:nvPr/>
        </p:nvGrpSpPr>
        <p:grpSpPr>
          <a:xfrm>
            <a:off x="74935" y="1598561"/>
            <a:ext cx="5574836" cy="5189589"/>
            <a:chOff x="7045406" y="1335249"/>
            <a:chExt cx="5574836" cy="5189589"/>
          </a:xfrm>
        </p:grpSpPr>
        <p:sp>
          <p:nvSpPr>
            <p:cNvPr id="8" name="矩形 7"/>
            <p:cNvSpPr/>
            <p:nvPr/>
          </p:nvSpPr>
          <p:spPr>
            <a:xfrm>
              <a:off x="7045406" y="6172195"/>
              <a:ext cx="5566547" cy="352643"/>
            </a:xfrm>
            <a:prstGeom prst="rect">
              <a:avLst/>
            </a:prstGeom>
            <a:gradFill>
              <a:gsLst>
                <a:gs pos="18000">
                  <a:srgbClr val="006CF9">
                    <a:alpha val="0"/>
                  </a:srgbClr>
                </a:gs>
                <a:gs pos="100000">
                  <a:srgbClr val="006CF9">
                    <a:alpha val="2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9" name="îsļïdé"/>
            <p:cNvSpPr/>
            <p:nvPr/>
          </p:nvSpPr>
          <p:spPr bwMode="auto">
            <a:xfrm>
              <a:off x="9173052" y="1716837"/>
              <a:ext cx="3324160" cy="1198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indent="0" algn="just" defTabSz="914400" rtl="0" eaLnBrk="1" fontAlgn="auto" latinLnBrk="0" hangingPunct="1">
                <a:lnSpc>
                  <a:spcPct val="150000"/>
                </a:lnSpc>
                <a:spcBef>
                  <a:spcPts val="0"/>
                </a:spcBef>
                <a:spcAft>
                  <a:spcPts val="0"/>
                </a:spcAft>
                <a:buClrTx/>
                <a:buSzTx/>
                <a:buFontTx/>
                <a:buNone/>
                <a:tabLst>
                  <a:tab pos="227965" algn="l"/>
                </a:tabLst>
                <a:defRPr/>
              </a:pP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规定了</a:t>
              </a:r>
              <a:r>
                <a:rPr lang="zh-CN" altLang="en-US" sz="12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电子招标投标系统的架构</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r>
                <a:rPr lang="zh-CN" altLang="en-US" sz="12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基本功能</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r>
                <a:rPr lang="zh-CN" altLang="en-US" sz="12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信息交换体系</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和</a:t>
              </a:r>
              <a:r>
                <a:rPr lang="zh-CN" altLang="en-US" sz="12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技术保障</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的要求，促进电子招标投标信息的互联互通，提高招标投标活动的便捷性、安全性、规范性和统一性。</a:t>
              </a:r>
              <a:endPar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7" name="iṣ1îdê"/>
            <p:cNvSpPr txBox="1"/>
            <p:nvPr/>
          </p:nvSpPr>
          <p:spPr bwMode="auto">
            <a:xfrm>
              <a:off x="9126005" y="1335249"/>
              <a:ext cx="3494237" cy="352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R="0" lvl="0" indent="0" fontAlgn="auto">
                <a:lnSpc>
                  <a:spcPct val="100000"/>
                </a:lnSpc>
                <a:spcBef>
                  <a:spcPct val="0"/>
                </a:spcBef>
                <a:spcAft>
                  <a:spcPts val="0"/>
                </a:spcAft>
                <a:buClrTx/>
                <a:buSzTx/>
                <a:buFontTx/>
                <a:buNone/>
                <a:defRPr/>
              </a:pPr>
              <a:r>
                <a:rPr lang="zh-CN" altLang="en-US" sz="16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《电子招标投标系统技术规范》</a:t>
              </a:r>
              <a:endParaRPr lang="en-US" altLang="zh-CN" sz="16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R="0" lvl="0" indent="0" algn="r" fontAlgn="auto">
                <a:lnSpc>
                  <a:spcPct val="100000"/>
                </a:lnSpc>
                <a:spcBef>
                  <a:spcPct val="0"/>
                </a:spcBef>
                <a:spcAft>
                  <a:spcPts val="0"/>
                </a:spcAft>
                <a:buClrTx/>
                <a:buSzTx/>
                <a:buFontTx/>
                <a:buNone/>
                <a:defRPr/>
              </a:pPr>
              <a:r>
                <a:rPr lang="en-US" altLang="zh-CN" sz="16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——2013</a:t>
              </a:r>
              <a:r>
                <a:rPr lang="zh-CN" altLang="en-US" sz="16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年</a:t>
              </a:r>
              <a:endParaRPr lang="zh-CN" altLang="en-US" sz="16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48" name="îsļïdé"/>
            <p:cNvSpPr/>
            <p:nvPr/>
          </p:nvSpPr>
          <p:spPr bwMode="auto">
            <a:xfrm>
              <a:off x="9130572" y="4523279"/>
              <a:ext cx="3449403" cy="161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indent="0" algn="just" defTabSz="914400" rtl="0" eaLnBrk="1" fontAlgn="auto" latinLnBrk="0" hangingPunct="1">
                <a:lnSpc>
                  <a:spcPct val="150000"/>
                </a:lnSpc>
                <a:spcBef>
                  <a:spcPts val="0"/>
                </a:spcBef>
                <a:spcAft>
                  <a:spcPts val="0"/>
                </a:spcAft>
                <a:buClrTx/>
                <a:buSzTx/>
                <a:buFontTx/>
                <a:buNone/>
                <a:tabLst>
                  <a:tab pos="227965" algn="l"/>
                </a:tabLst>
                <a:defRPr/>
              </a:pPr>
              <a:r>
                <a:rPr lang="en-US" altLang="zh-CN"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规范</a:t>
              </a:r>
              <a:r>
                <a:rPr lang="en-US" altLang="zh-CN"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是我国</a:t>
              </a:r>
              <a:r>
                <a:rPr lang="zh-CN" altLang="en-US" sz="12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首个非招标方式</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且通过信息技术实施的采购交易的</a:t>
              </a:r>
              <a:r>
                <a:rPr lang="zh-CN" altLang="en-US" sz="12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国家标准</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，填补了该领域的标准空白。主要定义了战略采购、集中采购、电商采购、分散采购</a:t>
              </a:r>
              <a:r>
                <a:rPr lang="zh-CN" altLang="en-US" sz="12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四种采购组织形式</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和询比采购、谈判采购、竞价采购、直接采购</a:t>
              </a:r>
              <a:r>
                <a:rPr lang="zh-CN" altLang="en-US" sz="12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四种采购交易方式。</a:t>
              </a:r>
              <a:endParaRPr lang="zh-CN" altLang="en-US" sz="12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56" name="矩形 55"/>
            <p:cNvSpPr/>
            <p:nvPr/>
          </p:nvSpPr>
          <p:spPr>
            <a:xfrm>
              <a:off x="7045406" y="3108155"/>
              <a:ext cx="5566547" cy="352643"/>
            </a:xfrm>
            <a:prstGeom prst="rect">
              <a:avLst/>
            </a:prstGeom>
            <a:gradFill>
              <a:gsLst>
                <a:gs pos="18000">
                  <a:srgbClr val="006CF9">
                    <a:alpha val="0"/>
                  </a:srgbClr>
                </a:gs>
                <a:gs pos="100000">
                  <a:srgbClr val="006CF9">
                    <a:alpha val="2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grpSp>
      <p:pic>
        <p:nvPicPr>
          <p:cNvPr id="47" name="图片 46"/>
          <p:cNvPicPr>
            <a:picLocks noChangeAspect="1"/>
          </p:cNvPicPr>
          <p:nvPr/>
        </p:nvPicPr>
        <p:blipFill>
          <a:blip r:embed="rId1"/>
          <a:stretch>
            <a:fillRect/>
          </a:stretch>
        </p:blipFill>
        <p:spPr>
          <a:xfrm>
            <a:off x="193547" y="4028318"/>
            <a:ext cx="1966555" cy="2692667"/>
          </a:xfrm>
          <a:prstGeom prst="rect">
            <a:avLst/>
          </a:prstGeom>
          <a:ln>
            <a:solidFill>
              <a:schemeClr val="accent1"/>
            </a:solidFill>
          </a:ln>
          <a:effectLst>
            <a:outerShdw blurRad="50800" dist="38100" dir="2700000" algn="tl" rotWithShape="0">
              <a:srgbClr val="0C6DFF">
                <a:alpha val="40000"/>
              </a:srgbClr>
            </a:outerShdw>
          </a:effectLst>
        </p:spPr>
      </p:pic>
      <p:sp>
        <p:nvSpPr>
          <p:cNvPr id="52" name="文本框 51"/>
          <p:cNvSpPr txBox="1"/>
          <p:nvPr/>
        </p:nvSpPr>
        <p:spPr>
          <a:xfrm>
            <a:off x="2139959" y="4253380"/>
            <a:ext cx="3501523" cy="584775"/>
          </a:xfrm>
          <a:prstGeom prst="rect">
            <a:avLst/>
          </a:prstGeom>
          <a:noFill/>
        </p:spPr>
        <p:txBody>
          <a:bodyPr wrap="square">
            <a:spAutoFit/>
          </a:bodyPr>
          <a:lstStyle/>
          <a:p>
            <a:pPr>
              <a:spcBef>
                <a:spcPct val="0"/>
              </a:spcBef>
              <a:defRPr/>
            </a:pPr>
            <a:r>
              <a:rPr lang="en-US" altLang="zh-CN" sz="1600" b="1" dirty="0">
                <a:solidFill>
                  <a:srgbClr val="000000"/>
                </a:solidFill>
                <a:latin typeface="微软雅黑" panose="020B0503020204020204" charset="-122"/>
                <a:ea typeface="微软雅黑" panose="020B0503020204020204" charset="-122"/>
                <a:cs typeface="阿里巴巴普惠体" panose="00020600040101010101" pitchFamily="18" charset="-122"/>
              </a:rPr>
              <a:t>《</a:t>
            </a:r>
            <a:r>
              <a:rPr lang="zh-CN" altLang="en-US" sz="1600" b="1" dirty="0">
                <a:solidFill>
                  <a:srgbClr val="000000"/>
                </a:solidFill>
                <a:latin typeface="微软雅黑" panose="020B0503020204020204" charset="-122"/>
                <a:ea typeface="微软雅黑" panose="020B0503020204020204" charset="-122"/>
                <a:cs typeface="阿里巴巴普惠体" panose="00020600040101010101" pitchFamily="18" charset="-122"/>
              </a:rPr>
              <a:t>电子采购交易规范 非招标方式</a:t>
            </a:r>
            <a:r>
              <a:rPr lang="en-US" altLang="zh-CN" sz="1600" b="1" dirty="0">
                <a:solidFill>
                  <a:srgbClr val="000000"/>
                </a:solidFill>
                <a:latin typeface="微软雅黑" panose="020B0503020204020204" charset="-122"/>
                <a:ea typeface="微软雅黑" panose="020B0503020204020204" charset="-122"/>
                <a:cs typeface="阿里巴巴普惠体" panose="00020600040101010101" pitchFamily="18" charset="-122"/>
              </a:rPr>
              <a:t>》</a:t>
            </a:r>
            <a:endParaRPr lang="en-US" altLang="zh-CN" sz="1600" b="1" dirty="0">
              <a:solidFill>
                <a:srgbClr val="000000"/>
              </a:solidFill>
              <a:latin typeface="微软雅黑" panose="020B0503020204020204" charset="-122"/>
              <a:ea typeface="微软雅黑" panose="020B0503020204020204" charset="-122"/>
              <a:cs typeface="阿里巴巴普惠体" panose="00020600040101010101" pitchFamily="18" charset="-122"/>
            </a:endParaRPr>
          </a:p>
          <a:p>
            <a:pPr algn="r">
              <a:spcBef>
                <a:spcPct val="0"/>
              </a:spcBef>
              <a:defRPr/>
            </a:pPr>
            <a:r>
              <a:rPr lang="en-US" altLang="zh-CN" sz="1600" b="1" dirty="0">
                <a:solidFill>
                  <a:srgbClr val="000000"/>
                </a:solidFill>
                <a:latin typeface="微软雅黑" panose="020B0503020204020204" charset="-122"/>
                <a:ea typeface="微软雅黑" panose="020B0503020204020204" charset="-122"/>
                <a:cs typeface="阿里巴巴普惠体" panose="00020600040101010101" pitchFamily="18" charset="-122"/>
              </a:rPr>
              <a:t>——2024</a:t>
            </a:r>
            <a:r>
              <a:rPr lang="zh-CN" altLang="en-US" sz="1600" b="1" dirty="0">
                <a:solidFill>
                  <a:srgbClr val="000000"/>
                </a:solidFill>
                <a:latin typeface="微软雅黑" panose="020B0503020204020204" charset="-122"/>
                <a:ea typeface="微软雅黑" panose="020B0503020204020204" charset="-122"/>
                <a:cs typeface="阿里巴巴普惠体" panose="00020600040101010101" pitchFamily="18" charset="-122"/>
              </a:rPr>
              <a:t>年</a:t>
            </a:r>
            <a:endParaRPr lang="zh-CN" altLang="en-US" sz="1600" b="1" dirty="0">
              <a:solidFill>
                <a:srgbClr val="000000"/>
              </a:solidFill>
              <a:latin typeface="微软雅黑" panose="020B0503020204020204" charset="-122"/>
              <a:ea typeface="微软雅黑" panose="020B0503020204020204" charset="-122"/>
              <a:cs typeface="阿里巴巴普惠体" panose="00020600040101010101" pitchFamily="18" charset="-122"/>
            </a:endParaRPr>
          </a:p>
        </p:txBody>
      </p:sp>
      <p:pic>
        <p:nvPicPr>
          <p:cNvPr id="54" name="图片 53"/>
          <p:cNvPicPr>
            <a:picLocks noChangeAspect="1"/>
          </p:cNvPicPr>
          <p:nvPr/>
        </p:nvPicPr>
        <p:blipFill>
          <a:blip r:embed="rId2"/>
          <a:stretch>
            <a:fillRect/>
          </a:stretch>
        </p:blipFill>
        <p:spPr>
          <a:xfrm>
            <a:off x="193547" y="1217342"/>
            <a:ext cx="1966554" cy="2427248"/>
          </a:xfrm>
          <a:prstGeom prst="rect">
            <a:avLst/>
          </a:prstGeom>
          <a:ln>
            <a:solidFill>
              <a:schemeClr val="accent1"/>
            </a:solidFill>
          </a:ln>
          <a:effectLst>
            <a:outerShdw blurRad="50800" dist="38100" dir="2700000" algn="tl" rotWithShape="0">
              <a:srgbClr val="0C6DFF">
                <a:alpha val="40000"/>
              </a:srgbClr>
            </a:outerShdw>
          </a:effectLst>
        </p:spPr>
      </p:pic>
      <p:pic>
        <p:nvPicPr>
          <p:cNvPr id="57" name="图片 56"/>
          <p:cNvPicPr>
            <a:picLocks noChangeAspect="1"/>
          </p:cNvPicPr>
          <p:nvPr/>
        </p:nvPicPr>
        <p:blipFill>
          <a:blip r:embed="rId3"/>
          <a:stretch>
            <a:fillRect/>
          </a:stretch>
        </p:blipFill>
        <p:spPr>
          <a:xfrm>
            <a:off x="6200224" y="1193685"/>
            <a:ext cx="820008" cy="1086367"/>
          </a:xfrm>
          <a:prstGeom prst="rect">
            <a:avLst/>
          </a:prstGeom>
          <a:ln>
            <a:solidFill>
              <a:srgbClr val="0F6FC6"/>
            </a:solidFill>
          </a:ln>
        </p:spPr>
      </p:pic>
      <p:sp>
        <p:nvSpPr>
          <p:cNvPr id="69" name="矩形 68"/>
          <p:cNvSpPr/>
          <p:nvPr/>
        </p:nvSpPr>
        <p:spPr>
          <a:xfrm>
            <a:off x="6200223" y="3109504"/>
            <a:ext cx="5783609" cy="306298"/>
          </a:xfrm>
          <a:prstGeom prst="rect">
            <a:avLst/>
          </a:prstGeom>
          <a:gradFill>
            <a:gsLst>
              <a:gs pos="18000">
                <a:srgbClr val="006CF9">
                  <a:alpha val="0"/>
                </a:srgbClr>
              </a:gs>
              <a:gs pos="100000">
                <a:srgbClr val="006CF9">
                  <a:alpha val="2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pic>
        <p:nvPicPr>
          <p:cNvPr id="70" name="图片 69"/>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6198795" y="2321238"/>
            <a:ext cx="826733" cy="1086367"/>
          </a:xfrm>
          <a:prstGeom prst="rect">
            <a:avLst/>
          </a:prstGeom>
          <a:ln>
            <a:solidFill>
              <a:srgbClr val="0F6FC6"/>
            </a:solidFill>
          </a:ln>
        </p:spPr>
      </p:pic>
      <p:sp>
        <p:nvSpPr>
          <p:cNvPr id="71" name="矩形 70"/>
          <p:cNvSpPr/>
          <p:nvPr/>
        </p:nvSpPr>
        <p:spPr>
          <a:xfrm>
            <a:off x="6200223" y="4229303"/>
            <a:ext cx="5783609" cy="306298"/>
          </a:xfrm>
          <a:prstGeom prst="rect">
            <a:avLst/>
          </a:prstGeom>
          <a:gradFill>
            <a:gsLst>
              <a:gs pos="18000">
                <a:srgbClr val="006CF9">
                  <a:alpha val="0"/>
                </a:srgbClr>
              </a:gs>
              <a:gs pos="100000">
                <a:srgbClr val="006CF9">
                  <a:alpha val="2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pic>
        <p:nvPicPr>
          <p:cNvPr id="72" name="图片 71"/>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98796" y="3448791"/>
            <a:ext cx="826733" cy="1086367"/>
          </a:xfrm>
          <a:prstGeom prst="rect">
            <a:avLst/>
          </a:prstGeom>
          <a:ln>
            <a:solidFill>
              <a:srgbClr val="0F6FC6"/>
            </a:solidFill>
          </a:ln>
        </p:spPr>
      </p:pic>
      <p:sp>
        <p:nvSpPr>
          <p:cNvPr id="73" name="矩形 72"/>
          <p:cNvSpPr/>
          <p:nvPr/>
        </p:nvSpPr>
        <p:spPr>
          <a:xfrm>
            <a:off x="6200223" y="5361949"/>
            <a:ext cx="5783609" cy="306298"/>
          </a:xfrm>
          <a:prstGeom prst="rect">
            <a:avLst/>
          </a:prstGeom>
          <a:gradFill>
            <a:gsLst>
              <a:gs pos="18000">
                <a:srgbClr val="006CF9">
                  <a:alpha val="0"/>
                </a:srgbClr>
              </a:gs>
              <a:gs pos="100000">
                <a:srgbClr val="006CF9">
                  <a:alpha val="2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pic>
        <p:nvPicPr>
          <p:cNvPr id="74" name="图片 73"/>
          <p:cNvPicPr>
            <a:picLocks noChangeAspect="1"/>
          </p:cNvPicPr>
          <p:nvPr/>
        </p:nvPicPr>
        <p:blipFill>
          <a:blip r:embed="rId3"/>
          <a:stretch>
            <a:fillRect/>
          </a:stretch>
        </p:blipFill>
        <p:spPr>
          <a:xfrm>
            <a:off x="6200224" y="4576344"/>
            <a:ext cx="820008" cy="1086367"/>
          </a:xfrm>
          <a:prstGeom prst="rect">
            <a:avLst/>
          </a:prstGeom>
          <a:ln>
            <a:solidFill>
              <a:srgbClr val="0F6FC6"/>
            </a:solidFill>
          </a:ln>
        </p:spPr>
      </p:pic>
      <p:sp>
        <p:nvSpPr>
          <p:cNvPr id="75" name="矩形 74"/>
          <p:cNvSpPr/>
          <p:nvPr/>
        </p:nvSpPr>
        <p:spPr>
          <a:xfrm>
            <a:off x="6200223" y="6476545"/>
            <a:ext cx="5783609" cy="306298"/>
          </a:xfrm>
          <a:prstGeom prst="rect">
            <a:avLst/>
          </a:prstGeom>
          <a:gradFill>
            <a:gsLst>
              <a:gs pos="18000">
                <a:srgbClr val="006CF9">
                  <a:alpha val="0"/>
                </a:srgbClr>
              </a:gs>
              <a:gs pos="100000">
                <a:srgbClr val="006CF9">
                  <a:alpha val="2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pic>
        <p:nvPicPr>
          <p:cNvPr id="76" name="图片 75"/>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6198796" y="5703898"/>
            <a:ext cx="820008" cy="1086367"/>
          </a:xfrm>
          <a:prstGeom prst="rect">
            <a:avLst/>
          </a:prstGeom>
          <a:ln>
            <a:solidFill>
              <a:srgbClr val="0F6FC6"/>
            </a:solidFill>
          </a:ln>
        </p:spPr>
      </p:pic>
      <p:sp>
        <p:nvSpPr>
          <p:cNvPr id="77" name="îsļïdé"/>
          <p:cNvSpPr/>
          <p:nvPr/>
        </p:nvSpPr>
        <p:spPr bwMode="auto">
          <a:xfrm>
            <a:off x="7026956" y="1515727"/>
            <a:ext cx="4958302" cy="762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indent="0" algn="just" defTabSz="914400" rtl="0" eaLnBrk="1" fontAlgn="auto" latinLnBrk="0" hangingPunct="1">
              <a:lnSpc>
                <a:spcPct val="150000"/>
              </a:lnSpc>
              <a:spcBef>
                <a:spcPts val="0"/>
              </a:spcBef>
              <a:spcAft>
                <a:spcPts val="0"/>
              </a:spcAft>
              <a:buClrTx/>
              <a:buSzTx/>
              <a:buFontTx/>
              <a:buNone/>
              <a:tabLst>
                <a:tab pos="227965" algn="l"/>
              </a:tabLst>
              <a:defRPr/>
            </a:pPr>
            <a:r>
              <a:rPr lang="en-US" altLang="zh-CN"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r>
              <a:rPr lang="zh-CN" altLang="en-US"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规范</a:t>
            </a:r>
            <a:r>
              <a:rPr lang="en-US" altLang="zh-CN"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r>
              <a:rPr lang="zh-CN" altLang="en-US"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属于招标采购行业</a:t>
            </a:r>
            <a:r>
              <a:rPr lang="zh-CN" altLang="en-US" sz="11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第一个非招标方式采购代理</a:t>
            </a:r>
            <a:r>
              <a:rPr lang="zh-CN" altLang="en-US"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专业化、系统化服务和科学化评价的</a:t>
            </a:r>
            <a:r>
              <a:rPr lang="zh-CN" altLang="en-US" sz="11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推荐性规范</a:t>
            </a:r>
            <a:r>
              <a:rPr lang="zh-CN" altLang="en-US"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；主要形成谈判采购、询比采购、竞价采购、直接采购、框架协议等多种采购方式，为非招标方式采购提供标准范本。</a:t>
            </a:r>
            <a:endParaRPr lang="zh-CN" altLang="en-US"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L="0" marR="0" lvl="0" indent="0" algn="just" defTabSz="914400" rtl="0" eaLnBrk="1" fontAlgn="auto" latinLnBrk="0" hangingPunct="1">
              <a:lnSpc>
                <a:spcPct val="150000"/>
              </a:lnSpc>
              <a:spcBef>
                <a:spcPts val="0"/>
              </a:spcBef>
              <a:spcAft>
                <a:spcPts val="0"/>
              </a:spcAft>
              <a:buClrTx/>
              <a:buSzTx/>
              <a:buFontTx/>
              <a:buNone/>
              <a:tabLst>
                <a:tab pos="227965" algn="l"/>
              </a:tabLst>
              <a:defRPr/>
            </a:pPr>
            <a:endParaRPr lang="zh-CN" altLang="en-US" sz="11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79" name="文本框 78"/>
          <p:cNvSpPr txBox="1"/>
          <p:nvPr/>
        </p:nvSpPr>
        <p:spPr>
          <a:xfrm>
            <a:off x="7020232" y="1243330"/>
            <a:ext cx="4963600" cy="307777"/>
          </a:xfrm>
          <a:prstGeom prst="rect">
            <a:avLst/>
          </a:prstGeom>
          <a:noFill/>
        </p:spPr>
        <p:txBody>
          <a:bodyPr wrap="square">
            <a:spAutoFit/>
          </a:bodyPr>
          <a:lstStyle/>
          <a:p>
            <a:pPr>
              <a:spcBef>
                <a:spcPct val="0"/>
              </a:spcBef>
              <a:defRPr/>
            </a:pPr>
            <a:r>
              <a:rPr lang="zh-CN" altLang="en-US"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《非招标方式采购代理服务规范》</a:t>
            </a:r>
            <a:r>
              <a:rPr lang="en-US" altLang="zh-CN"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——2018</a:t>
            </a:r>
            <a:r>
              <a:rPr lang="zh-CN" altLang="en-US"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年</a:t>
            </a:r>
            <a:r>
              <a:rPr lang="zh-CN" altLang="en-US" sz="1400" b="1" dirty="0">
                <a:latin typeface="微软雅黑" panose="020B0503020204020204" charset="-122"/>
                <a:ea typeface="微软雅黑" panose="020B0503020204020204" charset="-122"/>
                <a:cs typeface="阿里巴巴普惠体" panose="00020600040101010101" pitchFamily="18" charset="-122"/>
                <a:sym typeface="+mn-lt"/>
              </a:rPr>
              <a:t>（中招协）</a:t>
            </a:r>
            <a:endParaRPr lang="zh-CN" altLang="en-US"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82" name="iṣ1îdê"/>
          <p:cNvSpPr txBox="1"/>
          <p:nvPr/>
        </p:nvSpPr>
        <p:spPr bwMode="auto">
          <a:xfrm>
            <a:off x="7025527" y="2306077"/>
            <a:ext cx="4972925" cy="352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a:lnSpc>
                <a:spcPct val="100000"/>
              </a:lnSpc>
              <a:spcBef>
                <a:spcPct val="0"/>
              </a:spcBef>
              <a:buFontTx/>
              <a:buNone/>
              <a:defRPr/>
            </a:pPr>
            <a:r>
              <a:rPr lang="zh-CN" altLang="en-US" sz="1400" b="1" dirty="0">
                <a:latin typeface="微软雅黑" panose="020B0503020204020204" charset="-122"/>
                <a:ea typeface="微软雅黑" panose="020B0503020204020204" charset="-122"/>
                <a:cs typeface="阿里巴巴普惠体" panose="00020600040101010101" pitchFamily="18" charset="-122"/>
                <a:sym typeface="+mn-lt"/>
              </a:rPr>
              <a:t>《国有企业采购操作规范》</a:t>
            </a:r>
            <a:r>
              <a:rPr lang="en-US" altLang="zh-CN" sz="1400" b="1" dirty="0">
                <a:latin typeface="微软雅黑" panose="020B0503020204020204" charset="-122"/>
                <a:ea typeface="微软雅黑" panose="020B0503020204020204" charset="-122"/>
                <a:cs typeface="阿里巴巴普惠体" panose="00020600040101010101" pitchFamily="18" charset="-122"/>
                <a:sym typeface="+mn-lt"/>
              </a:rPr>
              <a:t>——2019</a:t>
            </a:r>
            <a:r>
              <a:rPr lang="zh-CN" altLang="en-US" sz="1400" b="1" dirty="0">
                <a:latin typeface="微软雅黑" panose="020B0503020204020204" charset="-122"/>
                <a:ea typeface="微软雅黑" panose="020B0503020204020204" charset="-122"/>
                <a:cs typeface="阿里巴巴普惠体" panose="00020600040101010101" pitchFamily="18" charset="-122"/>
                <a:sym typeface="+mn-lt"/>
              </a:rPr>
              <a:t>年</a:t>
            </a:r>
            <a:endParaRPr lang="zh-CN" altLang="en-US" sz="1400" b="1" dirty="0">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83" name="文本框 82"/>
          <p:cNvSpPr txBox="1"/>
          <p:nvPr/>
        </p:nvSpPr>
        <p:spPr>
          <a:xfrm>
            <a:off x="7026956" y="3439231"/>
            <a:ext cx="4956876" cy="307777"/>
          </a:xfrm>
          <a:prstGeom prst="rect">
            <a:avLst/>
          </a:prstGeom>
          <a:noFill/>
        </p:spPr>
        <p:txBody>
          <a:bodyPr wrap="square">
            <a:spAutoFit/>
          </a:bodyPr>
          <a:lstStyle/>
          <a:p>
            <a:pPr>
              <a:spcBef>
                <a:spcPct val="0"/>
              </a:spcBef>
              <a:defRPr/>
            </a:pPr>
            <a:r>
              <a:rPr lang="en-US" altLang="zh-CN"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a:t>
            </a:r>
            <a:r>
              <a:rPr lang="zh-CN" altLang="en-US"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国有企业采购管理规范</a:t>
            </a:r>
            <a:r>
              <a:rPr lang="en-US" altLang="zh-CN"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》——2020</a:t>
            </a:r>
            <a:r>
              <a:rPr lang="zh-CN" altLang="en-US"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年</a:t>
            </a:r>
            <a:endParaRPr lang="zh-CN" altLang="en-US"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84" name="iṣ1îdê"/>
          <p:cNvSpPr txBox="1"/>
          <p:nvPr/>
        </p:nvSpPr>
        <p:spPr bwMode="auto">
          <a:xfrm>
            <a:off x="7025527" y="5703454"/>
            <a:ext cx="4972925" cy="352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a:lnSpc>
                <a:spcPct val="100000"/>
              </a:lnSpc>
              <a:spcBef>
                <a:spcPct val="0"/>
              </a:spcBef>
              <a:buFontTx/>
              <a:buNone/>
              <a:defRPr/>
            </a:pPr>
            <a:r>
              <a:rPr lang="zh-CN" altLang="en-US" sz="1400" b="1" dirty="0">
                <a:latin typeface="微软雅黑" panose="020B0503020204020204" charset="-122"/>
                <a:ea typeface="微软雅黑" panose="020B0503020204020204" charset="-122"/>
                <a:cs typeface="阿里巴巴普惠体" panose="00020600040101010101" pitchFamily="18" charset="-122"/>
                <a:sym typeface="+mn-lt"/>
              </a:rPr>
              <a:t>《国有企业采购操作规范》</a:t>
            </a:r>
            <a:r>
              <a:rPr lang="en-US" altLang="zh-CN" sz="1400" b="1" dirty="0">
                <a:latin typeface="微软雅黑" panose="020B0503020204020204" charset="-122"/>
                <a:ea typeface="微软雅黑" panose="020B0503020204020204" charset="-122"/>
                <a:cs typeface="阿里巴巴普惠体" panose="00020600040101010101" pitchFamily="18" charset="-122"/>
                <a:sym typeface="+mn-lt"/>
              </a:rPr>
              <a:t>——2023</a:t>
            </a:r>
            <a:r>
              <a:rPr lang="zh-CN" altLang="en-US" sz="1400" b="1" dirty="0">
                <a:latin typeface="微软雅黑" panose="020B0503020204020204" charset="-122"/>
                <a:ea typeface="微软雅黑" panose="020B0503020204020204" charset="-122"/>
                <a:cs typeface="阿里巴巴普惠体" panose="00020600040101010101" pitchFamily="18" charset="-122"/>
                <a:sym typeface="+mn-lt"/>
              </a:rPr>
              <a:t>年</a:t>
            </a:r>
            <a:endParaRPr lang="zh-CN" altLang="en-US" sz="1400" b="1" dirty="0">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86" name="文本框 85"/>
          <p:cNvSpPr txBox="1"/>
          <p:nvPr/>
        </p:nvSpPr>
        <p:spPr>
          <a:xfrm>
            <a:off x="7025527" y="4577844"/>
            <a:ext cx="4972925" cy="307777"/>
          </a:xfrm>
          <a:prstGeom prst="rect">
            <a:avLst/>
          </a:prstGeom>
          <a:noFill/>
        </p:spPr>
        <p:txBody>
          <a:bodyPr wrap="square">
            <a:spAutoFit/>
          </a:bodyPr>
          <a:lstStyle/>
          <a:p>
            <a:pPr>
              <a:lnSpc>
                <a:spcPct val="100000"/>
              </a:lnSpc>
              <a:spcBef>
                <a:spcPct val="0"/>
              </a:spcBef>
              <a:buFontTx/>
              <a:buNone/>
              <a:defRPr/>
            </a:pPr>
            <a:r>
              <a:rPr lang="zh-CN" altLang="en-US"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《国有企业网上商城采购交易操作规范》</a:t>
            </a:r>
            <a:r>
              <a:rPr lang="en-US" altLang="zh-CN"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——2021</a:t>
            </a:r>
            <a:r>
              <a:rPr lang="zh-CN" altLang="en-US"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rPr>
              <a:t>年</a:t>
            </a:r>
            <a:endParaRPr lang="zh-CN" altLang="en-US" sz="1400" b="1" dirty="0">
              <a:solidFill>
                <a:srgbClr val="000000"/>
              </a:solidFill>
              <a:latin typeface="微软雅黑" panose="020B0503020204020204" charset="-122"/>
              <a:ea typeface="微软雅黑" panose="020B0503020204020204" charset="-122"/>
              <a:cs typeface="阿里巴巴普惠体" panose="00020600040101010101" pitchFamily="18" charset="-122"/>
              <a:sym typeface="+mn-lt"/>
            </a:endParaRPr>
          </a:p>
        </p:txBody>
      </p:sp>
      <p:sp>
        <p:nvSpPr>
          <p:cNvPr id="94" name="文本框 93"/>
          <p:cNvSpPr txBox="1"/>
          <p:nvPr/>
        </p:nvSpPr>
        <p:spPr>
          <a:xfrm>
            <a:off x="7018803" y="6019757"/>
            <a:ext cx="4965029" cy="823880"/>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227965" algn="l"/>
              </a:tabLst>
              <a:defRPr/>
            </a:pPr>
            <a:r>
              <a:rPr kumimoji="0" lang="zh-CN" altLang="en-US" sz="11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适用于国有企业的工程、货物和服务采购活动，结合国有企业数字化采购的发展方向，在</a:t>
            </a:r>
            <a:r>
              <a:rPr kumimoji="0" lang="en-US" altLang="zh-CN" sz="11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2019</a:t>
            </a:r>
            <a:r>
              <a:rPr kumimoji="0" lang="zh-CN" altLang="en-US" sz="11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版的基础上对</a:t>
            </a:r>
            <a:r>
              <a:rPr lang="zh-CN" altLang="en-US" sz="11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mn-lt"/>
              </a:rPr>
              <a:t>采购通用流程</a:t>
            </a:r>
            <a:r>
              <a:rPr kumimoji="0" lang="zh-CN" altLang="en-US" sz="11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a:t>
            </a:r>
            <a:r>
              <a:rPr lang="zh-CN" altLang="en-US" sz="11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mn-lt"/>
              </a:rPr>
              <a:t>采购管理模式</a:t>
            </a:r>
            <a:r>
              <a:rPr kumimoji="0" lang="zh-CN" altLang="en-US" sz="11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和</a:t>
            </a:r>
            <a:r>
              <a:rPr lang="zh-CN" altLang="en-US" sz="11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mn-lt"/>
              </a:rPr>
              <a:t>采购方式</a:t>
            </a:r>
            <a:r>
              <a:rPr kumimoji="0" lang="zh-CN" altLang="en-US" sz="11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进行了补充和完善</a:t>
            </a:r>
            <a:endParaRPr lang="zh-CN" altLang="en-US" sz="1100" dirty="0">
              <a:latin typeface="微软雅黑" panose="020B0503020204020204" charset="-122"/>
              <a:ea typeface="微软雅黑" panose="020B0503020204020204" charset="-122"/>
            </a:endParaRPr>
          </a:p>
        </p:txBody>
      </p:sp>
      <p:sp>
        <p:nvSpPr>
          <p:cNvPr id="96" name="文本框 95"/>
          <p:cNvSpPr txBox="1"/>
          <p:nvPr/>
        </p:nvSpPr>
        <p:spPr>
          <a:xfrm>
            <a:off x="7032836" y="2623264"/>
            <a:ext cx="4958306" cy="830292"/>
          </a:xfrm>
          <a:prstGeom prst="rect">
            <a:avLst/>
          </a:prstGeom>
          <a:noFill/>
        </p:spPr>
        <p:txBody>
          <a:bodyPr wrap="square">
            <a:spAutoFit/>
          </a:bodyPr>
          <a:lstStyle/>
          <a:p>
            <a:pPr algn="just">
              <a:lnSpc>
                <a:spcPct val="150000"/>
              </a:lnSpc>
              <a:tabLst>
                <a:tab pos="227965" algn="l"/>
              </a:tabLst>
              <a:defRPr/>
            </a:pPr>
            <a:r>
              <a:rPr lang="zh-CN" altLang="en-US" sz="1100" dirty="0">
                <a:solidFill>
                  <a:srgbClr val="00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提炼“集中采购”和“框架协议采购”</a:t>
            </a:r>
            <a:r>
              <a:rPr lang="zh-CN" altLang="en-US" sz="11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两种通用采购组织形式</a:t>
            </a:r>
            <a:r>
              <a:rPr lang="zh-CN" altLang="en-US" sz="1100" dirty="0">
                <a:solidFill>
                  <a:srgbClr val="00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，归纳国企常用、国际通用的</a:t>
            </a:r>
            <a:r>
              <a:rPr lang="zh-CN" altLang="en-US" sz="1100" b="1" dirty="0">
                <a:solidFill>
                  <a:srgbClr val="FF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四大类共九种不同采购方式</a:t>
            </a:r>
            <a:r>
              <a:rPr lang="zh-CN" altLang="en-US" sz="1100" dirty="0">
                <a:solidFill>
                  <a:srgbClr val="00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。突出了国企采购对阳光采购的追求，在现行法律允许范围内，对企业自主的招投标过程进行了优化</a:t>
            </a:r>
            <a:endParaRPr lang="zh-CN" altLang="en-US" sz="1100" dirty="0">
              <a:solidFill>
                <a:srgbClr val="00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97" name="文本框 96"/>
          <p:cNvSpPr txBox="1"/>
          <p:nvPr/>
        </p:nvSpPr>
        <p:spPr>
          <a:xfrm>
            <a:off x="7032836" y="3719467"/>
            <a:ext cx="4958306" cy="1084208"/>
          </a:xfrm>
          <a:prstGeom prst="rect">
            <a:avLst/>
          </a:prstGeom>
          <a:noFill/>
        </p:spPr>
        <p:txBody>
          <a:bodyPr wrap="square">
            <a:spAutoFit/>
          </a:bodyPr>
          <a:lstStyle/>
          <a:p>
            <a:pPr algn="just">
              <a:lnSpc>
                <a:spcPct val="150000"/>
              </a:lnSpc>
              <a:tabLst>
                <a:tab pos="227965" algn="l"/>
              </a:tabLst>
              <a:defRPr/>
            </a:pPr>
            <a:r>
              <a:rPr lang="zh-CN" altLang="en-US" sz="1100" dirty="0">
                <a:solidFill>
                  <a:srgbClr val="00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规定了国有企业采购的组织架构、实施操作、战略管理、 供应商管理、绩效评价、监督管理等内容；</a:t>
            </a:r>
            <a:r>
              <a:rPr lang="zh-CN" altLang="en-US" sz="1100" dirty="0">
                <a:latin typeface="微软雅黑" panose="020B0503020204020204" charset="-122"/>
                <a:ea typeface="微软雅黑" panose="020B0503020204020204" charset="-122"/>
                <a:cs typeface="+mn-ea"/>
                <a:sym typeface="+mn-lt"/>
              </a:rPr>
              <a:t>明确了企业采购组织架构应依据：</a:t>
            </a:r>
            <a:r>
              <a:rPr lang="zh-CN" altLang="en-US" sz="1100" b="1" dirty="0">
                <a:solidFill>
                  <a:srgbClr val="FF0000"/>
                </a:solidFill>
                <a:latin typeface="微软雅黑" panose="020B0503020204020204" charset="-122"/>
                <a:ea typeface="微软雅黑" panose="020B0503020204020204" charset="-122"/>
                <a:cs typeface="+mn-ea"/>
                <a:sym typeface="+mn-lt"/>
              </a:rPr>
              <a:t>管理、执行、监督三分离</a:t>
            </a:r>
            <a:r>
              <a:rPr lang="zh-CN" altLang="en-US" sz="1100" dirty="0">
                <a:latin typeface="微软雅黑" panose="020B0503020204020204" charset="-122"/>
                <a:ea typeface="微软雅黑" panose="020B0503020204020204" charset="-122"/>
                <a:cs typeface="+mn-ea"/>
                <a:sym typeface="+mn-lt"/>
              </a:rPr>
              <a:t>；横向制约、纵向监督</a:t>
            </a:r>
            <a:endParaRPr lang="zh-CN" altLang="en-US" sz="1100" dirty="0">
              <a:latin typeface="微软雅黑" panose="020B0503020204020204" charset="-122"/>
              <a:ea typeface="微软雅黑" panose="020B0503020204020204" charset="-122"/>
              <a:cs typeface="+mn-ea"/>
              <a:sym typeface="+mn-lt"/>
            </a:endParaRPr>
          </a:p>
          <a:p>
            <a:pPr algn="just">
              <a:lnSpc>
                <a:spcPct val="150000"/>
              </a:lnSpc>
              <a:tabLst>
                <a:tab pos="227965" algn="l"/>
              </a:tabLst>
              <a:defRPr/>
            </a:pPr>
            <a:endParaRPr lang="zh-CN" altLang="en-US" sz="1100" dirty="0">
              <a:solidFill>
                <a:srgbClr val="000000"/>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09573" y="240598"/>
            <a:ext cx="1322628" cy="631070"/>
            <a:chOff x="-504068" y="174267"/>
            <a:chExt cx="1600668" cy="763731"/>
          </a:xfrm>
        </p:grpSpPr>
        <p:sp>
          <p:nvSpPr>
            <p:cNvPr id="3" name="平行四边形 2"/>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4" name="平行四边形 3"/>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latin typeface="微软雅黑" panose="020B0503020204020204" charset="-122"/>
                <a:ea typeface="微软雅黑" panose="020B0503020204020204" charset="-122"/>
                <a:cs typeface="+mn-ea"/>
                <a:sym typeface="+mn-lt"/>
              </a:endParaRPr>
            </a:p>
          </p:txBody>
        </p:sp>
      </p:grpSp>
      <p:sp>
        <p:nvSpPr>
          <p:cNvPr id="5" name="文本框 4"/>
          <p:cNvSpPr txBox="1"/>
          <p:nvPr/>
        </p:nvSpPr>
        <p:spPr>
          <a:xfrm>
            <a:off x="673100" y="326390"/>
            <a:ext cx="8728710"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行业发展：招投标电子化进展如火如荼</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sp>
        <p:nvSpPr>
          <p:cNvPr id="36" name="矩形 35"/>
          <p:cNvSpPr/>
          <p:nvPr/>
        </p:nvSpPr>
        <p:spPr>
          <a:xfrm>
            <a:off x="0" y="3689350"/>
            <a:ext cx="12192000" cy="2842260"/>
          </a:xfrm>
          <a:prstGeom prst="rect">
            <a:avLst/>
          </a:prstGeom>
          <a:gradFill>
            <a:gsLst>
              <a:gs pos="0">
                <a:srgbClr val="2B9EEA">
                  <a:alpha val="20000"/>
                </a:srgbClr>
              </a:gs>
              <a:gs pos="100000">
                <a:srgbClr val="638BFD"/>
              </a:gs>
            </a:gsLst>
            <a:lin ang="5400000" scaled="0"/>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37" name="矩形 36"/>
          <p:cNvSpPr/>
          <p:nvPr/>
        </p:nvSpPr>
        <p:spPr>
          <a:xfrm>
            <a:off x="0" y="3986695"/>
            <a:ext cx="12192000" cy="2473960"/>
          </a:xfrm>
          <a:prstGeom prst="rect">
            <a:avLst/>
          </a:prstGeom>
          <a:gradFill>
            <a:gsLst>
              <a:gs pos="0">
                <a:srgbClr val="2B9EEA"/>
              </a:gs>
              <a:gs pos="100000">
                <a:srgbClr val="638BFD"/>
              </a:gs>
            </a:gsLst>
            <a:lin ang="5400000" scaled="0"/>
          </a:gradFill>
          <a:ln w="127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cxnSp>
        <p:nvCxnSpPr>
          <p:cNvPr id="38" name="直接连接符 37"/>
          <p:cNvCxnSpPr/>
          <p:nvPr/>
        </p:nvCxnSpPr>
        <p:spPr>
          <a:xfrm>
            <a:off x="0" y="4299105"/>
            <a:ext cx="12192000" cy="0"/>
          </a:xfrm>
          <a:prstGeom prst="line">
            <a:avLst/>
          </a:prstGeom>
          <a:noFill/>
          <a:ln w="12700" cap="flat" cmpd="sng" algn="ctr">
            <a:gradFill>
              <a:gsLst>
                <a:gs pos="0">
                  <a:srgbClr val="FFFFFF">
                    <a:alpha val="0"/>
                  </a:srgbClr>
                </a:gs>
                <a:gs pos="50000">
                  <a:srgbClr val="FFFFFF">
                    <a:alpha val="0"/>
                  </a:srgbClr>
                </a:gs>
                <a:gs pos="75000">
                  <a:srgbClr val="FFFFFF">
                    <a:alpha val="50000"/>
                  </a:srgbClr>
                </a:gs>
                <a:gs pos="25000">
                  <a:srgbClr val="FFFFFF">
                    <a:alpha val="50000"/>
                  </a:srgbClr>
                </a:gs>
                <a:gs pos="100000">
                  <a:srgbClr val="FFFFFF">
                    <a:alpha val="0"/>
                  </a:srgbClr>
                </a:gs>
              </a:gsLst>
              <a:lin ang="0" scaled="0"/>
            </a:gradFill>
            <a:prstDash val="sysDot"/>
            <a:miter lim="800000"/>
          </a:ln>
          <a:effectLst/>
        </p:spPr>
      </p:cxnSp>
      <p:cxnSp>
        <p:nvCxnSpPr>
          <p:cNvPr id="39" name="直接连接符 38"/>
          <p:cNvCxnSpPr/>
          <p:nvPr/>
        </p:nvCxnSpPr>
        <p:spPr>
          <a:xfrm>
            <a:off x="0" y="4540405"/>
            <a:ext cx="12192000" cy="0"/>
          </a:xfrm>
          <a:prstGeom prst="line">
            <a:avLst/>
          </a:prstGeom>
          <a:noFill/>
          <a:ln w="12700" cap="flat" cmpd="sng" algn="ctr">
            <a:gradFill>
              <a:gsLst>
                <a:gs pos="0">
                  <a:srgbClr val="FFFFFF">
                    <a:alpha val="0"/>
                  </a:srgbClr>
                </a:gs>
                <a:gs pos="50000">
                  <a:srgbClr val="FFFFFF">
                    <a:alpha val="0"/>
                  </a:srgbClr>
                </a:gs>
                <a:gs pos="75000">
                  <a:srgbClr val="FFFFFF">
                    <a:alpha val="50000"/>
                  </a:srgbClr>
                </a:gs>
                <a:gs pos="25000">
                  <a:srgbClr val="FFFFFF">
                    <a:alpha val="50000"/>
                  </a:srgbClr>
                </a:gs>
                <a:gs pos="100000">
                  <a:srgbClr val="FFFFFF">
                    <a:alpha val="0"/>
                  </a:srgbClr>
                </a:gs>
              </a:gsLst>
              <a:lin ang="0" scaled="0"/>
            </a:gradFill>
            <a:prstDash val="sysDot"/>
            <a:miter lim="800000"/>
          </a:ln>
          <a:effectLst/>
        </p:spPr>
      </p:cxnSp>
      <p:cxnSp>
        <p:nvCxnSpPr>
          <p:cNvPr id="40" name="直接连接符 39"/>
          <p:cNvCxnSpPr/>
          <p:nvPr/>
        </p:nvCxnSpPr>
        <p:spPr>
          <a:xfrm>
            <a:off x="0" y="4781705"/>
            <a:ext cx="12192000" cy="0"/>
          </a:xfrm>
          <a:prstGeom prst="line">
            <a:avLst/>
          </a:prstGeom>
          <a:noFill/>
          <a:ln w="12700" cap="flat" cmpd="sng" algn="ctr">
            <a:gradFill>
              <a:gsLst>
                <a:gs pos="0">
                  <a:srgbClr val="FFFFFF">
                    <a:alpha val="0"/>
                  </a:srgbClr>
                </a:gs>
                <a:gs pos="50000">
                  <a:srgbClr val="FFFFFF">
                    <a:alpha val="0"/>
                  </a:srgbClr>
                </a:gs>
                <a:gs pos="75000">
                  <a:srgbClr val="FFFFFF">
                    <a:alpha val="50000"/>
                  </a:srgbClr>
                </a:gs>
                <a:gs pos="25000">
                  <a:srgbClr val="FFFFFF">
                    <a:alpha val="50000"/>
                  </a:srgbClr>
                </a:gs>
                <a:gs pos="100000">
                  <a:srgbClr val="FFFFFF">
                    <a:alpha val="0"/>
                  </a:srgbClr>
                </a:gs>
              </a:gsLst>
              <a:lin ang="0" scaled="0"/>
            </a:gradFill>
            <a:prstDash val="sysDot"/>
            <a:miter lim="800000"/>
          </a:ln>
          <a:effectLst/>
        </p:spPr>
      </p:cxnSp>
      <p:cxnSp>
        <p:nvCxnSpPr>
          <p:cNvPr id="41" name="直接连接符 40"/>
          <p:cNvCxnSpPr/>
          <p:nvPr/>
        </p:nvCxnSpPr>
        <p:spPr>
          <a:xfrm>
            <a:off x="0" y="5023005"/>
            <a:ext cx="12192000" cy="0"/>
          </a:xfrm>
          <a:prstGeom prst="line">
            <a:avLst/>
          </a:prstGeom>
          <a:noFill/>
          <a:ln w="12700" cap="flat" cmpd="sng" algn="ctr">
            <a:gradFill>
              <a:gsLst>
                <a:gs pos="0">
                  <a:srgbClr val="FFFFFF">
                    <a:alpha val="0"/>
                  </a:srgbClr>
                </a:gs>
                <a:gs pos="50000">
                  <a:srgbClr val="FFFFFF">
                    <a:alpha val="0"/>
                  </a:srgbClr>
                </a:gs>
                <a:gs pos="75000">
                  <a:srgbClr val="FFFFFF">
                    <a:alpha val="50000"/>
                  </a:srgbClr>
                </a:gs>
                <a:gs pos="25000">
                  <a:srgbClr val="FFFFFF">
                    <a:alpha val="50000"/>
                  </a:srgbClr>
                </a:gs>
                <a:gs pos="100000">
                  <a:srgbClr val="FFFFFF">
                    <a:alpha val="0"/>
                  </a:srgbClr>
                </a:gs>
              </a:gsLst>
              <a:lin ang="0" scaled="0"/>
            </a:gradFill>
            <a:prstDash val="sysDot"/>
            <a:miter lim="800000"/>
          </a:ln>
          <a:effectLst/>
        </p:spPr>
      </p:cxnSp>
      <p:cxnSp>
        <p:nvCxnSpPr>
          <p:cNvPr id="42" name="直接连接符 41"/>
          <p:cNvCxnSpPr/>
          <p:nvPr/>
        </p:nvCxnSpPr>
        <p:spPr>
          <a:xfrm>
            <a:off x="0" y="5264305"/>
            <a:ext cx="12192000" cy="0"/>
          </a:xfrm>
          <a:prstGeom prst="line">
            <a:avLst/>
          </a:prstGeom>
          <a:noFill/>
          <a:ln w="12700" cap="flat" cmpd="sng" algn="ctr">
            <a:gradFill>
              <a:gsLst>
                <a:gs pos="0">
                  <a:srgbClr val="FFFFFF">
                    <a:alpha val="0"/>
                  </a:srgbClr>
                </a:gs>
                <a:gs pos="50000">
                  <a:srgbClr val="FFFFFF">
                    <a:alpha val="0"/>
                  </a:srgbClr>
                </a:gs>
                <a:gs pos="75000">
                  <a:srgbClr val="FFFFFF">
                    <a:alpha val="50000"/>
                  </a:srgbClr>
                </a:gs>
                <a:gs pos="25000">
                  <a:srgbClr val="FFFFFF">
                    <a:alpha val="50000"/>
                  </a:srgbClr>
                </a:gs>
                <a:gs pos="100000">
                  <a:srgbClr val="FFFFFF">
                    <a:alpha val="0"/>
                  </a:srgbClr>
                </a:gs>
              </a:gsLst>
              <a:lin ang="0" scaled="0"/>
            </a:gradFill>
            <a:prstDash val="sysDot"/>
            <a:miter lim="800000"/>
          </a:ln>
          <a:effectLst/>
        </p:spPr>
      </p:cxnSp>
      <p:cxnSp>
        <p:nvCxnSpPr>
          <p:cNvPr id="43" name="直接连接符 42"/>
          <p:cNvCxnSpPr/>
          <p:nvPr/>
        </p:nvCxnSpPr>
        <p:spPr>
          <a:xfrm>
            <a:off x="0" y="5505605"/>
            <a:ext cx="12192000" cy="0"/>
          </a:xfrm>
          <a:prstGeom prst="line">
            <a:avLst/>
          </a:prstGeom>
          <a:noFill/>
          <a:ln w="12700" cap="flat" cmpd="sng" algn="ctr">
            <a:gradFill>
              <a:gsLst>
                <a:gs pos="0">
                  <a:srgbClr val="FFFFFF">
                    <a:alpha val="0"/>
                  </a:srgbClr>
                </a:gs>
                <a:gs pos="50000">
                  <a:srgbClr val="FFFFFF">
                    <a:alpha val="0"/>
                  </a:srgbClr>
                </a:gs>
                <a:gs pos="75000">
                  <a:srgbClr val="FFFFFF">
                    <a:alpha val="50000"/>
                  </a:srgbClr>
                </a:gs>
                <a:gs pos="25000">
                  <a:srgbClr val="FFFFFF">
                    <a:alpha val="50000"/>
                  </a:srgbClr>
                </a:gs>
                <a:gs pos="100000">
                  <a:srgbClr val="FFFFFF">
                    <a:alpha val="0"/>
                  </a:srgbClr>
                </a:gs>
              </a:gsLst>
              <a:lin ang="0" scaled="0"/>
            </a:gradFill>
            <a:prstDash val="sysDot"/>
            <a:miter lim="800000"/>
          </a:ln>
          <a:effectLst/>
        </p:spPr>
      </p:cxnSp>
      <p:cxnSp>
        <p:nvCxnSpPr>
          <p:cNvPr id="44" name="直接连接符 43"/>
          <p:cNvCxnSpPr/>
          <p:nvPr/>
        </p:nvCxnSpPr>
        <p:spPr>
          <a:xfrm>
            <a:off x="0" y="5746905"/>
            <a:ext cx="12192000" cy="0"/>
          </a:xfrm>
          <a:prstGeom prst="line">
            <a:avLst/>
          </a:prstGeom>
          <a:noFill/>
          <a:ln w="12700" cap="flat" cmpd="sng" algn="ctr">
            <a:gradFill>
              <a:gsLst>
                <a:gs pos="0">
                  <a:srgbClr val="FFFFFF">
                    <a:alpha val="0"/>
                  </a:srgbClr>
                </a:gs>
                <a:gs pos="50000">
                  <a:srgbClr val="FFFFFF">
                    <a:alpha val="0"/>
                  </a:srgbClr>
                </a:gs>
                <a:gs pos="75000">
                  <a:srgbClr val="FFFFFF">
                    <a:alpha val="50000"/>
                  </a:srgbClr>
                </a:gs>
                <a:gs pos="25000">
                  <a:srgbClr val="FFFFFF">
                    <a:alpha val="50000"/>
                  </a:srgbClr>
                </a:gs>
                <a:gs pos="100000">
                  <a:srgbClr val="FFFFFF">
                    <a:alpha val="0"/>
                  </a:srgbClr>
                </a:gs>
              </a:gsLst>
              <a:lin ang="0" scaled="0"/>
            </a:gradFill>
            <a:prstDash val="sysDot"/>
            <a:miter lim="800000"/>
          </a:ln>
          <a:effectLst/>
        </p:spPr>
      </p:cxnSp>
      <p:sp>
        <p:nvSpPr>
          <p:cNvPr id="45" name="矩形: 圆角 44"/>
          <p:cNvSpPr/>
          <p:nvPr/>
        </p:nvSpPr>
        <p:spPr>
          <a:xfrm>
            <a:off x="980404" y="1645471"/>
            <a:ext cx="3218710" cy="4259555"/>
          </a:xfrm>
          <a:prstGeom prst="roundRect">
            <a:avLst>
              <a:gd name="adj" fmla="val 1982"/>
            </a:avLst>
          </a:prstGeom>
          <a:solidFill>
            <a:srgbClr val="FFFFFF"/>
          </a:solidFill>
          <a:ln w="6350" cap="flat" cmpd="sng" algn="ctr">
            <a:solidFill>
              <a:srgbClr val="FFFFFF"/>
            </a:solidFill>
            <a:prstDash val="solid"/>
            <a:miter lim="800000"/>
          </a:ln>
          <a:effectLst>
            <a:outerShdw blurRad="190500" algn="ctr" rotWithShape="0">
              <a:srgbClr val="0088E3">
                <a:alpha val="40000"/>
              </a:srgbClr>
            </a:outerShdw>
            <a:reflection blurRad="139700" stA="15000" endPos="47000" dist="139700" dir="5400000" sy="-100000" algn="bl" rotWithShape="0"/>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86" name="矩形: 圆角 85"/>
          <p:cNvSpPr/>
          <p:nvPr/>
        </p:nvSpPr>
        <p:spPr>
          <a:xfrm>
            <a:off x="4485369" y="1645471"/>
            <a:ext cx="3218710" cy="4259555"/>
          </a:xfrm>
          <a:prstGeom prst="roundRect">
            <a:avLst>
              <a:gd name="adj" fmla="val 1982"/>
            </a:avLst>
          </a:prstGeom>
          <a:solidFill>
            <a:srgbClr val="FFFFFF"/>
          </a:solidFill>
          <a:ln w="6350" cap="flat" cmpd="sng" algn="ctr">
            <a:solidFill>
              <a:srgbClr val="FFFFFF"/>
            </a:solidFill>
            <a:prstDash val="solid"/>
            <a:miter lim="800000"/>
          </a:ln>
          <a:effectLst>
            <a:outerShdw blurRad="190500" algn="ctr" rotWithShape="0">
              <a:srgbClr val="0088E3">
                <a:alpha val="40000"/>
              </a:srgbClr>
            </a:outerShdw>
            <a:reflection blurRad="139700" stA="15000" endPos="47000" dist="139700" dir="5400000" sy="-100000" algn="bl" rotWithShape="0"/>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87" name="矩形: 圆角 86"/>
          <p:cNvSpPr/>
          <p:nvPr/>
        </p:nvSpPr>
        <p:spPr>
          <a:xfrm>
            <a:off x="7995123" y="1645471"/>
            <a:ext cx="3218710" cy="4259555"/>
          </a:xfrm>
          <a:prstGeom prst="roundRect">
            <a:avLst>
              <a:gd name="adj" fmla="val 1982"/>
            </a:avLst>
          </a:prstGeom>
          <a:solidFill>
            <a:srgbClr val="FFFFFF"/>
          </a:solidFill>
          <a:ln w="6350" cap="flat" cmpd="sng" algn="ctr">
            <a:solidFill>
              <a:srgbClr val="FFFFFF"/>
            </a:solidFill>
            <a:prstDash val="solid"/>
            <a:miter lim="800000"/>
          </a:ln>
          <a:effectLst>
            <a:outerShdw blurRad="190500" algn="ctr" rotWithShape="0">
              <a:srgbClr val="0088E3">
                <a:alpha val="40000"/>
              </a:srgbClr>
            </a:outerShdw>
            <a:reflection blurRad="139700" stA="15000" endPos="47000" dist="139700" dir="5400000" sy="-100000" algn="bl" rotWithShape="0"/>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超过三成央国企数字化采购比例超过50%</a:t>
            </a: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88" name="矩形 87"/>
          <p:cNvSpPr/>
          <p:nvPr/>
        </p:nvSpPr>
        <p:spPr>
          <a:xfrm>
            <a:off x="1097377" y="1663057"/>
            <a:ext cx="2984764" cy="590324"/>
          </a:xfrm>
          <a:prstGeom prst="rect">
            <a:avLst/>
          </a:prstGeom>
          <a:noFill/>
          <a:ln w="12700" cap="rnd" cmpd="sng" algn="ctr">
            <a:noFill/>
            <a:prstDash val="solid"/>
            <a:round/>
          </a:ln>
          <a:effectLst/>
        </p:spPr>
        <p:txBody>
          <a:bodyPr rot="0" spcFirstLastPara="0"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r>
              <a:rPr lang="zh-CN" altLang="en-US" sz="2000" b="1" spc="100" dirty="0">
                <a:gradFill>
                  <a:gsLst>
                    <a:gs pos="100000">
                      <a:srgbClr val="0D6CB3"/>
                    </a:gs>
                    <a:gs pos="0">
                      <a:srgbClr val="1084DE"/>
                    </a:gs>
                  </a:gsLst>
                  <a:lin ang="5400000" scaled="0"/>
                </a:gra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电子化率接近</a:t>
            </a:r>
            <a:r>
              <a:rPr lang="en-US" altLang="zh-CN" sz="2000" b="1" spc="100" dirty="0">
                <a:gradFill>
                  <a:gsLst>
                    <a:gs pos="100000">
                      <a:srgbClr val="0D6CB3"/>
                    </a:gs>
                    <a:gs pos="0">
                      <a:srgbClr val="1084DE"/>
                    </a:gs>
                  </a:gsLst>
                  <a:lin ang="5400000" scaled="0"/>
                </a:gra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100%</a:t>
            </a:r>
            <a:endParaRPr lang="zh-CN" altLang="en-US" sz="2000" b="1" spc="100" dirty="0">
              <a:gradFill>
                <a:gsLst>
                  <a:gs pos="100000">
                    <a:srgbClr val="0D6CB3"/>
                  </a:gs>
                  <a:gs pos="0">
                    <a:srgbClr val="1084DE"/>
                  </a:gs>
                </a:gsLst>
                <a:lin ang="5400000" scaled="0"/>
              </a:gra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89" name="文本框 28"/>
          <p:cNvSpPr txBox="1"/>
          <p:nvPr/>
        </p:nvSpPr>
        <p:spPr>
          <a:xfrm>
            <a:off x="980403" y="2241434"/>
            <a:ext cx="3216473" cy="122488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0" indent="-171450" algn="just">
              <a:lnSpc>
                <a:spcPct val="150000"/>
              </a:lnSpc>
              <a:buClrTx/>
              <a:buSzTx/>
              <a:buFont typeface="Arial" panose="020B0604020202020204" pitchFamily="34" charset="0"/>
              <a:buChar char="•"/>
            </a:pPr>
            <a:r>
              <a:rPr lang="zh-CN" altLang="en-US" sz="1000" spc="100" dirty="0">
                <a:solidFill>
                  <a:srgbClr val="000000">
                    <a:lumMod val="75000"/>
                    <a:lumOff val="25000"/>
                  </a:srgb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从2020年新冠肺炎疫情爆发以来，“不见面开标”“不见面评标”“远程异地评标”成为采购的主基调，在数字化采购大潮中，我国各地公共资源交易基本实现了“平台之外无交易”，电子化率接近</a:t>
            </a:r>
            <a:r>
              <a:rPr lang="en-US" altLang="zh-CN" sz="1000" spc="100" dirty="0">
                <a:solidFill>
                  <a:srgbClr val="000000">
                    <a:lumMod val="75000"/>
                    <a:lumOff val="25000"/>
                  </a:srgb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100</a:t>
            </a:r>
            <a:r>
              <a:rPr lang="zh-CN" altLang="en-US" sz="1000" spc="100" dirty="0">
                <a:solidFill>
                  <a:srgbClr val="000000">
                    <a:lumMod val="75000"/>
                    <a:lumOff val="25000"/>
                  </a:srgb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endParaRPr lang="zh-CN" altLang="en-US" sz="1000" spc="100" dirty="0">
              <a:solidFill>
                <a:srgbClr val="000000">
                  <a:lumMod val="75000"/>
                  <a:lumOff val="25000"/>
                </a:srgbClr>
              </a:soli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cxnSp>
        <p:nvCxnSpPr>
          <p:cNvPr id="90" name="直接连接符 89"/>
          <p:cNvCxnSpPr/>
          <p:nvPr/>
        </p:nvCxnSpPr>
        <p:spPr>
          <a:xfrm>
            <a:off x="1316951" y="2227366"/>
            <a:ext cx="2520000" cy="0"/>
          </a:xfrm>
          <a:prstGeom prst="line">
            <a:avLst/>
          </a:prstGeom>
          <a:noFill/>
          <a:ln w="6350" cap="flat" cmpd="sng" algn="ctr">
            <a:solidFill>
              <a:srgbClr val="FFFFFF">
                <a:lumMod val="75000"/>
              </a:srgbClr>
            </a:solidFill>
            <a:prstDash val="solid"/>
            <a:miter lim="800000"/>
          </a:ln>
          <a:effectLst/>
        </p:spPr>
      </p:cxnSp>
      <p:sp>
        <p:nvSpPr>
          <p:cNvPr id="91" name="文本框 30"/>
          <p:cNvSpPr txBox="1"/>
          <p:nvPr/>
        </p:nvSpPr>
        <p:spPr>
          <a:xfrm>
            <a:off x="4485368" y="2241434"/>
            <a:ext cx="3216473" cy="783590"/>
          </a:xfrm>
          <a:prstGeom prst="rect">
            <a:avLst/>
          </a:prstGeom>
          <a:noFill/>
        </p:spPr>
        <p:txBody>
          <a:bodyPr wrap="square" rtlCol="0">
            <a:spAutoFit/>
          </a:bodyPr>
          <a:lstStyle>
            <a:defPPr>
              <a:defRPr lang="zh-CN"/>
            </a:defPPr>
            <a:lvl1pPr algn="just">
              <a:lnSpc>
                <a:spcPct val="150000"/>
              </a:lnSpc>
              <a:defRPr sz="1000" spc="50">
                <a:solidFill>
                  <a:srgbClr val="000000">
                    <a:lumMod val="75000"/>
                    <a:lumOff val="25000"/>
                  </a:srgb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171450" marR="0" lvl="0" indent="-171450" algn="just" defTabSz="91440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据亿邦智库</a:t>
            </a:r>
            <a:r>
              <a:rPr kumimoji="0" lang="en-US" altLang="zh-CN"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2023</a:t>
            </a:r>
            <a:r>
              <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年抽样调研，有</a:t>
            </a:r>
            <a:r>
              <a:rPr lang="en-US" altLang="zh-CN" kern="0" dirty="0">
                <a:latin typeface="微软雅黑" panose="020B0503020204020204" charset="-122"/>
                <a:ea typeface="微软雅黑" panose="020B0503020204020204" charset="-122"/>
                <a:sym typeface="阿里巴巴普惠体" panose="00020600040101010101" pitchFamily="18" charset="-122"/>
              </a:rPr>
              <a:t>26.97</a:t>
            </a:r>
            <a:r>
              <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%央国企选择数字化采购比例在50%-80%之间；</a:t>
            </a:r>
            <a:r>
              <a:rPr kumimoji="0" lang="en-US" altLang="zh-CN"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16.61</a:t>
            </a:r>
            <a:r>
              <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%选择数字化采购比例在80%以上</a:t>
            </a:r>
            <a:endPar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endParaRPr>
          </a:p>
        </p:txBody>
      </p:sp>
      <p:cxnSp>
        <p:nvCxnSpPr>
          <p:cNvPr id="92" name="直接连接符 91"/>
          <p:cNvCxnSpPr/>
          <p:nvPr/>
        </p:nvCxnSpPr>
        <p:spPr>
          <a:xfrm>
            <a:off x="4834723" y="2227366"/>
            <a:ext cx="2520000" cy="0"/>
          </a:xfrm>
          <a:prstGeom prst="line">
            <a:avLst/>
          </a:prstGeom>
          <a:noFill/>
          <a:ln w="6350" cap="flat" cmpd="sng" algn="ctr">
            <a:solidFill>
              <a:srgbClr val="FFFFFF">
                <a:lumMod val="75000"/>
              </a:srgbClr>
            </a:solidFill>
            <a:prstDash val="solid"/>
            <a:miter lim="800000"/>
          </a:ln>
          <a:effectLst/>
        </p:spPr>
      </p:cxnSp>
      <p:sp>
        <p:nvSpPr>
          <p:cNvPr id="93" name="文本框 32"/>
          <p:cNvSpPr txBox="1"/>
          <p:nvPr/>
        </p:nvSpPr>
        <p:spPr>
          <a:xfrm>
            <a:off x="7995122" y="2241434"/>
            <a:ext cx="3216473" cy="1706880"/>
          </a:xfrm>
          <a:prstGeom prst="rect">
            <a:avLst/>
          </a:prstGeom>
          <a:noFill/>
        </p:spPr>
        <p:txBody>
          <a:bodyPr wrap="square" rtlCol="0">
            <a:spAutoFit/>
          </a:bodyPr>
          <a:lstStyle>
            <a:defPPr>
              <a:defRPr lang="zh-CN"/>
            </a:defPPr>
            <a:lvl1pPr algn="just">
              <a:lnSpc>
                <a:spcPct val="150000"/>
              </a:lnSpc>
              <a:defRPr sz="1000" spc="50">
                <a:solidFill>
                  <a:srgbClr val="000000">
                    <a:lumMod val="75000"/>
                    <a:lumOff val="25000"/>
                  </a:srgb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171450" marR="0" lvl="0" indent="-171450" algn="just" defTabSz="91440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据统计，截止2022年12月25日，9</a:t>
            </a:r>
            <a:r>
              <a:rPr lang="en-US" altLang="zh-CN" kern="0" dirty="0">
                <a:latin typeface="微软雅黑" panose="020B0503020204020204" charset="-122"/>
                <a:ea typeface="微软雅黑" panose="020B0503020204020204" charset="-122"/>
                <a:sym typeface="阿里巴巴普惠体" panose="00020600040101010101" pitchFamily="18" charset="-122"/>
              </a:rPr>
              <a:t>7</a:t>
            </a:r>
            <a:r>
              <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家隶属于国资委的中央企业已有8</a:t>
            </a:r>
            <a:r>
              <a:rPr kumimoji="0" lang="en-US" altLang="zh-CN"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6</a:t>
            </a:r>
            <a:r>
              <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家上线电子招标采购平台或是在其官网的信息公开专栏进行招投标信息公示。</a:t>
            </a:r>
            <a:endPar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endParaRPr>
          </a:p>
          <a:p>
            <a:pPr marL="171450" marR="0" lvl="0" indent="-171450" algn="just" defTabSz="91440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rPr>
              <a:t>此外，还有6家特殊类型的央企也上线了电子招标采购平台或是在其官网的信息公开专栏进行招投标信息公示</a:t>
            </a:r>
            <a:endParaRPr kumimoji="0" lang="zh-CN" altLang="en-US" sz="1000" b="0" i="0" u="none" strike="noStrike" kern="0" cap="none" spc="5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阿里巴巴普惠体" panose="00020600040101010101" pitchFamily="18" charset="-122"/>
            </a:endParaRPr>
          </a:p>
        </p:txBody>
      </p:sp>
      <p:cxnSp>
        <p:nvCxnSpPr>
          <p:cNvPr id="94" name="直接连接符 93"/>
          <p:cNvCxnSpPr/>
          <p:nvPr/>
        </p:nvCxnSpPr>
        <p:spPr>
          <a:xfrm>
            <a:off x="8344477" y="2227366"/>
            <a:ext cx="2520000" cy="0"/>
          </a:xfrm>
          <a:prstGeom prst="line">
            <a:avLst/>
          </a:prstGeom>
          <a:noFill/>
          <a:ln w="6350" cap="flat" cmpd="sng" algn="ctr">
            <a:solidFill>
              <a:srgbClr val="FFFFFF">
                <a:lumMod val="75000"/>
              </a:srgbClr>
            </a:solidFill>
            <a:prstDash val="solid"/>
            <a:miter lim="800000"/>
          </a:ln>
          <a:effectLst/>
        </p:spPr>
      </p:cxnSp>
      <p:grpSp>
        <p:nvGrpSpPr>
          <p:cNvPr id="95" name="组合 94"/>
          <p:cNvGrpSpPr/>
          <p:nvPr/>
        </p:nvGrpSpPr>
        <p:grpSpPr>
          <a:xfrm>
            <a:off x="2414857" y="5636468"/>
            <a:ext cx="349803" cy="59811"/>
            <a:chOff x="2100875" y="1762797"/>
            <a:chExt cx="349803" cy="59811"/>
          </a:xfrm>
        </p:grpSpPr>
        <p:sp>
          <p:nvSpPr>
            <p:cNvPr id="103" name="椭圆 102"/>
            <p:cNvSpPr/>
            <p:nvPr/>
          </p:nvSpPr>
          <p:spPr>
            <a:xfrm>
              <a:off x="2100875" y="1762797"/>
              <a:ext cx="59713" cy="59713"/>
            </a:xfrm>
            <a:prstGeom prst="ellipse">
              <a:avLst/>
            </a:prstGeom>
            <a:solidFill>
              <a:srgbClr val="3271CC"/>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04" name="椭圆 103"/>
            <p:cNvSpPr/>
            <p:nvPr/>
          </p:nvSpPr>
          <p:spPr>
            <a:xfrm>
              <a:off x="2245920" y="1762846"/>
              <a:ext cx="59713" cy="59713"/>
            </a:xfrm>
            <a:prstGeom prst="ellipse">
              <a:avLst/>
            </a:prstGeom>
            <a:solidFill>
              <a:srgbClr val="FFFFFF">
                <a:lumMod val="75000"/>
              </a:srgb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05" name="椭圆 104"/>
            <p:cNvSpPr/>
            <p:nvPr/>
          </p:nvSpPr>
          <p:spPr>
            <a:xfrm>
              <a:off x="2390965" y="1762895"/>
              <a:ext cx="59713" cy="59713"/>
            </a:xfrm>
            <a:prstGeom prst="ellipse">
              <a:avLst/>
            </a:prstGeom>
            <a:solidFill>
              <a:srgbClr val="FFFFFF">
                <a:lumMod val="75000"/>
              </a:srgb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grpSp>
      <p:sp>
        <p:nvSpPr>
          <p:cNvPr id="96" name="矩形 95"/>
          <p:cNvSpPr/>
          <p:nvPr/>
        </p:nvSpPr>
        <p:spPr>
          <a:xfrm>
            <a:off x="4602343" y="1663057"/>
            <a:ext cx="2984764" cy="590324"/>
          </a:xfrm>
          <a:prstGeom prst="rect">
            <a:avLst/>
          </a:prstGeom>
          <a:noFill/>
          <a:ln w="12700" cap="rnd" cmpd="sng" algn="ctr">
            <a:noFill/>
            <a:prstDash val="solid"/>
            <a:round/>
          </a:ln>
          <a:effectLst/>
        </p:spPr>
        <p:txBody>
          <a:bodyPr rot="0" spcFirstLastPara="0"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r>
              <a:rPr lang="zh-CN" altLang="en-US" sz="2000" b="1" spc="100" dirty="0">
                <a:gradFill>
                  <a:gsLst>
                    <a:gs pos="100000">
                      <a:srgbClr val="0D6CB3"/>
                    </a:gs>
                    <a:gs pos="0">
                      <a:srgbClr val="1084DE"/>
                    </a:gs>
                  </a:gsLst>
                  <a:lin ang="5400000" scaled="0"/>
                </a:gra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重视数字化采购比</a:t>
            </a:r>
            <a:endParaRPr lang="zh-CN" altLang="en-US" sz="2000" b="1" spc="100" dirty="0">
              <a:gradFill>
                <a:gsLst>
                  <a:gs pos="100000">
                    <a:srgbClr val="0D6CB3"/>
                  </a:gs>
                  <a:gs pos="0">
                    <a:srgbClr val="1084DE"/>
                  </a:gs>
                </a:gsLst>
                <a:lin ang="5400000" scaled="0"/>
              </a:gra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97" name="矩形 96"/>
          <p:cNvSpPr/>
          <p:nvPr/>
        </p:nvSpPr>
        <p:spPr>
          <a:xfrm>
            <a:off x="8112097" y="1663057"/>
            <a:ext cx="2984764" cy="590324"/>
          </a:xfrm>
          <a:prstGeom prst="rect">
            <a:avLst/>
          </a:prstGeom>
          <a:noFill/>
          <a:ln w="12700" cap="rnd" cmpd="sng" algn="ctr">
            <a:noFill/>
            <a:prstDash val="solid"/>
            <a:round/>
          </a:ln>
          <a:effectLst/>
        </p:spPr>
        <p:txBody>
          <a:bodyPr rot="0" spcFirstLastPara="0"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r>
              <a:rPr lang="zh-CN" altLang="en-US" sz="2000" b="1" spc="100" dirty="0">
                <a:gradFill>
                  <a:gsLst>
                    <a:gs pos="100000">
                      <a:srgbClr val="0D6CB3"/>
                    </a:gs>
                    <a:gs pos="0">
                      <a:srgbClr val="1084DE"/>
                    </a:gs>
                  </a:gsLst>
                  <a:lin ang="5400000" scaled="0"/>
                </a:gra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平台上线率达</a:t>
            </a:r>
            <a:r>
              <a:rPr lang="en-US" altLang="zh-CN" sz="2000" b="1" spc="100" dirty="0">
                <a:gradFill>
                  <a:gsLst>
                    <a:gs pos="100000">
                      <a:srgbClr val="0D6CB3"/>
                    </a:gs>
                    <a:gs pos="0">
                      <a:srgbClr val="1084DE"/>
                    </a:gs>
                  </a:gsLst>
                  <a:lin ang="5400000" scaled="0"/>
                </a:gra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87.8%</a:t>
            </a:r>
            <a:endParaRPr lang="zh-CN" altLang="en-US" sz="2000" b="1" spc="100" dirty="0">
              <a:gradFill>
                <a:gsLst>
                  <a:gs pos="100000">
                    <a:srgbClr val="0D6CB3"/>
                  </a:gs>
                  <a:gs pos="0">
                    <a:srgbClr val="1084DE"/>
                  </a:gs>
                </a:gsLst>
                <a:lin ang="5400000" scaled="0"/>
              </a:gradFill>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pic>
        <p:nvPicPr>
          <p:cNvPr id="98" name="图片 97"/>
          <p:cNvPicPr>
            <a:picLocks noChangeAspect="1"/>
          </p:cNvPicPr>
          <p:nvPr/>
        </p:nvPicPr>
        <p:blipFill>
          <a:blip r:embed="rId2"/>
          <a:srcRect r="3277"/>
          <a:stretch>
            <a:fillRect/>
          </a:stretch>
        </p:blipFill>
        <p:spPr>
          <a:xfrm>
            <a:off x="1267670" y="3520720"/>
            <a:ext cx="2644179" cy="2216868"/>
          </a:xfrm>
          <a:prstGeom prst="rect">
            <a:avLst/>
          </a:prstGeom>
          <a:ln>
            <a:solidFill>
              <a:srgbClr val="0F6FC6"/>
            </a:solidFill>
          </a:ln>
          <a:effectLst>
            <a:softEdge rad="12700"/>
          </a:effectLst>
        </p:spPr>
      </p:pic>
      <p:graphicFrame>
        <p:nvGraphicFramePr>
          <p:cNvPr id="99" name="图表 98"/>
          <p:cNvGraphicFramePr/>
          <p:nvPr/>
        </p:nvGraphicFramePr>
        <p:xfrm>
          <a:off x="4447787" y="3030301"/>
          <a:ext cx="3369063" cy="2972878"/>
        </p:xfrm>
        <a:graphic>
          <a:graphicData uri="http://schemas.openxmlformats.org/drawingml/2006/chart">
            <c:chart xmlns:c="http://schemas.openxmlformats.org/drawingml/2006/chart" xmlns:r="http://schemas.openxmlformats.org/officeDocument/2006/relationships" r:id="rId1"/>
          </a:graphicData>
        </a:graphic>
      </p:graphicFrame>
      <p:pic>
        <p:nvPicPr>
          <p:cNvPr id="100" name="图片 99"/>
          <p:cNvPicPr/>
          <p:nvPr/>
        </p:nvPicPr>
        <p:blipFill rotWithShape="1">
          <a:blip r:embed="rId3"/>
          <a:srcRect l="11298" t="9697" r="10854" b="14625"/>
          <a:stretch>
            <a:fillRect/>
          </a:stretch>
        </p:blipFill>
        <p:spPr>
          <a:xfrm>
            <a:off x="8155305" y="3907955"/>
            <a:ext cx="2954020" cy="1551940"/>
          </a:xfrm>
          <a:prstGeom prst="rect">
            <a:avLst/>
          </a:prstGeom>
        </p:spPr>
      </p:pic>
      <p:sp>
        <p:nvSpPr>
          <p:cNvPr id="101" name="矩形 100"/>
          <p:cNvSpPr/>
          <p:nvPr/>
        </p:nvSpPr>
        <p:spPr>
          <a:xfrm>
            <a:off x="9143147" y="5055920"/>
            <a:ext cx="977900" cy="431876"/>
          </a:xfrm>
          <a:prstGeom prst="rect">
            <a:avLst/>
          </a:prstGeom>
          <a:solidFill>
            <a:sysClr val="window" lastClr="FFFFFF"/>
          </a:solidFill>
          <a:ln w="12700" cap="flat" cmpd="sng" algn="ctr">
            <a:solidFill>
              <a:sysClr val="window" lastClr="FFFFFF"/>
            </a:solid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F6FC6"/>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87.8%</a:t>
            </a:r>
            <a:endParaRPr kumimoji="0" lang="zh-CN" altLang="en-US" sz="1800" b="1" i="0" u="none" strike="noStrike" kern="1200" cap="none" spc="0" normalizeH="0" baseline="0" noProof="0" dirty="0">
              <a:ln>
                <a:noFill/>
              </a:ln>
              <a:solidFill>
                <a:srgbClr val="0F6FC6"/>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02" name="文本框 4"/>
          <p:cNvSpPr txBox="1"/>
          <p:nvPr/>
        </p:nvSpPr>
        <p:spPr>
          <a:xfrm>
            <a:off x="8449310" y="5551335"/>
            <a:ext cx="2366645" cy="24511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000">
                <a:latin typeface="微软雅黑" panose="020B0503020204020204" charset="-122"/>
                <a:ea typeface="微软雅黑" panose="020B0503020204020204" charset="-122"/>
                <a:cs typeface="阿里巴巴普惠体" panose="00020600040101010101" pitchFamily="18" charset="-122"/>
              </a:rPr>
              <a:t>86</a:t>
            </a:r>
            <a:r>
              <a:rPr lang="zh-CN" altLang="en-US" sz="1000">
                <a:latin typeface="微软雅黑" panose="020B0503020204020204" charset="-122"/>
                <a:ea typeface="微软雅黑" panose="020B0503020204020204" charset="-122"/>
                <a:cs typeface="阿里巴巴普惠体" panose="00020600040101010101" pitchFamily="18" charset="-122"/>
              </a:rPr>
              <a:t>家央企已经上线了电子招标采购平台</a:t>
            </a:r>
            <a:endParaRPr lang="zh-CN" altLang="en-US" sz="1000">
              <a:latin typeface="微软雅黑" panose="020B0503020204020204" charset="-122"/>
              <a:ea typeface="微软雅黑" panose="020B0503020204020204" charset="-122"/>
              <a:cs typeface="阿里巴巴普惠体" panose="00020600040101010101" pitchFamily="18"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09573" y="240598"/>
            <a:ext cx="1322628" cy="631070"/>
            <a:chOff x="-504068" y="174267"/>
            <a:chExt cx="1600668" cy="763731"/>
          </a:xfrm>
        </p:grpSpPr>
        <p:sp>
          <p:nvSpPr>
            <p:cNvPr id="3" name="平行四边形 2"/>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mn-ea"/>
                <a:sym typeface="+mn-lt"/>
              </a:endParaRPr>
            </a:p>
          </p:txBody>
        </p:sp>
        <p:sp>
          <p:nvSpPr>
            <p:cNvPr id="4" name="平行四边形 3"/>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latin typeface="微软雅黑" panose="020B0503020204020204" charset="-122"/>
                <a:ea typeface="微软雅黑" panose="020B0503020204020204" charset="-122"/>
                <a:cs typeface="+mn-ea"/>
                <a:sym typeface="+mn-lt"/>
              </a:endParaRPr>
            </a:p>
          </p:txBody>
        </p:sp>
      </p:grpSp>
      <p:sp>
        <p:nvSpPr>
          <p:cNvPr id="5" name="文本框 4"/>
          <p:cNvSpPr txBox="1"/>
          <p:nvPr/>
        </p:nvSpPr>
        <p:spPr>
          <a:xfrm>
            <a:off x="673100" y="326390"/>
            <a:ext cx="10083800"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现状</a:t>
            </a:r>
            <a:r>
              <a:rPr lang="zh-CN" altLang="en-US" sz="3200" b="1" dirty="0">
                <a:solidFill>
                  <a:srgbClr val="3271CC"/>
                </a:solidFill>
                <a:latin typeface="微软雅黑" panose="020B0503020204020204" charset="-122"/>
                <a:ea typeface="微软雅黑" panose="020B0503020204020204" charset="-122"/>
                <a:cs typeface="+mn-ea"/>
                <a:sym typeface="+mn-lt"/>
              </a:rPr>
              <a:t>分析：标杆企业的数字化采购建设成果显著</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pic>
        <p:nvPicPr>
          <p:cNvPr id="13" name="图片 12"/>
          <p:cNvPicPr>
            <a:picLocks noChangeAspect="1"/>
          </p:cNvPicPr>
          <p:nvPr/>
        </p:nvPicPr>
        <p:blipFill>
          <a:blip r:embed="rId1"/>
          <a:stretch>
            <a:fillRect/>
          </a:stretch>
        </p:blipFill>
        <p:spPr>
          <a:xfrm>
            <a:off x="760186" y="2353728"/>
            <a:ext cx="6112042" cy="3981879"/>
          </a:xfrm>
          <a:prstGeom prst="rect">
            <a:avLst/>
          </a:prstGeom>
        </p:spPr>
      </p:pic>
      <p:sp>
        <p:nvSpPr>
          <p:cNvPr id="14" name="矩形 13"/>
          <p:cNvSpPr/>
          <p:nvPr/>
        </p:nvSpPr>
        <p:spPr>
          <a:xfrm>
            <a:off x="7068911" y="1306164"/>
            <a:ext cx="4492625" cy="5029443"/>
          </a:xfrm>
          <a:prstGeom prst="rect">
            <a:avLst/>
          </a:prstGeom>
          <a:solidFill>
            <a:srgbClr val="F1F9FD"/>
          </a:solidFill>
          <a:ln w="25400" cap="flat" cmpd="sng" algn="ctr">
            <a:solidFill>
              <a:sysClr val="window" lastClr="FFFFFF"/>
            </a:solid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5" name="文本框 6"/>
          <p:cNvSpPr txBox="1"/>
          <p:nvPr/>
        </p:nvSpPr>
        <p:spPr>
          <a:xfrm>
            <a:off x="7063186" y="1385038"/>
            <a:ext cx="4492624" cy="178510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成本节约成效显著</a:t>
            </a:r>
            <a:endParaRPr kumimoji="0" lang="zh-CN" altLang="en-US" sz="1400" b="1"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2021年，中央企业采购总额超过13万亿元，辐射带动各类企业达到200余万家，全年节约采购成本超过5400亿元，占采购总额的4.15%。</a:t>
            </a:r>
            <a:endParaRPr kumimoji="0" lang="zh-CN" altLang="en-US" sz="12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其中，中国石油、中国移动、中国华能、国家能源集团等企业节资超过200亿元，中国三峡集团、中国联通、中国大唐等企业的节资比率超过10%。</a:t>
            </a:r>
            <a:endParaRPr kumimoji="0" lang="zh-CN" altLang="en-US" sz="12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zh-CN" altLang="en-US" sz="4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spc="0" normalizeH="0" baseline="0" noProof="0" dirty="0">
                <a:ln>
                  <a:noFill/>
                </a:ln>
                <a:solidFill>
                  <a:srgbClr val="DBEFF9">
                    <a:lumMod val="50000"/>
                  </a:srgbClr>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*节资比率指一个项目采购招标的节约资金与预算资金之比，即（预算价-中标价）/预算价*100%。</a:t>
            </a:r>
            <a:endParaRPr kumimoji="0" lang="zh-CN" altLang="en-US" sz="1000" b="0" i="0" u="none" strike="noStrike" kern="1200" cap="none" spc="0" normalizeH="0" baseline="0" noProof="0" dirty="0">
              <a:ln>
                <a:noFill/>
              </a:ln>
              <a:solidFill>
                <a:srgbClr val="DBEFF9">
                  <a:lumMod val="50000"/>
                </a:srgbClr>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6" name="矩形 15"/>
          <p:cNvSpPr/>
          <p:nvPr/>
        </p:nvSpPr>
        <p:spPr>
          <a:xfrm>
            <a:off x="765913" y="1332042"/>
            <a:ext cx="6106315" cy="934850"/>
          </a:xfrm>
          <a:prstGeom prst="rect">
            <a:avLst/>
          </a:prstGeom>
          <a:solidFill>
            <a:srgbClr val="F1F9FD"/>
          </a:solidFill>
          <a:ln w="2540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2022</a:t>
            </a:r>
            <a:r>
              <a:rPr kumimoji="0" lang="zh-CN" altLang="en-US" sz="14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年4月21日，国资委在中交集团召开对标世界一流采购交易管理体系推进会，总结交流优秀企业的经验做法，对建立完善采购交易管理体系、全面提升供应链管理水平进行再部署、再推进。</a:t>
            </a:r>
            <a:endParaRPr kumimoji="0" lang="zh-CN" altLang="en-US" sz="1400" b="0" i="0" u="none" strike="noStrike" kern="120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8" name="文本框 416"/>
          <p:cNvSpPr txBox="1"/>
          <p:nvPr/>
        </p:nvSpPr>
        <p:spPr>
          <a:xfrm>
            <a:off x="7063186" y="3110293"/>
            <a:ext cx="4492624" cy="15995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buClrTx/>
              <a:buSzTx/>
            </a:pPr>
            <a:r>
              <a:rPr lang="zh-CN" altLang="en-US" sz="14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全国企业招采信息化</a:t>
            </a:r>
            <a:r>
              <a:rPr lang="zh-CN" altLang="en-US" sz="14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建设水平显著提升</a:t>
            </a:r>
            <a:endParaRPr lang="zh-CN" altLang="en-US" sz="14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L="171450" indent="-171450" algn="just">
              <a:buClrTx/>
              <a:buSzTx/>
              <a:buFont typeface="Arial" panose="020B0604020202020204" pitchFamily="34" charset="0"/>
              <a:buChar char="•"/>
            </a:pP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浙江、安徽、山东等省份已完成统一国企招采平台建设，央企电子招标率从早年</a:t>
            </a:r>
            <a:r>
              <a:rPr lang="zh-CN" altLang="en-US"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不足</a:t>
            </a:r>
            <a:r>
              <a:rPr lang="en-US" altLang="zh-CN"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 </a:t>
            </a:r>
            <a:r>
              <a:rPr lang="en-US" altLang="zh-CN"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30% </a:t>
            </a:r>
            <a:r>
              <a:rPr lang="zh-CN" altLang="en-US"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跃升至</a:t>
            </a:r>
            <a:r>
              <a:rPr lang="en-US" altLang="zh-CN"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 90% </a:t>
            </a:r>
            <a:r>
              <a:rPr lang="zh-CN" altLang="en-US"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以上</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，采购规模从</a:t>
            </a:r>
            <a:r>
              <a:rPr lang="zh-CN" altLang="en-US"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不足</a:t>
            </a:r>
            <a:r>
              <a:rPr lang="en-US" altLang="zh-CN"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 10 </a:t>
            </a:r>
            <a:r>
              <a:rPr lang="zh-CN" altLang="en-US"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万亿元增长至</a:t>
            </a:r>
            <a:r>
              <a:rPr lang="en-US" altLang="zh-CN"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 18 </a:t>
            </a:r>
            <a:r>
              <a:rPr lang="zh-CN" altLang="en-US"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万亿元，</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集中采购累计节约金额突破数万亿元，线上化与集中化水平实现跨越式提升。采购场景已从办公用品等非生产性采购，深度延伸至</a:t>
            </a:r>
            <a:r>
              <a:rPr lang="en-US" altLang="zh-CN"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 MRO </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工业品、生产资料等核心领域，直接衔接产业链关键环节，实现采购与生产的协同联动。</a:t>
            </a:r>
            <a:endPar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
        <p:nvSpPr>
          <p:cNvPr id="19" name="文本框 421"/>
          <p:cNvSpPr txBox="1"/>
          <p:nvPr/>
        </p:nvSpPr>
        <p:spPr>
          <a:xfrm>
            <a:off x="7063186" y="4631740"/>
            <a:ext cx="4492624" cy="178371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buClrTx/>
              <a:buSzTx/>
            </a:pPr>
            <a:r>
              <a:rPr lang="zh-CN" altLang="en-US" sz="14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新疆自治区企业招采建设成效</a:t>
            </a:r>
            <a:r>
              <a:rPr lang="zh-CN" altLang="en-US" sz="14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显著</a:t>
            </a:r>
            <a:endParaRPr lang="zh-CN" altLang="en-US" sz="14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L="171450" indent="-171450" algn="just">
              <a:buClrTx/>
              <a:buSzTx/>
              <a:buFont typeface="Arial" panose="020B0604020202020204" pitchFamily="34" charset="0"/>
              <a:buChar char="•"/>
            </a:pP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作为区域招采信息化核心载体的</a:t>
            </a:r>
            <a:r>
              <a:rPr lang="zh-CN" altLang="en-US" sz="1200" b="1"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新疆阳光采购平台</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，已实现成熟运营。平台有效集聚供应商、评审专家等核心资源，实现交易数据集中归集与高效流转。</a:t>
            </a:r>
            <a:endPar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L="171450" indent="-171450" algn="just">
              <a:buClrTx/>
              <a:buSzTx/>
              <a:buFont typeface="Arial" panose="020B0604020202020204" pitchFamily="34" charset="0"/>
              <a:buChar char="•"/>
            </a:pP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自治区各国有企业招采平台也呈现</a:t>
            </a:r>
            <a:r>
              <a:rPr lang="en-US" altLang="zh-CN"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多点开花</a:t>
            </a:r>
            <a:r>
              <a:rPr lang="en-US" altLang="zh-CN"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的</a:t>
            </a:r>
            <a:r>
              <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rPr>
              <a:t>状态，已形成层级清晰、协同联动的招采信息化体系，既通过统一平台实现资源聚合与规范监管，又以企业自建平台保障业务适配性，为区域企业招采阳光化、高效化发展奠定坚实基础。</a:t>
            </a:r>
            <a:endPar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a:p>
            <a:pPr marL="171450" indent="-171450" algn="just">
              <a:buClrTx/>
              <a:buSzTx/>
              <a:buFont typeface="Arial" panose="020B0604020202020204" pitchFamily="34" charset="0"/>
              <a:buChar char="•"/>
            </a:pPr>
            <a:endParaRPr lang="zh-CN" altLang="en-US" sz="1200" dirty="0">
              <a:latin typeface="微软雅黑" panose="020B0503020204020204" charset="-122"/>
              <a:ea typeface="微软雅黑" panose="020B0503020204020204" charset="-122"/>
              <a:cs typeface="阿里巴巴普惠体" panose="00020600040101010101" pitchFamily="18" charset="-122"/>
              <a:sym typeface="阿里巴巴普惠体" panose="00020600040101010101" pitchFamily="18"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83977" y="-1263509"/>
            <a:ext cx="11437258" cy="11437252"/>
          </a:xfrm>
          <a:prstGeom prst="ellipse">
            <a:avLst/>
          </a:prstGeom>
          <a:gradFill>
            <a:gsLst>
              <a:gs pos="0">
                <a:srgbClr val="0066FF">
                  <a:lumMod val="60000"/>
                  <a:lumOff val="40000"/>
                  <a:alpha val="0"/>
                </a:srgbClr>
              </a:gs>
              <a:gs pos="95000">
                <a:srgbClr val="0066FF">
                  <a:lumMod val="60000"/>
                  <a:lumOff val="40000"/>
                  <a:alpha val="5000"/>
                </a:srgbClr>
              </a:gs>
            </a:gsLst>
            <a:lin ang="5400000" scaled="0"/>
          </a:gradFill>
          <a:ln w="19050" cap="flat" cmpd="sng" algn="ctr">
            <a:gradFill>
              <a:gsLst>
                <a:gs pos="40000">
                  <a:srgbClr val="0066FF">
                    <a:lumMod val="60000"/>
                    <a:lumOff val="40000"/>
                    <a:alpha val="0"/>
                  </a:srgbClr>
                </a:gs>
                <a:gs pos="100000">
                  <a:srgbClr val="0066FF">
                    <a:lumMod val="60000"/>
                    <a:lumOff val="40000"/>
                    <a:alpha val="40000"/>
                  </a:srgbClr>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grpSp>
        <p:nvGrpSpPr>
          <p:cNvPr id="13" name="组合 12"/>
          <p:cNvGrpSpPr/>
          <p:nvPr/>
        </p:nvGrpSpPr>
        <p:grpSpPr>
          <a:xfrm>
            <a:off x="-609573" y="240598"/>
            <a:ext cx="1322628" cy="631070"/>
            <a:chOff x="-504068" y="174267"/>
            <a:chExt cx="1600668" cy="763731"/>
          </a:xfrm>
        </p:grpSpPr>
        <p:sp>
          <p:nvSpPr>
            <p:cNvPr id="65" name="平行四边形 64"/>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3" name="平行四边形 62"/>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cs typeface="+mn-ea"/>
                <a:sym typeface="+mn-lt"/>
              </a:endParaRPr>
            </a:p>
          </p:txBody>
        </p:sp>
      </p:grpSp>
      <p:sp>
        <p:nvSpPr>
          <p:cNvPr id="66" name="文本框 65"/>
          <p:cNvSpPr txBox="1"/>
          <p:nvPr/>
        </p:nvSpPr>
        <p:spPr>
          <a:xfrm>
            <a:off x="673100" y="326390"/>
            <a:ext cx="10414000"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痛点分析：兵团</a:t>
            </a:r>
            <a:r>
              <a:rPr lang="zh-CN" altLang="en-US" sz="3200" b="1" dirty="0">
                <a:solidFill>
                  <a:srgbClr val="3271CC"/>
                </a:solidFill>
                <a:latin typeface="微软雅黑" panose="020B0503020204020204" charset="-122"/>
                <a:ea typeface="微软雅黑" panose="020B0503020204020204" charset="-122"/>
                <a:cs typeface="+mn-ea"/>
                <a:sym typeface="+mn-lt"/>
              </a:rPr>
              <a:t>国有企业在采购管理上面临的主要问题</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sp>
        <p:nvSpPr>
          <p:cNvPr id="51" name="矩形 50"/>
          <p:cNvSpPr/>
          <p:nvPr/>
        </p:nvSpPr>
        <p:spPr>
          <a:xfrm>
            <a:off x="6350" y="982345"/>
            <a:ext cx="12185650" cy="953770"/>
          </a:xfrm>
          <a:prstGeom prst="rect">
            <a:avLst/>
          </a:prstGeom>
          <a:solidFill>
            <a:srgbClr val="3271C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mn-ea"/>
              <a:sym typeface="+mn-lt"/>
            </a:endParaRPr>
          </a:p>
        </p:txBody>
      </p:sp>
      <p:sp>
        <p:nvSpPr>
          <p:cNvPr id="52" name="文本框 51"/>
          <p:cNvSpPr txBox="1"/>
          <p:nvPr/>
        </p:nvSpPr>
        <p:spPr>
          <a:xfrm>
            <a:off x="64135" y="982345"/>
            <a:ext cx="12185015" cy="1082675"/>
          </a:xfrm>
          <a:prstGeom prst="rect">
            <a:avLst/>
          </a:prstGeom>
          <a:noFill/>
        </p:spPr>
        <p:txBody>
          <a:bodyPr wrap="square" rtlCol="0">
            <a:noAutofit/>
          </a:bodyPr>
          <a:lstStyle/>
          <a:p>
            <a:pPr indent="0" fontAlgn="auto">
              <a:lnSpc>
                <a:spcPct val="150000"/>
              </a:lnSpc>
            </a:pPr>
            <a:r>
              <a:rPr lang="zh-CN" altLang="en-US" sz="1200" dirty="0">
                <a:solidFill>
                  <a:schemeClr val="bg1"/>
                </a:solidFill>
                <a:cs typeface="+mn-ea"/>
                <a:sym typeface="+mn-lt"/>
              </a:rPr>
              <a:t>       兵团国企招采信息化建设正处于</a:t>
            </a:r>
            <a:r>
              <a:rPr lang="en-US" altLang="zh-CN" sz="1200" dirty="0">
                <a:solidFill>
                  <a:schemeClr val="bg1"/>
                </a:solidFill>
                <a:cs typeface="+mn-ea"/>
                <a:sym typeface="+mn-lt"/>
              </a:rPr>
              <a:t> </a:t>
            </a:r>
            <a:r>
              <a:rPr lang="en-US" altLang="zh-CN" sz="1200" b="1" dirty="0">
                <a:solidFill>
                  <a:schemeClr val="bg1"/>
                </a:solidFill>
                <a:cs typeface="+mn-ea"/>
                <a:sym typeface="+mn-lt"/>
              </a:rPr>
              <a:t>“</a:t>
            </a:r>
            <a:r>
              <a:rPr lang="zh-CN" altLang="en-US" sz="1200" b="1" dirty="0">
                <a:solidFill>
                  <a:schemeClr val="bg1"/>
                </a:solidFill>
                <a:cs typeface="+mn-ea"/>
                <a:sym typeface="+mn-lt"/>
              </a:rPr>
              <a:t>分散探索向统筹规范转型</a:t>
            </a:r>
            <a:r>
              <a:rPr lang="en-US" altLang="zh-CN" sz="1200" b="1" dirty="0">
                <a:solidFill>
                  <a:schemeClr val="bg1"/>
                </a:solidFill>
                <a:cs typeface="+mn-ea"/>
                <a:sym typeface="+mn-lt"/>
              </a:rPr>
              <a:t>” </a:t>
            </a:r>
            <a:r>
              <a:rPr lang="zh-CN" altLang="en-US" sz="1200" dirty="0">
                <a:solidFill>
                  <a:schemeClr val="bg1"/>
                </a:solidFill>
                <a:cs typeface="+mn-ea"/>
                <a:sym typeface="+mn-lt"/>
              </a:rPr>
              <a:t>的关键阶段，受起步基础薄弱影响，整体发展仍显滞后，呈现</a:t>
            </a:r>
            <a:r>
              <a:rPr lang="en-US" altLang="zh-CN" sz="1200" dirty="0">
                <a:solidFill>
                  <a:schemeClr val="bg1"/>
                </a:solidFill>
                <a:cs typeface="+mn-ea"/>
                <a:sym typeface="+mn-lt"/>
              </a:rPr>
              <a:t> “</a:t>
            </a:r>
            <a:r>
              <a:rPr lang="zh-CN" altLang="en-US" sz="1200" dirty="0">
                <a:solidFill>
                  <a:schemeClr val="bg1"/>
                </a:solidFill>
                <a:cs typeface="+mn-ea"/>
                <a:sym typeface="+mn-lt"/>
              </a:rPr>
              <a:t>个别突破、全局待优</a:t>
            </a:r>
            <a:r>
              <a:rPr lang="en-US" altLang="zh-CN" sz="1200" dirty="0">
                <a:solidFill>
                  <a:schemeClr val="bg1"/>
                </a:solidFill>
                <a:cs typeface="+mn-ea"/>
                <a:sym typeface="+mn-lt"/>
              </a:rPr>
              <a:t>” </a:t>
            </a:r>
            <a:r>
              <a:rPr lang="zh-CN" altLang="en-US" sz="1200" dirty="0">
                <a:solidFill>
                  <a:schemeClr val="bg1"/>
                </a:solidFill>
                <a:cs typeface="+mn-ea"/>
                <a:sym typeface="+mn-lt"/>
              </a:rPr>
              <a:t>的格局。当前兵团层面尚未建成覆盖全兵团国企的统一招采平台，信息化建设以个别师市国企自建平台为主，形成分散化发展态势，未能形成全域资源聚合与协同联动效应，这一现状与国企招采集约化、规范化发展需求存在差距。</a:t>
            </a:r>
            <a:endParaRPr lang="zh-CN" altLang="en-US" sz="1200" dirty="0">
              <a:solidFill>
                <a:schemeClr val="bg1"/>
              </a:solidFill>
              <a:cs typeface="+mn-ea"/>
              <a:sym typeface="+mn-lt"/>
            </a:endParaRPr>
          </a:p>
        </p:txBody>
      </p:sp>
      <p:sp>
        <p:nvSpPr>
          <p:cNvPr id="9" name="椭圆 8"/>
          <p:cNvSpPr/>
          <p:nvPr/>
        </p:nvSpPr>
        <p:spPr>
          <a:xfrm>
            <a:off x="4021869" y="2468961"/>
            <a:ext cx="677952" cy="677952"/>
          </a:xfrm>
          <a:prstGeom prst="ellipse">
            <a:avLst/>
          </a:prstGeom>
          <a:gradFill>
            <a:gsLst>
              <a:gs pos="0">
                <a:srgbClr val="0066FF">
                  <a:lumMod val="60000"/>
                  <a:lumOff val="40000"/>
                  <a:alpha val="0"/>
                </a:srgbClr>
              </a:gs>
              <a:gs pos="100000">
                <a:srgbClr val="0066FF">
                  <a:lumMod val="60000"/>
                  <a:lumOff val="40000"/>
                  <a:alpha val="31000"/>
                </a:srgbClr>
              </a:gs>
            </a:gsLst>
            <a:lin ang="2700000" scaled="1"/>
          </a:gradFill>
          <a:ln w="12700" cap="flat" cmpd="sng" algn="ctr">
            <a:noFill/>
            <a:prstDash val="solid"/>
            <a:miter lim="800000"/>
          </a:ln>
          <a:effectLst>
            <a:outerShdw blurRad="63500" sx="102000" sy="102000" algn="ctr" rotWithShape="0">
              <a:prstClr val="black">
                <a:alpha val="10000"/>
              </a:prstClr>
            </a:outerShdw>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10" name="椭圆 9"/>
          <p:cNvSpPr/>
          <p:nvPr/>
        </p:nvSpPr>
        <p:spPr>
          <a:xfrm>
            <a:off x="3912452" y="4212554"/>
            <a:ext cx="677952" cy="677952"/>
          </a:xfrm>
          <a:prstGeom prst="ellipse">
            <a:avLst/>
          </a:prstGeom>
          <a:gradFill>
            <a:gsLst>
              <a:gs pos="0">
                <a:srgbClr val="0066FF">
                  <a:lumMod val="60000"/>
                  <a:lumOff val="40000"/>
                  <a:alpha val="0"/>
                </a:srgbClr>
              </a:gs>
              <a:gs pos="100000">
                <a:srgbClr val="0066FF">
                  <a:lumMod val="60000"/>
                  <a:lumOff val="40000"/>
                  <a:alpha val="31000"/>
                </a:srgbClr>
              </a:gs>
            </a:gsLst>
            <a:lin ang="2700000" scaled="1"/>
          </a:gradFill>
          <a:ln w="12700" cap="flat" cmpd="sng" algn="ctr">
            <a:noFill/>
            <a:prstDash val="solid"/>
            <a:miter lim="800000"/>
          </a:ln>
          <a:effectLst>
            <a:outerShdw blurRad="63500" sx="102000" sy="102000" algn="ctr" rotWithShape="0">
              <a:prstClr val="black">
                <a:alpha val="10000"/>
              </a:prstClr>
            </a:outerShdw>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12" name="椭圆 11"/>
          <p:cNvSpPr/>
          <p:nvPr/>
        </p:nvSpPr>
        <p:spPr>
          <a:xfrm>
            <a:off x="7345897" y="4675010"/>
            <a:ext cx="677952" cy="677952"/>
          </a:xfrm>
          <a:prstGeom prst="ellipse">
            <a:avLst/>
          </a:prstGeom>
          <a:gradFill>
            <a:gsLst>
              <a:gs pos="0">
                <a:srgbClr val="0066FF">
                  <a:lumMod val="60000"/>
                  <a:lumOff val="40000"/>
                  <a:alpha val="0"/>
                </a:srgbClr>
              </a:gs>
              <a:gs pos="100000">
                <a:srgbClr val="0066FF">
                  <a:lumMod val="60000"/>
                  <a:lumOff val="40000"/>
                  <a:alpha val="31000"/>
                </a:srgbClr>
              </a:gs>
            </a:gsLst>
            <a:lin ang="2700000" scaled="1"/>
          </a:gradFill>
          <a:ln w="12700" cap="flat" cmpd="sng" algn="ctr">
            <a:noFill/>
            <a:prstDash val="solid"/>
            <a:miter lim="800000"/>
          </a:ln>
          <a:effectLst>
            <a:outerShdw blurRad="63500" sx="102000" sy="102000" algn="ctr" rotWithShape="0">
              <a:prstClr val="black">
                <a:alpha val="10000"/>
              </a:prstClr>
            </a:outerShdw>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14" name="椭圆 13"/>
          <p:cNvSpPr/>
          <p:nvPr/>
        </p:nvSpPr>
        <p:spPr>
          <a:xfrm>
            <a:off x="7461405" y="2468961"/>
            <a:ext cx="677952" cy="677952"/>
          </a:xfrm>
          <a:prstGeom prst="ellipse">
            <a:avLst/>
          </a:prstGeom>
          <a:gradFill>
            <a:gsLst>
              <a:gs pos="0">
                <a:srgbClr val="0066FF">
                  <a:lumMod val="60000"/>
                  <a:lumOff val="40000"/>
                  <a:alpha val="0"/>
                </a:srgbClr>
              </a:gs>
              <a:gs pos="100000">
                <a:srgbClr val="0066FF">
                  <a:lumMod val="60000"/>
                  <a:lumOff val="40000"/>
                  <a:alpha val="31000"/>
                </a:srgbClr>
              </a:gs>
            </a:gsLst>
            <a:lin ang="2700000" scaled="1"/>
          </a:gradFill>
          <a:ln w="12700" cap="flat" cmpd="sng" algn="ctr">
            <a:noFill/>
            <a:prstDash val="solid"/>
            <a:miter lim="800000"/>
          </a:ln>
          <a:effectLst>
            <a:outerShdw blurRad="63500" sx="102000" sy="102000" algn="ctr" rotWithShape="0">
              <a:prstClr val="black">
                <a:alpha val="10000"/>
              </a:prstClr>
            </a:outerShdw>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18" name="椭圆 17"/>
          <p:cNvSpPr/>
          <p:nvPr/>
        </p:nvSpPr>
        <p:spPr>
          <a:xfrm>
            <a:off x="4628300" y="2410577"/>
            <a:ext cx="2785825" cy="2785825"/>
          </a:xfrm>
          <a:prstGeom prst="ellipse">
            <a:avLst/>
          </a:prstGeom>
          <a:gradFill>
            <a:gsLst>
              <a:gs pos="0">
                <a:srgbClr val="ED7D31">
                  <a:lumMod val="60000"/>
                  <a:lumOff val="40000"/>
                  <a:alpha val="0"/>
                </a:srgbClr>
              </a:gs>
              <a:gs pos="84000">
                <a:srgbClr val="ED7D31">
                  <a:lumMod val="60000"/>
                  <a:lumOff val="40000"/>
                  <a:alpha val="0"/>
                </a:srgbClr>
              </a:gs>
            </a:gsLst>
            <a:lin ang="5400000" scaled="1"/>
          </a:gradFill>
          <a:ln w="19050" cap="flat" cmpd="sng" algn="ctr">
            <a:gradFill>
              <a:gsLst>
                <a:gs pos="0">
                  <a:srgbClr val="0066FF">
                    <a:lumMod val="60000"/>
                    <a:lumOff val="40000"/>
                  </a:srgbClr>
                </a:gs>
                <a:gs pos="84000">
                  <a:srgbClr val="0066FF">
                    <a:lumMod val="60000"/>
                    <a:lumOff val="40000"/>
                    <a:alpha val="0"/>
                  </a:srgbClr>
                </a:gs>
              </a:gsLst>
              <a:lin ang="5400000" scaled="1"/>
            </a:gradFill>
            <a:prstDash val="dash"/>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reflection endPos="58000" dir="5400000" sy="-100000" algn="bl" rotWithShape="0"/>
              </a:effectLst>
              <a:uLnTx/>
              <a:uFillTx/>
              <a:latin typeface="微软雅黑" panose="020B0503020204020204" charset="-122"/>
              <a:ea typeface="微软雅黑" panose="020B0503020204020204" charset="-122"/>
            </a:endParaRPr>
          </a:p>
        </p:txBody>
      </p:sp>
      <p:sp>
        <p:nvSpPr>
          <p:cNvPr id="19" name="椭圆 18"/>
          <p:cNvSpPr/>
          <p:nvPr/>
        </p:nvSpPr>
        <p:spPr>
          <a:xfrm>
            <a:off x="5017159" y="2799436"/>
            <a:ext cx="2008106" cy="2008106"/>
          </a:xfrm>
          <a:prstGeom prst="ellipse">
            <a:avLst/>
          </a:prstGeom>
          <a:gradFill flip="none" rotWithShape="1">
            <a:gsLst>
              <a:gs pos="0">
                <a:srgbClr val="0066FF">
                  <a:lumMod val="60000"/>
                  <a:lumOff val="40000"/>
                </a:srgbClr>
              </a:gs>
              <a:gs pos="100000">
                <a:srgbClr val="0066FF"/>
              </a:gs>
            </a:gsLst>
            <a:path path="circle">
              <a:fillToRect r="100000" b="100000"/>
            </a:path>
            <a:tileRect l="-100000" t="-100000"/>
          </a:gradFill>
          <a:ln w="12700" cap="flat" cmpd="sng" algn="ctr">
            <a:noFill/>
            <a:prstDash val="solid"/>
            <a:miter lim="800000"/>
          </a:ln>
          <a:effectLst/>
        </p:spPr>
        <p:txBody>
          <a:bodyPr spcFirstLastPara="0" vert="horz" wrap="none" lIns="522720" tIns="522720" rIns="522720" bIns="522720" numCol="1" spcCol="127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889250" rtl="0" eaLnBrk="1" fontAlgn="auto" latinLnBrk="0" hangingPunct="1">
              <a:lnSpc>
                <a:spcPct val="90000"/>
              </a:lnSpc>
              <a:spcBef>
                <a:spcPct val="0"/>
              </a:spcBef>
              <a:spcAft>
                <a:spcPct val="35000"/>
              </a:spcAft>
              <a:buClrTx/>
              <a:buSzTx/>
              <a:buFontTx/>
              <a:buNone/>
              <a:defRPr/>
            </a:pPr>
            <a:endParaRPr kumimoji="0" lang="zh-CN" altLang="en-US" sz="65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20" name="文本框 43"/>
          <p:cNvSpPr txBox="1"/>
          <p:nvPr/>
        </p:nvSpPr>
        <p:spPr>
          <a:xfrm>
            <a:off x="5362391" y="2982961"/>
            <a:ext cx="1317642" cy="400110"/>
          </a:xfrm>
          <a:prstGeom prst="rect">
            <a:avLst/>
          </a:prstGeom>
          <a:noFill/>
        </p:spPr>
        <p:txBody>
          <a:bodyPr wrap="square">
            <a:spAutoFit/>
          </a:bodyPr>
          <a:lstStyle>
            <a:defPPr>
              <a:defRPr lang="zh-CN"/>
            </a:defPPr>
            <a:lvl1pPr marL="285750" indent="-285750">
              <a:buFont typeface="Wingdings" panose="05000000000000000000" pitchFamily="2" charset="2"/>
              <a:buChar char="p"/>
              <a:defRPr sz="1400" b="1">
                <a:solidFill>
                  <a:srgbClr val="056DB4"/>
                </a:solidFill>
                <a:latin typeface="微软雅黑" panose="020B0503020204020204" charset="-122"/>
                <a:ea typeface="微软雅黑" panose="020B0503020204020204" charset="-122"/>
              </a:defRPr>
            </a:lvl1pPr>
          </a:lstStyle>
          <a:p>
            <a:pPr marL="0" lvl="0" indent="0" algn="ctr">
              <a:buNone/>
              <a:defRPr/>
            </a:pPr>
            <a:endParaRPr lang="zh-CN" altLang="en-US" sz="2000" dirty="0">
              <a:solidFill>
                <a:prstClr val="white"/>
              </a:solidFill>
              <a:cs typeface="阿里巴巴普惠体" panose="00020600040101010101" pitchFamily="18" charset="-122"/>
            </a:endParaRPr>
          </a:p>
        </p:txBody>
      </p:sp>
      <p:sp>
        <p:nvSpPr>
          <p:cNvPr id="21" name="椭圆 20"/>
          <p:cNvSpPr/>
          <p:nvPr/>
        </p:nvSpPr>
        <p:spPr>
          <a:xfrm>
            <a:off x="4081655" y="2521842"/>
            <a:ext cx="572190" cy="572190"/>
          </a:xfrm>
          <a:prstGeom prst="ellipse">
            <a:avLst/>
          </a:prstGeom>
          <a:gradFill flip="none" rotWithShape="1">
            <a:gsLst>
              <a:gs pos="0">
                <a:srgbClr val="0066FF">
                  <a:lumMod val="60000"/>
                  <a:lumOff val="40000"/>
                </a:srgbClr>
              </a:gs>
              <a:gs pos="100000">
                <a:srgbClr val="0066FF"/>
              </a:gs>
            </a:gsLst>
            <a:lin ang="2700000" scaled="1"/>
            <a:tileRect/>
          </a:gradFill>
          <a:ln w="12700" cap="flat" cmpd="sng" algn="ctr">
            <a:noFill/>
            <a:prstDash val="solid"/>
            <a:miter lim="800000"/>
          </a:ln>
          <a:effectLst/>
        </p:spPr>
        <p:txBody>
          <a:bodyPr spcFirstLastPara="0" vert="horz" wrap="none" lIns="522720" tIns="522720" rIns="522720" bIns="522720" numCol="1" spcCol="127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889250" rtl="0" eaLnBrk="1" fontAlgn="auto" latinLnBrk="0" hangingPunct="1">
              <a:lnSpc>
                <a:spcPct val="90000"/>
              </a:lnSpc>
              <a:spcBef>
                <a:spcPct val="0"/>
              </a:spcBef>
              <a:spcAft>
                <a:spcPct val="35000"/>
              </a:spcAft>
              <a:buClrTx/>
              <a:buSzTx/>
              <a:buFontTx/>
              <a:buNone/>
              <a:defRPr/>
            </a:pPr>
            <a:endParaRPr kumimoji="0" lang="zh-CN" altLang="en-US" sz="6500" b="0" i="0" u="none" strike="noStrike" kern="0" cap="none" spc="0" normalizeH="0" baseline="0" noProof="0">
              <a:ln>
                <a:noFill/>
              </a:ln>
              <a:gradFill>
                <a:gsLst>
                  <a:gs pos="0">
                    <a:srgbClr val="0066FF">
                      <a:lumMod val="60000"/>
                      <a:lumOff val="40000"/>
                    </a:srgbClr>
                  </a:gs>
                  <a:gs pos="100000">
                    <a:srgbClr val="0066FF"/>
                  </a:gs>
                </a:gsLst>
                <a:path path="circle">
                  <a:fillToRect r="100000" b="100000"/>
                </a:path>
              </a:gradFill>
              <a:effectLst/>
              <a:uLnTx/>
              <a:uFillTx/>
              <a:latin typeface="微软雅黑" panose="020B0503020204020204" charset="-122"/>
              <a:ea typeface="微软雅黑" panose="020B0503020204020204" charset="-122"/>
            </a:endParaRPr>
          </a:p>
        </p:txBody>
      </p:sp>
      <p:sp>
        <p:nvSpPr>
          <p:cNvPr id="22" name="椭圆 21"/>
          <p:cNvSpPr/>
          <p:nvPr/>
        </p:nvSpPr>
        <p:spPr>
          <a:xfrm>
            <a:off x="3972238" y="4265435"/>
            <a:ext cx="572190" cy="572190"/>
          </a:xfrm>
          <a:prstGeom prst="ellipse">
            <a:avLst/>
          </a:prstGeom>
          <a:gradFill flip="none" rotWithShape="1">
            <a:gsLst>
              <a:gs pos="0">
                <a:srgbClr val="0066FF">
                  <a:lumMod val="60000"/>
                  <a:lumOff val="40000"/>
                </a:srgbClr>
              </a:gs>
              <a:gs pos="100000">
                <a:srgbClr val="0066FF"/>
              </a:gs>
            </a:gsLst>
            <a:lin ang="2700000" scaled="1"/>
            <a:tileRect/>
          </a:gradFill>
          <a:ln w="12700" cap="flat" cmpd="sng" algn="ctr">
            <a:noFill/>
            <a:prstDash val="solid"/>
            <a:miter lim="800000"/>
          </a:ln>
          <a:effectLst/>
        </p:spPr>
        <p:txBody>
          <a:bodyPr spcFirstLastPara="0" vert="horz" wrap="none" lIns="522720" tIns="522720" rIns="522720" bIns="522720" numCol="1" spcCol="127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889250" rtl="0" eaLnBrk="1" fontAlgn="auto" latinLnBrk="0" hangingPunct="1">
              <a:lnSpc>
                <a:spcPct val="90000"/>
              </a:lnSpc>
              <a:spcBef>
                <a:spcPct val="0"/>
              </a:spcBef>
              <a:spcAft>
                <a:spcPct val="35000"/>
              </a:spcAft>
              <a:buClrTx/>
              <a:buSzTx/>
              <a:buFontTx/>
              <a:buNone/>
              <a:defRPr/>
            </a:pPr>
            <a:endParaRPr kumimoji="0" lang="zh-CN" altLang="en-US" sz="65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25" name="椭圆 24"/>
          <p:cNvSpPr/>
          <p:nvPr/>
        </p:nvSpPr>
        <p:spPr>
          <a:xfrm>
            <a:off x="7405683" y="4727891"/>
            <a:ext cx="572190" cy="572190"/>
          </a:xfrm>
          <a:prstGeom prst="ellipse">
            <a:avLst/>
          </a:prstGeom>
          <a:gradFill flip="none" rotWithShape="1">
            <a:gsLst>
              <a:gs pos="0">
                <a:srgbClr val="0066FF">
                  <a:lumMod val="60000"/>
                  <a:lumOff val="40000"/>
                </a:srgbClr>
              </a:gs>
              <a:gs pos="100000">
                <a:srgbClr val="0066FF"/>
              </a:gs>
            </a:gsLst>
            <a:lin ang="2700000" scaled="1"/>
            <a:tileRect/>
          </a:gradFill>
          <a:ln w="12700" cap="flat" cmpd="sng" algn="ctr">
            <a:noFill/>
            <a:prstDash val="solid"/>
            <a:miter lim="800000"/>
          </a:ln>
          <a:effectLst/>
        </p:spPr>
        <p:txBody>
          <a:bodyPr spcFirstLastPara="0" vert="horz" wrap="none" lIns="522720" tIns="522720" rIns="522720" bIns="522720" numCol="1" spcCol="127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889250" rtl="0" eaLnBrk="1" fontAlgn="auto" latinLnBrk="0" hangingPunct="1">
              <a:lnSpc>
                <a:spcPct val="90000"/>
              </a:lnSpc>
              <a:spcBef>
                <a:spcPct val="0"/>
              </a:spcBef>
              <a:spcAft>
                <a:spcPct val="35000"/>
              </a:spcAft>
              <a:buClrTx/>
              <a:buSzTx/>
              <a:buFontTx/>
              <a:buNone/>
              <a:defRPr/>
            </a:pPr>
            <a:endParaRPr kumimoji="0" lang="zh-CN" altLang="en-US" sz="65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26" name="椭圆 25"/>
          <p:cNvSpPr/>
          <p:nvPr/>
        </p:nvSpPr>
        <p:spPr>
          <a:xfrm>
            <a:off x="7521191" y="2521842"/>
            <a:ext cx="572190" cy="572190"/>
          </a:xfrm>
          <a:prstGeom prst="ellipse">
            <a:avLst/>
          </a:prstGeom>
          <a:gradFill flip="none" rotWithShape="1">
            <a:gsLst>
              <a:gs pos="0">
                <a:srgbClr val="0066FF">
                  <a:lumMod val="60000"/>
                  <a:lumOff val="40000"/>
                </a:srgbClr>
              </a:gs>
              <a:gs pos="100000">
                <a:srgbClr val="0066FF"/>
              </a:gs>
            </a:gsLst>
            <a:lin ang="2700000" scaled="1"/>
            <a:tileRect/>
          </a:gradFill>
          <a:ln w="12700" cap="flat" cmpd="sng" algn="ctr">
            <a:noFill/>
            <a:prstDash val="solid"/>
            <a:miter lim="800000"/>
          </a:ln>
          <a:effectLst/>
        </p:spPr>
        <p:txBody>
          <a:bodyPr spcFirstLastPara="0" vert="horz" wrap="none" lIns="522720" tIns="522720" rIns="522720" bIns="522720" numCol="1" spcCol="127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889250" rtl="0" eaLnBrk="1" fontAlgn="auto" latinLnBrk="0" hangingPunct="1">
              <a:lnSpc>
                <a:spcPct val="90000"/>
              </a:lnSpc>
              <a:spcBef>
                <a:spcPct val="0"/>
              </a:spcBef>
              <a:spcAft>
                <a:spcPct val="35000"/>
              </a:spcAft>
              <a:buClrTx/>
              <a:buSzTx/>
              <a:buFontTx/>
              <a:buNone/>
              <a:defRPr/>
            </a:pPr>
            <a:endParaRPr kumimoji="0" lang="zh-CN" altLang="en-US" sz="65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27" name="文本框 49"/>
          <p:cNvSpPr txBox="1"/>
          <p:nvPr/>
        </p:nvSpPr>
        <p:spPr>
          <a:xfrm>
            <a:off x="1416674" y="2512503"/>
            <a:ext cx="2327087" cy="402291"/>
          </a:xfrm>
          <a:prstGeom prst="rect">
            <a:avLst/>
          </a:prstGeom>
          <a:noFill/>
        </p:spPr>
        <p:txBody>
          <a:bodyPr wrap="square" lIns="90000" tIns="46800" rIns="90000" bIns="46800" rtlCol="0">
            <a:spAutoFit/>
          </a:bodyPr>
          <a:lstStyle>
            <a:defPPr>
              <a:defRPr lang="zh-CN"/>
            </a:defPPr>
            <a:lvl1pPr marR="0" lvl="0" indent="0" algn="ctr" fontAlgn="auto">
              <a:lnSpc>
                <a:spcPct val="100000"/>
              </a:lnSpc>
              <a:spcBef>
                <a:spcPts val="0"/>
              </a:spcBef>
              <a:spcAft>
                <a:spcPts val="0"/>
              </a:spcAft>
              <a:buClrTx/>
              <a:buSzTx/>
              <a:buFontTx/>
              <a:buNone/>
              <a:defRPr kumimoji="0" sz="2800" i="0" u="none" strike="noStrike" cap="none" spc="0" normalizeH="0" baseline="0">
                <a:ln>
                  <a:noFill/>
                </a:ln>
                <a:gradFill flip="none" rotWithShape="1">
                  <a:gsLst>
                    <a:gs pos="98000">
                      <a:schemeClr val="accent1"/>
                    </a:gs>
                    <a:gs pos="0">
                      <a:schemeClr val="accent1">
                        <a:lumMod val="60000"/>
                        <a:lumOff val="40000"/>
                      </a:schemeClr>
                    </a:gs>
                  </a:gsLst>
                  <a:lin ang="2700000" scaled="1"/>
                  <a:tileRect/>
                </a:gradFill>
                <a:effectLst/>
                <a:uLnTx/>
                <a:uFillTx/>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defRPr>
            </a:lvl1pPr>
          </a:lstStyle>
          <a:p>
            <a:pPr lvl="0" algn="r">
              <a:defRPr/>
            </a:pPr>
            <a:r>
              <a:rPr lang="zh-CN" altLang="en-US" sz="2000" b="1" dirty="0">
                <a:gradFill flip="none" rotWithShape="1">
                  <a:gsLst>
                    <a:gs pos="98000">
                      <a:srgbClr val="004299"/>
                    </a:gs>
                    <a:gs pos="0">
                      <a:srgbClr val="004299">
                        <a:lumMod val="60000"/>
                        <a:lumOff val="40000"/>
                      </a:srgbClr>
                    </a:gs>
                  </a:gsLst>
                  <a:lin ang="2700000" scaled="1"/>
                  <a:tileRect/>
                </a:gradFill>
                <a:latin typeface="微软雅黑" panose="020B0503020204020204" charset="-122"/>
                <a:ea typeface="微软雅黑" panose="020B0503020204020204" charset="-122"/>
                <a:cs typeface="阿里巴巴普惠体" panose="00020600040101010101" pitchFamily="18" charset="-122"/>
              </a:rPr>
              <a:t>标准</a:t>
            </a:r>
            <a:endParaRPr lang="zh-CN" altLang="en-US" sz="2000" b="1" dirty="0">
              <a:gradFill flip="none" rotWithShape="1">
                <a:gsLst>
                  <a:gs pos="98000">
                    <a:srgbClr val="004299"/>
                  </a:gs>
                  <a:gs pos="0">
                    <a:srgbClr val="004299">
                      <a:lumMod val="60000"/>
                      <a:lumOff val="40000"/>
                    </a:srgbClr>
                  </a:gs>
                </a:gsLst>
                <a:lin ang="2700000" scaled="1"/>
                <a:tileRect/>
              </a:gradFill>
              <a:latin typeface="微软雅黑" panose="020B0503020204020204" charset="-122"/>
              <a:ea typeface="微软雅黑" panose="020B0503020204020204" charset="-122"/>
              <a:cs typeface="阿里巴巴普惠体" panose="00020600040101010101" pitchFamily="18" charset="-122"/>
            </a:endParaRPr>
          </a:p>
        </p:txBody>
      </p:sp>
      <p:sp>
        <p:nvSpPr>
          <p:cNvPr id="28" name="文本框 50"/>
          <p:cNvSpPr txBox="1"/>
          <p:nvPr/>
        </p:nvSpPr>
        <p:spPr>
          <a:xfrm>
            <a:off x="359031" y="2885749"/>
            <a:ext cx="3384729" cy="829945"/>
          </a:xfrm>
          <a:prstGeom prst="rect">
            <a:avLst/>
          </a:prstGeom>
        </p:spPr>
        <p:txBody>
          <a:bodyPr wrap="square">
            <a:spAutoFit/>
          </a:bodyPr>
          <a:lstStyle>
            <a:defPPr>
              <a:defRPr lang="zh-CN"/>
            </a:defPPr>
            <a:lvl1pPr marR="0" lvl="0" indent="0" fontAlgn="auto">
              <a:lnSpc>
                <a:spcPct val="120000"/>
              </a:lnSpc>
              <a:spcBef>
                <a:spcPts val="0"/>
              </a:spcBef>
              <a:spcAft>
                <a:spcPts val="0"/>
              </a:spcAft>
              <a:buClr>
                <a:srgbClr val="183882"/>
              </a:buClr>
              <a:buSzTx/>
              <a:buFontTx/>
              <a:buNone/>
              <a:defRPr kumimoji="0" b="0" i="0" u="none" strike="noStrike" cap="none" spc="0" normalizeH="0" baseline="0">
                <a:ln>
                  <a:noFill/>
                </a:ln>
                <a:solidFill>
                  <a:srgbClr val="E7E6E6">
                    <a:lumMod val="10000"/>
                  </a:srgbClr>
                </a:solidFill>
                <a:effectLst/>
                <a:uLnTx/>
                <a:uFillTx/>
                <a:latin typeface="思源黑体 CN Light" panose="020B0300000000000000" pitchFamily="34" charset="-122"/>
                <a:ea typeface="思源黑体 CN Light" panose="020B0300000000000000" pitchFamily="34" charset="-122"/>
              </a:defRPr>
            </a:lvl1pPr>
          </a:lstStyle>
          <a:p>
            <a:pPr lvl="0" algn="just">
              <a:defRPr/>
            </a:pPr>
            <a:r>
              <a:rPr lang="en-US" altLang="zh-CN" sz="1000" dirty="0">
                <a:latin typeface="微软雅黑" panose="020B0503020204020204" charset="-122"/>
                <a:ea typeface="微软雅黑" panose="020B0503020204020204" charset="-122"/>
              </a:rPr>
              <a:t>1</a:t>
            </a:r>
            <a:r>
              <a:rPr lang="zh-CN" altLang="en-US" sz="1000" dirty="0">
                <a:latin typeface="微软雅黑" panose="020B0503020204020204" charset="-122"/>
                <a:ea typeface="微软雅黑" panose="020B0503020204020204" charset="-122"/>
              </a:rPr>
              <a:t>、</a:t>
            </a:r>
            <a:r>
              <a:rPr lang="zh-CN" altLang="en-US" sz="1000" b="1" dirty="0">
                <a:solidFill>
                  <a:srgbClr val="3271CD"/>
                </a:solidFill>
                <a:latin typeface="微软雅黑" panose="020B0503020204020204" charset="-122"/>
                <a:ea typeface="微软雅黑" panose="020B0503020204020204" charset="-122"/>
              </a:rPr>
              <a:t>采购规范性问题：</a:t>
            </a:r>
            <a:r>
              <a:rPr lang="zh-CN" altLang="en-US" sz="1000" dirty="0">
                <a:latin typeface="微软雅黑" panose="020B0503020204020204" charset="-122"/>
                <a:ea typeface="微软雅黑" panose="020B0503020204020204" charset="-122"/>
              </a:rPr>
              <a:t>未考虑行业标准规范、系统监测技术规范等；尚未制定</a:t>
            </a:r>
            <a:r>
              <a:rPr lang="zh-CN" altLang="en-US" sz="1000" dirty="0">
                <a:latin typeface="微软雅黑" panose="020B0503020204020204" charset="-122"/>
                <a:ea typeface="微软雅黑" panose="020B0503020204020204" charset="-122"/>
              </a:rPr>
              <a:t>兵团统一招采制度及相关管理办法</a:t>
            </a:r>
            <a:endParaRPr lang="en-US" altLang="zh-CN" sz="1000" dirty="0">
              <a:latin typeface="微软雅黑" panose="020B0503020204020204" charset="-122"/>
              <a:ea typeface="微软雅黑" panose="020B0503020204020204" charset="-122"/>
            </a:endParaRPr>
          </a:p>
          <a:p>
            <a:pPr lvl="0" algn="just">
              <a:defRPr/>
            </a:pPr>
            <a:r>
              <a:rPr lang="en-US" altLang="zh-CN" sz="1000" dirty="0">
                <a:latin typeface="微软雅黑" panose="020B0503020204020204" charset="-122"/>
                <a:ea typeface="微软雅黑" panose="020B0503020204020204" charset="-122"/>
              </a:rPr>
              <a:t>2</a:t>
            </a:r>
            <a:r>
              <a:rPr lang="zh-CN" altLang="en-US" sz="1000" dirty="0">
                <a:latin typeface="微软雅黑" panose="020B0503020204020204" charset="-122"/>
                <a:ea typeface="微软雅黑" panose="020B0503020204020204" charset="-122"/>
              </a:rPr>
              <a:t>、</a:t>
            </a:r>
            <a:r>
              <a:rPr lang="zh-CN" altLang="en-US" sz="1000" b="1" dirty="0">
                <a:solidFill>
                  <a:srgbClr val="3271CD"/>
                </a:solidFill>
                <a:latin typeface="微软雅黑" panose="020B0503020204020204" charset="-122"/>
                <a:ea typeface="微软雅黑" panose="020B0503020204020204" charset="-122"/>
              </a:rPr>
              <a:t>标准化协同程度不足：</a:t>
            </a:r>
            <a:r>
              <a:rPr lang="zh-CN" altLang="en-US" sz="1000" dirty="0">
                <a:latin typeface="微软雅黑" panose="020B0503020204020204" charset="-122"/>
                <a:ea typeface="微软雅黑" panose="020B0503020204020204" charset="-122"/>
              </a:rPr>
              <a:t>缺少统一的协同规范，形成大量数据孤岛，无法进行有效数据的沉淀与应用</a:t>
            </a:r>
            <a:endParaRPr lang="zh-CN" altLang="en-US" sz="1000" dirty="0">
              <a:latin typeface="微软雅黑" panose="020B0503020204020204" charset="-122"/>
              <a:ea typeface="微软雅黑" panose="020B0503020204020204" charset="-122"/>
            </a:endParaRPr>
          </a:p>
        </p:txBody>
      </p:sp>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175318" y="2624801"/>
            <a:ext cx="380541" cy="380541"/>
          </a:xfrm>
          <a:prstGeom prst="rect">
            <a:avLst/>
          </a:prstGeom>
        </p:spPr>
      </p:pic>
      <p:sp>
        <p:nvSpPr>
          <p:cNvPr id="30" name="文本框 52"/>
          <p:cNvSpPr txBox="1"/>
          <p:nvPr/>
        </p:nvSpPr>
        <p:spPr>
          <a:xfrm>
            <a:off x="791988" y="4257274"/>
            <a:ext cx="2951772" cy="402291"/>
          </a:xfrm>
          <a:prstGeom prst="rect">
            <a:avLst/>
          </a:prstGeom>
          <a:noFill/>
        </p:spPr>
        <p:txBody>
          <a:bodyPr wrap="square" lIns="90000" tIns="46800" rIns="90000" bIns="46800" rtlCol="0">
            <a:spAutoFit/>
          </a:bodyPr>
          <a:lstStyle>
            <a:defPPr>
              <a:defRPr lang="zh-CN"/>
            </a:defPPr>
            <a:lvl1pPr marR="0" lvl="0" indent="0" algn="ctr" fontAlgn="auto">
              <a:lnSpc>
                <a:spcPct val="100000"/>
              </a:lnSpc>
              <a:spcBef>
                <a:spcPts val="0"/>
              </a:spcBef>
              <a:spcAft>
                <a:spcPts val="0"/>
              </a:spcAft>
              <a:buClrTx/>
              <a:buSzTx/>
              <a:buFontTx/>
              <a:buNone/>
              <a:defRPr kumimoji="0" sz="2800" i="0" u="none" strike="noStrike" cap="none" spc="0" normalizeH="0" baseline="0">
                <a:ln>
                  <a:noFill/>
                </a:ln>
                <a:gradFill flip="none" rotWithShape="1">
                  <a:gsLst>
                    <a:gs pos="98000">
                      <a:schemeClr val="accent1"/>
                    </a:gs>
                    <a:gs pos="0">
                      <a:schemeClr val="accent1">
                        <a:lumMod val="60000"/>
                        <a:lumOff val="40000"/>
                      </a:schemeClr>
                    </a:gs>
                  </a:gsLst>
                  <a:lin ang="2700000" scaled="1"/>
                  <a:tileRect/>
                </a:gradFill>
                <a:effectLst/>
                <a:uLnTx/>
                <a:uFillTx/>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defRPr>
            </a:lvl1pPr>
          </a:lstStyle>
          <a:p>
            <a:pPr algn="r">
              <a:defRPr/>
            </a:pPr>
            <a:r>
              <a:rPr lang="zh-CN" altLang="en-US" sz="2000" b="1" dirty="0">
                <a:gradFill flip="none" rotWithShape="1">
                  <a:gsLst>
                    <a:gs pos="98000">
                      <a:srgbClr val="004299"/>
                    </a:gs>
                    <a:gs pos="0">
                      <a:srgbClr val="004299">
                        <a:lumMod val="60000"/>
                        <a:lumOff val="40000"/>
                      </a:srgbClr>
                    </a:gs>
                  </a:gsLst>
                  <a:lin ang="2700000" scaled="1"/>
                  <a:tileRect/>
                </a:gradFill>
                <a:latin typeface="微软雅黑" panose="020B0503020204020204" charset="-122"/>
                <a:ea typeface="微软雅黑" panose="020B0503020204020204" charset="-122"/>
                <a:cs typeface="阿里巴巴普惠体" panose="00020600040101010101" pitchFamily="18" charset="-122"/>
              </a:rPr>
              <a:t>业务</a:t>
            </a:r>
            <a:endParaRPr lang="zh-CN" altLang="en-US" sz="2000" b="1" dirty="0">
              <a:gradFill flip="none" rotWithShape="1">
                <a:gsLst>
                  <a:gs pos="98000">
                    <a:srgbClr val="004299"/>
                  </a:gs>
                  <a:gs pos="0">
                    <a:srgbClr val="004299">
                      <a:lumMod val="60000"/>
                      <a:lumOff val="40000"/>
                    </a:srgbClr>
                  </a:gs>
                </a:gsLst>
                <a:lin ang="2700000" scaled="1"/>
                <a:tileRect/>
              </a:gradFill>
              <a:latin typeface="微软雅黑" panose="020B0503020204020204" charset="-122"/>
              <a:ea typeface="微软雅黑" panose="020B0503020204020204" charset="-122"/>
              <a:cs typeface="阿里巴巴普惠体" panose="00020600040101010101" pitchFamily="18" charset="-122"/>
            </a:endParaRPr>
          </a:p>
        </p:txBody>
      </p:sp>
      <p:sp>
        <p:nvSpPr>
          <p:cNvPr id="31" name="文本框 53"/>
          <p:cNvSpPr txBox="1"/>
          <p:nvPr/>
        </p:nvSpPr>
        <p:spPr>
          <a:xfrm>
            <a:off x="466992" y="4630520"/>
            <a:ext cx="3276768" cy="1383665"/>
          </a:xfrm>
          <a:prstGeom prst="rect">
            <a:avLst/>
          </a:prstGeom>
        </p:spPr>
        <p:txBody>
          <a:bodyPr wrap="square">
            <a:spAutoFit/>
          </a:bodyPr>
          <a:lstStyle>
            <a:defPPr>
              <a:defRPr lang="zh-CN"/>
            </a:defPPr>
            <a:lvl1pPr marR="0" lvl="0" indent="0" fontAlgn="auto">
              <a:lnSpc>
                <a:spcPct val="120000"/>
              </a:lnSpc>
              <a:spcBef>
                <a:spcPts val="0"/>
              </a:spcBef>
              <a:spcAft>
                <a:spcPts val="0"/>
              </a:spcAft>
              <a:buClr>
                <a:srgbClr val="183882"/>
              </a:buClr>
              <a:buSzTx/>
              <a:buFontTx/>
              <a:buNone/>
              <a:defRPr kumimoji="0" b="0" i="0" u="none" strike="noStrike" cap="none" spc="0" normalizeH="0" baseline="0">
                <a:ln>
                  <a:noFill/>
                </a:ln>
                <a:solidFill>
                  <a:srgbClr val="E7E6E6">
                    <a:lumMod val="10000"/>
                  </a:srgbClr>
                </a:solidFill>
                <a:effectLst/>
                <a:uLnTx/>
                <a:uFillTx/>
                <a:latin typeface="思源黑体 CN Light" panose="020B0300000000000000" pitchFamily="34" charset="-122"/>
                <a:ea typeface="思源黑体 CN Light" panose="020B0300000000000000" pitchFamily="34" charset="-122"/>
              </a:defRPr>
            </a:lvl1pPr>
          </a:lstStyle>
          <a:p>
            <a:pPr algn="just">
              <a:defRPr/>
            </a:pPr>
            <a:r>
              <a:rPr lang="en-US" altLang="zh-CN" sz="1000" dirty="0">
                <a:latin typeface="微软雅黑" panose="020B0503020204020204" charset="-122"/>
                <a:ea typeface="微软雅黑" panose="020B0503020204020204" charset="-122"/>
              </a:rPr>
              <a:t>1</a:t>
            </a:r>
            <a:r>
              <a:rPr lang="zh-CN" altLang="en-US" sz="1000" dirty="0">
                <a:latin typeface="微软雅黑" panose="020B0503020204020204" charset="-122"/>
                <a:ea typeface="微软雅黑" panose="020B0503020204020204" charset="-122"/>
              </a:rPr>
              <a:t>、</a:t>
            </a:r>
            <a:r>
              <a:rPr lang="zh-CN" altLang="en-US" sz="1000" b="1" dirty="0">
                <a:solidFill>
                  <a:srgbClr val="3271CD"/>
                </a:solidFill>
                <a:latin typeface="微软雅黑" panose="020B0503020204020204" charset="-122"/>
                <a:ea typeface="微软雅黑" panose="020B0503020204020204" charset="-122"/>
              </a:rPr>
              <a:t>集中采购程度低：</a:t>
            </a:r>
            <a:r>
              <a:rPr lang="zh-CN" altLang="en-US" sz="1000" dirty="0">
                <a:latin typeface="微软雅黑" panose="020B0503020204020204" charset="-122"/>
                <a:ea typeface="微软雅黑" panose="020B0503020204020204" charset="-122"/>
              </a:rPr>
              <a:t>国有企业</a:t>
            </a:r>
            <a:r>
              <a:rPr lang="zh-CN" altLang="en-US" sz="1000" dirty="0">
                <a:latin typeface="微软雅黑" panose="020B0503020204020204" charset="-122"/>
                <a:ea typeface="微软雅黑" panose="020B0503020204020204" charset="-122"/>
              </a:rPr>
              <a:t>下属二级、三级单位较多，各层级单位需求分散，难以形成统一的采购策略和流程</a:t>
            </a:r>
            <a:endParaRPr lang="en-US" altLang="zh-CN" sz="1000" dirty="0">
              <a:latin typeface="微软雅黑" panose="020B0503020204020204" charset="-122"/>
              <a:ea typeface="微软雅黑" panose="020B0503020204020204" charset="-122"/>
            </a:endParaRPr>
          </a:p>
          <a:p>
            <a:pPr algn="just">
              <a:defRPr/>
            </a:pPr>
            <a:r>
              <a:rPr lang="en-US" altLang="zh-CN" sz="1000" dirty="0">
                <a:latin typeface="微软雅黑" panose="020B0503020204020204" charset="-122"/>
                <a:ea typeface="微软雅黑" panose="020B0503020204020204" charset="-122"/>
              </a:rPr>
              <a:t>2</a:t>
            </a:r>
            <a:r>
              <a:rPr lang="zh-CN" altLang="en-US" sz="1000" dirty="0">
                <a:latin typeface="微软雅黑" panose="020B0503020204020204" charset="-122"/>
                <a:ea typeface="微软雅黑" panose="020B0503020204020204" charset="-122"/>
              </a:rPr>
              <a:t>、</a:t>
            </a:r>
            <a:r>
              <a:rPr lang="zh-CN" altLang="en-US" sz="1000" b="1" dirty="0">
                <a:solidFill>
                  <a:srgbClr val="3271CD"/>
                </a:solidFill>
                <a:latin typeface="微软雅黑" panose="020B0503020204020204" charset="-122"/>
                <a:ea typeface="微软雅黑" panose="020B0503020204020204" charset="-122"/>
              </a:rPr>
              <a:t>平台线上化程度不足</a:t>
            </a:r>
            <a:r>
              <a:rPr lang="zh-CN" altLang="en-US" sz="1000" dirty="0">
                <a:latin typeface="微软雅黑" panose="020B0503020204020204" charset="-122"/>
                <a:ea typeface="微软雅黑" panose="020B0503020204020204" charset="-122"/>
              </a:rPr>
              <a:t>：尚未形成统一的招标采购平台，暂</a:t>
            </a:r>
            <a:r>
              <a:rPr lang="zh-CN" altLang="en-US" sz="1000" dirty="0">
                <a:latin typeface="微软雅黑" panose="020B0503020204020204" charset="-122"/>
                <a:ea typeface="微软雅黑" panose="020B0503020204020204" charset="-122"/>
              </a:rPr>
              <a:t>未实现从采购需求至合同签订全流程电子化</a:t>
            </a:r>
            <a:endParaRPr lang="en-US" altLang="zh-CN" sz="1000" dirty="0">
              <a:latin typeface="微软雅黑" panose="020B0503020204020204" charset="-122"/>
              <a:ea typeface="微软雅黑" panose="020B0503020204020204" charset="-122"/>
            </a:endParaRPr>
          </a:p>
          <a:p>
            <a:pPr algn="just">
              <a:defRPr/>
            </a:pPr>
            <a:r>
              <a:rPr lang="en-US" altLang="zh-CN" sz="1000" dirty="0">
                <a:latin typeface="微软雅黑" panose="020B0503020204020204" charset="-122"/>
                <a:ea typeface="微软雅黑" panose="020B0503020204020204" charset="-122"/>
              </a:rPr>
              <a:t>3</a:t>
            </a:r>
            <a:r>
              <a:rPr lang="zh-CN" altLang="en-US" sz="1000" dirty="0">
                <a:latin typeface="微软雅黑" panose="020B0503020204020204" charset="-122"/>
                <a:ea typeface="微软雅黑" panose="020B0503020204020204" charset="-122"/>
              </a:rPr>
              <a:t>、</a:t>
            </a:r>
            <a:r>
              <a:rPr lang="zh-CN" altLang="en-US" sz="1000" b="1" dirty="0">
                <a:solidFill>
                  <a:srgbClr val="3271CD"/>
                </a:solidFill>
                <a:latin typeface="微软雅黑" panose="020B0503020204020204" charset="-122"/>
                <a:ea typeface="微软雅黑" panose="020B0503020204020204" charset="-122"/>
              </a:rPr>
              <a:t>供应商管理能力薄弱：</a:t>
            </a:r>
            <a:r>
              <a:rPr lang="zh-CN" altLang="en-US" sz="1000" dirty="0">
                <a:latin typeface="微软雅黑" panose="020B0503020204020204" charset="-122"/>
                <a:ea typeface="微软雅黑" panose="020B0503020204020204" charset="-122"/>
              </a:rPr>
              <a:t>尚且停留在传统的粗放式管理阶段</a:t>
            </a:r>
            <a:endParaRPr lang="zh-CN" altLang="en-US" sz="1000" dirty="0">
              <a:latin typeface="微软雅黑" panose="020B0503020204020204" charset="-122"/>
              <a:ea typeface="微软雅黑" panose="020B0503020204020204" charset="-122"/>
            </a:endParaRPr>
          </a:p>
        </p:txBody>
      </p:sp>
      <p:sp>
        <p:nvSpPr>
          <p:cNvPr id="39" name="文本框 55"/>
          <p:cNvSpPr txBox="1"/>
          <p:nvPr/>
        </p:nvSpPr>
        <p:spPr>
          <a:xfrm>
            <a:off x="7613371" y="3201472"/>
            <a:ext cx="4530227" cy="829945"/>
          </a:xfrm>
          <a:prstGeom prst="rect">
            <a:avLst/>
          </a:prstGeom>
        </p:spPr>
        <p:txBody>
          <a:bodyPr wrap="square">
            <a:spAutoFit/>
          </a:bodyPr>
          <a:lstStyle>
            <a:defPPr>
              <a:defRPr lang="zh-CN"/>
            </a:defPPr>
            <a:lvl1pPr marR="0" lvl="0" indent="0" fontAlgn="auto">
              <a:lnSpc>
                <a:spcPct val="120000"/>
              </a:lnSpc>
              <a:spcBef>
                <a:spcPts val="0"/>
              </a:spcBef>
              <a:spcAft>
                <a:spcPts val="0"/>
              </a:spcAft>
              <a:buClr>
                <a:srgbClr val="183882"/>
              </a:buClr>
              <a:buSzTx/>
              <a:buFontTx/>
              <a:buNone/>
              <a:defRPr kumimoji="0" b="0" i="0" u="none" strike="noStrike" cap="none" spc="0" normalizeH="0" baseline="0">
                <a:ln>
                  <a:noFill/>
                </a:ln>
                <a:solidFill>
                  <a:srgbClr val="E7E6E6">
                    <a:lumMod val="10000"/>
                  </a:srgbClr>
                </a:solidFill>
                <a:effectLst/>
                <a:uLnTx/>
                <a:uFillTx/>
                <a:latin typeface="思源黑体 CN Light" panose="020B0300000000000000" pitchFamily="34" charset="-122"/>
                <a:ea typeface="思源黑体 CN Light" panose="020B0300000000000000" pitchFamily="34" charset="-122"/>
              </a:defRPr>
            </a:lvl1pPr>
          </a:lstStyle>
          <a:p>
            <a:pPr algn="just">
              <a:defRPr/>
            </a:pPr>
            <a:r>
              <a:rPr lang="en-US" altLang="zh-CN" sz="1000" dirty="0">
                <a:latin typeface="微软雅黑" panose="020B0503020204020204" charset="-122"/>
                <a:ea typeface="微软雅黑" panose="020B0503020204020204" charset="-122"/>
              </a:rPr>
              <a:t>1</a:t>
            </a:r>
            <a:r>
              <a:rPr lang="zh-CN" altLang="en-US" sz="1000" dirty="0">
                <a:latin typeface="微软雅黑" panose="020B0503020204020204" charset="-122"/>
                <a:ea typeface="微软雅黑" panose="020B0503020204020204" charset="-122"/>
              </a:rPr>
              <a:t>、</a:t>
            </a:r>
            <a:r>
              <a:rPr lang="zh-CN" altLang="en-US" sz="1000" b="1" dirty="0">
                <a:solidFill>
                  <a:srgbClr val="3271CD"/>
                </a:solidFill>
                <a:latin typeface="微软雅黑" panose="020B0503020204020204" charset="-122"/>
                <a:ea typeface="微软雅黑" panose="020B0503020204020204" charset="-122"/>
              </a:rPr>
              <a:t>采购管理的意识形态亟需转变</a:t>
            </a:r>
            <a:r>
              <a:rPr lang="zh-CN" altLang="en-US" sz="1000" dirty="0">
                <a:latin typeface="微软雅黑" panose="020B0503020204020204" charset="-122"/>
                <a:ea typeface="微软雅黑" panose="020B0503020204020204" charset="-122"/>
              </a:rPr>
              <a:t>：国有企业采购要逐步实现从</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线下人工</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到</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线上智能</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的质变。</a:t>
            </a:r>
            <a:endParaRPr lang="zh-CN" altLang="en-US" sz="1000" dirty="0">
              <a:latin typeface="微软雅黑" panose="020B0503020204020204" charset="-122"/>
              <a:ea typeface="微软雅黑" panose="020B0503020204020204" charset="-122"/>
            </a:endParaRPr>
          </a:p>
          <a:p>
            <a:pPr algn="just">
              <a:defRPr/>
            </a:pPr>
            <a:r>
              <a:rPr lang="en-US" altLang="zh-CN" sz="1000" dirty="0">
                <a:latin typeface="微软雅黑" panose="020B0503020204020204" charset="-122"/>
                <a:ea typeface="微软雅黑" panose="020B0503020204020204" charset="-122"/>
              </a:rPr>
              <a:t>2</a:t>
            </a:r>
            <a:r>
              <a:rPr lang="zh-CN" altLang="en-US" sz="1000" dirty="0">
                <a:latin typeface="微软雅黑" panose="020B0503020204020204" charset="-122"/>
                <a:ea typeface="微软雅黑" panose="020B0503020204020204" charset="-122"/>
              </a:rPr>
              <a:t>、</a:t>
            </a:r>
            <a:r>
              <a:rPr lang="zh-CN" altLang="en-US" sz="1000" b="1" dirty="0">
                <a:solidFill>
                  <a:srgbClr val="3271CD"/>
                </a:solidFill>
                <a:latin typeface="微软雅黑" panose="020B0503020204020204" charset="-122"/>
                <a:ea typeface="微软雅黑" panose="020B0503020204020204" charset="-122"/>
              </a:rPr>
              <a:t>成本中心向利润中心的发展转变</a:t>
            </a:r>
            <a:r>
              <a:rPr lang="zh-CN" altLang="en-US"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国有企业企业招采过程在降本增效的同时应考虑实现营收</a:t>
            </a:r>
            <a:endParaRPr lang="en-US" altLang="zh-CN" sz="1000" dirty="0">
              <a:latin typeface="微软雅黑" panose="020B0503020204020204" charset="-122"/>
              <a:ea typeface="微软雅黑" panose="020B0503020204020204" charset="-122"/>
            </a:endParaRPr>
          </a:p>
        </p:txBody>
      </p:sp>
      <p:sp>
        <p:nvSpPr>
          <p:cNvPr id="40" name="文本框 56"/>
          <p:cNvSpPr txBox="1"/>
          <p:nvPr/>
        </p:nvSpPr>
        <p:spPr>
          <a:xfrm>
            <a:off x="8210017" y="4666849"/>
            <a:ext cx="2305434" cy="402291"/>
          </a:xfrm>
          <a:prstGeom prst="rect">
            <a:avLst/>
          </a:prstGeom>
          <a:noFill/>
        </p:spPr>
        <p:txBody>
          <a:bodyPr wrap="square" lIns="90000" tIns="46800" rIns="90000" bIns="46800" rtlCol="0">
            <a:spAutoFit/>
          </a:bodyPr>
          <a:lstStyle>
            <a:defPPr>
              <a:defRPr lang="zh-CN"/>
            </a:defPPr>
            <a:lvl1pPr marR="0" lvl="0" indent="0" algn="r" fontAlgn="auto">
              <a:lnSpc>
                <a:spcPct val="100000"/>
              </a:lnSpc>
              <a:spcBef>
                <a:spcPts val="0"/>
              </a:spcBef>
              <a:spcAft>
                <a:spcPts val="0"/>
              </a:spcAft>
              <a:buClrTx/>
              <a:buSzTx/>
              <a:buFontTx/>
              <a:buNone/>
              <a:defRPr kumimoji="0" sz="2400" b="0" i="0" u="none" strike="noStrike" cap="none" spc="0" normalizeH="0" baseline="0">
                <a:ln>
                  <a:noFill/>
                </a:ln>
                <a:gradFill flip="none" rotWithShape="1">
                  <a:gsLst>
                    <a:gs pos="98000">
                      <a:srgbClr val="004299"/>
                    </a:gs>
                    <a:gs pos="0">
                      <a:srgbClr val="004299">
                        <a:lumMod val="60000"/>
                        <a:lumOff val="40000"/>
                      </a:srgbClr>
                    </a:gs>
                  </a:gsLst>
                  <a:lin ang="2700000" scaled="1"/>
                  <a:tileRect/>
                </a:gradFill>
                <a:effectLst/>
                <a:uLnTx/>
                <a:uFillTx/>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defRPr>
            </a:lvl1pPr>
          </a:lstStyle>
          <a:p>
            <a:pPr algn="l">
              <a:defRPr/>
            </a:pPr>
            <a:r>
              <a:rPr lang="zh-CN" altLang="en-US" sz="2000" b="1" dirty="0">
                <a:latin typeface="微软雅黑" panose="020B0503020204020204" charset="-122"/>
                <a:ea typeface="微软雅黑" panose="020B0503020204020204" charset="-122"/>
                <a:cs typeface="阿里巴巴普惠体" panose="00020600040101010101" pitchFamily="18" charset="-122"/>
              </a:rPr>
              <a:t>监管</a:t>
            </a:r>
            <a:endParaRPr lang="zh-CN" altLang="en-US" sz="2000" b="1" dirty="0">
              <a:latin typeface="微软雅黑" panose="020B0503020204020204" charset="-122"/>
              <a:ea typeface="微软雅黑" panose="020B0503020204020204" charset="-122"/>
              <a:cs typeface="阿里巴巴普惠体" panose="00020600040101010101" pitchFamily="18" charset="-122"/>
            </a:endParaRPr>
          </a:p>
        </p:txBody>
      </p:sp>
      <p:sp>
        <p:nvSpPr>
          <p:cNvPr id="53" name="文本框 57"/>
          <p:cNvSpPr txBox="1"/>
          <p:nvPr/>
        </p:nvSpPr>
        <p:spPr>
          <a:xfrm>
            <a:off x="8237462" y="5040095"/>
            <a:ext cx="3239987" cy="815351"/>
          </a:xfrm>
          <a:prstGeom prst="rect">
            <a:avLst/>
          </a:prstGeom>
        </p:spPr>
        <p:txBody>
          <a:bodyPr wrap="square">
            <a:spAutoFit/>
          </a:bodyPr>
          <a:lstStyle>
            <a:defPPr>
              <a:defRPr lang="zh-CN"/>
            </a:defPPr>
            <a:lvl1pPr marR="0" lvl="0" indent="0" fontAlgn="auto">
              <a:lnSpc>
                <a:spcPct val="120000"/>
              </a:lnSpc>
              <a:spcBef>
                <a:spcPts val="0"/>
              </a:spcBef>
              <a:spcAft>
                <a:spcPts val="0"/>
              </a:spcAft>
              <a:buClr>
                <a:srgbClr val="183882"/>
              </a:buClr>
              <a:buSzTx/>
              <a:buFontTx/>
              <a:buNone/>
              <a:defRPr kumimoji="0" b="0" i="0" u="none" strike="noStrike" cap="none" spc="0" normalizeH="0" baseline="0">
                <a:ln>
                  <a:noFill/>
                </a:ln>
                <a:solidFill>
                  <a:srgbClr val="E7E6E6">
                    <a:lumMod val="10000"/>
                  </a:srgbClr>
                </a:solidFill>
                <a:effectLst/>
                <a:uLnTx/>
                <a:uFillTx/>
                <a:latin typeface="思源黑体 CN Light" panose="020B0300000000000000" pitchFamily="34" charset="-122"/>
                <a:ea typeface="思源黑体 CN Light" panose="020B0300000000000000" pitchFamily="34" charset="-122"/>
              </a:defRPr>
            </a:lvl1pPr>
          </a:lstStyle>
          <a:p>
            <a:pPr algn="just">
              <a:defRPr/>
            </a:pPr>
            <a:r>
              <a:rPr lang="en-US" altLang="zh-CN" sz="1000" dirty="0">
                <a:latin typeface="微软雅黑" panose="020B0503020204020204" charset="-122"/>
                <a:ea typeface="微软雅黑" panose="020B0503020204020204" charset="-122"/>
              </a:rPr>
              <a:t>1</a:t>
            </a:r>
            <a:r>
              <a:rPr lang="zh-CN" altLang="en-US" sz="1000" dirty="0">
                <a:latin typeface="微软雅黑" panose="020B0503020204020204" charset="-122"/>
                <a:ea typeface="微软雅黑" panose="020B0503020204020204" charset="-122"/>
              </a:rPr>
              <a:t>、</a:t>
            </a:r>
            <a:r>
              <a:rPr lang="zh-CN" altLang="en-US" sz="1000" b="1" dirty="0">
                <a:solidFill>
                  <a:srgbClr val="3271CD"/>
                </a:solidFill>
                <a:latin typeface="微软雅黑" panose="020B0503020204020204" charset="-122"/>
                <a:ea typeface="微软雅黑" panose="020B0503020204020204" charset="-122"/>
              </a:rPr>
              <a:t>缺少有效的监管抓手</a:t>
            </a:r>
            <a:r>
              <a:rPr lang="zh-CN" altLang="en-US" sz="1000" dirty="0">
                <a:latin typeface="微软雅黑" panose="020B0503020204020204" charset="-122"/>
                <a:ea typeface="微软雅黑" panose="020B0503020204020204" charset="-122"/>
              </a:rPr>
              <a:t>：传统的碎片化监管的模式已无法满足未来企业数字化管理的需求</a:t>
            </a:r>
            <a:endParaRPr lang="en-US" altLang="zh-CN" sz="1000" dirty="0">
              <a:latin typeface="微软雅黑" panose="020B0503020204020204" charset="-122"/>
              <a:ea typeface="微软雅黑" panose="020B0503020204020204" charset="-122"/>
            </a:endParaRPr>
          </a:p>
          <a:p>
            <a:pPr algn="just">
              <a:defRPr/>
            </a:pPr>
            <a:r>
              <a:rPr lang="en-US" altLang="zh-CN" sz="1000" dirty="0">
                <a:latin typeface="微软雅黑" panose="020B0503020204020204" charset="-122"/>
                <a:ea typeface="微软雅黑" panose="020B0503020204020204" charset="-122"/>
              </a:rPr>
              <a:t>2</a:t>
            </a:r>
            <a:r>
              <a:rPr lang="zh-CN" altLang="en-US" sz="1000" dirty="0">
                <a:latin typeface="微软雅黑" panose="020B0503020204020204" charset="-122"/>
                <a:ea typeface="微软雅黑" panose="020B0503020204020204" charset="-122"/>
              </a:rPr>
              <a:t>、</a:t>
            </a:r>
            <a:r>
              <a:rPr lang="zh-CN" altLang="en-US" sz="1000" b="1" dirty="0">
                <a:solidFill>
                  <a:srgbClr val="3271CD"/>
                </a:solidFill>
                <a:latin typeface="微软雅黑" panose="020B0503020204020204" charset="-122"/>
                <a:ea typeface="微软雅黑" panose="020B0503020204020204" charset="-122"/>
              </a:rPr>
              <a:t>监管方式亟需数智化转型</a:t>
            </a:r>
            <a:r>
              <a:rPr lang="zh-CN" altLang="en-US" sz="1000" dirty="0">
                <a:latin typeface="微软雅黑" panose="020B0503020204020204" charset="-122"/>
                <a:ea typeface="微软雅黑" panose="020B0503020204020204" charset="-122"/>
              </a:rPr>
              <a:t>：需要借助智能化手段来实现采购风控</a:t>
            </a:r>
            <a:endParaRPr lang="zh-CN" altLang="en-US" sz="1000" dirty="0">
              <a:latin typeface="微软雅黑" panose="020B0503020204020204" charset="-122"/>
              <a:ea typeface="微软雅黑" panose="020B0503020204020204" charset="-122"/>
            </a:endParaRPr>
          </a:p>
        </p:txBody>
      </p:sp>
      <p:pic>
        <p:nvPicPr>
          <p:cNvPr id="56" name="图片 5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63288" y="4360049"/>
            <a:ext cx="365343" cy="365343"/>
          </a:xfrm>
          <a:prstGeom prst="rect">
            <a:avLst/>
          </a:prstGeom>
        </p:spPr>
      </p:pic>
      <p:pic>
        <p:nvPicPr>
          <p:cNvPr id="57" name="图片 5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77592" y="5272946"/>
            <a:ext cx="329205" cy="329205"/>
          </a:xfrm>
          <a:prstGeom prst="rect">
            <a:avLst/>
          </a:prstGeom>
        </p:spPr>
      </p:pic>
      <p:pic>
        <p:nvPicPr>
          <p:cNvPr id="58" name="图片 5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18395" y="4864013"/>
            <a:ext cx="400081" cy="270954"/>
          </a:xfrm>
          <a:prstGeom prst="rect">
            <a:avLst/>
          </a:prstGeom>
        </p:spPr>
      </p:pic>
      <p:pic>
        <p:nvPicPr>
          <p:cNvPr id="59" name="图片 5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43896" y="2613228"/>
            <a:ext cx="389418" cy="389418"/>
          </a:xfrm>
          <a:prstGeom prst="rect">
            <a:avLst/>
          </a:prstGeom>
        </p:spPr>
      </p:pic>
      <p:sp>
        <p:nvSpPr>
          <p:cNvPr id="60" name="文本框 64"/>
          <p:cNvSpPr txBox="1"/>
          <p:nvPr/>
        </p:nvSpPr>
        <p:spPr>
          <a:xfrm>
            <a:off x="5369296" y="3287701"/>
            <a:ext cx="1303832" cy="293182"/>
          </a:xfrm>
          <a:prstGeom prst="roundRect">
            <a:avLst>
              <a:gd name="adj" fmla="val 50000"/>
            </a:avLst>
          </a:prstGeom>
          <a:solidFill>
            <a:sysClr val="windowText" lastClr="000000">
              <a:alpha val="36000"/>
            </a:sysClr>
          </a:solidFill>
        </p:spPr>
        <p:txBody>
          <a:bodyPr wrap="square" anchor="ctr">
            <a:noAutofit/>
          </a:bodyPr>
          <a:lstStyle>
            <a:defPPr>
              <a:defRPr lang="zh-CN"/>
            </a:defPPr>
            <a:lvl1pPr marL="285750" indent="-285750">
              <a:buFont typeface="Wingdings" panose="05000000000000000000" pitchFamily="2" charset="2"/>
              <a:buChar char="p"/>
              <a:defRPr sz="1400" b="1">
                <a:solidFill>
                  <a:srgbClr val="056DB4"/>
                </a:solidFill>
                <a:latin typeface="微软雅黑" panose="020B0503020204020204" charset="-122"/>
                <a:ea typeface="微软雅黑" panose="020B0503020204020204" charset="-122"/>
              </a:defRPr>
            </a:lvl1pPr>
          </a:lstStyle>
          <a:p>
            <a:pPr marL="0" marR="0" lvl="0" indent="0" algn="ctr" defTabSz="914400" eaLnBrk="1" fontAlgn="auto" latinLnBrk="0" hangingPunct="1">
              <a:lnSpc>
                <a:spcPct val="100000"/>
              </a:lnSpc>
              <a:spcBef>
                <a:spcPts val="0"/>
              </a:spcBef>
              <a:spcAft>
                <a:spcPts val="0"/>
              </a:spcAft>
              <a:buClrTx/>
              <a:buSzTx/>
              <a:buFont typeface="Wingdings" panose="05000000000000000000" pitchFamily="2" charset="2"/>
              <a:buNone/>
              <a:defRPr/>
            </a:pPr>
            <a:r>
              <a:rPr kumimoji="0" lang="zh-CN" altLang="en-US" sz="1400" b="0" i="0" u="none" strike="noStrike" kern="0" cap="none" spc="0" normalizeH="0" baseline="0" noProof="0" dirty="0">
                <a:ln>
                  <a:noFill/>
                </a:ln>
                <a:solidFill>
                  <a:prstClr val="white"/>
                </a:solidFill>
                <a:effectLst/>
                <a:uLnTx/>
                <a:uFillTx/>
              </a:rPr>
              <a:t>现状</a:t>
            </a:r>
            <a:endParaRPr kumimoji="0" lang="zh-CN" altLang="en-US" sz="1400" b="0" i="0" u="none" strike="noStrike" kern="0" cap="none" spc="0" normalizeH="0" baseline="0" noProof="0" dirty="0">
              <a:ln>
                <a:noFill/>
              </a:ln>
              <a:solidFill>
                <a:prstClr val="white"/>
              </a:solidFill>
              <a:effectLst/>
              <a:uLnTx/>
              <a:uFillTx/>
            </a:endParaRPr>
          </a:p>
        </p:txBody>
      </p:sp>
      <p:sp>
        <p:nvSpPr>
          <p:cNvPr id="61" name="文本框 67"/>
          <p:cNvSpPr txBox="1"/>
          <p:nvPr/>
        </p:nvSpPr>
        <p:spPr>
          <a:xfrm>
            <a:off x="5369296" y="3670276"/>
            <a:ext cx="1303832" cy="293182"/>
          </a:xfrm>
          <a:prstGeom prst="roundRect">
            <a:avLst>
              <a:gd name="adj" fmla="val 50000"/>
            </a:avLst>
          </a:prstGeom>
          <a:solidFill>
            <a:sysClr val="windowText" lastClr="000000">
              <a:alpha val="36000"/>
            </a:sysClr>
          </a:solidFill>
        </p:spPr>
        <p:txBody>
          <a:bodyPr wrap="square" anchor="ctr">
            <a:noAutofit/>
          </a:bodyPr>
          <a:lstStyle>
            <a:defPPr>
              <a:defRPr lang="zh-CN"/>
            </a:defPPr>
            <a:lvl1pPr marL="285750" indent="-285750">
              <a:buFont typeface="Wingdings" panose="05000000000000000000" pitchFamily="2" charset="2"/>
              <a:buChar char="p"/>
              <a:defRPr sz="1400" b="1">
                <a:solidFill>
                  <a:srgbClr val="056DB4"/>
                </a:solidFill>
                <a:latin typeface="微软雅黑" panose="020B0503020204020204" charset="-122"/>
                <a:ea typeface="微软雅黑" panose="020B0503020204020204" charset="-122"/>
              </a:defRPr>
            </a:lvl1pPr>
          </a:lstStyle>
          <a:p>
            <a:pPr marL="0" marR="0" lvl="0" indent="0" algn="ctr" defTabSz="914400" eaLnBrk="1" fontAlgn="auto" latinLnBrk="0" hangingPunct="1">
              <a:lnSpc>
                <a:spcPct val="100000"/>
              </a:lnSpc>
              <a:spcBef>
                <a:spcPts val="0"/>
              </a:spcBef>
              <a:spcAft>
                <a:spcPts val="0"/>
              </a:spcAft>
              <a:buClrTx/>
              <a:buSzTx/>
              <a:buFont typeface="Wingdings" panose="05000000000000000000" pitchFamily="2" charset="2"/>
              <a:buNone/>
              <a:defRPr/>
            </a:pPr>
            <a:r>
              <a:rPr kumimoji="0" lang="zh-CN" altLang="en-US" sz="1400" b="0" i="0" u="none" strike="noStrike" kern="0" cap="none" spc="0" normalizeH="0" baseline="0" noProof="0" dirty="0">
                <a:ln>
                  <a:noFill/>
                </a:ln>
                <a:solidFill>
                  <a:prstClr val="white"/>
                </a:solidFill>
                <a:effectLst/>
                <a:uLnTx/>
                <a:uFillTx/>
              </a:rPr>
              <a:t>问题</a:t>
            </a:r>
            <a:endParaRPr kumimoji="0" lang="zh-CN" altLang="en-US" sz="1400" b="0" i="0" u="none" strike="noStrike" kern="0" cap="none" spc="0" normalizeH="0" baseline="0" noProof="0" dirty="0">
              <a:ln>
                <a:noFill/>
              </a:ln>
              <a:solidFill>
                <a:prstClr val="white"/>
              </a:solidFill>
              <a:effectLst/>
              <a:uLnTx/>
              <a:uFillTx/>
            </a:endParaRPr>
          </a:p>
        </p:txBody>
      </p:sp>
      <p:sp>
        <p:nvSpPr>
          <p:cNvPr id="62" name="文本框 68"/>
          <p:cNvSpPr txBox="1"/>
          <p:nvPr/>
        </p:nvSpPr>
        <p:spPr>
          <a:xfrm>
            <a:off x="5369296" y="4052851"/>
            <a:ext cx="1303832" cy="293182"/>
          </a:xfrm>
          <a:prstGeom prst="roundRect">
            <a:avLst>
              <a:gd name="adj" fmla="val 50000"/>
            </a:avLst>
          </a:prstGeom>
          <a:solidFill>
            <a:sysClr val="windowText" lastClr="000000">
              <a:alpha val="36000"/>
            </a:sysClr>
          </a:solidFill>
        </p:spPr>
        <p:txBody>
          <a:bodyPr wrap="square" anchor="ctr">
            <a:noAutofit/>
          </a:bodyPr>
          <a:lstStyle>
            <a:defPPr>
              <a:defRPr lang="zh-CN"/>
            </a:defPPr>
            <a:lvl1pPr marL="285750" indent="-285750">
              <a:buFont typeface="Wingdings" panose="05000000000000000000" pitchFamily="2" charset="2"/>
              <a:buChar char="p"/>
              <a:defRPr sz="1400" b="1">
                <a:solidFill>
                  <a:srgbClr val="056DB4"/>
                </a:solidFill>
                <a:latin typeface="微软雅黑" panose="020B0503020204020204" charset="-122"/>
                <a:ea typeface="微软雅黑" panose="020B0503020204020204" charset="-122"/>
              </a:defRPr>
            </a:lvl1pPr>
          </a:lstStyle>
          <a:p>
            <a:pPr marL="0" marR="0" lvl="0" indent="0" algn="ctr" defTabSz="914400" eaLnBrk="1" fontAlgn="auto" latinLnBrk="0" hangingPunct="1">
              <a:lnSpc>
                <a:spcPct val="100000"/>
              </a:lnSpc>
              <a:spcBef>
                <a:spcPts val="0"/>
              </a:spcBef>
              <a:spcAft>
                <a:spcPts val="0"/>
              </a:spcAft>
              <a:buClrTx/>
              <a:buSzTx/>
              <a:buFont typeface="Wingdings" panose="05000000000000000000" pitchFamily="2" charset="2"/>
              <a:buNone/>
              <a:defRPr/>
            </a:pPr>
            <a:r>
              <a:rPr kumimoji="0" lang="zh-CN" altLang="en-US" sz="1400" b="0" i="0" u="none" strike="noStrike" kern="0" cap="none" spc="0" normalizeH="0" baseline="0" noProof="0" dirty="0">
                <a:ln>
                  <a:noFill/>
                </a:ln>
                <a:solidFill>
                  <a:prstClr val="white"/>
                </a:solidFill>
                <a:effectLst/>
                <a:uLnTx/>
                <a:uFillTx/>
              </a:rPr>
              <a:t>处境</a:t>
            </a:r>
            <a:endParaRPr kumimoji="0" lang="zh-CN" altLang="en-US" sz="1400" b="0" i="0" u="none" strike="noStrike" kern="0" cap="none" spc="0" normalizeH="0" baseline="0" noProof="0" dirty="0">
              <a:ln>
                <a:noFill/>
              </a:ln>
              <a:solidFill>
                <a:prstClr val="white"/>
              </a:solidFill>
              <a:effectLst/>
              <a:uLnTx/>
              <a:uFillTx/>
            </a:endParaRPr>
          </a:p>
        </p:txBody>
      </p:sp>
      <p:sp>
        <p:nvSpPr>
          <p:cNvPr id="3" name="文本框 54"/>
          <p:cNvSpPr txBox="1"/>
          <p:nvPr/>
        </p:nvSpPr>
        <p:spPr>
          <a:xfrm>
            <a:off x="7342754" y="2608231"/>
            <a:ext cx="2656628" cy="402291"/>
          </a:xfrm>
          <a:prstGeom prst="rect">
            <a:avLst/>
          </a:prstGeom>
          <a:noFill/>
        </p:spPr>
        <p:txBody>
          <a:bodyPr wrap="square" lIns="90000" tIns="46800" rIns="90000" bIns="46800" rtlCol="0">
            <a:spAutoFit/>
          </a:bodyPr>
          <a:lstStyle>
            <a:defPPr>
              <a:defRPr lang="zh-CN"/>
            </a:defPPr>
            <a:lvl1pPr marR="0" lvl="0" indent="0" algn="r" fontAlgn="auto">
              <a:lnSpc>
                <a:spcPct val="100000"/>
              </a:lnSpc>
              <a:spcBef>
                <a:spcPts val="0"/>
              </a:spcBef>
              <a:spcAft>
                <a:spcPts val="0"/>
              </a:spcAft>
              <a:buClrTx/>
              <a:buSzTx/>
              <a:buFontTx/>
              <a:buNone/>
              <a:defRPr kumimoji="0" sz="2400" b="0" i="0" u="none" strike="noStrike" cap="none" spc="0" normalizeH="0" baseline="0">
                <a:ln>
                  <a:noFill/>
                </a:ln>
                <a:gradFill flip="none" rotWithShape="1">
                  <a:gsLst>
                    <a:gs pos="98000">
                      <a:srgbClr val="004299"/>
                    </a:gs>
                    <a:gs pos="0">
                      <a:srgbClr val="004299">
                        <a:lumMod val="60000"/>
                        <a:lumOff val="40000"/>
                      </a:srgbClr>
                    </a:gs>
                  </a:gsLst>
                  <a:lin ang="2700000" scaled="1"/>
                  <a:tileRect/>
                </a:gradFill>
                <a:effectLst/>
                <a:uLnTx/>
                <a:uFillTx/>
                <a:latin typeface="阿里巴巴普惠体 2.0 95 ExtraBold" panose="00020600040101010101" pitchFamily="18" charset="-122"/>
                <a:ea typeface="阿里巴巴普惠体 2.0 95 ExtraBold" panose="00020600040101010101" pitchFamily="18" charset="-122"/>
                <a:cs typeface="阿里巴巴普惠体 2.0 95 ExtraBold" panose="00020600040101010101" pitchFamily="18" charset="-122"/>
              </a:defRPr>
            </a:lvl1pPr>
          </a:lstStyle>
          <a:p>
            <a:pPr algn="ctr">
              <a:defRPr/>
            </a:pPr>
            <a:r>
              <a:rPr lang="zh-CN" altLang="en-US" sz="2000" b="1" dirty="0">
                <a:latin typeface="微软雅黑" panose="020B0503020204020204" charset="-122"/>
                <a:ea typeface="微软雅黑" panose="020B0503020204020204" charset="-122"/>
                <a:cs typeface="阿里巴巴普惠体" panose="00020600040101010101" pitchFamily="18" charset="-122"/>
              </a:rPr>
              <a:t>发展</a:t>
            </a:r>
            <a:endParaRPr lang="zh-CN" altLang="en-US" sz="2000" b="1" dirty="0">
              <a:latin typeface="微软雅黑" panose="020B0503020204020204" charset="-122"/>
              <a:ea typeface="微软雅黑" panose="020B0503020204020204" charset="-122"/>
              <a:cs typeface="阿里巴巴普惠体" panose="00020600040101010101" pitchFamily="18"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剪去对角 9"/>
          <p:cNvSpPr/>
          <p:nvPr/>
        </p:nvSpPr>
        <p:spPr>
          <a:xfrm>
            <a:off x="-1" y="0"/>
            <a:ext cx="12192001" cy="6858000"/>
          </a:xfrm>
          <a:prstGeom prst="snip2DiagRect">
            <a:avLst>
              <a:gd name="adj1" fmla="val 0"/>
              <a:gd name="adj2" fmla="val 50000"/>
            </a:avLst>
          </a:prstGeom>
          <a:solidFill>
            <a:srgbClr val="FFFFFF"/>
          </a:solidFill>
          <a:ln w="12700" cap="flat" cmpd="sng" algn="ctr">
            <a:noFill/>
            <a:prstDash val="solid"/>
            <a:miter lim="800000"/>
          </a:ln>
          <a:effectLst/>
        </p:spPr>
        <p:txBody>
          <a:bodyPr rtlCol="0" anchor="ctr"/>
          <a:lstStyle/>
          <a:p>
            <a:pPr algn="ctr"/>
            <a:endParaRPr lang="zh-CN" altLang="en-US" kern="0">
              <a:solidFill>
                <a:srgbClr val="FFFFFF"/>
              </a:solidFill>
              <a:latin typeface="Source Sans Pro SemiBold"/>
              <a:sym typeface="+mn-lt"/>
            </a:endParaRPr>
          </a:p>
        </p:txBody>
      </p:sp>
      <p:sp>
        <p:nvSpPr>
          <p:cNvPr id="9" name="矩形: 剪去对角 8"/>
          <p:cNvSpPr/>
          <p:nvPr/>
        </p:nvSpPr>
        <p:spPr>
          <a:xfrm flipH="1">
            <a:off x="131762" y="108643"/>
            <a:ext cx="11945938" cy="6682681"/>
          </a:xfrm>
          <a:prstGeom prst="snip2DiagRect">
            <a:avLst>
              <a:gd name="adj1" fmla="val 0"/>
              <a:gd name="adj2" fmla="val 50000"/>
            </a:avLst>
          </a:prstGeom>
          <a:gradFill>
            <a:gsLst>
              <a:gs pos="0">
                <a:srgbClr val="073F97">
                  <a:lumMod val="90000"/>
                  <a:lumOff val="10000"/>
                  <a:alpha val="90000"/>
                </a:srgbClr>
              </a:gs>
              <a:gs pos="100000">
                <a:srgbClr val="073F97">
                  <a:lumMod val="95000"/>
                  <a:alpha val="95000"/>
                </a:srgbClr>
              </a:gs>
            </a:gsLst>
            <a:lin ang="0" scaled="0"/>
          </a:gradFill>
          <a:ln w="12700" cap="flat" cmpd="sng" algn="ctr">
            <a:noFill/>
            <a:prstDash val="solid"/>
            <a:miter lim="800000"/>
          </a:ln>
          <a:effectLst>
            <a:outerShdw blurRad="254000" dist="63500" dir="16200000" rotWithShape="0">
              <a:srgbClr val="073F97">
                <a:lumMod val="75000"/>
                <a:alpha val="35000"/>
              </a:srgbClr>
            </a:outerShdw>
          </a:effectLst>
        </p:spPr>
        <p:txBody>
          <a:bodyPr rtlCol="0" anchor="ctr"/>
          <a:lstStyle/>
          <a:p>
            <a:pPr algn="ctr"/>
            <a:endParaRPr lang="zh-CN" altLang="en-US" kern="0">
              <a:solidFill>
                <a:srgbClr val="FFFFFF"/>
              </a:solidFill>
              <a:latin typeface="Source Sans Pro SemiBold"/>
              <a:sym typeface="+mn-lt"/>
            </a:endParaRPr>
          </a:p>
        </p:txBody>
      </p:sp>
      <p:sp>
        <p:nvSpPr>
          <p:cNvPr id="17" name="文本框 16"/>
          <p:cNvSpPr txBox="1"/>
          <p:nvPr/>
        </p:nvSpPr>
        <p:spPr>
          <a:xfrm>
            <a:off x="2992120" y="2804795"/>
            <a:ext cx="6191885" cy="1106805"/>
          </a:xfrm>
          <a:prstGeom prst="rect">
            <a:avLst/>
          </a:prstGeom>
          <a:noFill/>
        </p:spPr>
        <p:txBody>
          <a:bodyPr wrap="square" rtlCol="0">
            <a:spAutoFit/>
          </a:bodyPr>
          <a:lstStyle/>
          <a:p>
            <a:pPr algn="dist"/>
            <a:r>
              <a:rPr lang="zh-CN" altLang="en-US" sz="6600" b="1" spc="60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规划</a:t>
            </a:r>
            <a:r>
              <a:rPr lang="zh-CN" altLang="en-US" sz="6600" b="1" spc="60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内容</a:t>
            </a:r>
            <a:endParaRPr lang="zh-CN" altLang="en-US" sz="6600" b="1" spc="60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grpSp>
        <p:nvGrpSpPr>
          <p:cNvPr id="20" name="组合 19"/>
          <p:cNvGrpSpPr/>
          <p:nvPr/>
        </p:nvGrpSpPr>
        <p:grpSpPr>
          <a:xfrm>
            <a:off x="2465311" y="2830976"/>
            <a:ext cx="7268638" cy="999419"/>
            <a:chOff x="2465311" y="2754776"/>
            <a:chExt cx="7268638" cy="999419"/>
          </a:xfrm>
        </p:grpSpPr>
        <p:sp>
          <p:nvSpPr>
            <p:cNvPr id="21" name="任意多边形: 形状 20"/>
            <p:cNvSpPr/>
            <p:nvPr/>
          </p:nvSpPr>
          <p:spPr>
            <a:xfrm rot="5400000">
              <a:off x="9052208" y="3072455"/>
              <a:ext cx="992163" cy="371318"/>
            </a:xfrm>
            <a:custGeom>
              <a:avLst/>
              <a:gdLst>
                <a:gd name="connsiteX0" fmla="*/ 0 w 6591664"/>
                <a:gd name="connsiteY0" fmla="*/ 0 h 2679540"/>
                <a:gd name="connsiteX1" fmla="*/ 6591664 w 6591664"/>
                <a:gd name="connsiteY1" fmla="*/ 0 h 2679540"/>
                <a:gd name="connsiteX2" fmla="*/ 6591664 w 6591664"/>
                <a:gd name="connsiteY2" fmla="*/ 2679540 h 2679540"/>
                <a:gd name="connsiteX3" fmla="*/ 6130471 w 6591664"/>
                <a:gd name="connsiteY3" fmla="*/ 2679540 h 2679540"/>
                <a:gd name="connsiteX4" fmla="*/ 6130471 w 6591664"/>
                <a:gd name="connsiteY4" fmla="*/ 2594679 h 2679540"/>
                <a:gd name="connsiteX5" fmla="*/ 6506803 w 6591664"/>
                <a:gd name="connsiteY5" fmla="*/ 2594679 h 2679540"/>
                <a:gd name="connsiteX6" fmla="*/ 6506803 w 6591664"/>
                <a:gd name="connsiteY6" fmla="*/ 84861 h 2679540"/>
                <a:gd name="connsiteX7" fmla="*/ 84861 w 6591664"/>
                <a:gd name="connsiteY7" fmla="*/ 84861 h 2679540"/>
                <a:gd name="connsiteX8" fmla="*/ 84861 w 6591664"/>
                <a:gd name="connsiteY8" fmla="*/ 2594679 h 2679540"/>
                <a:gd name="connsiteX9" fmla="*/ 461193 w 6591664"/>
                <a:gd name="connsiteY9" fmla="*/ 2594679 h 2679540"/>
                <a:gd name="connsiteX10" fmla="*/ 461193 w 6591664"/>
                <a:gd name="connsiteY10" fmla="*/ 2679540 h 2679540"/>
                <a:gd name="connsiteX11" fmla="*/ 0 w 6591664"/>
                <a:gd name="connsiteY11" fmla="*/ 2679540 h 267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1664" h="2679540">
                  <a:moveTo>
                    <a:pt x="0" y="0"/>
                  </a:moveTo>
                  <a:lnTo>
                    <a:pt x="6591664" y="0"/>
                  </a:lnTo>
                  <a:lnTo>
                    <a:pt x="6591664" y="2679540"/>
                  </a:lnTo>
                  <a:lnTo>
                    <a:pt x="6130471" y="2679540"/>
                  </a:lnTo>
                  <a:lnTo>
                    <a:pt x="6130471" y="2594679"/>
                  </a:lnTo>
                  <a:lnTo>
                    <a:pt x="6506803" y="2594679"/>
                  </a:lnTo>
                  <a:lnTo>
                    <a:pt x="6506803" y="84861"/>
                  </a:lnTo>
                  <a:lnTo>
                    <a:pt x="84861" y="84861"/>
                  </a:lnTo>
                  <a:lnTo>
                    <a:pt x="84861" y="2594679"/>
                  </a:lnTo>
                  <a:lnTo>
                    <a:pt x="461193" y="2594679"/>
                  </a:lnTo>
                  <a:lnTo>
                    <a:pt x="461193" y="2679540"/>
                  </a:lnTo>
                  <a:lnTo>
                    <a:pt x="0" y="2679540"/>
                  </a:lnTo>
                  <a:close/>
                </a:path>
              </a:pathLst>
            </a:custGeom>
            <a:solidFill>
              <a:sysClr val="window" lastClr="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22" name="任意多边形: 形状 21"/>
            <p:cNvSpPr/>
            <p:nvPr/>
          </p:nvSpPr>
          <p:spPr>
            <a:xfrm rot="16200000" flipH="1">
              <a:off x="2154888" y="3065199"/>
              <a:ext cx="992163" cy="371318"/>
            </a:xfrm>
            <a:custGeom>
              <a:avLst/>
              <a:gdLst>
                <a:gd name="connsiteX0" fmla="*/ 0 w 6591664"/>
                <a:gd name="connsiteY0" fmla="*/ 0 h 2679540"/>
                <a:gd name="connsiteX1" fmla="*/ 6591664 w 6591664"/>
                <a:gd name="connsiteY1" fmla="*/ 0 h 2679540"/>
                <a:gd name="connsiteX2" fmla="*/ 6591664 w 6591664"/>
                <a:gd name="connsiteY2" fmla="*/ 2679540 h 2679540"/>
                <a:gd name="connsiteX3" fmla="*/ 6130471 w 6591664"/>
                <a:gd name="connsiteY3" fmla="*/ 2679540 h 2679540"/>
                <a:gd name="connsiteX4" fmla="*/ 6130471 w 6591664"/>
                <a:gd name="connsiteY4" fmla="*/ 2594679 h 2679540"/>
                <a:gd name="connsiteX5" fmla="*/ 6506803 w 6591664"/>
                <a:gd name="connsiteY5" fmla="*/ 2594679 h 2679540"/>
                <a:gd name="connsiteX6" fmla="*/ 6506803 w 6591664"/>
                <a:gd name="connsiteY6" fmla="*/ 84861 h 2679540"/>
                <a:gd name="connsiteX7" fmla="*/ 84861 w 6591664"/>
                <a:gd name="connsiteY7" fmla="*/ 84861 h 2679540"/>
                <a:gd name="connsiteX8" fmla="*/ 84861 w 6591664"/>
                <a:gd name="connsiteY8" fmla="*/ 2594679 h 2679540"/>
                <a:gd name="connsiteX9" fmla="*/ 461193 w 6591664"/>
                <a:gd name="connsiteY9" fmla="*/ 2594679 h 2679540"/>
                <a:gd name="connsiteX10" fmla="*/ 461193 w 6591664"/>
                <a:gd name="connsiteY10" fmla="*/ 2679540 h 2679540"/>
                <a:gd name="connsiteX11" fmla="*/ 0 w 6591664"/>
                <a:gd name="connsiteY11" fmla="*/ 2679540 h 267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1664" h="2679540">
                  <a:moveTo>
                    <a:pt x="0" y="0"/>
                  </a:moveTo>
                  <a:lnTo>
                    <a:pt x="6591664" y="0"/>
                  </a:lnTo>
                  <a:lnTo>
                    <a:pt x="6591664" y="2679540"/>
                  </a:lnTo>
                  <a:lnTo>
                    <a:pt x="6130471" y="2679540"/>
                  </a:lnTo>
                  <a:lnTo>
                    <a:pt x="6130471" y="2594679"/>
                  </a:lnTo>
                  <a:lnTo>
                    <a:pt x="6506803" y="2594679"/>
                  </a:lnTo>
                  <a:lnTo>
                    <a:pt x="6506803" y="84861"/>
                  </a:lnTo>
                  <a:lnTo>
                    <a:pt x="84861" y="84861"/>
                  </a:lnTo>
                  <a:lnTo>
                    <a:pt x="84861" y="2594679"/>
                  </a:lnTo>
                  <a:lnTo>
                    <a:pt x="461193" y="2594679"/>
                  </a:lnTo>
                  <a:lnTo>
                    <a:pt x="461193" y="2679540"/>
                  </a:lnTo>
                  <a:lnTo>
                    <a:pt x="0" y="2679540"/>
                  </a:lnTo>
                  <a:close/>
                </a:path>
              </a:pathLst>
            </a:custGeom>
            <a:solidFill>
              <a:sysClr val="window" lastClr="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内容占位符 13"/>
          <p:cNvSpPr>
            <a:spLocks noGrp="1"/>
          </p:cNvSpPr>
          <p:nvPr>
            <p:ph sz="half" idx="1"/>
          </p:nvPr>
        </p:nvSpPr>
        <p:spPr/>
        <p:txBody>
          <a:bodyPr/>
          <a:p>
            <a:endParaRPr lang="zh-CN" altLang="en-US"/>
          </a:p>
        </p:txBody>
      </p:sp>
      <p:sp>
        <p:nvSpPr>
          <p:cNvPr id="15" name="内容占位符 14"/>
          <p:cNvSpPr>
            <a:spLocks noGrp="1"/>
          </p:cNvSpPr>
          <p:nvPr>
            <p:ph sz="half" idx="2"/>
          </p:nvPr>
        </p:nvSpPr>
        <p:spPr/>
        <p:txBody>
          <a:bodyPr/>
          <a:p>
            <a:endParaRPr lang="zh-CN" altLang="en-US"/>
          </a:p>
        </p:txBody>
      </p:sp>
      <p:grpSp>
        <p:nvGrpSpPr>
          <p:cNvPr id="13" name="组合 12"/>
          <p:cNvGrpSpPr/>
          <p:nvPr/>
        </p:nvGrpSpPr>
        <p:grpSpPr>
          <a:xfrm>
            <a:off x="-609573" y="240598"/>
            <a:ext cx="1322628" cy="631070"/>
            <a:chOff x="-504068" y="174267"/>
            <a:chExt cx="1600668" cy="763731"/>
          </a:xfrm>
        </p:grpSpPr>
        <p:sp>
          <p:nvSpPr>
            <p:cNvPr id="65" name="平行四边形 64"/>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3" name="平行四边形 62"/>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cs typeface="+mn-ea"/>
                <a:sym typeface="+mn-lt"/>
              </a:endParaRPr>
            </a:p>
          </p:txBody>
        </p:sp>
      </p:grpSp>
      <p:sp>
        <p:nvSpPr>
          <p:cNvPr id="66" name="文本框 65"/>
          <p:cNvSpPr txBox="1"/>
          <p:nvPr/>
        </p:nvSpPr>
        <p:spPr>
          <a:xfrm>
            <a:off x="673100" y="212090"/>
            <a:ext cx="10414000"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建设内容：兵团国有企业</a:t>
            </a:r>
            <a:r>
              <a:rPr lang="en-US" altLang="zh-CN" sz="3200" b="1" dirty="0">
                <a:solidFill>
                  <a:srgbClr val="3271CC"/>
                </a:solidFill>
                <a:latin typeface="微软雅黑" panose="020B0503020204020204" charset="-122"/>
                <a:ea typeface="微软雅黑" panose="020B0503020204020204" charset="-122"/>
                <a:cs typeface="+mn-ea"/>
                <a:sym typeface="+mn-lt"/>
              </a:rPr>
              <a:t>”</a:t>
            </a:r>
            <a:r>
              <a:rPr lang="zh-CN" altLang="en-US" sz="3200" b="1" dirty="0">
                <a:solidFill>
                  <a:srgbClr val="3271CC"/>
                </a:solidFill>
                <a:latin typeface="微软雅黑" panose="020B0503020204020204" charset="-122"/>
                <a:ea typeface="微软雅黑" panose="020B0503020204020204" charset="-122"/>
                <a:cs typeface="+mn-ea"/>
                <a:sym typeface="+mn-lt"/>
              </a:rPr>
              <a:t>人工智能</a:t>
            </a:r>
            <a:r>
              <a:rPr lang="en-US" altLang="zh-CN" sz="3200" b="1" dirty="0">
                <a:solidFill>
                  <a:srgbClr val="3271CC"/>
                </a:solidFill>
                <a:latin typeface="微软雅黑" panose="020B0503020204020204" charset="-122"/>
                <a:ea typeface="微软雅黑" panose="020B0503020204020204" charset="-122"/>
                <a:cs typeface="+mn-ea"/>
                <a:sym typeface="+mn-lt"/>
              </a:rPr>
              <a:t>+“</a:t>
            </a:r>
            <a:r>
              <a:rPr lang="zh-CN" altLang="en-US" sz="3200" b="1" dirty="0">
                <a:solidFill>
                  <a:srgbClr val="3271CC"/>
                </a:solidFill>
                <a:latin typeface="微软雅黑" panose="020B0503020204020204" charset="-122"/>
                <a:ea typeface="微软雅黑" panose="020B0503020204020204" charset="-122"/>
                <a:cs typeface="+mn-ea"/>
                <a:sym typeface="+mn-lt"/>
              </a:rPr>
              <a:t>阳光采购</a:t>
            </a:r>
            <a:r>
              <a:rPr lang="zh-CN" altLang="en-US" sz="3200" b="1" dirty="0">
                <a:solidFill>
                  <a:srgbClr val="3271CC"/>
                </a:solidFill>
                <a:latin typeface="微软雅黑" panose="020B0503020204020204" charset="-122"/>
                <a:ea typeface="微软雅黑" panose="020B0503020204020204" charset="-122"/>
                <a:cs typeface="+mn-ea"/>
                <a:sym typeface="+mn-lt"/>
              </a:rPr>
              <a:t>平台</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sp>
        <p:nvSpPr>
          <p:cNvPr id="6" name="矩形 5"/>
          <p:cNvSpPr/>
          <p:nvPr/>
        </p:nvSpPr>
        <p:spPr>
          <a:xfrm>
            <a:off x="6350" y="852805"/>
            <a:ext cx="12185650" cy="812165"/>
          </a:xfrm>
          <a:prstGeom prst="rect">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a:solidFill>
                <a:prstClr val="white"/>
              </a:solidFill>
              <a:cs typeface="+mn-ea"/>
              <a:sym typeface="+mn-lt"/>
            </a:endParaRPr>
          </a:p>
        </p:txBody>
      </p:sp>
      <p:sp>
        <p:nvSpPr>
          <p:cNvPr id="7" name="文本框 6"/>
          <p:cNvSpPr txBox="1"/>
          <p:nvPr/>
        </p:nvSpPr>
        <p:spPr>
          <a:xfrm>
            <a:off x="6985" y="936625"/>
            <a:ext cx="12185015" cy="645160"/>
          </a:xfrm>
          <a:prstGeom prst="rect">
            <a:avLst/>
          </a:prstGeom>
          <a:noFill/>
        </p:spPr>
        <p:txBody>
          <a:bodyPr wrap="square" rtlCol="0">
            <a:spAutoFit/>
          </a:bodyPr>
          <a:lstStyle/>
          <a:p>
            <a:pPr indent="0" fontAlgn="auto">
              <a:lnSpc>
                <a:spcPct val="150000"/>
              </a:lnSpc>
            </a:pPr>
            <a:r>
              <a:rPr lang="zh-CN" altLang="en-US" sz="1200" dirty="0">
                <a:solidFill>
                  <a:schemeClr val="bg1"/>
                </a:solidFill>
                <a:cs typeface="+mn-ea"/>
                <a:sym typeface="+mn-lt"/>
              </a:rPr>
              <a:t>       兵团国有企业</a:t>
            </a:r>
            <a:r>
              <a:rPr lang="en-US" altLang="zh-CN" sz="1200" dirty="0">
                <a:solidFill>
                  <a:schemeClr val="bg1"/>
                </a:solidFill>
                <a:cs typeface="+mn-ea"/>
                <a:sym typeface="+mn-lt"/>
              </a:rPr>
              <a:t>”</a:t>
            </a:r>
            <a:r>
              <a:rPr lang="zh-CN" altLang="en-US" sz="1200" dirty="0">
                <a:solidFill>
                  <a:schemeClr val="bg1"/>
                </a:solidFill>
                <a:cs typeface="+mn-ea"/>
                <a:sym typeface="+mn-lt"/>
              </a:rPr>
              <a:t>人工智能</a:t>
            </a:r>
            <a:r>
              <a:rPr lang="en-US" altLang="zh-CN" sz="1200" dirty="0">
                <a:solidFill>
                  <a:schemeClr val="bg1"/>
                </a:solidFill>
                <a:cs typeface="+mn-ea"/>
                <a:sym typeface="+mn-lt"/>
              </a:rPr>
              <a:t>+“</a:t>
            </a:r>
            <a:r>
              <a:rPr lang="zh-CN" altLang="en-US" sz="1200" dirty="0">
                <a:solidFill>
                  <a:schemeClr val="bg1"/>
                </a:solidFill>
                <a:cs typeface="+mn-ea"/>
                <a:sym typeface="+mn-lt"/>
              </a:rPr>
              <a:t>阳光采购平台旨在打造</a:t>
            </a:r>
            <a:r>
              <a:rPr lang="en-US" altLang="zh-CN" sz="1200" dirty="0">
                <a:solidFill>
                  <a:schemeClr val="bg1"/>
                </a:solidFill>
                <a:cs typeface="+mn-ea"/>
                <a:sym typeface="+mn-lt"/>
              </a:rPr>
              <a:t> </a:t>
            </a:r>
            <a:r>
              <a:rPr lang="en-US" altLang="zh-CN" sz="1200" b="1" dirty="0">
                <a:solidFill>
                  <a:schemeClr val="bg1"/>
                </a:solidFill>
                <a:cs typeface="+mn-ea"/>
                <a:sym typeface="+mn-lt"/>
              </a:rPr>
              <a:t>“</a:t>
            </a:r>
            <a:r>
              <a:rPr lang="zh-CN" altLang="en-US" sz="1200" b="1" dirty="0">
                <a:solidFill>
                  <a:schemeClr val="bg1"/>
                </a:solidFill>
                <a:cs typeface="+mn-ea"/>
                <a:sym typeface="+mn-lt"/>
              </a:rPr>
              <a:t>监管可穿透、交易全透明、降本真高效、服务广覆盖</a:t>
            </a:r>
            <a:r>
              <a:rPr lang="en-US" altLang="zh-CN" sz="1200" b="1" dirty="0">
                <a:solidFill>
                  <a:schemeClr val="bg1"/>
                </a:solidFill>
                <a:cs typeface="+mn-ea"/>
                <a:sym typeface="+mn-lt"/>
              </a:rPr>
              <a:t>”</a:t>
            </a:r>
            <a:r>
              <a:rPr lang="en-US" altLang="zh-CN" sz="1200" dirty="0">
                <a:solidFill>
                  <a:schemeClr val="bg1"/>
                </a:solidFill>
                <a:cs typeface="+mn-ea"/>
                <a:sym typeface="+mn-lt"/>
              </a:rPr>
              <a:t> </a:t>
            </a:r>
            <a:r>
              <a:rPr lang="zh-CN" altLang="en-US" sz="1200" dirty="0">
                <a:solidFill>
                  <a:schemeClr val="bg1"/>
                </a:solidFill>
                <a:cs typeface="+mn-ea"/>
                <a:sym typeface="+mn-lt"/>
              </a:rPr>
              <a:t>的兵团阳光采购生态，包括交易业务类、辅助监管类以及</a:t>
            </a:r>
            <a:r>
              <a:rPr lang="en-US" altLang="zh-CN" sz="1200" dirty="0">
                <a:solidFill>
                  <a:schemeClr val="bg1"/>
                </a:solidFill>
                <a:cs typeface="+mn-ea"/>
                <a:sym typeface="+mn-lt"/>
              </a:rPr>
              <a:t>“</a:t>
            </a:r>
            <a:r>
              <a:rPr lang="zh-CN" altLang="en-US" sz="1200" dirty="0">
                <a:solidFill>
                  <a:schemeClr val="bg1"/>
                </a:solidFill>
                <a:cs typeface="+mn-ea"/>
                <a:sym typeface="+mn-lt"/>
              </a:rPr>
              <a:t>人工智能</a:t>
            </a:r>
            <a:r>
              <a:rPr lang="en-US" altLang="zh-CN" sz="1200" dirty="0">
                <a:solidFill>
                  <a:schemeClr val="bg1"/>
                </a:solidFill>
                <a:cs typeface="+mn-ea"/>
                <a:sym typeface="+mn-lt"/>
              </a:rPr>
              <a:t>+”</a:t>
            </a:r>
            <a:r>
              <a:rPr lang="zh-CN" altLang="en-US" sz="1200" dirty="0">
                <a:solidFill>
                  <a:schemeClr val="bg1"/>
                </a:solidFill>
                <a:cs typeface="+mn-ea"/>
                <a:sym typeface="+mn-lt"/>
              </a:rPr>
              <a:t>三大类</a:t>
            </a:r>
            <a:r>
              <a:rPr lang="zh-CN" altLang="en-US" sz="1200" dirty="0">
                <a:solidFill>
                  <a:schemeClr val="bg1"/>
                </a:solidFill>
                <a:cs typeface="+mn-ea"/>
                <a:sym typeface="+mn-lt"/>
              </a:rPr>
              <a:t>应用，覆盖兵团国有企业招标采购全业务。</a:t>
            </a:r>
            <a:endParaRPr lang="zh-CN" altLang="en-US" sz="1200" dirty="0">
              <a:solidFill>
                <a:schemeClr val="bg1"/>
              </a:solidFill>
              <a:cs typeface="+mn-ea"/>
              <a:sym typeface="+mn-lt"/>
            </a:endParaRPr>
          </a:p>
        </p:txBody>
      </p:sp>
      <p:grpSp>
        <p:nvGrpSpPr>
          <p:cNvPr id="4" name="组合 3"/>
          <p:cNvGrpSpPr/>
          <p:nvPr/>
        </p:nvGrpSpPr>
        <p:grpSpPr>
          <a:xfrm>
            <a:off x="167005" y="1689100"/>
            <a:ext cx="9402445" cy="1242060"/>
            <a:chOff x="167" y="782"/>
            <a:chExt cx="14807" cy="1956"/>
          </a:xfrm>
        </p:grpSpPr>
        <p:sp>
          <p:nvSpPr>
            <p:cNvPr id="292" name="矩形: 圆角 291"/>
            <p:cNvSpPr/>
            <p:nvPr/>
          </p:nvSpPr>
          <p:spPr>
            <a:xfrm>
              <a:off x="167" y="782"/>
              <a:ext cx="14807" cy="1956"/>
            </a:xfrm>
            <a:prstGeom prst="roundRect">
              <a:avLst>
                <a:gd name="adj" fmla="val 10655"/>
              </a:avLst>
            </a:prstGeom>
            <a:gradFill>
              <a:gsLst>
                <a:gs pos="9000">
                  <a:srgbClr val="033E8C"/>
                </a:gs>
                <a:gs pos="100000">
                  <a:srgbClr val="3365A6"/>
                </a:gs>
              </a:gsLst>
              <a:lin ang="2700000" scaled="0"/>
            </a:gra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04" name="矩形: 圆角 303"/>
            <p:cNvSpPr/>
            <p:nvPr/>
          </p:nvSpPr>
          <p:spPr>
            <a:xfrm>
              <a:off x="1438" y="1530"/>
              <a:ext cx="8090" cy="1167"/>
            </a:xfrm>
            <a:prstGeom prst="roundRect">
              <a:avLst>
                <a:gd name="adj" fmla="val 810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8" name="矩形: 圆角 307"/>
            <p:cNvSpPr/>
            <p:nvPr/>
          </p:nvSpPr>
          <p:spPr>
            <a:xfrm>
              <a:off x="9556" y="1530"/>
              <a:ext cx="5389" cy="1167"/>
            </a:xfrm>
            <a:prstGeom prst="roundRect">
              <a:avLst>
                <a:gd name="adj" fmla="val 6388"/>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309" name="矩形: 圆角 308"/>
            <p:cNvSpPr/>
            <p:nvPr/>
          </p:nvSpPr>
          <p:spPr>
            <a:xfrm>
              <a:off x="1457"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100" b="1" dirty="0">
                  <a:cs typeface="+mn-ea"/>
                  <a:sym typeface="+mn-lt"/>
                </a:rPr>
                <a:t>采购需求</a:t>
              </a:r>
              <a:endParaRPr lang="zh-CN" altLang="en-US" sz="1100" b="1" dirty="0">
                <a:cs typeface="+mn-ea"/>
                <a:sym typeface="+mn-lt"/>
              </a:endParaRPr>
            </a:p>
          </p:txBody>
        </p:sp>
        <p:sp>
          <p:nvSpPr>
            <p:cNvPr id="311" name="矩形: 圆角 310"/>
            <p:cNvSpPr/>
            <p:nvPr/>
          </p:nvSpPr>
          <p:spPr>
            <a:xfrm>
              <a:off x="2802"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cs typeface="+mn-ea"/>
                  <a:sym typeface="+mn-lt"/>
                </a:rPr>
                <a:t>采购方案</a:t>
              </a:r>
              <a:endParaRPr lang="zh-CN" altLang="en-US" sz="1100" b="1" dirty="0">
                <a:cs typeface="+mn-ea"/>
                <a:sym typeface="+mn-lt"/>
              </a:endParaRPr>
            </a:p>
          </p:txBody>
        </p:sp>
        <p:sp>
          <p:nvSpPr>
            <p:cNvPr id="312" name="矩形: 圆角 311"/>
            <p:cNvSpPr/>
            <p:nvPr/>
          </p:nvSpPr>
          <p:spPr>
            <a:xfrm>
              <a:off x="4147"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cs typeface="+mn-ea"/>
                  <a:sym typeface="+mn-lt"/>
                </a:rPr>
                <a:t>招标采购</a:t>
              </a:r>
              <a:endParaRPr lang="zh-CN" altLang="en-US" sz="1100" b="1" dirty="0">
                <a:cs typeface="+mn-ea"/>
                <a:sym typeface="+mn-lt"/>
              </a:endParaRPr>
            </a:p>
          </p:txBody>
        </p:sp>
        <p:sp>
          <p:nvSpPr>
            <p:cNvPr id="313" name="矩形: 圆角 312"/>
            <p:cNvSpPr/>
            <p:nvPr/>
          </p:nvSpPr>
          <p:spPr>
            <a:xfrm>
              <a:off x="5492"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cs typeface="+mn-ea"/>
                  <a:sym typeface="+mn-lt"/>
                </a:rPr>
                <a:t>合同管理</a:t>
              </a:r>
              <a:endParaRPr lang="zh-CN" altLang="en-US" sz="1100" b="1" dirty="0">
                <a:cs typeface="+mn-ea"/>
                <a:sym typeface="+mn-lt"/>
              </a:endParaRPr>
            </a:p>
          </p:txBody>
        </p:sp>
        <p:sp>
          <p:nvSpPr>
            <p:cNvPr id="314" name="矩形: 圆角 313"/>
            <p:cNvSpPr/>
            <p:nvPr/>
          </p:nvSpPr>
          <p:spPr>
            <a:xfrm>
              <a:off x="6837"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cs typeface="+mn-ea"/>
                  <a:sym typeface="+mn-lt"/>
                </a:rPr>
                <a:t>订单管理</a:t>
              </a:r>
              <a:endParaRPr lang="zh-CN" altLang="en-US" sz="1100" b="1" dirty="0">
                <a:cs typeface="+mn-ea"/>
                <a:sym typeface="+mn-lt"/>
              </a:endParaRPr>
            </a:p>
          </p:txBody>
        </p:sp>
        <p:sp>
          <p:nvSpPr>
            <p:cNvPr id="315" name="矩形: 圆角 314"/>
            <p:cNvSpPr/>
            <p:nvPr/>
          </p:nvSpPr>
          <p:spPr>
            <a:xfrm>
              <a:off x="8181"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cs typeface="+mn-ea"/>
                  <a:sym typeface="+mn-lt"/>
                </a:rPr>
                <a:t>结算管理</a:t>
              </a:r>
              <a:endParaRPr lang="zh-CN" altLang="en-US" sz="1100" b="1" dirty="0">
                <a:cs typeface="+mn-ea"/>
                <a:sym typeface="+mn-lt"/>
              </a:endParaRPr>
            </a:p>
          </p:txBody>
        </p:sp>
        <p:sp>
          <p:nvSpPr>
            <p:cNvPr id="316" name="矩形: 圆角 315"/>
            <p:cNvSpPr/>
            <p:nvPr/>
          </p:nvSpPr>
          <p:spPr>
            <a:xfrm>
              <a:off x="9577"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cs typeface="+mn-ea"/>
                  <a:sym typeface="+mn-lt"/>
                </a:rPr>
                <a:t>准入管理</a:t>
              </a:r>
              <a:endParaRPr lang="zh-CN" altLang="en-US" sz="1100" b="1" dirty="0">
                <a:cs typeface="+mn-ea"/>
                <a:sym typeface="+mn-lt"/>
              </a:endParaRPr>
            </a:p>
          </p:txBody>
        </p:sp>
        <p:sp>
          <p:nvSpPr>
            <p:cNvPr id="317" name="矩形: 圆角 316"/>
            <p:cNvSpPr/>
            <p:nvPr/>
          </p:nvSpPr>
          <p:spPr>
            <a:xfrm>
              <a:off x="10922"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cs typeface="+mn-ea"/>
                  <a:sym typeface="+mn-lt"/>
                </a:rPr>
                <a:t>投标管理</a:t>
              </a:r>
              <a:endParaRPr lang="zh-CN" altLang="en-US" sz="1100" b="1" dirty="0">
                <a:cs typeface="+mn-ea"/>
                <a:sym typeface="+mn-lt"/>
              </a:endParaRPr>
            </a:p>
          </p:txBody>
        </p:sp>
        <p:sp>
          <p:nvSpPr>
            <p:cNvPr id="318" name="矩形: 圆角 317"/>
            <p:cNvSpPr/>
            <p:nvPr/>
          </p:nvSpPr>
          <p:spPr>
            <a:xfrm>
              <a:off x="12266"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cs typeface="+mn-ea"/>
                  <a:sym typeface="+mn-lt"/>
                </a:rPr>
                <a:t>履约协同</a:t>
              </a:r>
              <a:endParaRPr lang="zh-CN" altLang="en-US" sz="1100" b="1" dirty="0">
                <a:cs typeface="+mn-ea"/>
                <a:sym typeface="+mn-lt"/>
              </a:endParaRPr>
            </a:p>
          </p:txBody>
        </p:sp>
        <p:sp>
          <p:nvSpPr>
            <p:cNvPr id="319" name="矩形: 圆角 318"/>
            <p:cNvSpPr/>
            <p:nvPr/>
          </p:nvSpPr>
          <p:spPr>
            <a:xfrm>
              <a:off x="13611" y="1933"/>
              <a:ext cx="1297" cy="700"/>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dirty="0">
                  <a:cs typeface="+mn-ea"/>
                  <a:sym typeface="+mn-lt"/>
                </a:rPr>
                <a:t>费用管理</a:t>
              </a:r>
              <a:endParaRPr lang="zh-CN" altLang="en-US" sz="1100" b="1" dirty="0">
                <a:cs typeface="+mn-ea"/>
                <a:sym typeface="+mn-lt"/>
              </a:endParaRPr>
            </a:p>
          </p:txBody>
        </p:sp>
        <p:sp>
          <p:nvSpPr>
            <p:cNvPr id="321" name="文本框 320"/>
            <p:cNvSpPr txBox="1"/>
            <p:nvPr/>
          </p:nvSpPr>
          <p:spPr>
            <a:xfrm>
              <a:off x="4551" y="1486"/>
              <a:ext cx="1848" cy="459"/>
            </a:xfrm>
            <a:prstGeom prst="rect">
              <a:avLst/>
            </a:prstGeom>
            <a:noFill/>
          </p:spPr>
          <p:txBody>
            <a:bodyPr wrap="none" rtlCol="0">
              <a:spAutoFit/>
            </a:bodyPr>
            <a:lstStyle/>
            <a:p>
              <a:pPr algn="l"/>
              <a:r>
                <a:rPr lang="zh-CN" altLang="en-US" sz="1300" dirty="0">
                  <a:cs typeface="+mn-ea"/>
                  <a:sym typeface="+mn-lt"/>
                </a:rPr>
                <a:t>采购管理门户</a:t>
              </a:r>
              <a:endParaRPr lang="zh-CN" altLang="en-US" sz="1300" dirty="0">
                <a:cs typeface="+mn-ea"/>
                <a:sym typeface="+mn-lt"/>
              </a:endParaRPr>
            </a:p>
          </p:txBody>
        </p:sp>
        <p:sp>
          <p:nvSpPr>
            <p:cNvPr id="322" name="文本框 321"/>
            <p:cNvSpPr txBox="1"/>
            <p:nvPr/>
          </p:nvSpPr>
          <p:spPr>
            <a:xfrm>
              <a:off x="11107" y="1486"/>
              <a:ext cx="2129" cy="460"/>
            </a:xfrm>
            <a:prstGeom prst="rect">
              <a:avLst/>
            </a:prstGeom>
            <a:noFill/>
          </p:spPr>
          <p:txBody>
            <a:bodyPr wrap="none" rtlCol="0">
              <a:spAutoFit/>
            </a:bodyPr>
            <a:lstStyle/>
            <a:p>
              <a:r>
                <a:rPr lang="zh-CN" altLang="en-US" sz="1300" dirty="0">
                  <a:cs typeface="+mn-ea"/>
                  <a:sym typeface="+mn-lt"/>
                </a:rPr>
                <a:t>供应商服务门户</a:t>
              </a:r>
              <a:endParaRPr lang="zh-CN" altLang="en-US" sz="1300" dirty="0">
                <a:cs typeface="+mn-ea"/>
                <a:sym typeface="+mn-lt"/>
              </a:endParaRPr>
            </a:p>
          </p:txBody>
        </p:sp>
        <p:sp>
          <p:nvSpPr>
            <p:cNvPr id="390" name="文本框 389"/>
            <p:cNvSpPr txBox="1"/>
            <p:nvPr/>
          </p:nvSpPr>
          <p:spPr>
            <a:xfrm>
              <a:off x="383" y="1362"/>
              <a:ext cx="921" cy="824"/>
            </a:xfrm>
            <a:prstGeom prst="rect">
              <a:avLst/>
            </a:prstGeom>
            <a:noFill/>
          </p:spPr>
          <p:txBody>
            <a:bodyPr wrap="square" rtlCol="0">
              <a:spAutoFit/>
            </a:bodyPr>
            <a:lstStyle/>
            <a:p>
              <a:r>
                <a:rPr lang="zh-CN" altLang="en-US" sz="1400" b="1" dirty="0">
                  <a:solidFill>
                    <a:schemeClr val="bg1"/>
                  </a:solidFill>
                  <a:cs typeface="+mn-ea"/>
                  <a:sym typeface="+mn-lt"/>
                </a:rPr>
                <a:t>前端应用</a:t>
              </a:r>
              <a:endParaRPr lang="zh-CN" altLang="en-US" sz="1400" b="1" dirty="0">
                <a:solidFill>
                  <a:schemeClr val="bg1"/>
                </a:solidFill>
                <a:cs typeface="+mn-ea"/>
                <a:sym typeface="+mn-lt"/>
              </a:endParaRPr>
            </a:p>
          </p:txBody>
        </p:sp>
      </p:grpSp>
      <p:grpSp>
        <p:nvGrpSpPr>
          <p:cNvPr id="40" name="组合 39"/>
          <p:cNvGrpSpPr/>
          <p:nvPr/>
        </p:nvGrpSpPr>
        <p:grpSpPr>
          <a:xfrm>
            <a:off x="167005" y="5658485"/>
            <a:ext cx="9402445" cy="566420"/>
            <a:chOff x="167" y="7604"/>
            <a:chExt cx="14807" cy="892"/>
          </a:xfrm>
        </p:grpSpPr>
        <p:sp>
          <p:nvSpPr>
            <p:cNvPr id="301" name="矩形: 圆角 300"/>
            <p:cNvSpPr/>
            <p:nvPr/>
          </p:nvSpPr>
          <p:spPr>
            <a:xfrm>
              <a:off x="167" y="7604"/>
              <a:ext cx="14807" cy="892"/>
            </a:xfrm>
            <a:prstGeom prst="roundRect">
              <a:avLst>
                <a:gd name="adj" fmla="val 10655"/>
              </a:avLst>
            </a:prstGeom>
            <a:gradFill>
              <a:gsLst>
                <a:gs pos="9000">
                  <a:srgbClr val="033E8C"/>
                </a:gs>
                <a:gs pos="100000">
                  <a:srgbClr val="3365A6"/>
                </a:gs>
              </a:gsLst>
              <a:lin ang="2700000" scaled="0"/>
            </a:gra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78" name="矩形: 圆角 377"/>
            <p:cNvSpPr/>
            <p:nvPr/>
          </p:nvSpPr>
          <p:spPr>
            <a:xfrm>
              <a:off x="1457" y="7773"/>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统一用户</a:t>
              </a:r>
              <a:r>
                <a:rPr lang="zh-CN" altLang="en-US" sz="1100" dirty="0">
                  <a:cs typeface="+mn-ea"/>
                  <a:sym typeface="+mn-lt"/>
                </a:rPr>
                <a:t>管理</a:t>
              </a:r>
              <a:endParaRPr lang="zh-CN" altLang="en-US" sz="1100" dirty="0">
                <a:cs typeface="+mn-ea"/>
                <a:sym typeface="+mn-lt"/>
              </a:endParaRPr>
            </a:p>
          </p:txBody>
        </p:sp>
        <p:sp>
          <p:nvSpPr>
            <p:cNvPr id="379" name="矩形: 圆角 378"/>
            <p:cNvSpPr/>
            <p:nvPr/>
          </p:nvSpPr>
          <p:spPr>
            <a:xfrm>
              <a:off x="3749" y="7773"/>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统一单点</a:t>
              </a:r>
              <a:r>
                <a:rPr lang="zh-CN" altLang="en-US" sz="1100" dirty="0">
                  <a:cs typeface="+mn-ea"/>
                  <a:sym typeface="+mn-lt"/>
                </a:rPr>
                <a:t>登录</a:t>
              </a:r>
              <a:endParaRPr lang="zh-CN" altLang="en-US" sz="1100" dirty="0">
                <a:cs typeface="+mn-ea"/>
                <a:sym typeface="+mn-lt"/>
              </a:endParaRPr>
            </a:p>
          </p:txBody>
        </p:sp>
        <p:sp>
          <p:nvSpPr>
            <p:cNvPr id="380" name="矩形: 圆角 379"/>
            <p:cNvSpPr/>
            <p:nvPr/>
          </p:nvSpPr>
          <p:spPr>
            <a:xfrm>
              <a:off x="5913" y="7773"/>
              <a:ext cx="2221"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统一信息发布</a:t>
              </a:r>
              <a:r>
                <a:rPr lang="zh-CN" altLang="en-US" sz="1100" dirty="0">
                  <a:cs typeface="+mn-ea"/>
                  <a:sym typeface="+mn-lt"/>
                </a:rPr>
                <a:t>平台</a:t>
              </a:r>
              <a:endParaRPr lang="zh-CN" altLang="en-US" sz="1100" dirty="0">
                <a:cs typeface="+mn-ea"/>
                <a:sym typeface="+mn-lt"/>
              </a:endParaRPr>
            </a:p>
          </p:txBody>
        </p:sp>
        <p:sp>
          <p:nvSpPr>
            <p:cNvPr id="381" name="矩形: 圆角 380"/>
            <p:cNvSpPr/>
            <p:nvPr/>
          </p:nvSpPr>
          <p:spPr>
            <a:xfrm>
              <a:off x="8332" y="7773"/>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统一服务</a:t>
              </a:r>
              <a:r>
                <a:rPr lang="zh-CN" altLang="en-US" sz="1100" dirty="0">
                  <a:cs typeface="+mn-ea"/>
                  <a:sym typeface="+mn-lt"/>
                </a:rPr>
                <a:t>管理</a:t>
              </a:r>
              <a:endParaRPr lang="zh-CN" altLang="en-US" sz="1100" dirty="0">
                <a:cs typeface="+mn-ea"/>
                <a:sym typeface="+mn-lt"/>
              </a:endParaRPr>
            </a:p>
          </p:txBody>
        </p:sp>
        <p:sp>
          <p:nvSpPr>
            <p:cNvPr id="382" name="矩形: 圆角 381"/>
            <p:cNvSpPr/>
            <p:nvPr/>
          </p:nvSpPr>
          <p:spPr>
            <a:xfrm>
              <a:off x="10624" y="7773"/>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统一消息</a:t>
              </a:r>
              <a:r>
                <a:rPr lang="zh-CN" altLang="en-US" sz="1100" dirty="0">
                  <a:cs typeface="+mn-ea"/>
                  <a:sym typeface="+mn-lt"/>
                </a:rPr>
                <a:t>平台</a:t>
              </a:r>
              <a:endParaRPr lang="zh-CN" altLang="en-US" sz="1100" dirty="0">
                <a:cs typeface="+mn-ea"/>
                <a:sym typeface="+mn-lt"/>
              </a:endParaRPr>
            </a:p>
          </p:txBody>
        </p:sp>
        <p:sp>
          <p:nvSpPr>
            <p:cNvPr id="383" name="矩形: 圆角 382"/>
            <p:cNvSpPr/>
            <p:nvPr/>
          </p:nvSpPr>
          <p:spPr>
            <a:xfrm>
              <a:off x="12916" y="7773"/>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cs typeface="+mn-ea"/>
                  <a:sym typeface="+mn-lt"/>
                </a:rPr>
                <a:t>……</a:t>
              </a:r>
              <a:endParaRPr lang="en-US" altLang="zh-CN" sz="1100" dirty="0">
                <a:cs typeface="+mn-ea"/>
                <a:sym typeface="+mn-lt"/>
              </a:endParaRPr>
            </a:p>
          </p:txBody>
        </p:sp>
        <p:sp>
          <p:nvSpPr>
            <p:cNvPr id="392" name="文本框 391"/>
            <p:cNvSpPr txBox="1"/>
            <p:nvPr/>
          </p:nvSpPr>
          <p:spPr>
            <a:xfrm>
              <a:off x="383" y="7654"/>
              <a:ext cx="921" cy="822"/>
            </a:xfrm>
            <a:prstGeom prst="rect">
              <a:avLst/>
            </a:prstGeom>
            <a:noFill/>
          </p:spPr>
          <p:txBody>
            <a:bodyPr wrap="square" rtlCol="0">
              <a:spAutoFit/>
            </a:bodyPr>
            <a:lstStyle/>
            <a:p>
              <a:r>
                <a:rPr lang="zh-CN" altLang="en-US" sz="1400" b="1" dirty="0">
                  <a:solidFill>
                    <a:schemeClr val="bg1"/>
                  </a:solidFill>
                  <a:cs typeface="+mn-ea"/>
                  <a:sym typeface="+mn-lt"/>
                </a:rPr>
                <a:t>基础</a:t>
              </a:r>
              <a:r>
                <a:rPr lang="zh-CN" altLang="en-US" sz="1400" b="1" dirty="0">
                  <a:solidFill>
                    <a:schemeClr val="bg1"/>
                  </a:solidFill>
                  <a:cs typeface="+mn-ea"/>
                  <a:sym typeface="+mn-lt"/>
                </a:rPr>
                <a:t>支撑</a:t>
              </a:r>
              <a:endParaRPr lang="zh-CN" altLang="en-US" sz="1400" b="1" dirty="0">
                <a:solidFill>
                  <a:schemeClr val="bg1"/>
                </a:solidFill>
                <a:cs typeface="+mn-ea"/>
                <a:sym typeface="+mn-lt"/>
              </a:endParaRPr>
            </a:p>
          </p:txBody>
        </p:sp>
      </p:grpSp>
      <p:grpSp>
        <p:nvGrpSpPr>
          <p:cNvPr id="39" name="组合 38"/>
          <p:cNvGrpSpPr/>
          <p:nvPr/>
        </p:nvGrpSpPr>
        <p:grpSpPr>
          <a:xfrm>
            <a:off x="167005" y="6327140"/>
            <a:ext cx="9401810" cy="523240"/>
            <a:chOff x="223" y="9800"/>
            <a:chExt cx="14806" cy="824"/>
          </a:xfrm>
        </p:grpSpPr>
        <p:sp>
          <p:nvSpPr>
            <p:cNvPr id="302" name="矩形: 圆角 301"/>
            <p:cNvSpPr/>
            <p:nvPr/>
          </p:nvSpPr>
          <p:spPr>
            <a:xfrm>
              <a:off x="223" y="9824"/>
              <a:ext cx="14807" cy="800"/>
            </a:xfrm>
            <a:prstGeom prst="roundRect">
              <a:avLst>
                <a:gd name="adj" fmla="val 10655"/>
              </a:avLst>
            </a:prstGeom>
            <a:gradFill>
              <a:gsLst>
                <a:gs pos="9000">
                  <a:srgbClr val="033E8C"/>
                </a:gs>
                <a:gs pos="100000">
                  <a:srgbClr val="3365A6"/>
                </a:gs>
              </a:gsLst>
              <a:lin ang="2700000" scaled="0"/>
            </a:gra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4" name="矩形: 圆角 383"/>
            <p:cNvSpPr/>
            <p:nvPr/>
          </p:nvSpPr>
          <p:spPr>
            <a:xfrm>
              <a:off x="1513" y="9925"/>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微服务架构</a:t>
              </a:r>
              <a:endParaRPr lang="zh-CN" altLang="en-US" sz="1100" dirty="0">
                <a:cs typeface="+mn-ea"/>
                <a:sym typeface="+mn-lt"/>
              </a:endParaRPr>
            </a:p>
          </p:txBody>
        </p:sp>
        <p:sp>
          <p:nvSpPr>
            <p:cNvPr id="385" name="矩形: 圆角 384"/>
            <p:cNvSpPr/>
            <p:nvPr/>
          </p:nvSpPr>
          <p:spPr>
            <a:xfrm>
              <a:off x="3805" y="9925"/>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分布式数据库</a:t>
              </a:r>
              <a:endParaRPr lang="zh-CN" altLang="en-US" sz="1100" dirty="0">
                <a:cs typeface="+mn-ea"/>
                <a:sym typeface="+mn-lt"/>
              </a:endParaRPr>
            </a:p>
          </p:txBody>
        </p:sp>
        <p:sp>
          <p:nvSpPr>
            <p:cNvPr id="386" name="矩形: 圆角 385"/>
            <p:cNvSpPr/>
            <p:nvPr/>
          </p:nvSpPr>
          <p:spPr>
            <a:xfrm>
              <a:off x="6096" y="9925"/>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分布式存储</a:t>
              </a:r>
              <a:endParaRPr lang="zh-CN" altLang="en-US" sz="1100" dirty="0">
                <a:cs typeface="+mn-ea"/>
                <a:sym typeface="+mn-lt"/>
              </a:endParaRPr>
            </a:p>
          </p:txBody>
        </p:sp>
        <p:sp>
          <p:nvSpPr>
            <p:cNvPr id="387" name="矩形: 圆角 386"/>
            <p:cNvSpPr/>
            <p:nvPr/>
          </p:nvSpPr>
          <p:spPr>
            <a:xfrm>
              <a:off x="8388" y="9925"/>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分布式缓存</a:t>
              </a:r>
              <a:endParaRPr lang="zh-CN" altLang="en-US" sz="1100" dirty="0">
                <a:cs typeface="+mn-ea"/>
                <a:sym typeface="+mn-lt"/>
              </a:endParaRPr>
            </a:p>
          </p:txBody>
        </p:sp>
        <p:sp>
          <p:nvSpPr>
            <p:cNvPr id="388" name="矩形: 圆角 387"/>
            <p:cNvSpPr/>
            <p:nvPr/>
          </p:nvSpPr>
          <p:spPr>
            <a:xfrm>
              <a:off x="10680" y="9925"/>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容器化平台</a:t>
              </a:r>
              <a:endParaRPr lang="zh-CN" altLang="en-US" sz="1100" dirty="0">
                <a:cs typeface="+mn-ea"/>
                <a:sym typeface="+mn-lt"/>
              </a:endParaRPr>
            </a:p>
          </p:txBody>
        </p:sp>
        <p:sp>
          <p:nvSpPr>
            <p:cNvPr id="389" name="矩形: 圆角 388"/>
            <p:cNvSpPr/>
            <p:nvPr/>
          </p:nvSpPr>
          <p:spPr>
            <a:xfrm>
              <a:off x="12972" y="9925"/>
              <a:ext cx="198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服务编排</a:t>
              </a:r>
              <a:endParaRPr lang="zh-CN" altLang="en-US" sz="1100" dirty="0">
                <a:cs typeface="+mn-ea"/>
                <a:sym typeface="+mn-lt"/>
              </a:endParaRPr>
            </a:p>
          </p:txBody>
        </p:sp>
        <p:sp>
          <p:nvSpPr>
            <p:cNvPr id="393" name="文本框 392"/>
            <p:cNvSpPr txBox="1"/>
            <p:nvPr/>
          </p:nvSpPr>
          <p:spPr>
            <a:xfrm>
              <a:off x="439" y="9800"/>
              <a:ext cx="921" cy="824"/>
            </a:xfrm>
            <a:prstGeom prst="rect">
              <a:avLst/>
            </a:prstGeom>
            <a:noFill/>
          </p:spPr>
          <p:txBody>
            <a:bodyPr wrap="square" rtlCol="0">
              <a:spAutoFit/>
            </a:bodyPr>
            <a:lstStyle/>
            <a:p>
              <a:r>
                <a:rPr lang="zh-CN" altLang="en-US" sz="1400" b="1" dirty="0">
                  <a:solidFill>
                    <a:schemeClr val="bg1"/>
                  </a:solidFill>
                  <a:cs typeface="+mn-ea"/>
                  <a:sym typeface="+mn-lt"/>
                </a:rPr>
                <a:t>基础架构</a:t>
              </a:r>
              <a:endParaRPr lang="zh-CN" altLang="en-US" sz="1400" b="1" dirty="0">
                <a:solidFill>
                  <a:schemeClr val="bg1"/>
                </a:solidFill>
                <a:cs typeface="+mn-ea"/>
                <a:sym typeface="+mn-lt"/>
              </a:endParaRPr>
            </a:p>
          </p:txBody>
        </p:sp>
      </p:grpSp>
      <p:grpSp>
        <p:nvGrpSpPr>
          <p:cNvPr id="41" name="组合 40"/>
          <p:cNvGrpSpPr/>
          <p:nvPr/>
        </p:nvGrpSpPr>
        <p:grpSpPr>
          <a:xfrm>
            <a:off x="167005" y="3033395"/>
            <a:ext cx="9402445" cy="2523315"/>
            <a:chOff x="167" y="2834"/>
            <a:chExt cx="14807" cy="3913"/>
          </a:xfrm>
        </p:grpSpPr>
        <p:sp>
          <p:nvSpPr>
            <p:cNvPr id="300" name="矩形: 圆角 299"/>
            <p:cNvSpPr/>
            <p:nvPr/>
          </p:nvSpPr>
          <p:spPr>
            <a:xfrm>
              <a:off x="167" y="2834"/>
              <a:ext cx="14807" cy="3913"/>
            </a:xfrm>
            <a:prstGeom prst="roundRect">
              <a:avLst>
                <a:gd name="adj" fmla="val 4001"/>
              </a:avLst>
            </a:prstGeom>
            <a:gradFill>
              <a:gsLst>
                <a:gs pos="9000">
                  <a:srgbClr val="033E8C"/>
                </a:gs>
                <a:gs pos="100000">
                  <a:srgbClr val="3365A6"/>
                </a:gs>
              </a:gsLst>
              <a:lin ang="2700000" scaled="0"/>
            </a:gradFill>
            <a:ln w="12700">
              <a:noFill/>
            </a:ln>
            <a:effectLst>
              <a:outerShdw blurRad="254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35" name="矩形: 圆角 334"/>
            <p:cNvSpPr/>
            <p:nvPr/>
          </p:nvSpPr>
          <p:spPr>
            <a:xfrm>
              <a:off x="1493" y="2901"/>
              <a:ext cx="3473" cy="3669"/>
            </a:xfrm>
            <a:prstGeom prst="roundRect">
              <a:avLst>
                <a:gd name="adj" fmla="val 927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6" name="矩形: 圆角 335"/>
            <p:cNvSpPr/>
            <p:nvPr/>
          </p:nvSpPr>
          <p:spPr>
            <a:xfrm>
              <a:off x="6144" y="2929"/>
              <a:ext cx="3602" cy="3669"/>
            </a:xfrm>
            <a:prstGeom prst="roundRect">
              <a:avLst>
                <a:gd name="adj" fmla="val 840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7" name="矩形: 圆角 336"/>
            <p:cNvSpPr/>
            <p:nvPr/>
          </p:nvSpPr>
          <p:spPr>
            <a:xfrm>
              <a:off x="10537" y="2915"/>
              <a:ext cx="3562" cy="3669"/>
            </a:xfrm>
            <a:prstGeom prst="roundRect">
              <a:avLst>
                <a:gd name="adj" fmla="val 837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4" name="矩形: 圆角 343"/>
            <p:cNvSpPr/>
            <p:nvPr/>
          </p:nvSpPr>
          <p:spPr>
            <a:xfrm>
              <a:off x="1589" y="3432"/>
              <a:ext cx="3244" cy="42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招标采购</a:t>
              </a:r>
              <a:r>
                <a:rPr lang="zh-CN" altLang="en-US" sz="1100" dirty="0">
                  <a:cs typeface="+mn-ea"/>
                  <a:sym typeface="+mn-lt"/>
                </a:rPr>
                <a:t>平台</a:t>
              </a:r>
              <a:endParaRPr lang="zh-CN" altLang="en-US" sz="1100" dirty="0">
                <a:cs typeface="+mn-ea"/>
                <a:sym typeface="+mn-lt"/>
              </a:endParaRPr>
            </a:p>
          </p:txBody>
        </p:sp>
        <p:sp>
          <p:nvSpPr>
            <p:cNvPr id="345" name="矩形: 圆角 344"/>
            <p:cNvSpPr/>
            <p:nvPr/>
          </p:nvSpPr>
          <p:spPr>
            <a:xfrm>
              <a:off x="1589" y="3905"/>
              <a:ext cx="3243" cy="424"/>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阳光优采</a:t>
              </a:r>
              <a:r>
                <a:rPr lang="zh-CN" altLang="en-US" sz="1100" dirty="0">
                  <a:cs typeface="+mn-ea"/>
                  <a:sym typeface="+mn-lt"/>
                </a:rPr>
                <a:t>平台</a:t>
              </a:r>
              <a:endParaRPr lang="zh-CN" altLang="en-US" sz="1100" dirty="0">
                <a:cs typeface="+mn-ea"/>
                <a:sym typeface="+mn-lt"/>
              </a:endParaRPr>
            </a:p>
          </p:txBody>
        </p:sp>
        <p:sp>
          <p:nvSpPr>
            <p:cNvPr id="346" name="矩形: 圆角 345"/>
            <p:cNvSpPr/>
            <p:nvPr/>
          </p:nvSpPr>
          <p:spPr>
            <a:xfrm>
              <a:off x="1609" y="4393"/>
              <a:ext cx="3242" cy="438"/>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金融服务</a:t>
              </a:r>
              <a:r>
                <a:rPr lang="zh-CN" altLang="en-US" sz="1100" dirty="0">
                  <a:cs typeface="+mn-ea"/>
                  <a:sym typeface="+mn-lt"/>
                </a:rPr>
                <a:t>平台</a:t>
              </a:r>
              <a:endParaRPr lang="zh-CN" altLang="en-US" sz="1100" dirty="0">
                <a:cs typeface="+mn-ea"/>
                <a:sym typeface="+mn-lt"/>
              </a:endParaRPr>
            </a:p>
          </p:txBody>
        </p:sp>
        <p:sp>
          <p:nvSpPr>
            <p:cNvPr id="347" name="矩形: 圆角 346"/>
            <p:cNvSpPr/>
            <p:nvPr/>
          </p:nvSpPr>
          <p:spPr>
            <a:xfrm>
              <a:off x="1589" y="4898"/>
              <a:ext cx="3241" cy="429"/>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电子档案</a:t>
              </a:r>
              <a:endParaRPr lang="zh-CN" altLang="en-US" sz="1100" dirty="0">
                <a:cs typeface="+mn-ea"/>
                <a:sym typeface="+mn-lt"/>
              </a:endParaRPr>
            </a:p>
          </p:txBody>
        </p:sp>
        <p:sp>
          <p:nvSpPr>
            <p:cNvPr id="348" name="矩形: 圆角 347"/>
            <p:cNvSpPr/>
            <p:nvPr/>
          </p:nvSpPr>
          <p:spPr>
            <a:xfrm>
              <a:off x="6398" y="3491"/>
              <a:ext cx="3130" cy="567"/>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监管</a:t>
              </a:r>
              <a:r>
                <a:rPr lang="zh-CN" altLang="en-US" sz="1100" dirty="0">
                  <a:cs typeface="+mn-ea"/>
                  <a:sym typeface="+mn-lt"/>
                </a:rPr>
                <a:t>工作台</a:t>
              </a:r>
              <a:endParaRPr lang="zh-CN" altLang="en-US" sz="1100" dirty="0">
                <a:cs typeface="+mn-ea"/>
                <a:sym typeface="+mn-lt"/>
              </a:endParaRPr>
            </a:p>
          </p:txBody>
        </p:sp>
        <p:sp>
          <p:nvSpPr>
            <p:cNvPr id="349" name="矩形: 圆角 348"/>
            <p:cNvSpPr/>
            <p:nvPr/>
          </p:nvSpPr>
          <p:spPr>
            <a:xfrm>
              <a:off x="6398" y="4109"/>
              <a:ext cx="3130" cy="566"/>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采购数智决策</a:t>
              </a:r>
              <a:r>
                <a:rPr lang="zh-CN" altLang="en-US" sz="1100" dirty="0">
                  <a:cs typeface="+mn-ea"/>
                  <a:sym typeface="+mn-lt"/>
                </a:rPr>
                <a:t>中心</a:t>
              </a:r>
              <a:endParaRPr lang="zh-CN" altLang="en-US" sz="1100" dirty="0">
                <a:cs typeface="+mn-ea"/>
                <a:sym typeface="+mn-lt"/>
              </a:endParaRPr>
            </a:p>
          </p:txBody>
        </p:sp>
        <p:sp>
          <p:nvSpPr>
            <p:cNvPr id="350" name="矩形: 圆角 349"/>
            <p:cNvSpPr/>
            <p:nvPr/>
          </p:nvSpPr>
          <p:spPr>
            <a:xfrm>
              <a:off x="6398" y="4726"/>
              <a:ext cx="3079" cy="566"/>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采购风险管控</a:t>
              </a:r>
              <a:r>
                <a:rPr lang="zh-CN" altLang="en-US" sz="1100" dirty="0">
                  <a:cs typeface="+mn-ea"/>
                  <a:sym typeface="+mn-lt"/>
                </a:rPr>
                <a:t>中心</a:t>
              </a:r>
              <a:endParaRPr lang="zh-CN" altLang="en-US" sz="1100" dirty="0">
                <a:cs typeface="+mn-ea"/>
                <a:sym typeface="+mn-lt"/>
              </a:endParaRPr>
            </a:p>
          </p:txBody>
        </p:sp>
        <p:sp>
          <p:nvSpPr>
            <p:cNvPr id="352" name="矩形: 圆角 351"/>
            <p:cNvSpPr/>
            <p:nvPr/>
          </p:nvSpPr>
          <p:spPr>
            <a:xfrm>
              <a:off x="10733" y="3477"/>
              <a:ext cx="3228"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招标（采购）文件竞争性</a:t>
              </a:r>
              <a:r>
                <a:rPr lang="zh-CN" altLang="en-US" sz="1100" dirty="0">
                  <a:cs typeface="+mn-ea"/>
                  <a:sym typeface="+mn-lt"/>
                </a:rPr>
                <a:t>审查</a:t>
              </a:r>
              <a:endParaRPr lang="zh-CN" altLang="en-US" sz="1100" dirty="0">
                <a:cs typeface="+mn-ea"/>
                <a:sym typeface="+mn-lt"/>
              </a:endParaRPr>
            </a:p>
          </p:txBody>
        </p:sp>
        <p:sp>
          <p:nvSpPr>
            <p:cNvPr id="353" name="矩形: 圆角 352"/>
            <p:cNvSpPr/>
            <p:nvPr/>
          </p:nvSpPr>
          <p:spPr>
            <a:xfrm>
              <a:off x="10734" y="4095"/>
              <a:ext cx="3227"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智能辅助</a:t>
              </a:r>
              <a:r>
                <a:rPr lang="zh-CN" altLang="en-US" sz="1100" dirty="0">
                  <a:cs typeface="+mn-ea"/>
                  <a:sym typeface="+mn-lt"/>
                </a:rPr>
                <a:t>评标</a:t>
              </a:r>
              <a:endParaRPr lang="zh-CN" altLang="en-US" sz="1100" dirty="0">
                <a:cs typeface="+mn-ea"/>
                <a:sym typeface="+mn-lt"/>
              </a:endParaRPr>
            </a:p>
          </p:txBody>
        </p:sp>
        <p:sp>
          <p:nvSpPr>
            <p:cNvPr id="354" name="矩形: 圆角 353"/>
            <p:cNvSpPr/>
            <p:nvPr/>
          </p:nvSpPr>
          <p:spPr>
            <a:xfrm>
              <a:off x="10735" y="4713"/>
              <a:ext cx="3227"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cs typeface="+mn-ea"/>
                  <a:sym typeface="+mn-lt"/>
                </a:rPr>
                <a:t>AI+</a:t>
              </a:r>
              <a:r>
                <a:rPr lang="zh-CN" altLang="en-US" sz="1100" dirty="0">
                  <a:cs typeface="+mn-ea"/>
                  <a:sym typeface="+mn-lt"/>
                </a:rPr>
                <a:t>电子合同</a:t>
              </a:r>
              <a:endParaRPr lang="zh-CN" altLang="en-US" sz="1100" dirty="0">
                <a:cs typeface="+mn-ea"/>
                <a:sym typeface="+mn-lt"/>
              </a:endParaRPr>
            </a:p>
          </p:txBody>
        </p:sp>
        <p:sp>
          <p:nvSpPr>
            <p:cNvPr id="355" name="矩形: 圆角 354"/>
            <p:cNvSpPr/>
            <p:nvPr/>
          </p:nvSpPr>
          <p:spPr>
            <a:xfrm>
              <a:off x="10736" y="5331"/>
              <a:ext cx="3225" cy="581"/>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cs typeface="+mn-ea"/>
                  <a:sym typeface="+mn-lt"/>
                </a:rPr>
                <a:t>AI</a:t>
              </a:r>
              <a:r>
                <a:rPr lang="zh-CN" altLang="en-US" sz="1100" dirty="0">
                  <a:cs typeface="+mn-ea"/>
                  <a:sym typeface="+mn-lt"/>
                </a:rPr>
                <a:t>智能</a:t>
              </a:r>
              <a:r>
                <a:rPr lang="zh-CN" altLang="en-US" sz="1100" dirty="0">
                  <a:cs typeface="+mn-ea"/>
                  <a:sym typeface="+mn-lt"/>
                </a:rPr>
                <a:t>助手</a:t>
              </a:r>
              <a:endParaRPr lang="zh-CN" altLang="en-US" sz="1100" dirty="0">
                <a:cs typeface="+mn-ea"/>
                <a:sym typeface="+mn-lt"/>
              </a:endParaRPr>
            </a:p>
          </p:txBody>
        </p:sp>
        <p:sp>
          <p:nvSpPr>
            <p:cNvPr id="365" name="文本框 364"/>
            <p:cNvSpPr txBox="1"/>
            <p:nvPr/>
          </p:nvSpPr>
          <p:spPr>
            <a:xfrm>
              <a:off x="2148" y="2973"/>
              <a:ext cx="1848" cy="452"/>
            </a:xfrm>
            <a:prstGeom prst="rect">
              <a:avLst/>
            </a:prstGeom>
            <a:noFill/>
          </p:spPr>
          <p:txBody>
            <a:bodyPr wrap="square" rtlCol="0">
              <a:spAutoFit/>
            </a:bodyPr>
            <a:lstStyle/>
            <a:p>
              <a:r>
                <a:rPr lang="zh-CN" altLang="en-US" sz="1300" dirty="0">
                  <a:cs typeface="+mn-ea"/>
                  <a:sym typeface="+mn-lt"/>
                </a:rPr>
                <a:t>交易业务</a:t>
              </a:r>
              <a:r>
                <a:rPr lang="zh-CN" altLang="en-US" sz="1300" dirty="0">
                  <a:cs typeface="+mn-ea"/>
                  <a:sym typeface="+mn-lt"/>
                </a:rPr>
                <a:t>应用</a:t>
              </a:r>
              <a:endParaRPr lang="zh-CN" altLang="en-US" sz="1300" dirty="0">
                <a:cs typeface="+mn-ea"/>
                <a:sym typeface="+mn-lt"/>
              </a:endParaRPr>
            </a:p>
          </p:txBody>
        </p:sp>
        <p:sp>
          <p:nvSpPr>
            <p:cNvPr id="366" name="文本框 365"/>
            <p:cNvSpPr txBox="1"/>
            <p:nvPr/>
          </p:nvSpPr>
          <p:spPr>
            <a:xfrm>
              <a:off x="6918" y="3000"/>
              <a:ext cx="1848" cy="452"/>
            </a:xfrm>
            <a:prstGeom prst="rect">
              <a:avLst/>
            </a:prstGeom>
            <a:noFill/>
          </p:spPr>
          <p:txBody>
            <a:bodyPr wrap="square" rtlCol="0">
              <a:spAutoFit/>
            </a:bodyPr>
            <a:lstStyle/>
            <a:p>
              <a:r>
                <a:rPr lang="zh-CN" altLang="en-US" sz="1300" dirty="0">
                  <a:cs typeface="+mn-ea"/>
                  <a:sym typeface="+mn-lt"/>
                </a:rPr>
                <a:t>辅助监管</a:t>
              </a:r>
              <a:r>
                <a:rPr lang="zh-CN" altLang="en-US" sz="1300" dirty="0">
                  <a:cs typeface="+mn-ea"/>
                  <a:sym typeface="+mn-lt"/>
                </a:rPr>
                <a:t>应用</a:t>
              </a:r>
              <a:endParaRPr lang="zh-CN" altLang="en-US" sz="1300" dirty="0">
                <a:cs typeface="+mn-ea"/>
                <a:sym typeface="+mn-lt"/>
              </a:endParaRPr>
            </a:p>
          </p:txBody>
        </p:sp>
        <p:sp>
          <p:nvSpPr>
            <p:cNvPr id="367" name="文本框 366"/>
            <p:cNvSpPr txBox="1"/>
            <p:nvPr/>
          </p:nvSpPr>
          <p:spPr>
            <a:xfrm>
              <a:off x="11212" y="2986"/>
              <a:ext cx="2312" cy="452"/>
            </a:xfrm>
            <a:prstGeom prst="rect">
              <a:avLst/>
            </a:prstGeom>
            <a:noFill/>
          </p:spPr>
          <p:txBody>
            <a:bodyPr wrap="square" rtlCol="0">
              <a:spAutoFit/>
            </a:bodyPr>
            <a:lstStyle/>
            <a:p>
              <a:r>
                <a:rPr lang="zh-CN" altLang="en-US" sz="1300" dirty="0">
                  <a:cs typeface="+mn-ea"/>
                  <a:sym typeface="+mn-lt"/>
                </a:rPr>
                <a:t>人工智能</a:t>
              </a:r>
              <a:r>
                <a:rPr lang="en-US" altLang="zh-CN" sz="1300" dirty="0">
                  <a:cs typeface="+mn-ea"/>
                  <a:sym typeface="+mn-lt"/>
                </a:rPr>
                <a:t>+</a:t>
              </a:r>
              <a:r>
                <a:rPr lang="zh-CN" altLang="en-US" sz="1300" dirty="0">
                  <a:cs typeface="+mn-ea"/>
                  <a:sym typeface="+mn-lt"/>
                </a:rPr>
                <a:t>应用</a:t>
              </a:r>
              <a:endParaRPr lang="zh-CN" altLang="en-US" sz="1300" dirty="0">
                <a:cs typeface="+mn-ea"/>
                <a:sym typeface="+mn-lt"/>
              </a:endParaRPr>
            </a:p>
          </p:txBody>
        </p:sp>
        <p:sp>
          <p:nvSpPr>
            <p:cNvPr id="391" name="文本框 390"/>
            <p:cNvSpPr txBox="1"/>
            <p:nvPr/>
          </p:nvSpPr>
          <p:spPr>
            <a:xfrm>
              <a:off x="536" y="3749"/>
              <a:ext cx="523" cy="2146"/>
            </a:xfrm>
            <a:prstGeom prst="rect">
              <a:avLst/>
            </a:prstGeom>
            <a:noFill/>
          </p:spPr>
          <p:txBody>
            <a:bodyPr wrap="square" rtlCol="0">
              <a:spAutoFit/>
            </a:bodyPr>
            <a:lstStyle/>
            <a:p>
              <a:r>
                <a:rPr lang="zh-CN" altLang="en-US" sz="1400" b="1" dirty="0">
                  <a:solidFill>
                    <a:schemeClr val="bg1"/>
                  </a:solidFill>
                  <a:cs typeface="+mn-ea"/>
                  <a:sym typeface="+mn-lt"/>
                </a:rPr>
                <a:t>业务能力中心</a:t>
              </a:r>
              <a:endParaRPr lang="zh-CN" altLang="en-US" sz="1400" b="1" dirty="0">
                <a:solidFill>
                  <a:schemeClr val="bg1"/>
                </a:solidFill>
                <a:cs typeface="+mn-ea"/>
                <a:sym typeface="+mn-lt"/>
              </a:endParaRPr>
            </a:p>
          </p:txBody>
        </p:sp>
        <p:sp>
          <p:nvSpPr>
            <p:cNvPr id="11" name="矩形: 圆角 346"/>
            <p:cNvSpPr/>
            <p:nvPr/>
          </p:nvSpPr>
          <p:spPr>
            <a:xfrm>
              <a:off x="1589" y="5414"/>
              <a:ext cx="3240" cy="465"/>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cs typeface="+mn-ea"/>
                  <a:sym typeface="+mn-lt"/>
                </a:rPr>
                <a:t>移动端</a:t>
              </a:r>
              <a:r>
                <a:rPr lang="en-US" altLang="zh-CN" sz="1100" dirty="0">
                  <a:cs typeface="+mn-ea"/>
                  <a:sym typeface="+mn-lt"/>
                </a:rPr>
                <a:t>APP</a:t>
              </a:r>
              <a:endParaRPr lang="en-US" altLang="zh-CN" sz="1100" dirty="0">
                <a:cs typeface="+mn-ea"/>
                <a:sym typeface="+mn-lt"/>
              </a:endParaRPr>
            </a:p>
          </p:txBody>
        </p:sp>
      </p:grpSp>
      <p:grpSp>
        <p:nvGrpSpPr>
          <p:cNvPr id="46" name="组合 45"/>
          <p:cNvGrpSpPr/>
          <p:nvPr/>
        </p:nvGrpSpPr>
        <p:grpSpPr>
          <a:xfrm>
            <a:off x="7291070" y="1809750"/>
            <a:ext cx="2195195" cy="280035"/>
            <a:chOff x="5993" y="-957"/>
            <a:chExt cx="3842" cy="515"/>
          </a:xfrm>
        </p:grpSpPr>
        <p:sp>
          <p:nvSpPr>
            <p:cNvPr id="47" name="圆角矩形 3"/>
            <p:cNvSpPr/>
            <p:nvPr>
              <p:custDataLst>
                <p:tags r:id="rId1"/>
              </p:custDataLst>
            </p:nvPr>
          </p:nvSpPr>
          <p:spPr>
            <a:xfrm>
              <a:off x="5993" y="-957"/>
              <a:ext cx="3842" cy="515"/>
            </a:xfrm>
            <a:prstGeom prst="rect">
              <a:avLst/>
            </a:prstGeom>
            <a:solidFill>
              <a:srgbClr val="107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移动设备</a:t>
              </a:r>
              <a:endParaRPr kumimoji="0" lang="zh-CN" altLang="en-US" sz="1050" b="1"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pic>
          <p:nvPicPr>
            <p:cNvPr id="48" name="图片 47" descr="苹果"/>
            <p:cNvPicPr>
              <a:picLocks noChangeAspect="1"/>
            </p:cNvPicPr>
            <p:nvPr/>
          </p:nvPicPr>
          <p:blipFill>
            <a:blip r:embed="rId2"/>
            <a:stretch>
              <a:fillRect/>
            </a:stretch>
          </p:blipFill>
          <p:spPr>
            <a:xfrm>
              <a:off x="7254" y="-850"/>
              <a:ext cx="336" cy="336"/>
            </a:xfrm>
            <a:prstGeom prst="rect">
              <a:avLst/>
            </a:prstGeom>
          </p:spPr>
        </p:pic>
        <p:pic>
          <p:nvPicPr>
            <p:cNvPr id="49" name="图片 48" descr="安卓"/>
            <p:cNvPicPr>
              <a:picLocks noChangeAspect="1"/>
            </p:cNvPicPr>
            <p:nvPr/>
          </p:nvPicPr>
          <p:blipFill>
            <a:blip r:embed="rId3"/>
            <a:stretch>
              <a:fillRect/>
            </a:stretch>
          </p:blipFill>
          <p:spPr>
            <a:xfrm>
              <a:off x="7822" y="-920"/>
              <a:ext cx="475" cy="475"/>
            </a:xfrm>
            <a:prstGeom prst="rect">
              <a:avLst/>
            </a:prstGeom>
          </p:spPr>
        </p:pic>
        <p:pic>
          <p:nvPicPr>
            <p:cNvPr id="50" name="图片 49" descr="微信"/>
            <p:cNvPicPr>
              <a:picLocks noChangeAspect="1"/>
            </p:cNvPicPr>
            <p:nvPr/>
          </p:nvPicPr>
          <p:blipFill>
            <a:blip r:embed="rId4"/>
            <a:stretch>
              <a:fillRect/>
            </a:stretch>
          </p:blipFill>
          <p:spPr>
            <a:xfrm>
              <a:off x="8529" y="-922"/>
              <a:ext cx="479" cy="480"/>
            </a:xfrm>
            <a:prstGeom prst="rect">
              <a:avLst/>
            </a:prstGeom>
          </p:spPr>
        </p:pic>
        <p:pic>
          <p:nvPicPr>
            <p:cNvPr id="51" name="图片 50" descr="小程序"/>
            <p:cNvPicPr>
              <a:picLocks noChangeAspect="1"/>
            </p:cNvPicPr>
            <p:nvPr/>
          </p:nvPicPr>
          <p:blipFill>
            <a:blip r:embed="rId5"/>
            <a:stretch>
              <a:fillRect/>
            </a:stretch>
          </p:blipFill>
          <p:spPr>
            <a:xfrm>
              <a:off x="9240" y="-852"/>
              <a:ext cx="339" cy="340"/>
            </a:xfrm>
            <a:prstGeom prst="rect">
              <a:avLst/>
            </a:prstGeom>
          </p:spPr>
        </p:pic>
      </p:grpSp>
      <p:sp>
        <p:nvSpPr>
          <p:cNvPr id="5" name="圆角矩形 3"/>
          <p:cNvSpPr/>
          <p:nvPr>
            <p:custDataLst>
              <p:tags r:id="rId6"/>
            </p:custDataLst>
          </p:nvPr>
        </p:nvSpPr>
        <p:spPr>
          <a:xfrm>
            <a:off x="974090" y="1781175"/>
            <a:ext cx="3275965" cy="303530"/>
          </a:xfrm>
          <a:prstGeom prst="rect">
            <a:avLst/>
          </a:prstGeom>
          <a:solidFill>
            <a:srgbClr val="107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050" b="1"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59" name="组合 58"/>
          <p:cNvGrpSpPr/>
          <p:nvPr/>
        </p:nvGrpSpPr>
        <p:grpSpPr>
          <a:xfrm>
            <a:off x="4350385" y="1781175"/>
            <a:ext cx="2763765" cy="349976"/>
            <a:chOff x="881" y="1121"/>
            <a:chExt cx="4837" cy="643"/>
          </a:xfrm>
        </p:grpSpPr>
        <p:sp>
          <p:nvSpPr>
            <p:cNvPr id="60" name="圆角矩形 3"/>
            <p:cNvSpPr/>
            <p:nvPr>
              <p:custDataLst>
                <p:tags r:id="rId7"/>
              </p:custDataLst>
            </p:nvPr>
          </p:nvSpPr>
          <p:spPr>
            <a:xfrm>
              <a:off x="881" y="1160"/>
              <a:ext cx="4837" cy="515"/>
            </a:xfrm>
            <a:prstGeom prst="rect">
              <a:avLst/>
            </a:prstGeom>
            <a:solidFill>
              <a:srgbClr val="1070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50" b="1"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PC</a:t>
              </a:r>
              <a:r>
                <a:rPr kumimoji="0" lang="zh-CN" altLang="en-US" sz="1050" b="1"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电脑</a:t>
              </a:r>
              <a:endParaRPr kumimoji="0" lang="zh-CN" altLang="en-US" sz="1050" b="1"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pic>
          <p:nvPicPr>
            <p:cNvPr id="61" name="图片 60" descr="windows"/>
            <p:cNvPicPr>
              <a:picLocks noChangeAspect="1"/>
            </p:cNvPicPr>
            <p:nvPr/>
          </p:nvPicPr>
          <p:blipFill>
            <a:blip r:embed="rId8"/>
            <a:stretch>
              <a:fillRect/>
            </a:stretch>
          </p:blipFill>
          <p:spPr>
            <a:xfrm>
              <a:off x="2078" y="1172"/>
              <a:ext cx="468" cy="468"/>
            </a:xfrm>
            <a:prstGeom prst="rect">
              <a:avLst/>
            </a:prstGeom>
          </p:spPr>
        </p:pic>
        <p:pic>
          <p:nvPicPr>
            <p:cNvPr id="62" name="图片 61" descr="操作系统"/>
            <p:cNvPicPr>
              <a:picLocks noChangeAspect="1"/>
            </p:cNvPicPr>
            <p:nvPr/>
          </p:nvPicPr>
          <p:blipFill>
            <a:blip r:embed="rId9"/>
            <a:stretch>
              <a:fillRect/>
            </a:stretch>
          </p:blipFill>
          <p:spPr>
            <a:xfrm>
              <a:off x="4205" y="1121"/>
              <a:ext cx="554" cy="554"/>
            </a:xfrm>
            <a:prstGeom prst="rect">
              <a:avLst/>
            </a:prstGeom>
          </p:spPr>
        </p:pic>
        <p:sp>
          <p:nvSpPr>
            <p:cNvPr id="64" name="文本框 63"/>
            <p:cNvSpPr txBox="1"/>
            <p:nvPr/>
          </p:nvSpPr>
          <p:spPr>
            <a:xfrm>
              <a:off x="2525" y="1286"/>
              <a:ext cx="1387" cy="478"/>
            </a:xfrm>
            <a:prstGeom prst="rect">
              <a:avLst/>
            </a:prstGeom>
            <a:noFill/>
          </p:spPr>
          <p:txBody>
            <a:bodyPr wrap="square" rtlCol="0">
              <a:spAutoFit/>
            </a:bodyPr>
            <a:lstStyle/>
            <a:p>
              <a:r>
                <a:rPr lang="en-US" altLang="zh-CN" sz="11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windows</a:t>
              </a:r>
              <a:endParaRPr lang="en-US" altLang="zh-CN" sz="11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文本框 7"/>
            <p:cNvSpPr txBox="1"/>
            <p:nvPr>
              <p:custDataLst>
                <p:tags r:id="rId10"/>
              </p:custDataLst>
            </p:nvPr>
          </p:nvSpPr>
          <p:spPr>
            <a:xfrm>
              <a:off x="4552" y="1342"/>
              <a:ext cx="1166" cy="422"/>
            </a:xfrm>
            <a:prstGeom prst="rect">
              <a:avLst/>
            </a:prstGeom>
            <a:noFill/>
          </p:spPr>
          <p:txBody>
            <a:bodyPr wrap="square" rtlCol="0">
              <a:spAutoFit/>
            </a:bodyPr>
            <a:lstStyle/>
            <a:p>
              <a:r>
                <a:rPr lang="zh-CN" altLang="en-US" sz="90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信创环境</a:t>
              </a:r>
              <a:endParaRPr lang="zh-CN" altLang="en-US" sz="90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257" name="圆角矩形 179"/>
          <p:cNvSpPr/>
          <p:nvPr/>
        </p:nvSpPr>
        <p:spPr>
          <a:xfrm>
            <a:off x="1035050" y="1875790"/>
            <a:ext cx="504190" cy="1441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采购人</a:t>
            </a:r>
            <a:endPar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59" name="圆角矩形 179"/>
          <p:cNvSpPr/>
          <p:nvPr/>
        </p:nvSpPr>
        <p:spPr>
          <a:xfrm>
            <a:off x="1642110" y="1875790"/>
            <a:ext cx="500380" cy="1441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供应商</a:t>
            </a:r>
            <a:endPar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61" name="圆角矩形 179"/>
          <p:cNvSpPr/>
          <p:nvPr/>
        </p:nvSpPr>
        <p:spPr>
          <a:xfrm>
            <a:off x="2952115" y="1875790"/>
            <a:ext cx="593725" cy="1441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监管审计</a:t>
            </a:r>
            <a:endPar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78" name="圆角矩形 179"/>
          <p:cNvSpPr/>
          <p:nvPr/>
        </p:nvSpPr>
        <p:spPr>
          <a:xfrm>
            <a:off x="2245360" y="1875790"/>
            <a:ext cx="603885" cy="1441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评审专家</a:t>
            </a:r>
            <a:endPar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9" name="圆角矩形 179"/>
          <p:cNvSpPr/>
          <p:nvPr/>
        </p:nvSpPr>
        <p:spPr>
          <a:xfrm>
            <a:off x="3648710" y="1875790"/>
            <a:ext cx="539750" cy="1441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领导</a:t>
            </a:r>
            <a:endParaRPr lang="zh-CN" altLang="en-US" sz="800" dirty="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20" name="组合 19"/>
          <p:cNvGrpSpPr/>
          <p:nvPr/>
        </p:nvGrpSpPr>
        <p:grpSpPr>
          <a:xfrm>
            <a:off x="9657080" y="1689100"/>
            <a:ext cx="2264410" cy="5161915"/>
            <a:chOff x="15274" y="1679"/>
            <a:chExt cx="3566" cy="8129"/>
          </a:xfrm>
        </p:grpSpPr>
        <p:sp>
          <p:nvSpPr>
            <p:cNvPr id="10" name="矩形: 圆角 299"/>
            <p:cNvSpPr/>
            <p:nvPr/>
          </p:nvSpPr>
          <p:spPr>
            <a:xfrm>
              <a:off x="15275" y="1679"/>
              <a:ext cx="3564" cy="8129"/>
            </a:xfrm>
            <a:prstGeom prst="roundRect">
              <a:avLst>
                <a:gd name="adj" fmla="val 4001"/>
              </a:avLst>
            </a:prstGeom>
            <a:solidFill>
              <a:srgbClr val="033E8C"/>
            </a:solidFill>
          </p:spPr>
          <p:style>
            <a:lnRef idx="0">
              <a:srgbClr val="FFFFFF"/>
            </a:lnRef>
            <a:fillRef idx="1">
              <a:schemeClr val="accent1"/>
            </a:fillRef>
            <a:effectRef idx="0">
              <a:srgbClr val="FFFFFF"/>
            </a:effectRef>
            <a:fontRef idx="minor">
              <a:schemeClr val="lt1"/>
            </a:fontRef>
          </p:style>
          <p:txBody>
            <a:bodyPr rtlCol="0" anchor="ctr"/>
            <a:lstStyle/>
            <a:p>
              <a:pPr algn="ctr"/>
              <a:endParaRPr lang="en-US" altLang="zh-CN" dirty="0">
                <a:cs typeface="+mn-ea"/>
                <a:sym typeface="+mn-lt"/>
              </a:endParaRPr>
            </a:p>
          </p:txBody>
        </p:sp>
        <p:sp>
          <p:nvSpPr>
            <p:cNvPr id="18" name="文本框 17"/>
            <p:cNvSpPr txBox="1"/>
            <p:nvPr/>
          </p:nvSpPr>
          <p:spPr>
            <a:xfrm>
              <a:off x="15274" y="1752"/>
              <a:ext cx="3566" cy="460"/>
            </a:xfrm>
            <a:prstGeom prst="rect">
              <a:avLst/>
            </a:prstGeom>
            <a:noFill/>
          </p:spPr>
          <p:txBody>
            <a:bodyPr wrap="square" rtlCol="0">
              <a:spAutoFit/>
            </a:bodyPr>
            <a:lstStyle/>
            <a:p>
              <a:pPr algn="ctr"/>
              <a:r>
                <a:rPr lang="zh-CN" altLang="en-US" sz="1300" dirty="0">
                  <a:solidFill>
                    <a:schemeClr val="bg1"/>
                  </a:solidFill>
                  <a:cs typeface="+mn-ea"/>
                  <a:sym typeface="+mn-lt"/>
                </a:rPr>
                <a:t>助力供应链协同服务</a:t>
              </a:r>
              <a:endParaRPr lang="zh-CN" altLang="en-US" sz="1300" dirty="0">
                <a:solidFill>
                  <a:schemeClr val="bg1"/>
                </a:solidFill>
                <a:cs typeface="+mn-ea"/>
                <a:sym typeface="+mn-lt"/>
              </a:endParaRPr>
            </a:p>
          </p:txBody>
        </p:sp>
        <p:sp>
          <p:nvSpPr>
            <p:cNvPr id="19" name="矩形 18"/>
            <p:cNvSpPr/>
            <p:nvPr/>
          </p:nvSpPr>
          <p:spPr>
            <a:xfrm>
              <a:off x="15414" y="2410"/>
              <a:ext cx="519" cy="7279"/>
            </a:xfrm>
            <a:prstGeom prst="rect">
              <a:avLst/>
            </a:prstGeom>
            <a:solidFill>
              <a:schemeClr val="bg1">
                <a:alpha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latin typeface="阿里巴巴普惠体" panose="00020600040101010101" pitchFamily="18" charset="-122"/>
                  <a:ea typeface="阿里巴巴普惠体" panose="00020600040101010101" pitchFamily="18" charset="-122"/>
                </a:rPr>
                <a:t>统一接口管理平台</a:t>
              </a:r>
              <a:endParaRPr lang="zh-CN" altLang="en-US" sz="1200" b="1">
                <a:latin typeface="阿里巴巴普惠体" panose="00020600040101010101" pitchFamily="18" charset="-122"/>
                <a:ea typeface="阿里巴巴普惠体" panose="00020600040101010101" pitchFamily="18" charset="-122"/>
              </a:endParaRPr>
            </a:p>
          </p:txBody>
        </p:sp>
        <p:sp>
          <p:nvSpPr>
            <p:cNvPr id="23" name="矩形 22"/>
            <p:cNvSpPr/>
            <p:nvPr/>
          </p:nvSpPr>
          <p:spPr>
            <a:xfrm>
              <a:off x="16133" y="2410"/>
              <a:ext cx="2520" cy="3811"/>
            </a:xfrm>
            <a:prstGeom prst="rect">
              <a:avLst/>
            </a:prstGeom>
            <a:solidFill>
              <a:schemeClr val="bg1">
                <a:alpha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24" name="矩形 23"/>
            <p:cNvSpPr/>
            <p:nvPr/>
          </p:nvSpPr>
          <p:spPr>
            <a:xfrm>
              <a:off x="16134" y="6416"/>
              <a:ext cx="2520" cy="3273"/>
            </a:xfrm>
            <a:prstGeom prst="rect">
              <a:avLst/>
            </a:prstGeom>
            <a:solidFill>
              <a:schemeClr val="bg1">
                <a:alpha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25" name="文本框 24"/>
            <p:cNvSpPr txBox="1"/>
            <p:nvPr/>
          </p:nvSpPr>
          <p:spPr>
            <a:xfrm>
              <a:off x="16200" y="2527"/>
              <a:ext cx="2398" cy="531"/>
            </a:xfrm>
            <a:prstGeom prst="rect">
              <a:avLst/>
            </a:prstGeom>
            <a:noFill/>
          </p:spPr>
          <p:txBody>
            <a:bodyPr wrap="square" rtlCol="0">
              <a:spAutoFit/>
            </a:bodyPr>
            <a:lstStyle/>
            <a:p>
              <a:pPr algn="ctr">
                <a:buClrTx/>
                <a:buSzTx/>
                <a:buFontTx/>
              </a:pPr>
              <a:r>
                <a:rPr lang="zh-CN" altLang="en-US" sz="1600" b="1" dirty="0">
                  <a:solidFill>
                    <a:schemeClr val="bg1"/>
                  </a:solidFill>
                  <a:cs typeface="+mn-ea"/>
                </a:rPr>
                <a:t>内部系统对接</a:t>
              </a:r>
              <a:endParaRPr lang="zh-CN" altLang="en-US" sz="1600" b="1" dirty="0">
                <a:solidFill>
                  <a:schemeClr val="bg1"/>
                </a:solidFill>
                <a:cs typeface="+mn-ea"/>
              </a:endParaRPr>
            </a:p>
          </p:txBody>
        </p:sp>
        <p:sp>
          <p:nvSpPr>
            <p:cNvPr id="26" name="文本框 25"/>
            <p:cNvSpPr txBox="1"/>
            <p:nvPr/>
          </p:nvSpPr>
          <p:spPr>
            <a:xfrm>
              <a:off x="16200" y="3143"/>
              <a:ext cx="2398" cy="434"/>
            </a:xfrm>
            <a:prstGeom prst="rect">
              <a:avLst/>
            </a:prstGeom>
            <a:noFill/>
          </p:spPr>
          <p:txBody>
            <a:bodyPr wrap="square" rtlCol="0">
              <a:spAutoFit/>
            </a:bodyPr>
            <a:lstStyle/>
            <a:p>
              <a:pPr algn="ctr">
                <a:buClrTx/>
                <a:buSzTx/>
                <a:buFontTx/>
              </a:pPr>
              <a:r>
                <a:rPr lang="en-US" altLang="zh-CN"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OA</a:t>
              </a:r>
              <a:r>
                <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系统</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7" name="文本框 26"/>
            <p:cNvSpPr txBox="1"/>
            <p:nvPr/>
          </p:nvSpPr>
          <p:spPr>
            <a:xfrm>
              <a:off x="16200" y="3565"/>
              <a:ext cx="2398" cy="434"/>
            </a:xfrm>
            <a:prstGeom prst="rect">
              <a:avLst/>
            </a:prstGeom>
            <a:noFill/>
          </p:spPr>
          <p:txBody>
            <a:bodyPr wrap="square" rtlCol="0">
              <a:spAutoFit/>
            </a:bodyPr>
            <a:lstStyle/>
            <a:p>
              <a:pPr algn="ctr">
                <a:buClrTx/>
                <a:buSzTx/>
                <a:buFontTx/>
              </a:pPr>
              <a:r>
                <a:rPr lang="en-US" altLang="zh-CN"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HR</a:t>
              </a:r>
              <a:r>
                <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系统</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8" name="文本框 27"/>
            <p:cNvSpPr txBox="1"/>
            <p:nvPr/>
          </p:nvSpPr>
          <p:spPr>
            <a:xfrm>
              <a:off x="16200" y="3987"/>
              <a:ext cx="2398" cy="434"/>
            </a:xfrm>
            <a:prstGeom prst="rect">
              <a:avLst/>
            </a:prstGeom>
            <a:noFill/>
          </p:spPr>
          <p:txBody>
            <a:bodyPr wrap="square" rtlCol="0">
              <a:spAutoFit/>
            </a:bodyPr>
            <a:lstStyle/>
            <a:p>
              <a:pPr algn="ctr">
                <a:buClrTx/>
                <a:buSzTx/>
                <a:buFontTx/>
              </a:pPr>
              <a:r>
                <a:rPr lang="zh-CN" altLang="en-US" sz="1200" dirty="0">
                  <a:solidFill>
                    <a:schemeClr val="bg1"/>
                  </a:solidFill>
                  <a:latin typeface="阿里巴巴普惠体" panose="00020600040101010101" pitchFamily="18" charset="-122"/>
                  <a:ea typeface="阿里巴巴普惠体" panose="00020600040101010101" pitchFamily="18" charset="-122"/>
                  <a:cs typeface="+mn-ea"/>
                </a:rPr>
                <a:t>财务系统</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mn-ea"/>
              </a:endParaRPr>
            </a:p>
          </p:txBody>
        </p:sp>
        <p:sp>
          <p:nvSpPr>
            <p:cNvPr id="29" name="文本框 28"/>
            <p:cNvSpPr txBox="1"/>
            <p:nvPr/>
          </p:nvSpPr>
          <p:spPr>
            <a:xfrm>
              <a:off x="16200" y="4409"/>
              <a:ext cx="2398" cy="434"/>
            </a:xfrm>
            <a:prstGeom prst="rect">
              <a:avLst/>
            </a:prstGeom>
            <a:noFill/>
          </p:spPr>
          <p:txBody>
            <a:bodyPr wrap="square" rtlCol="0">
              <a:spAutoFit/>
            </a:bodyPr>
            <a:lstStyle/>
            <a:p>
              <a:pPr algn="ctr">
                <a:buClrTx/>
                <a:buSzTx/>
                <a:buFontTx/>
              </a:pPr>
              <a:r>
                <a:rPr lang="en-US" altLang="zh-CN"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ERP</a:t>
              </a:r>
              <a:r>
                <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a:t>
              </a:r>
              <a:r>
                <a:rPr lang="en-US" altLang="zh-CN"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SAP</a:t>
              </a:r>
              <a:endParaRPr lang="en-US" altLang="zh-CN"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0" name="文本框 29"/>
            <p:cNvSpPr txBox="1"/>
            <p:nvPr/>
          </p:nvSpPr>
          <p:spPr>
            <a:xfrm>
              <a:off x="16200" y="4831"/>
              <a:ext cx="2398" cy="434"/>
            </a:xfrm>
            <a:prstGeom prst="rect">
              <a:avLst/>
            </a:prstGeom>
            <a:noFill/>
          </p:spPr>
          <p:txBody>
            <a:bodyPr wrap="square" rtlCol="0">
              <a:spAutoFit/>
            </a:bodyPr>
            <a:lstStyle/>
            <a:p>
              <a:pPr algn="ctr">
                <a:buClrTx/>
                <a:buSzTx/>
                <a:buFontTx/>
              </a:pPr>
              <a:r>
                <a:rPr 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WMS</a:t>
              </a:r>
              <a:r>
                <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系统</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sp>
          <p:nvSpPr>
            <p:cNvPr id="31" name="文本框 30"/>
            <p:cNvSpPr txBox="1"/>
            <p:nvPr/>
          </p:nvSpPr>
          <p:spPr>
            <a:xfrm>
              <a:off x="16200" y="5675"/>
              <a:ext cx="2398" cy="434"/>
            </a:xfrm>
            <a:prstGeom prst="rect">
              <a:avLst/>
            </a:prstGeom>
            <a:noFill/>
          </p:spPr>
          <p:txBody>
            <a:bodyPr wrap="square" rtlCol="0">
              <a:spAutoFit/>
            </a:bodyPr>
            <a:lstStyle/>
            <a:p>
              <a:pPr algn="ctr">
                <a:buClrTx/>
                <a:buSzTx/>
                <a:buFontTx/>
              </a:pPr>
              <a:r>
                <a:rPr lang="en-US" sz="1200" dirty="0">
                  <a:solidFill>
                    <a:schemeClr val="bg1"/>
                  </a:solidFill>
                  <a:latin typeface="阿里巴巴普惠体" panose="00020600040101010101" pitchFamily="18" charset="-122"/>
                  <a:ea typeface="阿里巴巴普惠体" panose="00020600040101010101" pitchFamily="18" charset="-122"/>
                  <a:cs typeface="+mn-ea"/>
                </a:rPr>
                <a:t>……</a:t>
              </a:r>
              <a:endParaRPr lang="en-US" sz="1200" dirty="0">
                <a:solidFill>
                  <a:schemeClr val="bg1"/>
                </a:solidFill>
                <a:latin typeface="阿里巴巴普惠体" panose="00020600040101010101" pitchFamily="18" charset="-122"/>
                <a:ea typeface="阿里巴巴普惠体" panose="00020600040101010101" pitchFamily="18" charset="-122"/>
                <a:cs typeface="+mn-ea"/>
              </a:endParaRPr>
            </a:p>
          </p:txBody>
        </p:sp>
        <p:sp>
          <p:nvSpPr>
            <p:cNvPr id="32" name="文本框 31"/>
            <p:cNvSpPr txBox="1"/>
            <p:nvPr/>
          </p:nvSpPr>
          <p:spPr>
            <a:xfrm>
              <a:off x="16200" y="6446"/>
              <a:ext cx="2398" cy="531"/>
            </a:xfrm>
            <a:prstGeom prst="rect">
              <a:avLst/>
            </a:prstGeom>
            <a:noFill/>
          </p:spPr>
          <p:txBody>
            <a:bodyPr wrap="square" rtlCol="0">
              <a:spAutoFit/>
            </a:bodyPr>
            <a:lstStyle/>
            <a:p>
              <a:pPr algn="ctr">
                <a:buClrTx/>
                <a:buSzTx/>
                <a:buFontTx/>
              </a:pPr>
              <a:r>
                <a:rPr lang="zh-CN" altLang="en-US" sz="1600" b="1" dirty="0">
                  <a:solidFill>
                    <a:schemeClr val="bg1"/>
                  </a:solidFill>
                  <a:cs typeface="+mn-ea"/>
                </a:rPr>
                <a:t>外部系统对接</a:t>
              </a:r>
              <a:endParaRPr lang="zh-CN" altLang="en-US" sz="1600" b="1" dirty="0">
                <a:solidFill>
                  <a:schemeClr val="bg1"/>
                </a:solidFill>
                <a:cs typeface="+mn-ea"/>
              </a:endParaRPr>
            </a:p>
          </p:txBody>
        </p:sp>
        <p:sp>
          <p:nvSpPr>
            <p:cNvPr id="33" name="文本框 32"/>
            <p:cNvSpPr txBox="1"/>
            <p:nvPr/>
          </p:nvSpPr>
          <p:spPr>
            <a:xfrm>
              <a:off x="16231" y="7015"/>
              <a:ext cx="2398" cy="434"/>
            </a:xfrm>
            <a:prstGeom prst="rect">
              <a:avLst/>
            </a:prstGeom>
            <a:noFill/>
          </p:spPr>
          <p:txBody>
            <a:bodyPr wrap="square" rtlCol="0">
              <a:spAutoFit/>
            </a:bodyPr>
            <a:lstStyle/>
            <a:p>
              <a:pPr lvl="0" algn="ctr">
                <a:buClrTx/>
                <a:buSzTx/>
                <a:buFontTx/>
              </a:pPr>
              <a:r>
                <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rPr>
                <a:t>国家公共服务平台</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endParaRPr>
            </a:p>
          </p:txBody>
        </p:sp>
        <p:sp>
          <p:nvSpPr>
            <p:cNvPr id="34" name="文本框 33"/>
            <p:cNvSpPr txBox="1"/>
            <p:nvPr/>
          </p:nvSpPr>
          <p:spPr>
            <a:xfrm>
              <a:off x="16198" y="7496"/>
              <a:ext cx="2464" cy="434"/>
            </a:xfrm>
            <a:prstGeom prst="rect">
              <a:avLst/>
            </a:prstGeom>
            <a:noFill/>
          </p:spPr>
          <p:txBody>
            <a:bodyPr wrap="square" rtlCol="0">
              <a:spAutoFit/>
            </a:bodyPr>
            <a:lstStyle/>
            <a:p>
              <a:pPr lvl="0" algn="ctr">
                <a:buClrTx/>
                <a:buSzTx/>
                <a:buFontTx/>
              </a:pPr>
              <a:r>
                <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rPr>
                <a:t>国资委寻源询价系统</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endParaRPr>
            </a:p>
          </p:txBody>
        </p:sp>
        <p:sp>
          <p:nvSpPr>
            <p:cNvPr id="35" name="文本框 34"/>
            <p:cNvSpPr txBox="1"/>
            <p:nvPr/>
          </p:nvSpPr>
          <p:spPr>
            <a:xfrm>
              <a:off x="16231" y="7980"/>
              <a:ext cx="2398" cy="434"/>
            </a:xfrm>
            <a:prstGeom prst="rect">
              <a:avLst/>
            </a:prstGeom>
            <a:noFill/>
          </p:spPr>
          <p:txBody>
            <a:bodyPr wrap="square" rtlCol="0">
              <a:spAutoFit/>
            </a:bodyPr>
            <a:lstStyle/>
            <a:p>
              <a:pPr lvl="0" algn="ctr">
                <a:buClrTx/>
                <a:buSzTx/>
                <a:buFontTx/>
              </a:pPr>
              <a:r>
                <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rPr>
                <a:t>金融服务机构系统</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endParaRPr>
            </a:p>
          </p:txBody>
        </p:sp>
        <p:sp>
          <p:nvSpPr>
            <p:cNvPr id="36" name="文本框 35"/>
            <p:cNvSpPr txBox="1"/>
            <p:nvPr/>
          </p:nvSpPr>
          <p:spPr>
            <a:xfrm>
              <a:off x="16200" y="8414"/>
              <a:ext cx="2398" cy="434"/>
            </a:xfrm>
            <a:prstGeom prst="rect">
              <a:avLst/>
            </a:prstGeom>
            <a:noFill/>
          </p:spPr>
          <p:txBody>
            <a:bodyPr wrap="square" rtlCol="0">
              <a:spAutoFit/>
            </a:bodyPr>
            <a:lstStyle/>
            <a:p>
              <a:pPr lvl="0" algn="ctr">
                <a:buClrTx/>
                <a:buSzTx/>
                <a:buFontTx/>
              </a:pPr>
              <a:r>
                <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rPr>
                <a:t>国家票税系统</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endParaRPr>
            </a:p>
          </p:txBody>
        </p:sp>
        <p:sp>
          <p:nvSpPr>
            <p:cNvPr id="37" name="文本框 36"/>
            <p:cNvSpPr txBox="1"/>
            <p:nvPr/>
          </p:nvSpPr>
          <p:spPr>
            <a:xfrm>
              <a:off x="16256" y="8848"/>
              <a:ext cx="2398" cy="434"/>
            </a:xfrm>
            <a:prstGeom prst="rect">
              <a:avLst/>
            </a:prstGeom>
            <a:noFill/>
          </p:spPr>
          <p:txBody>
            <a:bodyPr wrap="square" rtlCol="0">
              <a:spAutoFit/>
            </a:bodyPr>
            <a:lstStyle/>
            <a:p>
              <a:pPr lvl="0" algn="ctr">
                <a:buClrTx/>
                <a:buSzTx/>
                <a:buFontTx/>
              </a:pPr>
              <a:r>
                <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rPr>
                <a:t>第三方信用服务</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endParaRPr>
            </a:p>
          </p:txBody>
        </p:sp>
        <p:sp>
          <p:nvSpPr>
            <p:cNvPr id="38" name="文本框 37"/>
            <p:cNvSpPr txBox="1"/>
            <p:nvPr/>
          </p:nvSpPr>
          <p:spPr>
            <a:xfrm>
              <a:off x="16231" y="9186"/>
              <a:ext cx="2398" cy="434"/>
            </a:xfrm>
            <a:prstGeom prst="rect">
              <a:avLst/>
            </a:prstGeom>
            <a:noFill/>
          </p:spPr>
          <p:txBody>
            <a:bodyPr wrap="square" rtlCol="0">
              <a:spAutoFit/>
            </a:bodyPr>
            <a:lstStyle/>
            <a:p>
              <a:pPr lvl="0" algn="ctr">
                <a:buClrTx/>
                <a:buSzTx/>
                <a:buFontTx/>
              </a:pPr>
              <a:r>
                <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rPr>
                <a:t>……</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mn-ea"/>
                <a:sym typeface="+mn-ea"/>
              </a:endParaRPr>
            </a:p>
          </p:txBody>
        </p:sp>
        <p:sp>
          <p:nvSpPr>
            <p:cNvPr id="17" name="文本框 16"/>
            <p:cNvSpPr txBox="1"/>
            <p:nvPr/>
          </p:nvSpPr>
          <p:spPr>
            <a:xfrm>
              <a:off x="16200" y="5253"/>
              <a:ext cx="2398" cy="434"/>
            </a:xfrm>
            <a:prstGeom prst="rect">
              <a:avLst/>
            </a:prstGeom>
            <a:noFill/>
          </p:spPr>
          <p:txBody>
            <a:bodyPr wrap="square" rtlCol="0">
              <a:spAutoFit/>
            </a:bodyPr>
            <a:lstStyle/>
            <a:p>
              <a:pPr algn="ctr">
                <a:buClrTx/>
                <a:buSzTx/>
                <a:buFontTx/>
              </a:pPr>
              <a:r>
                <a:rPr 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SCM</a:t>
              </a:r>
              <a:r>
                <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rPr>
                <a:t>系统</a:t>
              </a:r>
              <a:endParaRPr lang="zh-CN" altLang="en-US" sz="12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ea"/>
              </a:endParaRPr>
            </a:p>
          </p:txBody>
        </p:sp>
      </p:grpSp>
      <p:sp>
        <p:nvSpPr>
          <p:cNvPr id="21" name="矩形: 圆角 346"/>
          <p:cNvSpPr/>
          <p:nvPr/>
        </p:nvSpPr>
        <p:spPr>
          <a:xfrm>
            <a:off x="1083945" y="5053354"/>
            <a:ext cx="2057400" cy="299857"/>
          </a:xfrm>
          <a:prstGeom prst="roundRect">
            <a:avLst/>
          </a:prstGeom>
          <a:solidFill>
            <a:srgbClr val="386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cs typeface="+mn-ea"/>
                <a:sym typeface="+mn-lt"/>
              </a:rPr>
              <a:t>……</a:t>
            </a:r>
            <a:endParaRPr lang="en-US" altLang="zh-CN" sz="1100" dirty="0">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流程图: 接点 39"/>
          <p:cNvSpPr/>
          <p:nvPr/>
        </p:nvSpPr>
        <p:spPr>
          <a:xfrm>
            <a:off x="-1219200" y="3517467"/>
            <a:ext cx="14630400" cy="5516880"/>
          </a:xfrm>
          <a:prstGeom prst="flowChartConnector">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流程图: 接点 1"/>
          <p:cNvSpPr/>
          <p:nvPr/>
        </p:nvSpPr>
        <p:spPr>
          <a:xfrm>
            <a:off x="-1219200" y="3749040"/>
            <a:ext cx="14630400" cy="5516880"/>
          </a:xfrm>
          <a:prstGeom prst="flowChartConnector">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a:solidFill>
                <a:prstClr val="white"/>
              </a:solidFill>
              <a:cs typeface="+mn-ea"/>
              <a:sym typeface="+mn-lt"/>
            </a:endParaRPr>
          </a:p>
        </p:txBody>
      </p:sp>
      <p:sp>
        <p:nvSpPr>
          <p:cNvPr id="4" name="矩形: 圆角 3"/>
          <p:cNvSpPr/>
          <p:nvPr>
            <p:custDataLst>
              <p:tags r:id="rId1"/>
            </p:custDataLst>
          </p:nvPr>
        </p:nvSpPr>
        <p:spPr>
          <a:xfrm>
            <a:off x="660400" y="1409040"/>
            <a:ext cx="3240000" cy="4680000"/>
          </a:xfrm>
          <a:prstGeom prst="roundRect">
            <a:avLst>
              <a:gd name="adj" fmla="val 9446"/>
            </a:avLst>
          </a:prstGeom>
          <a:solidFill>
            <a:schemeClr val="bg1"/>
          </a:solidFill>
          <a:ln w="19050" cmpd="sng">
            <a:noFill/>
          </a:ln>
          <a:effectLst>
            <a:outerShdw blurRad="254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矩形: 圆角 13"/>
          <p:cNvSpPr/>
          <p:nvPr>
            <p:custDataLst>
              <p:tags r:id="rId2"/>
            </p:custDataLst>
          </p:nvPr>
        </p:nvSpPr>
        <p:spPr>
          <a:xfrm>
            <a:off x="8278900" y="1409040"/>
            <a:ext cx="3240000" cy="4680000"/>
          </a:xfrm>
          <a:prstGeom prst="roundRect">
            <a:avLst>
              <a:gd name="adj" fmla="val 8374"/>
            </a:avLst>
          </a:prstGeom>
          <a:solidFill>
            <a:schemeClr val="bg1"/>
          </a:solidFill>
          <a:ln w="19050" cmpd="sng">
            <a:noFill/>
          </a:ln>
          <a:effectLst>
            <a:outerShdw blurRad="254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矩形: 圆角 20"/>
          <p:cNvSpPr/>
          <p:nvPr>
            <p:custDataLst>
              <p:tags r:id="rId3"/>
            </p:custDataLst>
          </p:nvPr>
        </p:nvSpPr>
        <p:spPr>
          <a:xfrm>
            <a:off x="4469650" y="1409040"/>
            <a:ext cx="3240000" cy="4680000"/>
          </a:xfrm>
          <a:prstGeom prst="roundRect">
            <a:avLst>
              <a:gd name="adj" fmla="val 8374"/>
            </a:avLst>
          </a:prstGeom>
          <a:solidFill>
            <a:schemeClr val="bg1"/>
          </a:solidFill>
          <a:ln w="19050" cmpd="sng">
            <a:noFill/>
          </a:ln>
          <a:effectLst>
            <a:outerShdw blurRad="254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36" name="组合 35"/>
          <p:cNvGrpSpPr/>
          <p:nvPr/>
        </p:nvGrpSpPr>
        <p:grpSpPr>
          <a:xfrm>
            <a:off x="-609573" y="240598"/>
            <a:ext cx="1322628" cy="631070"/>
            <a:chOff x="-504068" y="174267"/>
            <a:chExt cx="1600668" cy="763731"/>
          </a:xfrm>
        </p:grpSpPr>
        <p:sp>
          <p:nvSpPr>
            <p:cNvPr id="37" name="平行四边形 36"/>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平行四边形 37"/>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cs typeface="+mn-ea"/>
                <a:sym typeface="+mn-lt"/>
              </a:endParaRPr>
            </a:p>
          </p:txBody>
        </p:sp>
      </p:grpSp>
      <p:sp>
        <p:nvSpPr>
          <p:cNvPr id="3" name="文本框 2"/>
          <p:cNvSpPr txBox="1"/>
          <p:nvPr/>
        </p:nvSpPr>
        <p:spPr>
          <a:xfrm>
            <a:off x="673100" y="326390"/>
            <a:ext cx="11626850"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建设</a:t>
            </a:r>
            <a:r>
              <a:rPr lang="zh-CN" altLang="en-US" sz="3200" b="1" dirty="0">
                <a:solidFill>
                  <a:srgbClr val="3271CC"/>
                </a:solidFill>
                <a:latin typeface="微软雅黑" panose="020B0503020204020204" charset="-122"/>
                <a:ea typeface="微软雅黑" panose="020B0503020204020204" charset="-122"/>
                <a:cs typeface="+mn-ea"/>
                <a:sym typeface="+mn-lt"/>
              </a:rPr>
              <a:t>成效：合规强化、资源优化、生态完善、智能高效</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grpSp>
        <p:nvGrpSpPr>
          <p:cNvPr id="6" name="组合 5"/>
          <p:cNvGrpSpPr/>
          <p:nvPr>
            <p:custDataLst>
              <p:tags r:id="rId4"/>
            </p:custDataLst>
          </p:nvPr>
        </p:nvGrpSpPr>
        <p:grpSpPr>
          <a:xfrm>
            <a:off x="866775" y="4943475"/>
            <a:ext cx="2809875" cy="715943"/>
            <a:chOff x="866775" y="4810125"/>
            <a:chExt cx="2809875" cy="715943"/>
          </a:xfrm>
        </p:grpSpPr>
        <p:sp>
          <p:nvSpPr>
            <p:cNvPr id="9" name="矩形: 圆角 8"/>
            <p:cNvSpPr/>
            <p:nvPr>
              <p:custDataLst>
                <p:tags r:id="rId5"/>
              </p:custDataLst>
            </p:nvPr>
          </p:nvSpPr>
          <p:spPr>
            <a:xfrm>
              <a:off x="866775" y="4810125"/>
              <a:ext cx="2809875" cy="715943"/>
            </a:xfrm>
            <a:prstGeom prst="roundRect">
              <a:avLst>
                <a:gd name="adj" fmla="val 17841"/>
              </a:avLst>
            </a:prstGeom>
            <a:solidFill>
              <a:srgbClr val="3271CC"/>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custDataLst>
                <p:tags r:id="rId6"/>
              </p:custDataLst>
            </p:nvPr>
          </p:nvSpPr>
          <p:spPr>
            <a:xfrm>
              <a:off x="1304925" y="4862195"/>
              <a:ext cx="2324735" cy="506730"/>
            </a:xfrm>
            <a:prstGeom prst="rect">
              <a:avLst/>
            </a:prstGeom>
            <a:noFill/>
          </p:spPr>
          <p:txBody>
            <a:bodyPr wrap="square" rtlCol="0">
              <a:spAutoFit/>
            </a:bodyPr>
            <a:lstStyle/>
            <a:p>
              <a:pPr>
                <a:lnSpc>
                  <a:spcPct val="150000"/>
                </a:lnSpc>
              </a:pPr>
              <a:r>
                <a:rPr lang="zh-CN" altLang="en-US" b="1" dirty="0">
                  <a:solidFill>
                    <a:schemeClr val="bg1"/>
                  </a:solidFill>
                  <a:cs typeface="+mn-ea"/>
                  <a:sym typeface="+mn-lt"/>
                </a:rPr>
                <a:t>合规监管全面强化</a:t>
              </a:r>
              <a:endParaRPr lang="zh-CN" altLang="en-US" b="1" dirty="0">
                <a:solidFill>
                  <a:schemeClr val="bg1"/>
                </a:solidFill>
                <a:cs typeface="+mn-ea"/>
                <a:sym typeface="+mn-lt"/>
              </a:endParaRPr>
            </a:p>
          </p:txBody>
        </p:sp>
      </p:grpSp>
      <p:grpSp>
        <p:nvGrpSpPr>
          <p:cNvPr id="10" name="组合 9"/>
          <p:cNvGrpSpPr/>
          <p:nvPr>
            <p:custDataLst>
              <p:tags r:id="rId7"/>
            </p:custDataLst>
          </p:nvPr>
        </p:nvGrpSpPr>
        <p:grpSpPr>
          <a:xfrm>
            <a:off x="4672012" y="4943475"/>
            <a:ext cx="2814319" cy="715943"/>
            <a:chOff x="866775" y="4810125"/>
            <a:chExt cx="2814319" cy="715943"/>
          </a:xfrm>
        </p:grpSpPr>
        <p:sp>
          <p:nvSpPr>
            <p:cNvPr id="12" name="矩形: 圆角 11"/>
            <p:cNvSpPr/>
            <p:nvPr>
              <p:custDataLst>
                <p:tags r:id="rId8"/>
              </p:custDataLst>
            </p:nvPr>
          </p:nvSpPr>
          <p:spPr>
            <a:xfrm>
              <a:off x="866775" y="4810125"/>
              <a:ext cx="2809875" cy="715943"/>
            </a:xfrm>
            <a:prstGeom prst="roundRect">
              <a:avLst>
                <a:gd name="adj" fmla="val 17841"/>
              </a:avLst>
            </a:prstGeom>
            <a:solidFill>
              <a:srgbClr val="3271CC"/>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custDataLst>
                <p:tags r:id="rId9"/>
              </p:custDataLst>
            </p:nvPr>
          </p:nvSpPr>
          <p:spPr>
            <a:xfrm>
              <a:off x="964044" y="4866983"/>
              <a:ext cx="2717050" cy="506730"/>
            </a:xfrm>
            <a:prstGeom prst="rect">
              <a:avLst/>
            </a:prstGeom>
            <a:noFill/>
          </p:spPr>
          <p:txBody>
            <a:bodyPr wrap="square" rtlCol="0">
              <a:spAutoFit/>
            </a:bodyPr>
            <a:lstStyle/>
            <a:p>
              <a:pPr algn="ctr">
                <a:lnSpc>
                  <a:spcPct val="150000"/>
                </a:lnSpc>
              </a:pPr>
              <a:r>
                <a:rPr lang="zh-CN" altLang="en-US" b="1" dirty="0">
                  <a:solidFill>
                    <a:schemeClr val="bg1"/>
                  </a:solidFill>
                  <a:cs typeface="+mn-ea"/>
                  <a:sym typeface="+mn-lt"/>
                </a:rPr>
                <a:t>资源配置持续优化</a:t>
              </a:r>
              <a:endParaRPr lang="zh-CN" altLang="en-US" b="1" dirty="0">
                <a:solidFill>
                  <a:schemeClr val="bg1"/>
                </a:solidFill>
                <a:cs typeface="+mn-ea"/>
                <a:sym typeface="+mn-lt"/>
              </a:endParaRPr>
            </a:p>
          </p:txBody>
        </p:sp>
      </p:grpSp>
      <p:grpSp>
        <p:nvGrpSpPr>
          <p:cNvPr id="18" name="组合 17"/>
          <p:cNvGrpSpPr/>
          <p:nvPr>
            <p:custDataLst>
              <p:tags r:id="rId10"/>
            </p:custDataLst>
          </p:nvPr>
        </p:nvGrpSpPr>
        <p:grpSpPr>
          <a:xfrm>
            <a:off x="8493962" y="4943475"/>
            <a:ext cx="3163888" cy="715943"/>
            <a:chOff x="866775" y="4810125"/>
            <a:chExt cx="3163888" cy="715943"/>
          </a:xfrm>
        </p:grpSpPr>
        <p:sp>
          <p:nvSpPr>
            <p:cNvPr id="20" name="矩形: 圆角 19"/>
            <p:cNvSpPr/>
            <p:nvPr>
              <p:custDataLst>
                <p:tags r:id="rId11"/>
              </p:custDataLst>
            </p:nvPr>
          </p:nvSpPr>
          <p:spPr>
            <a:xfrm>
              <a:off x="866775" y="4810125"/>
              <a:ext cx="2809875" cy="715943"/>
            </a:xfrm>
            <a:prstGeom prst="roundRect">
              <a:avLst>
                <a:gd name="adj" fmla="val 17841"/>
              </a:avLst>
            </a:prstGeom>
            <a:solidFill>
              <a:srgbClr val="3271CC"/>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文本框 24"/>
            <p:cNvSpPr txBox="1"/>
            <p:nvPr>
              <p:custDataLst>
                <p:tags r:id="rId12"/>
              </p:custDataLst>
            </p:nvPr>
          </p:nvSpPr>
          <p:spPr>
            <a:xfrm>
              <a:off x="1313613" y="4867102"/>
              <a:ext cx="2717050" cy="506730"/>
            </a:xfrm>
            <a:prstGeom prst="rect">
              <a:avLst/>
            </a:prstGeom>
            <a:noFill/>
          </p:spPr>
          <p:txBody>
            <a:bodyPr wrap="square" rtlCol="0">
              <a:spAutoFit/>
            </a:bodyPr>
            <a:lstStyle/>
            <a:p>
              <a:pPr>
                <a:lnSpc>
                  <a:spcPct val="150000"/>
                </a:lnSpc>
              </a:pPr>
              <a:r>
                <a:rPr lang="zh-CN" altLang="en-US" b="1" dirty="0">
                  <a:solidFill>
                    <a:schemeClr val="bg1"/>
                  </a:solidFill>
                  <a:cs typeface="+mn-ea"/>
                  <a:sym typeface="+mn-lt"/>
                </a:rPr>
                <a:t>行业生态持续完善</a:t>
              </a:r>
              <a:endParaRPr lang="zh-CN" altLang="en-US" b="1" dirty="0">
                <a:solidFill>
                  <a:schemeClr val="bg1"/>
                </a:solidFill>
                <a:cs typeface="+mn-ea"/>
                <a:sym typeface="+mn-lt"/>
              </a:endParaRPr>
            </a:p>
          </p:txBody>
        </p:sp>
      </p:grpSp>
      <p:sp>
        <p:nvSpPr>
          <p:cNvPr id="41" name="文本框 40" descr="7b0a202020202262756c6c6574223a20227b5c2263617465676f727949645c223a5c225c222c5c2274656d706c61746549645c223a32303233313536367d220a7d0a"/>
          <p:cNvSpPr txBox="1"/>
          <p:nvPr>
            <p:custDataLst>
              <p:tags r:id="rId13"/>
            </p:custDataLst>
          </p:nvPr>
        </p:nvSpPr>
        <p:spPr>
          <a:xfrm>
            <a:off x="883285" y="1557041"/>
            <a:ext cx="2809875" cy="3046095"/>
          </a:xfrm>
          <a:prstGeom prst="rect">
            <a:avLst/>
          </a:prstGeom>
          <a:noFill/>
        </p:spPr>
        <p:txBody>
          <a:bodyPr wrap="square" rtlCol="0">
            <a:spAutoFit/>
          </a:bodyPr>
          <a:lstStyle/>
          <a:p>
            <a:pPr indent="0">
              <a:lnSpc>
                <a:spcPct val="200000"/>
              </a:lnSpc>
              <a:buFont typeface="Wingdings" panose="05000000000000000000" pitchFamily="2" charset="2"/>
              <a:buNone/>
            </a:pPr>
            <a:r>
              <a:rPr lang="en-US" altLang="zh-CN" sz="1200" dirty="0">
                <a:cs typeface="+mn-ea"/>
                <a:sym typeface="+mn-lt"/>
              </a:rPr>
              <a:t>     </a:t>
            </a:r>
            <a:r>
              <a:rPr lang="zh-CN" altLang="en-US" sz="1200" dirty="0">
                <a:cs typeface="+mn-ea"/>
                <a:sym typeface="+mn-lt"/>
              </a:rPr>
              <a:t>实现兵团国有企业采购全流程线上化，落实</a:t>
            </a:r>
            <a:r>
              <a:rPr lang="en-US" altLang="zh-CN" sz="1200" dirty="0">
                <a:cs typeface="+mn-ea"/>
                <a:sym typeface="+mn-lt"/>
              </a:rPr>
              <a:t> “</a:t>
            </a:r>
            <a:r>
              <a:rPr lang="zh-CN" altLang="en-US" sz="1200" dirty="0">
                <a:cs typeface="+mn-ea"/>
                <a:sym typeface="+mn-lt"/>
              </a:rPr>
              <a:t>业务公开、过程受控、全程在线、永久可追溯</a:t>
            </a:r>
            <a:r>
              <a:rPr lang="en-US" altLang="zh-CN" sz="1200" dirty="0">
                <a:cs typeface="+mn-ea"/>
                <a:sym typeface="+mn-lt"/>
              </a:rPr>
              <a:t>” </a:t>
            </a:r>
            <a:r>
              <a:rPr lang="zh-CN" altLang="en-US" sz="1200" dirty="0">
                <a:cs typeface="+mn-ea"/>
                <a:sym typeface="+mn-lt"/>
              </a:rPr>
              <a:t>要求，填补线下操作的监管真空。</a:t>
            </a:r>
            <a:endParaRPr lang="zh-CN" altLang="en-US" sz="1200" dirty="0">
              <a:cs typeface="+mn-ea"/>
              <a:sym typeface="+mn-lt"/>
            </a:endParaRPr>
          </a:p>
          <a:p>
            <a:pPr indent="0">
              <a:lnSpc>
                <a:spcPct val="200000"/>
              </a:lnSpc>
              <a:buFont typeface="Wingdings" panose="05000000000000000000" pitchFamily="2" charset="2"/>
              <a:buNone/>
            </a:pPr>
            <a:r>
              <a:rPr lang="en-US" altLang="zh-CN" sz="1200" dirty="0">
                <a:cs typeface="+mn-ea"/>
                <a:sym typeface="+mn-lt"/>
              </a:rPr>
              <a:t>      </a:t>
            </a:r>
            <a:r>
              <a:rPr lang="zh-CN" altLang="en-US" sz="1200" dirty="0">
                <a:cs typeface="+mn-ea"/>
                <a:sym typeface="+mn-lt"/>
              </a:rPr>
              <a:t>通过智能风险预警与穿透式监管，精准识别围串标等违规行为，</a:t>
            </a:r>
            <a:r>
              <a:rPr lang="zh-CN" altLang="en-US" sz="1200" b="1" dirty="0">
                <a:cs typeface="+mn-ea"/>
                <a:sym typeface="+mn-lt"/>
              </a:rPr>
              <a:t>推动监管从</a:t>
            </a:r>
            <a:r>
              <a:rPr lang="en-US" altLang="zh-CN" sz="1200" b="1" dirty="0">
                <a:cs typeface="+mn-ea"/>
                <a:sym typeface="+mn-lt"/>
              </a:rPr>
              <a:t> “</a:t>
            </a:r>
            <a:r>
              <a:rPr lang="zh-CN" altLang="en-US" sz="1200" b="1" dirty="0">
                <a:cs typeface="+mn-ea"/>
                <a:sym typeface="+mn-lt"/>
              </a:rPr>
              <a:t>事后核查</a:t>
            </a:r>
            <a:r>
              <a:rPr lang="en-US" altLang="zh-CN" sz="1200" b="1" dirty="0">
                <a:cs typeface="+mn-ea"/>
                <a:sym typeface="+mn-lt"/>
              </a:rPr>
              <a:t>” </a:t>
            </a:r>
            <a:r>
              <a:rPr lang="zh-CN" altLang="en-US" sz="1200" b="1" dirty="0">
                <a:cs typeface="+mn-ea"/>
                <a:sym typeface="+mn-lt"/>
              </a:rPr>
              <a:t>转向</a:t>
            </a:r>
            <a:r>
              <a:rPr lang="en-US" altLang="zh-CN" sz="1200" b="1" dirty="0">
                <a:cs typeface="+mn-ea"/>
                <a:sym typeface="+mn-lt"/>
              </a:rPr>
              <a:t> “</a:t>
            </a:r>
            <a:r>
              <a:rPr lang="zh-CN" altLang="en-US" sz="1200" b="1" dirty="0">
                <a:cs typeface="+mn-ea"/>
                <a:sym typeface="+mn-lt"/>
              </a:rPr>
              <a:t>事前预警</a:t>
            </a:r>
            <a:r>
              <a:rPr lang="en-US" altLang="zh-CN" sz="1200" b="1" dirty="0">
                <a:cs typeface="+mn-ea"/>
                <a:sym typeface="+mn-lt"/>
              </a:rPr>
              <a:t>”</a:t>
            </a:r>
            <a:r>
              <a:rPr lang="zh-CN" altLang="en-US" sz="1200" dirty="0">
                <a:cs typeface="+mn-ea"/>
                <a:sym typeface="+mn-lt"/>
              </a:rPr>
              <a:t>，全面满足国家及兵团相关政策合规要求。</a:t>
            </a:r>
            <a:endParaRPr lang="en-US" altLang="zh-CN" sz="1200" dirty="0">
              <a:cs typeface="+mn-ea"/>
              <a:sym typeface="+mn-lt"/>
            </a:endParaRPr>
          </a:p>
        </p:txBody>
      </p:sp>
      <p:sp>
        <p:nvSpPr>
          <p:cNvPr id="42" name="文本框 41" descr="7b0a202020202262756c6c6574223a20227b5c2263617465676f727949645c223a5c225c222c5c2274656d706c61746549645c223a32303233313536367d220a7d0a"/>
          <p:cNvSpPr txBox="1"/>
          <p:nvPr>
            <p:custDataLst>
              <p:tags r:id="rId14"/>
            </p:custDataLst>
          </p:nvPr>
        </p:nvSpPr>
        <p:spPr>
          <a:xfrm>
            <a:off x="4672011" y="1557041"/>
            <a:ext cx="2809875" cy="3415030"/>
          </a:xfrm>
          <a:prstGeom prst="rect">
            <a:avLst/>
          </a:prstGeom>
          <a:noFill/>
        </p:spPr>
        <p:txBody>
          <a:bodyPr wrap="square" rtlCol="0">
            <a:spAutoFit/>
          </a:bodyPr>
          <a:lstStyle/>
          <a:p>
            <a:pPr indent="0">
              <a:lnSpc>
                <a:spcPct val="200000"/>
              </a:lnSpc>
              <a:buFont typeface="Wingdings" panose="05000000000000000000" pitchFamily="2" charset="2"/>
              <a:buNone/>
            </a:pPr>
            <a:r>
              <a:rPr lang="en-US" altLang="zh-CN" sz="1200" dirty="0">
                <a:cs typeface="+mn-ea"/>
                <a:sym typeface="+mn-lt"/>
              </a:rPr>
              <a:t>      </a:t>
            </a:r>
            <a:r>
              <a:rPr lang="zh-CN" altLang="en-US" sz="1200" dirty="0">
                <a:cs typeface="+mn-ea"/>
                <a:sym typeface="+mn-lt"/>
              </a:rPr>
              <a:t>打破</a:t>
            </a:r>
            <a:r>
              <a:rPr lang="en-US" altLang="zh-CN" sz="1200" dirty="0">
                <a:cs typeface="+mn-ea"/>
                <a:sym typeface="+mn-lt"/>
              </a:rPr>
              <a:t> “</a:t>
            </a:r>
            <a:r>
              <a:rPr lang="zh-CN" altLang="en-US" sz="1200" dirty="0">
                <a:cs typeface="+mn-ea"/>
                <a:sym typeface="+mn-lt"/>
              </a:rPr>
              <a:t>信息孤岛</a:t>
            </a:r>
            <a:r>
              <a:rPr lang="en-US" altLang="zh-CN" sz="1200" dirty="0">
                <a:cs typeface="+mn-ea"/>
                <a:sym typeface="+mn-lt"/>
              </a:rPr>
              <a:t>”</a:t>
            </a:r>
            <a:r>
              <a:rPr lang="zh-CN" altLang="en-US" sz="1200" dirty="0">
                <a:cs typeface="+mn-ea"/>
                <a:sym typeface="+mn-lt"/>
              </a:rPr>
              <a:t>，打通兵团国企采购数据流通壁垒，实现跨部门、跨系统高效互通共享，</a:t>
            </a:r>
            <a:r>
              <a:rPr lang="zh-CN" altLang="en-US" sz="1200" b="1" dirty="0">
                <a:cs typeface="+mn-ea"/>
                <a:sym typeface="+mn-lt"/>
              </a:rPr>
              <a:t>实时整合交易、履约等关键数据，</a:t>
            </a:r>
            <a:r>
              <a:rPr lang="zh-CN" altLang="en-US" sz="1200" dirty="0">
                <a:cs typeface="+mn-ea"/>
                <a:sym typeface="+mn-lt"/>
              </a:rPr>
              <a:t>为企业采购策略制定、成本管控等决策提供精准数据支撑。</a:t>
            </a:r>
            <a:endParaRPr lang="zh-CN" altLang="en-US" sz="1200" dirty="0">
              <a:cs typeface="+mn-ea"/>
              <a:sym typeface="+mn-lt"/>
            </a:endParaRPr>
          </a:p>
          <a:p>
            <a:pPr indent="0">
              <a:lnSpc>
                <a:spcPct val="200000"/>
              </a:lnSpc>
              <a:buFont typeface="Wingdings" panose="05000000000000000000" pitchFamily="2" charset="2"/>
              <a:buNone/>
            </a:pPr>
            <a:r>
              <a:rPr lang="en-US" altLang="zh-CN" sz="1200" dirty="0">
                <a:cs typeface="+mn-ea"/>
                <a:sym typeface="+mn-lt"/>
              </a:rPr>
              <a:t>      </a:t>
            </a:r>
            <a:r>
              <a:rPr lang="zh-CN" altLang="en-US" sz="1200" dirty="0">
                <a:cs typeface="+mn-ea"/>
                <a:sym typeface="+mn-lt"/>
              </a:rPr>
              <a:t>广泛汇聚优质供应商资源，搭建公平竞争交易环境，依托统一采购目录规范采购范围，结合价格区间参考严控采购成本，切实助力国有资产保值增值</a:t>
            </a:r>
            <a:endParaRPr lang="zh-CN" altLang="en-US" sz="1200" dirty="0">
              <a:cs typeface="+mn-ea"/>
              <a:sym typeface="+mn-lt"/>
            </a:endParaRPr>
          </a:p>
        </p:txBody>
      </p:sp>
      <p:sp>
        <p:nvSpPr>
          <p:cNvPr id="45" name="箭头: 右 44"/>
          <p:cNvSpPr/>
          <p:nvPr>
            <p:custDataLst>
              <p:tags r:id="rId15"/>
            </p:custDataLst>
          </p:nvPr>
        </p:nvSpPr>
        <p:spPr>
          <a:xfrm>
            <a:off x="4083502" y="3107460"/>
            <a:ext cx="197769" cy="666821"/>
          </a:xfrm>
          <a:prstGeom prst="rightArrow">
            <a:avLst/>
          </a:prstGeom>
          <a:gradFill flip="none" rotWithShape="1">
            <a:gsLst>
              <a:gs pos="0">
                <a:schemeClr val="accent5">
                  <a:lumMod val="0"/>
                  <a:lumOff val="100000"/>
                </a:schemeClr>
              </a:gs>
              <a:gs pos="0">
                <a:schemeClr val="accent5">
                  <a:lumMod val="0"/>
                  <a:lumOff val="100000"/>
                </a:schemeClr>
              </a:gs>
              <a:gs pos="100000">
                <a:srgbClr val="033B8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6" name="箭头: 右 45"/>
          <p:cNvSpPr/>
          <p:nvPr>
            <p:custDataLst>
              <p:tags r:id="rId16"/>
            </p:custDataLst>
          </p:nvPr>
        </p:nvSpPr>
        <p:spPr>
          <a:xfrm>
            <a:off x="7912011" y="3107460"/>
            <a:ext cx="197769" cy="666821"/>
          </a:xfrm>
          <a:prstGeom prst="rightArrow">
            <a:avLst/>
          </a:prstGeom>
          <a:gradFill flip="none" rotWithShape="1">
            <a:gsLst>
              <a:gs pos="0">
                <a:schemeClr val="accent5">
                  <a:lumMod val="0"/>
                  <a:lumOff val="100000"/>
                </a:schemeClr>
              </a:gs>
              <a:gs pos="0">
                <a:schemeClr val="accent5">
                  <a:lumMod val="0"/>
                  <a:lumOff val="100000"/>
                </a:schemeClr>
              </a:gs>
              <a:gs pos="100000">
                <a:srgbClr val="033B8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6" name="文本框 15" descr="7b0a202020202262756c6c6574223a20227b5c2263617465676f727949645c223a5c225c222c5c2274656d706c61746549645c223a32303233313536367d220a7d0a"/>
          <p:cNvSpPr txBox="1"/>
          <p:nvPr>
            <p:custDataLst>
              <p:tags r:id="rId17"/>
            </p:custDataLst>
          </p:nvPr>
        </p:nvSpPr>
        <p:spPr>
          <a:xfrm>
            <a:off x="8460421" y="1585616"/>
            <a:ext cx="2809875" cy="3415030"/>
          </a:xfrm>
          <a:prstGeom prst="rect">
            <a:avLst/>
          </a:prstGeom>
          <a:noFill/>
        </p:spPr>
        <p:txBody>
          <a:bodyPr wrap="square" rtlCol="0">
            <a:spAutoFit/>
          </a:bodyPr>
          <a:lstStyle/>
          <a:p>
            <a:pPr indent="0">
              <a:lnSpc>
                <a:spcPct val="200000"/>
              </a:lnSpc>
              <a:buFont typeface="Wingdings" panose="05000000000000000000" pitchFamily="2" charset="2"/>
              <a:buNone/>
            </a:pPr>
            <a:r>
              <a:rPr lang="en-US" altLang="zh-CN" sz="1200" dirty="0">
                <a:cs typeface="+mn-ea"/>
                <a:sym typeface="+mn-lt"/>
              </a:rPr>
              <a:t>      </a:t>
            </a:r>
            <a:r>
              <a:rPr lang="zh-CN" altLang="en-US" sz="1200" dirty="0">
                <a:cs typeface="+mn-ea"/>
                <a:sym typeface="+mn-lt"/>
              </a:rPr>
              <a:t>推动兵团国企采购全面革新，以标准化规范流程、数字化打通壁垒、智能化提升效能，构建</a:t>
            </a:r>
            <a:r>
              <a:rPr lang="en-US" altLang="zh-CN" sz="1200" dirty="0">
                <a:cs typeface="+mn-ea"/>
                <a:sym typeface="+mn-lt"/>
              </a:rPr>
              <a:t> “</a:t>
            </a:r>
            <a:r>
              <a:rPr lang="zh-CN" altLang="en-US" sz="1200" dirty="0">
                <a:cs typeface="+mn-ea"/>
                <a:sym typeface="+mn-lt"/>
              </a:rPr>
              <a:t>三化融合</a:t>
            </a:r>
            <a:r>
              <a:rPr lang="en-US" altLang="zh-CN" sz="1200" dirty="0">
                <a:cs typeface="+mn-ea"/>
                <a:sym typeface="+mn-lt"/>
              </a:rPr>
              <a:t>” </a:t>
            </a:r>
            <a:r>
              <a:rPr lang="zh-CN" altLang="en-US" sz="1200" dirty="0">
                <a:cs typeface="+mn-ea"/>
                <a:sym typeface="+mn-lt"/>
              </a:rPr>
              <a:t>新格局；同时严管供应商参与行为，杜绝违规操作，营造公平透明的交易环境。</a:t>
            </a:r>
            <a:endParaRPr lang="zh-CN" altLang="en-US" sz="1200" dirty="0">
              <a:cs typeface="+mn-ea"/>
              <a:sym typeface="+mn-lt"/>
            </a:endParaRPr>
          </a:p>
          <a:p>
            <a:pPr indent="0">
              <a:lnSpc>
                <a:spcPct val="200000"/>
              </a:lnSpc>
              <a:buFont typeface="Wingdings" panose="05000000000000000000" pitchFamily="2" charset="2"/>
              <a:buNone/>
            </a:pPr>
            <a:r>
              <a:rPr lang="zh-CN" altLang="en-US" sz="1200" dirty="0">
                <a:cs typeface="+mn-ea"/>
                <a:sym typeface="+mn-lt"/>
              </a:rPr>
              <a:t> </a:t>
            </a:r>
            <a:r>
              <a:rPr lang="en-US" altLang="zh-CN" sz="1200" dirty="0">
                <a:cs typeface="+mn-ea"/>
                <a:sym typeface="+mn-lt"/>
              </a:rPr>
              <a:t>     </a:t>
            </a:r>
            <a:r>
              <a:rPr lang="zh-CN" altLang="en-US" sz="1200" dirty="0">
                <a:cs typeface="+mn-ea"/>
                <a:sym typeface="+mn-lt"/>
              </a:rPr>
              <a:t>依托成熟运营模式与科学收益分配机制，平衡各方利益，保障平台长期稳定运转，助力打造辐射区域的招采服务新生态。</a:t>
            </a:r>
            <a:endParaRPr lang="zh-CN" altLang="en-US" sz="1200" dirty="0">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 name="组合 12"/>
          <p:cNvGrpSpPr/>
          <p:nvPr/>
        </p:nvGrpSpPr>
        <p:grpSpPr>
          <a:xfrm>
            <a:off x="-609573" y="240598"/>
            <a:ext cx="1322628" cy="631070"/>
            <a:chOff x="-504068" y="174267"/>
            <a:chExt cx="1600668" cy="763731"/>
          </a:xfrm>
        </p:grpSpPr>
        <p:sp>
          <p:nvSpPr>
            <p:cNvPr id="65" name="平行四边形 64"/>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3" name="平行四边形 62"/>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cs typeface="+mn-ea"/>
                <a:sym typeface="+mn-lt"/>
              </a:endParaRPr>
            </a:p>
          </p:txBody>
        </p:sp>
      </p:grpSp>
      <p:sp>
        <p:nvSpPr>
          <p:cNvPr id="66" name="文本框 65"/>
          <p:cNvSpPr txBox="1"/>
          <p:nvPr/>
        </p:nvSpPr>
        <p:spPr>
          <a:xfrm>
            <a:off x="673100" y="212090"/>
            <a:ext cx="10414000"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合作模式：成本共担</a:t>
            </a:r>
            <a:r>
              <a:rPr lang="en-US" altLang="zh-CN" sz="3200" b="1" dirty="0">
                <a:solidFill>
                  <a:srgbClr val="3271CC"/>
                </a:solidFill>
                <a:latin typeface="微软雅黑" panose="020B0503020204020204" charset="-122"/>
                <a:ea typeface="微软雅黑" panose="020B0503020204020204" charset="-122"/>
                <a:cs typeface="+mn-ea"/>
                <a:sym typeface="+mn-lt"/>
              </a:rPr>
              <a:t>+</a:t>
            </a:r>
            <a:r>
              <a:rPr lang="zh-CN" altLang="en-US" sz="3200" b="1" dirty="0">
                <a:solidFill>
                  <a:srgbClr val="3271CC"/>
                </a:solidFill>
                <a:latin typeface="微软雅黑" panose="020B0503020204020204" charset="-122"/>
                <a:ea typeface="微软雅黑" panose="020B0503020204020204" charset="-122"/>
                <a:cs typeface="+mn-ea"/>
                <a:sym typeface="+mn-lt"/>
              </a:rPr>
              <a:t>收益</a:t>
            </a:r>
            <a:r>
              <a:rPr lang="zh-CN" altLang="en-US" sz="3200" b="1" dirty="0">
                <a:solidFill>
                  <a:srgbClr val="3271CC"/>
                </a:solidFill>
                <a:latin typeface="微软雅黑" panose="020B0503020204020204" charset="-122"/>
                <a:ea typeface="微软雅黑" panose="020B0503020204020204" charset="-122"/>
                <a:cs typeface="+mn-ea"/>
                <a:sym typeface="+mn-lt"/>
              </a:rPr>
              <a:t>共享</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sp>
        <p:nvSpPr>
          <p:cNvPr id="6" name="矩形 5"/>
          <p:cNvSpPr/>
          <p:nvPr/>
        </p:nvSpPr>
        <p:spPr>
          <a:xfrm>
            <a:off x="6350" y="852805"/>
            <a:ext cx="12185650" cy="812165"/>
          </a:xfrm>
          <a:prstGeom prst="rect">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a:solidFill>
                <a:prstClr val="white"/>
              </a:solidFill>
              <a:cs typeface="+mn-ea"/>
              <a:sym typeface="+mn-lt"/>
            </a:endParaRPr>
          </a:p>
        </p:txBody>
      </p:sp>
      <p:sp>
        <p:nvSpPr>
          <p:cNvPr id="7" name="文本框 6"/>
          <p:cNvSpPr txBox="1"/>
          <p:nvPr/>
        </p:nvSpPr>
        <p:spPr>
          <a:xfrm>
            <a:off x="6985" y="936625"/>
            <a:ext cx="12185015" cy="645160"/>
          </a:xfrm>
          <a:prstGeom prst="rect">
            <a:avLst/>
          </a:prstGeom>
          <a:noFill/>
        </p:spPr>
        <p:txBody>
          <a:bodyPr wrap="square" rtlCol="0">
            <a:spAutoFit/>
          </a:bodyPr>
          <a:lstStyle/>
          <a:p>
            <a:pPr indent="0" fontAlgn="auto">
              <a:lnSpc>
                <a:spcPct val="150000"/>
              </a:lnSpc>
            </a:pPr>
            <a:r>
              <a:rPr lang="zh-CN" altLang="en-US" sz="1200" dirty="0">
                <a:solidFill>
                  <a:schemeClr val="bg1"/>
                </a:solidFill>
                <a:cs typeface="+mn-ea"/>
                <a:sym typeface="+mn-lt"/>
              </a:rPr>
              <a:t>  </a:t>
            </a:r>
            <a:r>
              <a:rPr lang="en-US" altLang="zh-CN" sz="1200" dirty="0">
                <a:solidFill>
                  <a:schemeClr val="bg1"/>
                </a:solidFill>
                <a:cs typeface="+mn-ea"/>
                <a:sym typeface="+mn-lt"/>
              </a:rPr>
              <a:t>       </a:t>
            </a:r>
            <a:r>
              <a:rPr lang="zh-CN" altLang="en-US" sz="1200" dirty="0">
                <a:solidFill>
                  <a:schemeClr val="bg1"/>
                </a:solidFill>
                <a:cs typeface="+mn-ea"/>
                <a:sym typeface="+mn-lt"/>
              </a:rPr>
              <a:t>基于兵团国资委、新疆中新建数字发展有限责任公司、国泰新点软件股份有限公司的合作基础，用成本共担</a:t>
            </a:r>
            <a:r>
              <a:rPr lang="en-US" altLang="zh-CN" sz="1200" dirty="0">
                <a:solidFill>
                  <a:schemeClr val="bg1"/>
                </a:solidFill>
                <a:cs typeface="+mn-ea"/>
                <a:sym typeface="+mn-lt"/>
              </a:rPr>
              <a:t> + </a:t>
            </a:r>
            <a:r>
              <a:rPr lang="zh-CN" altLang="en-US" sz="1200" dirty="0">
                <a:solidFill>
                  <a:schemeClr val="bg1"/>
                </a:solidFill>
                <a:cs typeface="+mn-ea"/>
                <a:sym typeface="+mn-lt"/>
              </a:rPr>
              <a:t>收益共享的合作模式，明确各方成本投入与收益分配方式，确保合作可持续。</a:t>
            </a:r>
            <a:endParaRPr lang="zh-CN" altLang="en-US" sz="1200" dirty="0">
              <a:solidFill>
                <a:schemeClr val="bg1"/>
              </a:solidFill>
              <a:cs typeface="+mn-ea"/>
              <a:sym typeface="+mn-lt"/>
            </a:endParaRPr>
          </a:p>
        </p:txBody>
      </p:sp>
      <p:graphicFrame>
        <p:nvGraphicFramePr>
          <p:cNvPr id="2" name="表格 1"/>
          <p:cNvGraphicFramePr/>
          <p:nvPr/>
        </p:nvGraphicFramePr>
        <p:xfrm>
          <a:off x="508635" y="1713103"/>
          <a:ext cx="6956425" cy="4733290"/>
        </p:xfrm>
        <a:graphic>
          <a:graphicData uri="http://schemas.openxmlformats.org/drawingml/2006/table">
            <a:tbl>
              <a:tblPr/>
              <a:tblGrid>
                <a:gridCol w="615315"/>
                <a:gridCol w="852170"/>
                <a:gridCol w="1648460"/>
                <a:gridCol w="3840480"/>
              </a:tblGrid>
              <a:tr h="502920">
                <a:tc>
                  <a:txBody>
                    <a:bodyPr/>
                    <a:p>
                      <a:pPr marL="85725" indent="0" algn="ctr" fontAlgn="ctr">
                        <a:lnSpc>
                          <a:spcPts val="2800"/>
                        </a:lnSpc>
                        <a:spcBef>
                          <a:spcPct val="0"/>
                        </a:spcBef>
                        <a:spcAft>
                          <a:spcPct val="0"/>
                        </a:spcAft>
                      </a:pPr>
                      <a:r>
                        <a:rPr lang="zh-CN" sz="1000" b="1" i="0">
                          <a:solidFill>
                            <a:srgbClr val="000000"/>
                          </a:solidFill>
                          <a:latin typeface="宋体" panose="02010600030101010101" pitchFamily="2" charset="-122"/>
                          <a:ea typeface="宋体" panose="02010600030101010101" pitchFamily="2" charset="-122"/>
                        </a:rPr>
                        <a:t>序号</a:t>
                      </a:r>
                      <a:endParaRPr lang="zh-CN" sz="10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b="1" i="0">
                          <a:solidFill>
                            <a:srgbClr val="000000"/>
                          </a:solidFill>
                          <a:latin typeface="宋体" panose="02010600030101010101" pitchFamily="2" charset="-122"/>
                          <a:ea typeface="宋体" panose="02010600030101010101" pitchFamily="2" charset="-122"/>
                        </a:rPr>
                        <a:t>承担方</a:t>
                      </a:r>
                      <a:endParaRPr lang="zh-CN" sz="10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b="1" i="0">
                          <a:solidFill>
                            <a:srgbClr val="000000"/>
                          </a:solidFill>
                          <a:latin typeface="宋体" panose="02010600030101010101" pitchFamily="2" charset="-122"/>
                          <a:ea typeface="宋体" panose="02010600030101010101" pitchFamily="2" charset="-122"/>
                        </a:rPr>
                        <a:t>投入事项</a:t>
                      </a:r>
                      <a:endParaRPr lang="zh-CN" sz="10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b="1" i="0">
                          <a:solidFill>
                            <a:srgbClr val="000000"/>
                          </a:solidFill>
                          <a:latin typeface="宋体" panose="02010600030101010101" pitchFamily="2" charset="-122"/>
                          <a:ea typeface="宋体" panose="02010600030101010101" pitchFamily="2" charset="-122"/>
                        </a:rPr>
                        <a:t>备注</a:t>
                      </a:r>
                      <a:endParaRPr lang="zh-CN" sz="10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02920">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1</a:t>
                      </a:r>
                      <a:endParaRPr lang="en-US" alt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4">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新点软件</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平台开发</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兵团国有企业</a:t>
                      </a:r>
                      <a:r>
                        <a:rPr lang="zh-CN" altLang="en-US" sz="1000" i="0">
                          <a:solidFill>
                            <a:srgbClr val="000000"/>
                          </a:solidFill>
                          <a:latin typeface="宋体" panose="02010600030101010101" pitchFamily="2" charset="-122"/>
                          <a:ea typeface="宋体" panose="02010600030101010101" pitchFamily="2" charset="-122"/>
                        </a:rPr>
                        <a:t>“人工智能</a:t>
                      </a:r>
                      <a:r>
                        <a:rPr lang="en-US" altLang="zh-CN" sz="1000" i="0">
                          <a:solidFill>
                            <a:srgbClr val="000000"/>
                          </a:solidFill>
                          <a:latin typeface="宋体" panose="02010600030101010101" pitchFamily="2" charset="-122"/>
                          <a:ea typeface="宋体" panose="02010600030101010101" pitchFamily="2" charset="-122"/>
                        </a:rPr>
                        <a:t>+”</a:t>
                      </a:r>
                      <a:r>
                        <a:rPr lang="zh-CN" altLang="en-US" sz="1000" i="0">
                          <a:solidFill>
                            <a:srgbClr val="000000"/>
                          </a:solidFill>
                          <a:latin typeface="宋体" panose="02010600030101010101" pitchFamily="2" charset="-122"/>
                          <a:ea typeface="宋体" panose="02010600030101010101" pitchFamily="2" charset="-122"/>
                        </a:rPr>
                        <a:t>阳光采购平台系统开发建设</a:t>
                      </a:r>
                      <a:endParaRPr lang="zh-CN" altLang="en-US"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02285">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2</a:t>
                      </a:r>
                      <a:endParaRPr lang="en-US" alt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平台部署与测试联调</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首年平台应用部署、功能联测测试</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02920">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3</a:t>
                      </a:r>
                      <a:endParaRPr lang="en-US" alt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平台运维</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含服务器巡检、系统升级、技术支持</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02920">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4</a:t>
                      </a:r>
                      <a:endParaRPr lang="en-US" alt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监管系统对接</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平台与</a:t>
                      </a:r>
                      <a:r>
                        <a:rPr lang="zh-CN" altLang="en-US" sz="1000" i="0">
                          <a:solidFill>
                            <a:srgbClr val="000000"/>
                          </a:solidFill>
                          <a:latin typeface="宋体" panose="02010600030101010101" pitchFamily="2" charset="-122"/>
                          <a:ea typeface="宋体" panose="02010600030101010101" pitchFamily="2" charset="-122"/>
                        </a:rPr>
                        <a:t>“国资委监督平台”对接开发</a:t>
                      </a:r>
                      <a:endParaRPr lang="zh-CN" altLang="en-US"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02920">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5</a:t>
                      </a:r>
                      <a:endParaRPr lang="en-US" alt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5">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运营单位</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硬件采购</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含部署配套硬件、服务器、网络设备及机房配套</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02285">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6</a:t>
                      </a:r>
                      <a:endParaRPr lang="en-US" alt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数据库与中间件采购</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按需采购（如达梦数据库、东方通</a:t>
                      </a:r>
                      <a:r>
                        <a:rPr lang="en-US" altLang="zh-CN" sz="1000" i="0">
                          <a:solidFill>
                            <a:srgbClr val="000000"/>
                          </a:solidFill>
                          <a:latin typeface="宋体" panose="02010600030101010101" pitchFamily="2" charset="-122"/>
                          <a:ea typeface="宋体" panose="02010600030101010101" pitchFamily="2" charset="-122"/>
                        </a:rPr>
                        <a:t>Web</a:t>
                      </a:r>
                      <a:r>
                        <a:rPr lang="zh-CN" altLang="en-US" sz="1000" i="0">
                          <a:solidFill>
                            <a:srgbClr val="000000"/>
                          </a:solidFill>
                          <a:latin typeface="宋体" panose="02010600030101010101" pitchFamily="2" charset="-122"/>
                          <a:ea typeface="宋体" panose="02010600030101010101" pitchFamily="2" charset="-122"/>
                        </a:rPr>
                        <a:t>中间件）</a:t>
                      </a:r>
                      <a:endParaRPr lang="zh-CN" altLang="en-US"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52730">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7</a:t>
                      </a:r>
                      <a:endParaRPr lang="en-US" alt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三级等保与</a:t>
                      </a:r>
                      <a:r>
                        <a:rPr lang="en-US" altLang="zh-CN" sz="1000" i="0">
                          <a:solidFill>
                            <a:srgbClr val="000000"/>
                          </a:solidFill>
                          <a:latin typeface="宋体" panose="02010600030101010101" pitchFamily="2" charset="-122"/>
                          <a:ea typeface="宋体" panose="02010600030101010101" pitchFamily="2" charset="-122"/>
                        </a:rPr>
                        <a:t>EBS</a:t>
                      </a:r>
                      <a:r>
                        <a:rPr lang="zh-CN" altLang="en-US" sz="1000" i="0">
                          <a:solidFill>
                            <a:srgbClr val="000000"/>
                          </a:solidFill>
                          <a:latin typeface="宋体" panose="02010600030101010101" pitchFamily="2" charset="-122"/>
                          <a:ea typeface="宋体" panose="02010600030101010101" pitchFamily="2" charset="-122"/>
                        </a:rPr>
                        <a:t>认证</a:t>
                      </a:r>
                      <a:endParaRPr lang="zh-CN" altLang="en-US"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三级等保测、</a:t>
                      </a:r>
                      <a:r>
                        <a:rPr lang="en-US" altLang="zh-CN" sz="1000" i="0">
                          <a:solidFill>
                            <a:srgbClr val="000000"/>
                          </a:solidFill>
                          <a:latin typeface="宋体" panose="02010600030101010101" pitchFamily="2" charset="-122"/>
                          <a:ea typeface="宋体" panose="02010600030101010101" pitchFamily="2" charset="-122"/>
                        </a:rPr>
                        <a:t>EBS</a:t>
                      </a:r>
                      <a:r>
                        <a:rPr lang="zh-CN" altLang="en-US" sz="1000" i="0">
                          <a:solidFill>
                            <a:srgbClr val="000000"/>
                          </a:solidFill>
                          <a:latin typeface="宋体" panose="02010600030101010101" pitchFamily="2" charset="-122"/>
                          <a:ea typeface="宋体" panose="02010600030101010101" pitchFamily="2" charset="-122"/>
                        </a:rPr>
                        <a:t>认证维护</a:t>
                      </a:r>
                      <a:endParaRPr lang="zh-CN" altLang="en-US"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02920">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8</a:t>
                      </a:r>
                      <a:endParaRPr lang="en-US" alt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场地及场地配套硬件</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交易场地、开标评标室电脑、打印机等设备</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51460">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9</a:t>
                      </a:r>
                      <a:endParaRPr lang="en-US" alt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marL="85725" indent="0" algn="ctr" fontAlgn="ctr">
                        <a:lnSpc>
                          <a:spcPts val="2800"/>
                        </a:lnSpc>
                        <a:spcBef>
                          <a:spcPct val="0"/>
                        </a:spcBef>
                        <a:spcAft>
                          <a:spcPct val="0"/>
                        </a:spcAft>
                      </a:pPr>
                      <a:r>
                        <a:rPr lang="zh-CN" sz="1000" i="0">
                          <a:solidFill>
                            <a:srgbClr val="000000"/>
                          </a:solidFill>
                          <a:latin typeface="宋体" panose="02010600030101010101" pitchFamily="2" charset="-122"/>
                          <a:ea typeface="宋体" panose="02010600030101010101" pitchFamily="2" charset="-122"/>
                        </a:rPr>
                        <a:t>网络带宽</a:t>
                      </a:r>
                      <a:endParaRPr lang="zh-CN"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85725" indent="0" algn="ctr" fontAlgn="ctr">
                        <a:lnSpc>
                          <a:spcPts val="2800"/>
                        </a:lnSpc>
                        <a:spcBef>
                          <a:spcPct val="0"/>
                        </a:spcBef>
                        <a:spcAft>
                          <a:spcPct val="0"/>
                        </a:spcAft>
                      </a:pPr>
                      <a:r>
                        <a:rPr lang="en-US" altLang="zh-CN" sz="1000" i="0">
                          <a:solidFill>
                            <a:srgbClr val="000000"/>
                          </a:solidFill>
                          <a:latin typeface="宋体" panose="02010600030101010101" pitchFamily="2" charset="-122"/>
                          <a:ea typeface="宋体" panose="02010600030101010101" pitchFamily="2" charset="-122"/>
                        </a:rPr>
                        <a:t>100M</a:t>
                      </a:r>
                      <a:r>
                        <a:rPr lang="zh-CN" altLang="en-US" sz="1000" i="0">
                          <a:solidFill>
                            <a:srgbClr val="000000"/>
                          </a:solidFill>
                          <a:latin typeface="宋体" panose="02010600030101010101" pitchFamily="2" charset="-122"/>
                          <a:ea typeface="宋体" panose="02010600030101010101" pitchFamily="2" charset="-122"/>
                        </a:rPr>
                        <a:t>专线费用</a:t>
                      </a:r>
                      <a:endParaRPr lang="zh-CN" altLang="en-US" sz="10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181" name="圆角矩形 4"/>
          <p:cNvSpPr/>
          <p:nvPr/>
        </p:nvSpPr>
        <p:spPr>
          <a:xfrm>
            <a:off x="7911465" y="1792605"/>
            <a:ext cx="3885565" cy="4487545"/>
          </a:xfrm>
          <a:prstGeom prst="roundRect">
            <a:avLst>
              <a:gd name="adj" fmla="val 11405"/>
            </a:avLst>
          </a:prstGeom>
          <a:solidFill>
            <a:schemeClr val="tx2">
              <a:lumMod val="40000"/>
              <a:lumOff val="60000"/>
              <a:alpha val="30000"/>
            </a:schemeClr>
          </a:solidFill>
          <a:ln w="12700" cap="flat" cmpd="sng" algn="ctr">
            <a:noFill/>
            <a:prstDash val="solid"/>
            <a:miter lim="800000"/>
          </a:ln>
          <a:effectLst/>
        </p:spPr>
        <p:txBody>
          <a:bodyPr anchor="t"/>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200" i="0" u="none" strike="noStrike" kern="1200" cap="none" spc="0" normalizeH="0" baseline="0" noProof="1" dirty="0">
                <a:solidFill>
                  <a:schemeClr val="tx1"/>
                </a:solidFill>
                <a:cs typeface="+mn-ea"/>
                <a:sym typeface="+mn-lt"/>
              </a:rPr>
              <a:t>   </a:t>
            </a:r>
            <a:r>
              <a:rPr kumimoji="0" lang="en-US" altLang="zh-CN" sz="1200" b="1" i="0" u="none" strike="noStrike" kern="1200" cap="none" spc="0" normalizeH="0" baseline="0" noProof="1" dirty="0">
                <a:solidFill>
                  <a:schemeClr val="tx1"/>
                </a:solidFill>
                <a:cs typeface="+mn-ea"/>
                <a:sym typeface="+mn-lt"/>
              </a:rPr>
              <a:t> </a:t>
            </a:r>
            <a:r>
              <a:rPr kumimoji="0" lang="zh-CN" altLang="en-US" sz="1200" b="1" i="0" u="none" strike="noStrike" kern="1200" cap="none" spc="0" normalizeH="0" baseline="0" noProof="1" dirty="0">
                <a:solidFill>
                  <a:schemeClr val="tx1"/>
                </a:solidFill>
                <a:cs typeface="+mn-ea"/>
                <a:sym typeface="+mn-lt"/>
              </a:rPr>
              <a:t>收益来源：</a:t>
            </a:r>
            <a:r>
              <a:rPr kumimoji="0" lang="zh-CN" altLang="en-US" sz="1200" i="0" u="none" strike="noStrike" kern="1200" cap="none" spc="0" normalizeH="0" baseline="0" noProof="1" dirty="0">
                <a:solidFill>
                  <a:schemeClr val="tx1"/>
                </a:solidFill>
                <a:cs typeface="+mn-ea"/>
                <a:sym typeface="+mn-lt"/>
              </a:rPr>
              <a:t>按照“谁使用、谁付费”原则，向参与平台交易的主体收取费用，包括供应商投标服务费、电子商城交易服务费、保函费用。</a:t>
            </a:r>
            <a:endParaRPr kumimoji="0" lang="zh-CN" altLang="en-US" sz="1200" i="0" u="none" strike="noStrike" kern="1200" cap="none" spc="0" normalizeH="0" baseline="0" noProof="1" dirty="0">
              <a:solidFill>
                <a:schemeClr val="tx1"/>
              </a:solidFill>
              <a:cs typeface="+mn-ea"/>
              <a:sym typeface="+mn-lt"/>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200" i="0" u="none" strike="noStrike" kern="1200" cap="none" spc="0" normalizeH="0" baseline="0" noProof="1" dirty="0">
                <a:solidFill>
                  <a:schemeClr val="tx1"/>
                </a:solidFill>
                <a:cs typeface="+mn-ea"/>
                <a:sym typeface="+mn-lt"/>
              </a:rPr>
              <a:t>    </a:t>
            </a:r>
            <a:r>
              <a:rPr kumimoji="0" lang="en-US" altLang="zh-CN" sz="1200" b="1" i="0" u="none" strike="noStrike" kern="1200" cap="none" spc="0" normalizeH="0" baseline="0" noProof="1" dirty="0">
                <a:solidFill>
                  <a:schemeClr val="tx1"/>
                </a:solidFill>
                <a:cs typeface="+mn-ea"/>
                <a:sym typeface="+mn-lt"/>
              </a:rPr>
              <a:t> </a:t>
            </a:r>
            <a:r>
              <a:rPr kumimoji="0" lang="zh-CN" altLang="en-US" sz="1200" b="1" i="0" u="none" strike="noStrike" kern="1200" cap="none" spc="0" normalizeH="0" baseline="0" noProof="1" dirty="0">
                <a:solidFill>
                  <a:schemeClr val="tx1"/>
                </a:solidFill>
                <a:cs typeface="+mn-ea"/>
                <a:sym typeface="+mn-lt"/>
              </a:rPr>
              <a:t>分配方式：</a:t>
            </a:r>
            <a:r>
              <a:rPr kumimoji="0" lang="zh-CN" altLang="en-US" sz="1200" i="0" u="none" strike="noStrike" kern="1200" cap="none" spc="0" normalizeH="0" baseline="0" noProof="1" dirty="0">
                <a:solidFill>
                  <a:schemeClr val="tx1"/>
                </a:solidFill>
                <a:cs typeface="+mn-ea"/>
                <a:sym typeface="+mn-lt"/>
              </a:rPr>
              <a:t>扣除平台运营成本（如客服人员工资、云存储费用）后，运营单位与平台开发商按比例分</a:t>
            </a:r>
            <a:r>
              <a:rPr kumimoji="0" lang="en-US" altLang="zh-CN" sz="1200" i="0" u="none" strike="noStrike" kern="1200" cap="none" spc="0" normalizeH="0" baseline="0" noProof="1" dirty="0">
                <a:solidFill>
                  <a:schemeClr val="tx1"/>
                </a:solidFill>
                <a:cs typeface="+mn-ea"/>
                <a:sym typeface="+mn-lt"/>
              </a:rPr>
              <a:t>   </a:t>
            </a:r>
            <a:r>
              <a:rPr kumimoji="0" lang="zh-CN" altLang="en-US" sz="1200" i="0" u="none" strike="noStrike" kern="1200" cap="none" spc="0" normalizeH="0" baseline="0" noProof="1" dirty="0">
                <a:solidFill>
                  <a:schemeClr val="tx1"/>
                </a:solidFill>
                <a:cs typeface="+mn-ea"/>
                <a:sym typeface="+mn-lt"/>
              </a:rPr>
              <a:t>配净收益。其中，运营单位分配部分用于国企运营工作经费；平台开发商分配部分用于平台运维与功能升级。</a:t>
            </a:r>
            <a:endParaRPr kumimoji="0" lang="zh-CN" altLang="en-US" sz="1200" i="0" u="none" strike="noStrike" kern="1200" cap="none" spc="0" normalizeH="0" baseline="0" noProof="1" dirty="0">
              <a:solidFill>
                <a:schemeClr val="tx1"/>
              </a:solidFill>
              <a:cs typeface="+mn-ea"/>
              <a:sym typeface="+mn-lt"/>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200" i="0" u="none" strike="noStrike" kern="1200" cap="none" spc="0" normalizeH="0" baseline="0" noProof="1" dirty="0">
                <a:solidFill>
                  <a:schemeClr val="tx1"/>
                </a:solidFill>
                <a:cs typeface="+mn-ea"/>
                <a:sym typeface="+mn-lt"/>
              </a:rPr>
              <a:t>    </a:t>
            </a:r>
            <a:r>
              <a:rPr kumimoji="0" lang="zh-CN" altLang="en-US" sz="1200" b="1" i="0" u="none" strike="noStrike" kern="1200" cap="none" spc="0" normalizeH="0" baseline="0" noProof="1" dirty="0">
                <a:solidFill>
                  <a:schemeClr val="tx1"/>
                </a:solidFill>
                <a:cs typeface="+mn-ea"/>
                <a:sym typeface="+mn-lt"/>
              </a:rPr>
              <a:t>调整机制：</a:t>
            </a:r>
            <a:r>
              <a:rPr kumimoji="0" lang="zh-CN" altLang="en-US" sz="1200" i="0" u="none" strike="noStrike" kern="1200" cap="none" spc="0" normalizeH="0" baseline="0" noProof="1" dirty="0">
                <a:solidFill>
                  <a:schemeClr val="tx1"/>
                </a:solidFill>
                <a:cs typeface="+mn-ea"/>
                <a:sym typeface="+mn-lt"/>
              </a:rPr>
              <a:t>当平台年度净收益超过阈值后，国资委与中新建、新点软件分配比例调整，鼓励各方持续推广平台使用。</a:t>
            </a:r>
            <a:endParaRPr kumimoji="0" lang="zh-CN" altLang="en-US" sz="1200" i="0" u="none" strike="noStrike" kern="1200" cap="none" spc="0" normalizeH="0" baseline="0" noProof="1" dirty="0">
              <a:solidFill>
                <a:schemeClr val="tx1"/>
              </a:solidFill>
              <a:cs typeface="+mn-ea"/>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 name="组合 12"/>
          <p:cNvGrpSpPr/>
          <p:nvPr/>
        </p:nvGrpSpPr>
        <p:grpSpPr>
          <a:xfrm>
            <a:off x="-609573" y="240598"/>
            <a:ext cx="1322628" cy="631070"/>
            <a:chOff x="-504068" y="174267"/>
            <a:chExt cx="1600668" cy="763731"/>
          </a:xfrm>
        </p:grpSpPr>
        <p:sp>
          <p:nvSpPr>
            <p:cNvPr id="65" name="平行四边形 64"/>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3" name="平行四边形 62"/>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cs typeface="+mn-ea"/>
                <a:sym typeface="+mn-lt"/>
              </a:endParaRPr>
            </a:p>
          </p:txBody>
        </p:sp>
      </p:grpSp>
      <p:sp>
        <p:nvSpPr>
          <p:cNvPr id="66" name="文本框 65"/>
          <p:cNvSpPr txBox="1"/>
          <p:nvPr/>
        </p:nvSpPr>
        <p:spPr>
          <a:xfrm>
            <a:off x="673100" y="212090"/>
            <a:ext cx="10414000"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营收测算：运营有成效，收益见</a:t>
            </a:r>
            <a:r>
              <a:rPr lang="zh-CN" altLang="en-US" sz="3200" b="1" dirty="0">
                <a:solidFill>
                  <a:srgbClr val="3271CC"/>
                </a:solidFill>
                <a:latin typeface="微软雅黑" panose="020B0503020204020204" charset="-122"/>
                <a:ea typeface="微软雅黑" panose="020B0503020204020204" charset="-122"/>
                <a:cs typeface="+mn-ea"/>
                <a:sym typeface="+mn-lt"/>
              </a:rPr>
              <a:t>增长</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sp>
        <p:nvSpPr>
          <p:cNvPr id="6" name="矩形 5"/>
          <p:cNvSpPr/>
          <p:nvPr/>
        </p:nvSpPr>
        <p:spPr>
          <a:xfrm>
            <a:off x="6350" y="852805"/>
            <a:ext cx="12185650" cy="812165"/>
          </a:xfrm>
          <a:prstGeom prst="rect">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a:solidFill>
                <a:prstClr val="white"/>
              </a:solidFill>
              <a:cs typeface="+mn-ea"/>
              <a:sym typeface="+mn-lt"/>
            </a:endParaRPr>
          </a:p>
        </p:txBody>
      </p:sp>
      <p:sp>
        <p:nvSpPr>
          <p:cNvPr id="7" name="文本框 6"/>
          <p:cNvSpPr txBox="1"/>
          <p:nvPr/>
        </p:nvSpPr>
        <p:spPr>
          <a:xfrm>
            <a:off x="6985" y="936625"/>
            <a:ext cx="12185015" cy="645160"/>
          </a:xfrm>
          <a:prstGeom prst="rect">
            <a:avLst/>
          </a:prstGeom>
          <a:noFill/>
        </p:spPr>
        <p:txBody>
          <a:bodyPr wrap="square" rtlCol="0">
            <a:spAutoFit/>
          </a:bodyPr>
          <a:lstStyle/>
          <a:p>
            <a:pPr indent="0" fontAlgn="auto">
              <a:lnSpc>
                <a:spcPct val="150000"/>
              </a:lnSpc>
            </a:pPr>
            <a:r>
              <a:rPr lang="zh-CN" altLang="en-US" sz="1200" dirty="0">
                <a:solidFill>
                  <a:schemeClr val="bg1"/>
                </a:solidFill>
                <a:cs typeface="+mn-ea"/>
                <a:sym typeface="+mn-lt"/>
              </a:rPr>
              <a:t>结合兵团国企规模与平台推广规划测算，随入驻率逐步趋近全域覆盖，收入增长态势持续向好，后期年均增长幅度可观，待兵团所有国企纳入后将形成稳定收益格局，为平台长期运维迭代、功能优化升级，以及兵团国企采购数字化转型的持续深化，提供了坚实的收益保障。</a:t>
            </a:r>
            <a:endParaRPr lang="zh-CN" altLang="en-US" sz="1200" dirty="0">
              <a:solidFill>
                <a:schemeClr val="bg1"/>
              </a:solidFill>
              <a:cs typeface="+mn-ea"/>
              <a:sym typeface="+mn-lt"/>
            </a:endParaRPr>
          </a:p>
        </p:txBody>
      </p:sp>
      <p:sp>
        <p:nvSpPr>
          <p:cNvPr id="181" name="圆角矩形 4"/>
          <p:cNvSpPr/>
          <p:nvPr/>
        </p:nvSpPr>
        <p:spPr>
          <a:xfrm>
            <a:off x="267970" y="1722120"/>
            <a:ext cx="3885565" cy="4937125"/>
          </a:xfrm>
          <a:prstGeom prst="roundRect">
            <a:avLst>
              <a:gd name="adj" fmla="val 11405"/>
            </a:avLst>
          </a:prstGeom>
          <a:solidFill>
            <a:schemeClr val="tx2">
              <a:lumMod val="40000"/>
              <a:lumOff val="60000"/>
              <a:alpha val="30000"/>
            </a:schemeClr>
          </a:solidFill>
          <a:ln w="12700" cap="flat" cmpd="sng" algn="ctr">
            <a:noFill/>
            <a:prstDash val="solid"/>
            <a:miter lim="800000"/>
          </a:ln>
          <a:effectLst/>
        </p:spPr>
        <p:txBody>
          <a:bodyPr anchor="t"/>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sz="1200" i="0" u="none" strike="noStrike" kern="1200" cap="none" spc="0" normalizeH="0" baseline="0" noProof="1" dirty="0">
                <a:solidFill>
                  <a:schemeClr val="tx1"/>
                </a:solidFill>
                <a:cs typeface="+mn-ea"/>
                <a:sym typeface="+mn-lt"/>
              </a:rPr>
              <a:t>1</a:t>
            </a:r>
            <a:r>
              <a:rPr kumimoji="0" lang="zh-CN" altLang="en-US" sz="1200" i="0" u="none" strike="noStrike" kern="1200" cap="none" spc="0" normalizeH="0" baseline="0" noProof="1" dirty="0">
                <a:solidFill>
                  <a:schemeClr val="tx1"/>
                </a:solidFill>
                <a:cs typeface="+mn-ea"/>
                <a:sym typeface="+mn-lt"/>
              </a:rPr>
              <a:t>、根据新疆生产建设兵团的直接监管企业和委托监管企业的总数量预估，</a:t>
            </a:r>
            <a:r>
              <a:rPr kumimoji="0" lang="en-US" altLang="zh-CN" sz="1200" i="0" u="none" strike="noStrike" kern="1200" cap="none" spc="0" normalizeH="0" baseline="0" noProof="1" dirty="0">
                <a:solidFill>
                  <a:schemeClr val="tx1"/>
                </a:solidFill>
                <a:cs typeface="+mn-ea"/>
                <a:sym typeface="+mn-lt"/>
              </a:rPr>
              <a:t>2025</a:t>
            </a:r>
            <a:r>
              <a:rPr kumimoji="0" lang="zh-CN" altLang="en-US" sz="1200" i="0" u="none" strike="noStrike" kern="1200" cap="none" spc="0" normalizeH="0" baseline="0" noProof="1" dirty="0">
                <a:solidFill>
                  <a:schemeClr val="tx1"/>
                </a:solidFill>
                <a:cs typeface="+mn-ea"/>
                <a:sym typeface="+mn-lt"/>
              </a:rPr>
              <a:t>年国有企业数量为</a:t>
            </a:r>
            <a:r>
              <a:rPr kumimoji="0" lang="en-US" altLang="zh-CN" sz="1200" b="1" i="0" u="none" strike="noStrike" kern="1200" cap="none" spc="0" normalizeH="0" baseline="0" noProof="1" dirty="0">
                <a:solidFill>
                  <a:schemeClr val="tx1"/>
                </a:solidFill>
                <a:cs typeface="+mn-ea"/>
                <a:sym typeface="+mn-lt"/>
              </a:rPr>
              <a:t>2924</a:t>
            </a:r>
            <a:r>
              <a:rPr kumimoji="0" lang="zh-CN" altLang="en-US" sz="1200" b="1" i="0" u="none" strike="noStrike" kern="1200" cap="none" spc="0" normalizeH="0" baseline="0" noProof="1" dirty="0">
                <a:solidFill>
                  <a:schemeClr val="tx1"/>
                </a:solidFill>
                <a:cs typeface="+mn-ea"/>
                <a:sym typeface="+mn-lt"/>
              </a:rPr>
              <a:t>家</a:t>
            </a:r>
            <a:r>
              <a:rPr kumimoji="0" lang="zh-CN" altLang="en-US" sz="1200" i="0" u="none" strike="noStrike" kern="1200" cap="none" spc="0" normalizeH="0" baseline="0" noProof="1" dirty="0">
                <a:solidFill>
                  <a:schemeClr val="tx1"/>
                </a:solidFill>
                <a:cs typeface="+mn-ea"/>
                <a:sym typeface="+mn-lt"/>
              </a:rPr>
              <a:t>。后续按照</a:t>
            </a:r>
            <a:r>
              <a:rPr kumimoji="0" lang="en-US" altLang="zh-CN" sz="1200" i="0" u="none" strike="noStrike" kern="1200" cap="none" spc="0" normalizeH="0" baseline="0" noProof="1" dirty="0">
                <a:solidFill>
                  <a:schemeClr val="tx1"/>
                </a:solidFill>
                <a:cs typeface="+mn-ea"/>
                <a:sym typeface="+mn-lt"/>
              </a:rPr>
              <a:t>3%</a:t>
            </a:r>
            <a:r>
              <a:rPr kumimoji="0" lang="zh-CN" altLang="en-US" sz="1200" i="0" u="none" strike="noStrike" kern="1200" cap="none" spc="0" normalizeH="0" baseline="0" noProof="1" dirty="0">
                <a:solidFill>
                  <a:schemeClr val="tx1"/>
                </a:solidFill>
                <a:cs typeface="+mn-ea"/>
                <a:sym typeface="+mn-lt"/>
              </a:rPr>
              <a:t>的递减率进行企业数量估算。</a:t>
            </a:r>
            <a:endParaRPr kumimoji="0" lang="zh-CN" altLang="en-US" sz="1200" i="0" u="none" strike="noStrike" kern="1200" cap="none" spc="0" normalizeH="0" baseline="0" noProof="1" dirty="0">
              <a:solidFill>
                <a:schemeClr val="tx1"/>
              </a:solidFill>
              <a:cs typeface="+mn-ea"/>
              <a:sym typeface="+mn-lt"/>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sz="1200" i="0" u="none" strike="noStrike" kern="1200" cap="none" spc="0" normalizeH="0" baseline="0" noProof="1" dirty="0">
                <a:solidFill>
                  <a:schemeClr val="tx1"/>
                </a:solidFill>
                <a:cs typeface="+mn-ea"/>
                <a:sym typeface="+mn-lt"/>
              </a:rPr>
              <a:t>2</a:t>
            </a:r>
            <a:r>
              <a:rPr kumimoji="0" lang="zh-CN" altLang="en-US" sz="1200" i="0" u="none" strike="noStrike" kern="1200" cap="none" spc="0" normalizeH="0" baseline="0" noProof="1" dirty="0">
                <a:solidFill>
                  <a:schemeClr val="tx1"/>
                </a:solidFill>
                <a:cs typeface="+mn-ea"/>
                <a:sym typeface="+mn-lt"/>
              </a:rPr>
              <a:t>、采购平台入驻率按照每年增加</a:t>
            </a:r>
            <a:r>
              <a:rPr kumimoji="0" lang="en-US" altLang="zh-CN" sz="1200" i="0" u="none" strike="noStrike" kern="1200" cap="none" spc="0" normalizeH="0" baseline="0" noProof="1" dirty="0">
                <a:solidFill>
                  <a:schemeClr val="tx1"/>
                </a:solidFill>
                <a:cs typeface="+mn-ea"/>
                <a:sym typeface="+mn-lt"/>
              </a:rPr>
              <a:t>20%</a:t>
            </a:r>
            <a:r>
              <a:rPr kumimoji="0" lang="zh-CN" altLang="en-US" sz="1200" i="0" u="none" strike="noStrike" kern="1200" cap="none" spc="0" normalizeH="0" baseline="0" noProof="1" dirty="0">
                <a:solidFill>
                  <a:schemeClr val="tx1"/>
                </a:solidFill>
                <a:cs typeface="+mn-ea"/>
                <a:sym typeface="+mn-lt"/>
              </a:rPr>
              <a:t>计算，逐年递增；</a:t>
            </a:r>
            <a:endParaRPr kumimoji="0" lang="zh-CN" altLang="en-US" sz="1200" i="0" u="none" strike="noStrike" kern="1200" cap="none" spc="0" normalizeH="0" baseline="0" noProof="1" dirty="0">
              <a:solidFill>
                <a:schemeClr val="tx1"/>
              </a:solidFill>
              <a:cs typeface="+mn-ea"/>
              <a:sym typeface="+mn-lt"/>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sz="1200" i="0" u="none" strike="noStrike" kern="1200" cap="none" spc="0" normalizeH="0" baseline="0" noProof="1" dirty="0">
                <a:solidFill>
                  <a:schemeClr val="tx1"/>
                </a:solidFill>
                <a:cs typeface="+mn-ea"/>
                <a:sym typeface="+mn-lt"/>
              </a:rPr>
              <a:t>3</a:t>
            </a:r>
            <a:r>
              <a:rPr kumimoji="0" lang="zh-CN" altLang="en-US" sz="1200" i="0" u="none" strike="noStrike" kern="1200" cap="none" spc="0" normalizeH="0" baseline="0" noProof="1" dirty="0">
                <a:solidFill>
                  <a:schemeClr val="tx1"/>
                </a:solidFill>
                <a:cs typeface="+mn-ea"/>
                <a:sym typeface="+mn-lt"/>
              </a:rPr>
              <a:t>、采购平台使用率根据平台推广程度进行估算，</a:t>
            </a:r>
            <a:r>
              <a:rPr kumimoji="0" lang="en-US" altLang="zh-CN" sz="1200" i="0" u="none" strike="noStrike" kern="1200" cap="none" spc="0" normalizeH="0" baseline="0" noProof="1" dirty="0">
                <a:solidFill>
                  <a:schemeClr val="tx1"/>
                </a:solidFill>
                <a:cs typeface="+mn-ea"/>
                <a:sym typeface="+mn-lt"/>
              </a:rPr>
              <a:t>2025</a:t>
            </a:r>
            <a:r>
              <a:rPr kumimoji="0" lang="zh-CN" altLang="en-US" sz="1200" i="0" u="none" strike="noStrike" kern="1200" cap="none" spc="0" normalizeH="0" baseline="0" noProof="1" dirty="0">
                <a:solidFill>
                  <a:schemeClr val="tx1"/>
                </a:solidFill>
                <a:cs typeface="+mn-ea"/>
                <a:sym typeface="+mn-lt"/>
              </a:rPr>
              <a:t>年为建设期，</a:t>
            </a:r>
            <a:r>
              <a:rPr kumimoji="0" lang="en-US" altLang="zh-CN" sz="1200" i="0" u="none" strike="noStrike" kern="1200" cap="none" spc="0" normalizeH="0" baseline="0" noProof="1" dirty="0">
                <a:solidFill>
                  <a:schemeClr val="tx1"/>
                </a:solidFill>
                <a:cs typeface="+mn-ea"/>
                <a:sym typeface="+mn-lt"/>
              </a:rPr>
              <a:t>2026</a:t>
            </a:r>
            <a:r>
              <a:rPr kumimoji="0" lang="zh-CN" altLang="en-US" sz="1200" i="0" u="none" strike="noStrike" kern="1200" cap="none" spc="0" normalizeH="0" baseline="0" noProof="1" dirty="0">
                <a:solidFill>
                  <a:schemeClr val="tx1"/>
                </a:solidFill>
                <a:cs typeface="+mn-ea"/>
                <a:sym typeface="+mn-lt"/>
              </a:rPr>
              <a:t>年为试点推广期，</a:t>
            </a:r>
            <a:r>
              <a:rPr kumimoji="0" lang="en-US" altLang="zh-CN" sz="1200" i="0" u="none" strike="noStrike" kern="1200" cap="none" spc="0" normalizeH="0" baseline="0" noProof="1" dirty="0">
                <a:solidFill>
                  <a:schemeClr val="tx1"/>
                </a:solidFill>
                <a:cs typeface="+mn-ea"/>
                <a:sym typeface="+mn-lt"/>
              </a:rPr>
              <a:t>2027</a:t>
            </a:r>
            <a:r>
              <a:rPr kumimoji="0" lang="zh-CN" altLang="en-US" sz="1200" i="0" u="none" strike="noStrike" kern="1200" cap="none" spc="0" normalizeH="0" baseline="0" noProof="1" dirty="0">
                <a:solidFill>
                  <a:schemeClr val="tx1"/>
                </a:solidFill>
                <a:cs typeface="+mn-ea"/>
                <a:sym typeface="+mn-lt"/>
              </a:rPr>
              <a:t>年起正式运营；</a:t>
            </a:r>
            <a:endParaRPr kumimoji="0" lang="zh-CN" altLang="en-US" sz="1200" i="0" u="none" strike="noStrike" kern="1200" cap="none" spc="0" normalizeH="0" baseline="0" noProof="1" dirty="0">
              <a:solidFill>
                <a:schemeClr val="tx1"/>
              </a:solidFill>
              <a:cs typeface="+mn-ea"/>
              <a:sym typeface="+mn-lt"/>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sz="1200" i="0" u="none" strike="noStrike" kern="1200" cap="none" spc="0" normalizeH="0" baseline="0" noProof="1" dirty="0">
                <a:solidFill>
                  <a:schemeClr val="tx1"/>
                </a:solidFill>
                <a:cs typeface="+mn-ea"/>
                <a:sym typeface="+mn-lt"/>
              </a:rPr>
              <a:t>4</a:t>
            </a:r>
            <a:r>
              <a:rPr kumimoji="0" lang="zh-CN" altLang="en-US" sz="1200" i="0" u="none" strike="noStrike" kern="1200" cap="none" spc="0" normalizeH="0" baseline="0" noProof="1" dirty="0">
                <a:solidFill>
                  <a:schemeClr val="tx1"/>
                </a:solidFill>
                <a:cs typeface="+mn-ea"/>
                <a:sym typeface="+mn-lt"/>
              </a:rPr>
              <a:t>、平台业务量按照每个企业每年</a:t>
            </a:r>
            <a:r>
              <a:rPr kumimoji="0" lang="en-US" altLang="zh-CN" sz="1200" i="0" u="none" strike="noStrike" kern="1200" cap="none" spc="0" normalizeH="0" baseline="0" noProof="1" dirty="0">
                <a:solidFill>
                  <a:schemeClr val="tx1"/>
                </a:solidFill>
                <a:cs typeface="+mn-ea"/>
                <a:sym typeface="+mn-lt"/>
              </a:rPr>
              <a:t>10</a:t>
            </a:r>
            <a:r>
              <a:rPr kumimoji="0" lang="zh-CN" altLang="en-US" sz="1200" i="0" u="none" strike="noStrike" kern="1200" cap="none" spc="0" normalizeH="0" baseline="0" noProof="1" dirty="0">
                <a:solidFill>
                  <a:schemeClr val="tx1"/>
                </a:solidFill>
                <a:cs typeface="+mn-ea"/>
                <a:sym typeface="+mn-lt"/>
              </a:rPr>
              <a:t>个标段进行估算，每个标段按照</a:t>
            </a:r>
            <a:r>
              <a:rPr kumimoji="0" lang="en-US" altLang="zh-CN" sz="1200" i="0" u="none" strike="noStrike" kern="1200" cap="none" spc="0" normalizeH="0" baseline="0" noProof="1" dirty="0">
                <a:solidFill>
                  <a:schemeClr val="tx1"/>
                </a:solidFill>
                <a:cs typeface="+mn-ea"/>
                <a:sym typeface="+mn-lt"/>
              </a:rPr>
              <a:t>3</a:t>
            </a:r>
            <a:r>
              <a:rPr kumimoji="0" lang="zh-CN" altLang="en-US" sz="1200" i="0" u="none" strike="noStrike" kern="1200" cap="none" spc="0" normalizeH="0" baseline="0" noProof="1" dirty="0">
                <a:solidFill>
                  <a:schemeClr val="tx1"/>
                </a:solidFill>
                <a:cs typeface="+mn-ea"/>
                <a:sym typeface="+mn-lt"/>
              </a:rPr>
              <a:t>个投标人估算，每次收费标准为</a:t>
            </a:r>
            <a:r>
              <a:rPr kumimoji="0" lang="en-US" altLang="zh-CN" sz="1200" i="0" u="none" strike="noStrike" kern="1200" cap="none" spc="0" normalizeH="0" baseline="0" noProof="1" dirty="0">
                <a:solidFill>
                  <a:schemeClr val="tx1"/>
                </a:solidFill>
                <a:cs typeface="+mn-ea"/>
                <a:sym typeface="+mn-lt"/>
              </a:rPr>
              <a:t>200</a:t>
            </a:r>
            <a:r>
              <a:rPr kumimoji="0" lang="zh-CN" altLang="en-US" sz="1200" i="0" u="none" strike="noStrike" kern="1200" cap="none" spc="0" normalizeH="0" baseline="0" noProof="1" dirty="0">
                <a:solidFill>
                  <a:schemeClr val="tx1"/>
                </a:solidFill>
                <a:cs typeface="+mn-ea"/>
                <a:sym typeface="+mn-lt"/>
              </a:rPr>
              <a:t>元</a:t>
            </a:r>
            <a:r>
              <a:rPr kumimoji="0" lang="en-US" altLang="zh-CN" sz="1200" i="0" u="none" strike="noStrike" kern="1200" cap="none" spc="0" normalizeH="0" baseline="0" noProof="1" dirty="0">
                <a:solidFill>
                  <a:schemeClr val="tx1"/>
                </a:solidFill>
                <a:cs typeface="+mn-ea"/>
                <a:sym typeface="+mn-lt"/>
              </a:rPr>
              <a:t>/</a:t>
            </a:r>
            <a:r>
              <a:rPr kumimoji="0" lang="zh-CN" altLang="en-US" sz="1200" i="0" u="none" strike="noStrike" kern="1200" cap="none" spc="0" normalizeH="0" baseline="0" noProof="1" dirty="0">
                <a:solidFill>
                  <a:schemeClr val="tx1"/>
                </a:solidFill>
                <a:cs typeface="+mn-ea"/>
                <a:sym typeface="+mn-lt"/>
              </a:rPr>
              <a:t>人；</a:t>
            </a:r>
            <a:endParaRPr kumimoji="0" lang="zh-CN" altLang="en-US" sz="1200" i="0" u="none" strike="noStrike" kern="1200" cap="none" spc="0" normalizeH="0" baseline="0" noProof="1" dirty="0">
              <a:solidFill>
                <a:schemeClr val="tx1"/>
              </a:solidFill>
              <a:cs typeface="+mn-ea"/>
              <a:sym typeface="+mn-lt"/>
            </a:endParaRPr>
          </a:p>
          <a:p>
            <a:pPr marL="0" marR="0" lvl="0" indent="0" algn="l" defTabSz="914400" rtl="0" eaLnBrk="1" fontAlgn="auto" latinLnBrk="0" hangingPunct="1">
              <a:lnSpc>
                <a:spcPct val="200000"/>
              </a:lnSpc>
              <a:spcBef>
                <a:spcPts val="0"/>
              </a:spcBef>
              <a:spcAft>
                <a:spcPts val="0"/>
              </a:spcAft>
              <a:buClrTx/>
              <a:buSzTx/>
              <a:buFontTx/>
              <a:buNone/>
              <a:defRPr/>
            </a:pPr>
            <a:r>
              <a:rPr kumimoji="0" lang="en-US" sz="1200" i="0" u="none" strike="noStrike" kern="1200" cap="none" spc="0" normalizeH="0" baseline="0" noProof="1" dirty="0">
                <a:solidFill>
                  <a:schemeClr val="tx1"/>
                </a:solidFill>
                <a:cs typeface="+mn-ea"/>
                <a:sym typeface="+mn-lt"/>
              </a:rPr>
              <a:t>5</a:t>
            </a:r>
            <a:r>
              <a:rPr kumimoji="0" lang="zh-CN" altLang="en-US" sz="1200" i="0" u="none" strike="noStrike" kern="1200" cap="none" spc="0" normalizeH="0" baseline="0" noProof="1" dirty="0">
                <a:solidFill>
                  <a:schemeClr val="tx1"/>
                </a:solidFill>
                <a:cs typeface="+mn-ea"/>
                <a:sym typeface="+mn-lt"/>
              </a:rPr>
              <a:t>、企业使用平台人数按照</a:t>
            </a:r>
            <a:r>
              <a:rPr kumimoji="0" lang="en-US" altLang="zh-CN" sz="1200" i="0" u="none" strike="noStrike" kern="1200" cap="none" spc="0" normalizeH="0" baseline="0" noProof="1" dirty="0">
                <a:solidFill>
                  <a:schemeClr val="tx1"/>
                </a:solidFill>
                <a:cs typeface="+mn-ea"/>
                <a:sym typeface="+mn-lt"/>
              </a:rPr>
              <a:t>10</a:t>
            </a:r>
            <a:r>
              <a:rPr kumimoji="0" lang="zh-CN" altLang="en-US" sz="1200" i="0" u="none" strike="noStrike" kern="1200" cap="none" spc="0" normalizeH="0" baseline="0" noProof="1" dirty="0">
                <a:solidFill>
                  <a:schemeClr val="tx1"/>
                </a:solidFill>
                <a:cs typeface="+mn-ea"/>
                <a:sym typeface="+mn-lt"/>
              </a:rPr>
              <a:t>个</a:t>
            </a:r>
            <a:r>
              <a:rPr kumimoji="0" lang="en-US" altLang="zh-CN" sz="1200" i="0" u="none" strike="noStrike" kern="1200" cap="none" spc="0" normalizeH="0" baseline="0" noProof="1" dirty="0">
                <a:solidFill>
                  <a:schemeClr val="tx1"/>
                </a:solidFill>
                <a:cs typeface="+mn-ea"/>
                <a:sym typeface="+mn-lt"/>
              </a:rPr>
              <a:t>/</a:t>
            </a:r>
            <a:r>
              <a:rPr kumimoji="0" lang="zh-CN" altLang="en-US" sz="1200" i="0" u="none" strike="noStrike" kern="1200" cap="none" spc="0" normalizeH="0" baseline="0" noProof="1" dirty="0">
                <a:solidFill>
                  <a:schemeClr val="tx1"/>
                </a:solidFill>
                <a:cs typeface="+mn-ea"/>
                <a:sym typeface="+mn-lt"/>
              </a:rPr>
              <a:t>企业计算。</a:t>
            </a:r>
            <a:endParaRPr kumimoji="0" lang="zh-CN" altLang="en-US" sz="1200" i="0" u="none" strike="noStrike" kern="1200" cap="none" spc="0" normalizeH="0" baseline="0" noProof="1" dirty="0">
              <a:solidFill>
                <a:schemeClr val="tx1"/>
              </a:solidFill>
              <a:cs typeface="+mn-ea"/>
              <a:sym typeface="+mn-lt"/>
            </a:endParaRPr>
          </a:p>
        </p:txBody>
      </p:sp>
      <p:graphicFrame>
        <p:nvGraphicFramePr>
          <p:cNvPr id="3" name="表格 2"/>
          <p:cNvGraphicFramePr/>
          <p:nvPr/>
        </p:nvGraphicFramePr>
        <p:xfrm>
          <a:off x="4361497" y="1837055"/>
          <a:ext cx="7429500" cy="2839720"/>
        </p:xfrm>
        <a:graphic>
          <a:graphicData uri="http://schemas.openxmlformats.org/drawingml/2006/table">
            <a:tbl>
              <a:tblPr/>
              <a:tblGrid>
                <a:gridCol w="1931035"/>
                <a:gridCol w="884555"/>
                <a:gridCol w="852805"/>
                <a:gridCol w="836930"/>
                <a:gridCol w="975995"/>
                <a:gridCol w="1948180"/>
              </a:tblGrid>
              <a:tr h="594360">
                <a:tc>
                  <a:txBody>
                    <a:bodyPr/>
                    <a:p>
                      <a:pPr marL="0" indent="0" algn="ctr">
                        <a:lnSpc>
                          <a:spcPts val="2800"/>
                        </a:lnSpc>
                        <a:spcBef>
                          <a:spcPct val="0"/>
                        </a:spcBef>
                        <a:spcAft>
                          <a:spcPct val="0"/>
                        </a:spcAft>
                      </a:pPr>
                      <a:r>
                        <a:rPr lang="zh-CN" sz="1100" b="1" i="0">
                          <a:solidFill>
                            <a:srgbClr val="000000"/>
                          </a:solidFill>
                          <a:latin typeface="宋体" panose="02010600030101010101" pitchFamily="2" charset="-122"/>
                          <a:ea typeface="宋体" panose="02010600030101010101" pitchFamily="2" charset="-122"/>
                        </a:rPr>
                        <a:t>年份</a:t>
                      </a:r>
                      <a:endParaRPr lang="zh-CN" sz="11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2025</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2026</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2027</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2028</a:t>
                      </a:r>
                      <a:endParaRPr lang="en-US" altLang="zh-CN" sz="11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zh-CN" sz="1100" b="1" i="0">
                          <a:solidFill>
                            <a:srgbClr val="000000"/>
                          </a:solidFill>
                          <a:latin typeface="宋体" panose="02010600030101010101" pitchFamily="2" charset="-122"/>
                          <a:ea typeface="宋体" panose="02010600030101010101" pitchFamily="2" charset="-122"/>
                        </a:rPr>
                        <a:t>备注</a:t>
                      </a:r>
                      <a:endParaRPr lang="zh-CN" sz="11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87020">
                <a:tc>
                  <a:txBody>
                    <a:bodyPr/>
                    <a:p>
                      <a:pPr marL="0" indent="0" algn="ctr" fontAlgn="ctr">
                        <a:lnSpc>
                          <a:spcPts val="2800"/>
                        </a:lnSpc>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企业总数</a:t>
                      </a:r>
                      <a:r>
                        <a:rPr lang="en-US" altLang="zh-CN" sz="1100" i="0">
                          <a:solidFill>
                            <a:srgbClr val="000000"/>
                          </a:solidFill>
                          <a:latin typeface="宋体" panose="02010600030101010101" pitchFamily="2" charset="-122"/>
                          <a:ea typeface="宋体" panose="02010600030101010101" pitchFamily="2" charset="-122"/>
                        </a:rPr>
                        <a:t>(</a:t>
                      </a:r>
                      <a:r>
                        <a:rPr lang="zh-CN" altLang="en-US" sz="1100" i="0">
                          <a:solidFill>
                            <a:srgbClr val="000000"/>
                          </a:solidFill>
                          <a:latin typeface="宋体" panose="02010600030101010101" pitchFamily="2" charset="-122"/>
                          <a:ea typeface="宋体" panose="02010600030101010101" pitchFamily="2" charset="-122"/>
                        </a:rPr>
                        <a:t>个</a:t>
                      </a: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2924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2837</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2752</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2670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50825">
                <a:tc>
                  <a:txBody>
                    <a:bodyPr/>
                    <a:p>
                      <a:pPr marL="0" indent="0" algn="ctr" fontAlgn="ctr">
                        <a:lnSpc>
                          <a:spcPts val="2800"/>
                        </a:lnSpc>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采购平台</a:t>
                      </a:r>
                      <a:r>
                        <a:rPr lang="zh-CN" sz="1100" i="0">
                          <a:solidFill>
                            <a:srgbClr val="000000"/>
                          </a:solidFill>
                          <a:latin typeface="宋体" panose="02010600030101010101" pitchFamily="2" charset="-122"/>
                          <a:ea typeface="宋体" panose="02010600030101010101" pitchFamily="2" charset="-122"/>
                        </a:rPr>
                        <a:t>入驻</a:t>
                      </a:r>
                      <a:r>
                        <a:rPr lang="zh-CN" sz="1100" i="0">
                          <a:solidFill>
                            <a:srgbClr val="000000"/>
                          </a:solidFill>
                          <a:latin typeface="宋体" panose="02010600030101010101" pitchFamily="2" charset="-122"/>
                          <a:ea typeface="宋体" panose="02010600030101010101" pitchFamily="2" charset="-122"/>
                        </a:rPr>
                        <a:t>率</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5</a:t>
                      </a:r>
                      <a:r>
                        <a:rPr lang="en-US" altLang="zh-CN" sz="1100" i="0">
                          <a:solidFill>
                            <a:srgbClr val="000000"/>
                          </a:solidFill>
                          <a:latin typeface="宋体" panose="02010600030101010101" pitchFamily="2" charset="-122"/>
                          <a:ea typeface="宋体" panose="02010600030101010101" pitchFamily="2" charset="-122"/>
                        </a:rPr>
                        <a:t>0</a:t>
                      </a: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70</a:t>
                      </a: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90</a:t>
                      </a: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23545">
                <a:tc>
                  <a:txBody>
                    <a:bodyPr/>
                    <a:p>
                      <a:pPr marL="0" indent="0" algn="ctr" fontAlgn="ctr">
                        <a:lnSpc>
                          <a:spcPts val="2800"/>
                        </a:lnSpc>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纳入企业数量（个）</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1419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1769</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2403</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 </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99415">
                <a:tc>
                  <a:txBody>
                    <a:bodyPr/>
                    <a:p>
                      <a:pPr marL="0" indent="0" algn="ctr" fontAlgn="ctr">
                        <a:lnSpc>
                          <a:spcPts val="2800"/>
                        </a:lnSpc>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平台业务量（个）</a:t>
                      </a:r>
                      <a:endParaRPr 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a:t>
                      </a:r>
                      <a:r>
                        <a:rPr lang="en-US" altLang="zh-CN" sz="1100" i="0">
                          <a:solidFill>
                            <a:srgbClr val="000000"/>
                          </a:solidFill>
                          <a:latin typeface="宋体" panose="02010600030101010101" pitchFamily="2" charset="-122"/>
                          <a:ea typeface="宋体" panose="02010600030101010101" pitchFamily="2" charset="-122"/>
                        </a:rPr>
                        <a:t>190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17690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24030</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每个企业每年</a:t>
                      </a:r>
                      <a:r>
                        <a:rPr lang="en-US" altLang="zh-CN" sz="1100" i="0">
                          <a:solidFill>
                            <a:srgbClr val="000000"/>
                          </a:solidFill>
                          <a:latin typeface="宋体" panose="02010600030101010101" pitchFamily="2" charset="-122"/>
                          <a:ea typeface="宋体" panose="02010600030101010101" pitchFamily="2" charset="-122"/>
                        </a:rPr>
                        <a:t>10</a:t>
                      </a:r>
                      <a:r>
                        <a:rPr lang="zh-CN" altLang="en-US" sz="1100" i="0">
                          <a:solidFill>
                            <a:srgbClr val="000000"/>
                          </a:solidFill>
                          <a:latin typeface="宋体" panose="02010600030101010101" pitchFamily="2" charset="-122"/>
                          <a:ea typeface="宋体" panose="02010600030101010101" pitchFamily="2" charset="-122"/>
                        </a:rPr>
                        <a:t>个标段</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91465">
                <a:tc>
                  <a:txBody>
                    <a:bodyPr/>
                    <a:p>
                      <a:pPr marL="0" indent="0" algn="ctr" fontAlgn="ctr">
                        <a:lnSpc>
                          <a:spcPts val="2800"/>
                        </a:lnSpc>
                        <a:spcBef>
                          <a:spcPct val="0"/>
                        </a:spcBef>
                        <a:spcAft>
                          <a:spcPct val="0"/>
                        </a:spcAft>
                      </a:pPr>
                      <a:r>
                        <a:rPr lang="zh-CN" sz="1100" b="1" i="0">
                          <a:solidFill>
                            <a:srgbClr val="000000"/>
                          </a:solidFill>
                          <a:latin typeface="宋体" panose="02010600030101010101" pitchFamily="2" charset="-122"/>
                          <a:ea typeface="宋体" panose="02010600030101010101" pitchFamily="2" charset="-122"/>
                        </a:rPr>
                        <a:t>平台使用费收入</a:t>
                      </a:r>
                      <a:endParaRPr lang="zh-CN" sz="1100" b="1" i="0">
                        <a:solidFill>
                          <a:srgbClr val="000000"/>
                        </a:solidFill>
                        <a:latin typeface="宋体" panose="02010600030101010101" pitchFamily="2" charset="-122"/>
                        <a:ea typeface="宋体" panose="02010600030101010101" pitchFamily="2" charset="-122"/>
                      </a:endParaRPr>
                    </a:p>
                    <a:p>
                      <a:pPr marL="0" indent="0" algn="ctr" fontAlgn="ctr">
                        <a:lnSpc>
                          <a:spcPts val="2800"/>
                        </a:lnSpc>
                        <a:spcBef>
                          <a:spcPct val="0"/>
                        </a:spcBef>
                        <a:spcAft>
                          <a:spcPct val="0"/>
                        </a:spcAft>
                      </a:pPr>
                      <a:r>
                        <a:rPr lang="en-US" altLang="zh-CN" sz="1100" b="1" i="0">
                          <a:solidFill>
                            <a:srgbClr val="000000"/>
                          </a:solidFill>
                          <a:latin typeface="宋体" panose="02010600030101010101" pitchFamily="2" charset="-122"/>
                          <a:ea typeface="宋体" panose="02010600030101010101" pitchFamily="2" charset="-122"/>
                        </a:rPr>
                        <a:t>(</a:t>
                      </a:r>
                      <a:r>
                        <a:rPr lang="zh-CN" altLang="en-US" sz="1100" b="1" i="0">
                          <a:solidFill>
                            <a:srgbClr val="000000"/>
                          </a:solidFill>
                          <a:latin typeface="宋体" panose="02010600030101010101" pitchFamily="2" charset="-122"/>
                          <a:ea typeface="宋体" panose="02010600030101010101" pitchFamily="2" charset="-122"/>
                        </a:rPr>
                        <a:t>万元</a:t>
                      </a:r>
                      <a:r>
                        <a:rPr lang="en-US" altLang="zh-CN" sz="1100" i="0">
                          <a:solidFill>
                            <a:srgbClr val="000000"/>
                          </a:solidFill>
                          <a:latin typeface="宋体" panose="02010600030101010101" pitchFamily="2" charset="-122"/>
                          <a:ea typeface="宋体" panose="02010600030101010101" pitchFamily="2" charset="-122"/>
                        </a:rPr>
                        <a:t>)</a:t>
                      </a:r>
                      <a:endParaRPr lang="zh-CN" sz="1100" b="1"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851.4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1061.4</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en-US" altLang="zh-CN" sz="1100" i="0">
                          <a:solidFill>
                            <a:srgbClr val="000000"/>
                          </a:solidFill>
                          <a:latin typeface="宋体" panose="02010600030101010101" pitchFamily="2" charset="-122"/>
                          <a:ea typeface="宋体" panose="02010600030101010101" pitchFamily="2" charset="-122"/>
                        </a:rPr>
                        <a:t>1441.8</a:t>
                      </a:r>
                      <a:endParaRPr lang="en-US" altLang="zh-CN"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fontAlgn="ctr">
                        <a:lnSpc>
                          <a:spcPts val="2800"/>
                        </a:lnSpc>
                        <a:spcBef>
                          <a:spcPct val="0"/>
                        </a:spcBef>
                        <a:spcAft>
                          <a:spcPct val="0"/>
                        </a:spcAft>
                      </a:pPr>
                      <a:r>
                        <a:rPr lang="zh-CN" sz="1100" i="0">
                          <a:solidFill>
                            <a:srgbClr val="000000"/>
                          </a:solidFill>
                          <a:latin typeface="宋体" panose="02010600030101010101" pitchFamily="2" charset="-122"/>
                          <a:ea typeface="宋体" panose="02010600030101010101" pitchFamily="2" charset="-122"/>
                        </a:rPr>
                        <a:t>平台使用费</a:t>
                      </a:r>
                      <a:r>
                        <a:rPr lang="en-US" altLang="zh-CN" sz="1100" i="0">
                          <a:solidFill>
                            <a:srgbClr val="000000"/>
                          </a:solidFill>
                          <a:latin typeface="宋体" panose="02010600030101010101" pitchFamily="2" charset="-122"/>
                          <a:ea typeface="宋体" panose="02010600030101010101" pitchFamily="2" charset="-122"/>
                        </a:rPr>
                        <a:t>=</a:t>
                      </a:r>
                      <a:r>
                        <a:rPr lang="zh-CN" altLang="en-US" sz="1100" i="0">
                          <a:solidFill>
                            <a:srgbClr val="000000"/>
                          </a:solidFill>
                          <a:latin typeface="宋体" panose="02010600030101010101" pitchFamily="2" charset="-122"/>
                          <a:ea typeface="宋体" panose="02010600030101010101" pitchFamily="2" charset="-122"/>
                        </a:rPr>
                        <a:t>平台业务量</a:t>
                      </a:r>
                      <a:r>
                        <a:rPr lang="en-US" altLang="zh-CN" sz="1100" i="0">
                          <a:solidFill>
                            <a:srgbClr val="000000"/>
                          </a:solidFill>
                          <a:latin typeface="宋体" panose="02010600030101010101" pitchFamily="2" charset="-122"/>
                          <a:ea typeface="宋体" panose="02010600030101010101" pitchFamily="2" charset="-122"/>
                        </a:rPr>
                        <a:t>*</a:t>
                      </a:r>
                      <a:r>
                        <a:rPr lang="zh-CN" altLang="en-US" sz="1100" i="0">
                          <a:solidFill>
                            <a:srgbClr val="000000"/>
                          </a:solidFill>
                          <a:latin typeface="宋体" panose="02010600030101010101" pitchFamily="2" charset="-122"/>
                          <a:ea typeface="宋体" panose="02010600030101010101" pitchFamily="2" charset="-122"/>
                        </a:rPr>
                        <a:t>投标人人数</a:t>
                      </a:r>
                      <a:r>
                        <a:rPr lang="en-US" altLang="zh-CN" sz="1100" i="0">
                          <a:solidFill>
                            <a:srgbClr val="000000"/>
                          </a:solidFill>
                          <a:latin typeface="宋体" panose="02010600030101010101" pitchFamily="2" charset="-122"/>
                          <a:ea typeface="宋体" panose="02010600030101010101" pitchFamily="2" charset="-122"/>
                        </a:rPr>
                        <a:t>*</a:t>
                      </a:r>
                      <a:r>
                        <a:rPr lang="zh-CN" altLang="en-US" sz="1100" i="0">
                          <a:solidFill>
                            <a:srgbClr val="000000"/>
                          </a:solidFill>
                          <a:latin typeface="宋体" panose="02010600030101010101" pitchFamily="2" charset="-122"/>
                          <a:ea typeface="宋体" panose="02010600030101010101" pitchFamily="2" charset="-122"/>
                        </a:rPr>
                        <a:t>平台服务费</a:t>
                      </a:r>
                      <a:endParaRPr lang="zh-CN" altLang="en-US" sz="1100" i="0">
                        <a:solidFill>
                          <a:srgbClr val="000000"/>
                        </a:solidFill>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4" name="文本框 3"/>
          <p:cNvSpPr txBox="1"/>
          <p:nvPr/>
        </p:nvSpPr>
        <p:spPr>
          <a:xfrm>
            <a:off x="4361180" y="5048250"/>
            <a:ext cx="7429500" cy="829945"/>
          </a:xfrm>
          <a:prstGeom prst="rect">
            <a:avLst/>
          </a:prstGeom>
        </p:spPr>
        <p:txBody>
          <a:bodyPr wrap="square">
            <a:spAutoFit/>
          </a:bodyPr>
          <a:p>
            <a:pPr defTabSz="266700">
              <a:lnSpc>
                <a:spcPct val="200000"/>
              </a:lnSpc>
            </a:pPr>
            <a:r>
              <a:rPr lang="en-US" altLang="zh-CN" sz="1200" dirty="0">
                <a:cs typeface="+mn-ea"/>
              </a:rPr>
              <a:t>     </a:t>
            </a:r>
            <a:r>
              <a:rPr lang="zh-CN" altLang="en-US" sz="1200" dirty="0">
                <a:cs typeface="+mn-ea"/>
              </a:rPr>
              <a:t>综上测算，待2027年进入正式运营阶段，</a:t>
            </a:r>
            <a:r>
              <a:rPr lang="zh-CN" altLang="en-US" sz="1200" b="1" dirty="0">
                <a:cs typeface="+mn-ea"/>
              </a:rPr>
              <a:t>平台使用费收入约为1061.4万元/年</a:t>
            </a:r>
            <a:r>
              <a:rPr lang="zh-CN" altLang="en-US" sz="1200" dirty="0">
                <a:cs typeface="+mn-ea"/>
              </a:rPr>
              <a:t>，综合考虑后期保持每年约</a:t>
            </a:r>
            <a:r>
              <a:rPr lang="zh-CN" altLang="en-US" sz="1200" b="1" dirty="0">
                <a:cs typeface="+mn-ea"/>
              </a:rPr>
              <a:t>40%的增长幅度</a:t>
            </a:r>
            <a:r>
              <a:rPr lang="zh-CN" altLang="en-US" sz="1200" dirty="0">
                <a:cs typeface="+mn-ea"/>
              </a:rPr>
              <a:t>，直至兵团下辖所有国有企业全部纳入平台。</a:t>
            </a:r>
            <a:endParaRPr lang="zh-CN" altLang="en-US" sz="1200" dirty="0">
              <a:cs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剪去对角 9"/>
          <p:cNvSpPr/>
          <p:nvPr/>
        </p:nvSpPr>
        <p:spPr>
          <a:xfrm>
            <a:off x="-1" y="0"/>
            <a:ext cx="12192001" cy="6858000"/>
          </a:xfrm>
          <a:prstGeom prst="snip2DiagRect">
            <a:avLst>
              <a:gd name="adj1" fmla="val 0"/>
              <a:gd name="adj2" fmla="val 50000"/>
            </a:avLst>
          </a:prstGeom>
          <a:solidFill>
            <a:srgbClr val="FFFFFF"/>
          </a:solidFill>
          <a:ln w="12700" cap="flat" cmpd="sng" algn="ctr">
            <a:noFill/>
            <a:prstDash val="solid"/>
            <a:miter lim="800000"/>
          </a:ln>
          <a:effectLst/>
        </p:spPr>
        <p:txBody>
          <a:bodyPr rtlCol="0" anchor="ctr"/>
          <a:lstStyle/>
          <a:p>
            <a:pPr algn="ctr"/>
            <a:endParaRPr lang="zh-CN" altLang="en-US" kern="0">
              <a:solidFill>
                <a:srgbClr val="FFFFFF"/>
              </a:solidFill>
              <a:latin typeface="Source Sans Pro SemiBold"/>
              <a:sym typeface="+mn-lt"/>
            </a:endParaRPr>
          </a:p>
        </p:txBody>
      </p:sp>
      <p:sp>
        <p:nvSpPr>
          <p:cNvPr id="9" name="矩形: 剪去对角 8"/>
          <p:cNvSpPr/>
          <p:nvPr/>
        </p:nvSpPr>
        <p:spPr>
          <a:xfrm flipH="1">
            <a:off x="131762" y="108643"/>
            <a:ext cx="11945938" cy="6682681"/>
          </a:xfrm>
          <a:prstGeom prst="snip2DiagRect">
            <a:avLst>
              <a:gd name="adj1" fmla="val 0"/>
              <a:gd name="adj2" fmla="val 50000"/>
            </a:avLst>
          </a:prstGeom>
          <a:gradFill>
            <a:gsLst>
              <a:gs pos="0">
                <a:srgbClr val="073F97">
                  <a:lumMod val="90000"/>
                  <a:lumOff val="10000"/>
                  <a:alpha val="90000"/>
                </a:srgbClr>
              </a:gs>
              <a:gs pos="100000">
                <a:srgbClr val="073F97">
                  <a:lumMod val="95000"/>
                  <a:alpha val="95000"/>
                </a:srgbClr>
              </a:gs>
            </a:gsLst>
            <a:lin ang="0" scaled="0"/>
          </a:gradFill>
          <a:ln w="12700" cap="flat" cmpd="sng" algn="ctr">
            <a:noFill/>
            <a:prstDash val="solid"/>
            <a:miter lim="800000"/>
          </a:ln>
          <a:effectLst>
            <a:outerShdw blurRad="254000" dist="63500" dir="16200000" rotWithShape="0">
              <a:srgbClr val="073F97">
                <a:lumMod val="75000"/>
                <a:alpha val="35000"/>
              </a:srgbClr>
            </a:outerShdw>
          </a:effectLst>
        </p:spPr>
        <p:txBody>
          <a:bodyPr rtlCol="0" anchor="ctr"/>
          <a:lstStyle/>
          <a:p>
            <a:pPr algn="ctr"/>
            <a:endParaRPr lang="zh-CN" altLang="en-US" kern="0">
              <a:solidFill>
                <a:srgbClr val="FFFFFF"/>
              </a:solidFill>
              <a:latin typeface="Source Sans Pro SemiBold"/>
              <a:sym typeface="+mn-lt"/>
            </a:endParaRPr>
          </a:p>
        </p:txBody>
      </p:sp>
      <p:sp>
        <p:nvSpPr>
          <p:cNvPr id="17" name="文本框 16"/>
          <p:cNvSpPr txBox="1"/>
          <p:nvPr/>
        </p:nvSpPr>
        <p:spPr>
          <a:xfrm>
            <a:off x="2992120" y="2804795"/>
            <a:ext cx="6191885" cy="1106805"/>
          </a:xfrm>
          <a:prstGeom prst="rect">
            <a:avLst/>
          </a:prstGeom>
          <a:noFill/>
        </p:spPr>
        <p:txBody>
          <a:bodyPr wrap="square" rtlCol="0">
            <a:spAutoFit/>
          </a:bodyPr>
          <a:lstStyle/>
          <a:p>
            <a:pPr algn="dist"/>
            <a:r>
              <a:rPr lang="zh-CN" altLang="en-US" sz="6600" b="1" spc="60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下一步</a:t>
            </a:r>
            <a:r>
              <a:rPr lang="zh-CN" altLang="en-US" sz="6600" b="1" spc="60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计划</a:t>
            </a:r>
            <a:endParaRPr lang="zh-CN" altLang="en-US" sz="6600" b="1" spc="60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grpSp>
        <p:nvGrpSpPr>
          <p:cNvPr id="20" name="组合 19"/>
          <p:cNvGrpSpPr/>
          <p:nvPr/>
        </p:nvGrpSpPr>
        <p:grpSpPr>
          <a:xfrm>
            <a:off x="2465311" y="2830976"/>
            <a:ext cx="7268638" cy="999419"/>
            <a:chOff x="2465311" y="2754776"/>
            <a:chExt cx="7268638" cy="999419"/>
          </a:xfrm>
        </p:grpSpPr>
        <p:sp>
          <p:nvSpPr>
            <p:cNvPr id="21" name="任意多边形: 形状 20"/>
            <p:cNvSpPr/>
            <p:nvPr/>
          </p:nvSpPr>
          <p:spPr>
            <a:xfrm rot="5400000">
              <a:off x="9052208" y="3072455"/>
              <a:ext cx="992163" cy="371318"/>
            </a:xfrm>
            <a:custGeom>
              <a:avLst/>
              <a:gdLst>
                <a:gd name="connsiteX0" fmla="*/ 0 w 6591664"/>
                <a:gd name="connsiteY0" fmla="*/ 0 h 2679540"/>
                <a:gd name="connsiteX1" fmla="*/ 6591664 w 6591664"/>
                <a:gd name="connsiteY1" fmla="*/ 0 h 2679540"/>
                <a:gd name="connsiteX2" fmla="*/ 6591664 w 6591664"/>
                <a:gd name="connsiteY2" fmla="*/ 2679540 h 2679540"/>
                <a:gd name="connsiteX3" fmla="*/ 6130471 w 6591664"/>
                <a:gd name="connsiteY3" fmla="*/ 2679540 h 2679540"/>
                <a:gd name="connsiteX4" fmla="*/ 6130471 w 6591664"/>
                <a:gd name="connsiteY4" fmla="*/ 2594679 h 2679540"/>
                <a:gd name="connsiteX5" fmla="*/ 6506803 w 6591664"/>
                <a:gd name="connsiteY5" fmla="*/ 2594679 h 2679540"/>
                <a:gd name="connsiteX6" fmla="*/ 6506803 w 6591664"/>
                <a:gd name="connsiteY6" fmla="*/ 84861 h 2679540"/>
                <a:gd name="connsiteX7" fmla="*/ 84861 w 6591664"/>
                <a:gd name="connsiteY7" fmla="*/ 84861 h 2679540"/>
                <a:gd name="connsiteX8" fmla="*/ 84861 w 6591664"/>
                <a:gd name="connsiteY8" fmla="*/ 2594679 h 2679540"/>
                <a:gd name="connsiteX9" fmla="*/ 461193 w 6591664"/>
                <a:gd name="connsiteY9" fmla="*/ 2594679 h 2679540"/>
                <a:gd name="connsiteX10" fmla="*/ 461193 w 6591664"/>
                <a:gd name="connsiteY10" fmla="*/ 2679540 h 2679540"/>
                <a:gd name="connsiteX11" fmla="*/ 0 w 6591664"/>
                <a:gd name="connsiteY11" fmla="*/ 2679540 h 267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1664" h="2679540">
                  <a:moveTo>
                    <a:pt x="0" y="0"/>
                  </a:moveTo>
                  <a:lnTo>
                    <a:pt x="6591664" y="0"/>
                  </a:lnTo>
                  <a:lnTo>
                    <a:pt x="6591664" y="2679540"/>
                  </a:lnTo>
                  <a:lnTo>
                    <a:pt x="6130471" y="2679540"/>
                  </a:lnTo>
                  <a:lnTo>
                    <a:pt x="6130471" y="2594679"/>
                  </a:lnTo>
                  <a:lnTo>
                    <a:pt x="6506803" y="2594679"/>
                  </a:lnTo>
                  <a:lnTo>
                    <a:pt x="6506803" y="84861"/>
                  </a:lnTo>
                  <a:lnTo>
                    <a:pt x="84861" y="84861"/>
                  </a:lnTo>
                  <a:lnTo>
                    <a:pt x="84861" y="2594679"/>
                  </a:lnTo>
                  <a:lnTo>
                    <a:pt x="461193" y="2594679"/>
                  </a:lnTo>
                  <a:lnTo>
                    <a:pt x="461193" y="2679540"/>
                  </a:lnTo>
                  <a:lnTo>
                    <a:pt x="0" y="2679540"/>
                  </a:lnTo>
                  <a:close/>
                </a:path>
              </a:pathLst>
            </a:custGeom>
            <a:solidFill>
              <a:sysClr val="window" lastClr="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22" name="任意多边形: 形状 21"/>
            <p:cNvSpPr/>
            <p:nvPr/>
          </p:nvSpPr>
          <p:spPr>
            <a:xfrm rot="16200000" flipH="1">
              <a:off x="2154888" y="3065199"/>
              <a:ext cx="992163" cy="371318"/>
            </a:xfrm>
            <a:custGeom>
              <a:avLst/>
              <a:gdLst>
                <a:gd name="connsiteX0" fmla="*/ 0 w 6591664"/>
                <a:gd name="connsiteY0" fmla="*/ 0 h 2679540"/>
                <a:gd name="connsiteX1" fmla="*/ 6591664 w 6591664"/>
                <a:gd name="connsiteY1" fmla="*/ 0 h 2679540"/>
                <a:gd name="connsiteX2" fmla="*/ 6591664 w 6591664"/>
                <a:gd name="connsiteY2" fmla="*/ 2679540 h 2679540"/>
                <a:gd name="connsiteX3" fmla="*/ 6130471 w 6591664"/>
                <a:gd name="connsiteY3" fmla="*/ 2679540 h 2679540"/>
                <a:gd name="connsiteX4" fmla="*/ 6130471 w 6591664"/>
                <a:gd name="connsiteY4" fmla="*/ 2594679 h 2679540"/>
                <a:gd name="connsiteX5" fmla="*/ 6506803 w 6591664"/>
                <a:gd name="connsiteY5" fmla="*/ 2594679 h 2679540"/>
                <a:gd name="connsiteX6" fmla="*/ 6506803 w 6591664"/>
                <a:gd name="connsiteY6" fmla="*/ 84861 h 2679540"/>
                <a:gd name="connsiteX7" fmla="*/ 84861 w 6591664"/>
                <a:gd name="connsiteY7" fmla="*/ 84861 h 2679540"/>
                <a:gd name="connsiteX8" fmla="*/ 84861 w 6591664"/>
                <a:gd name="connsiteY8" fmla="*/ 2594679 h 2679540"/>
                <a:gd name="connsiteX9" fmla="*/ 461193 w 6591664"/>
                <a:gd name="connsiteY9" fmla="*/ 2594679 h 2679540"/>
                <a:gd name="connsiteX10" fmla="*/ 461193 w 6591664"/>
                <a:gd name="connsiteY10" fmla="*/ 2679540 h 2679540"/>
                <a:gd name="connsiteX11" fmla="*/ 0 w 6591664"/>
                <a:gd name="connsiteY11" fmla="*/ 2679540 h 267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91664" h="2679540">
                  <a:moveTo>
                    <a:pt x="0" y="0"/>
                  </a:moveTo>
                  <a:lnTo>
                    <a:pt x="6591664" y="0"/>
                  </a:lnTo>
                  <a:lnTo>
                    <a:pt x="6591664" y="2679540"/>
                  </a:lnTo>
                  <a:lnTo>
                    <a:pt x="6130471" y="2679540"/>
                  </a:lnTo>
                  <a:lnTo>
                    <a:pt x="6130471" y="2594679"/>
                  </a:lnTo>
                  <a:lnTo>
                    <a:pt x="6506803" y="2594679"/>
                  </a:lnTo>
                  <a:lnTo>
                    <a:pt x="6506803" y="84861"/>
                  </a:lnTo>
                  <a:lnTo>
                    <a:pt x="84861" y="84861"/>
                  </a:lnTo>
                  <a:lnTo>
                    <a:pt x="84861" y="2594679"/>
                  </a:lnTo>
                  <a:lnTo>
                    <a:pt x="461193" y="2594679"/>
                  </a:lnTo>
                  <a:lnTo>
                    <a:pt x="461193" y="2679540"/>
                  </a:lnTo>
                  <a:lnTo>
                    <a:pt x="0" y="2679540"/>
                  </a:lnTo>
                  <a:close/>
                </a:path>
              </a:pathLst>
            </a:custGeom>
            <a:solidFill>
              <a:sysClr val="window" lastClr="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09573" y="240598"/>
            <a:ext cx="1322628" cy="631070"/>
            <a:chOff x="-504068" y="174267"/>
            <a:chExt cx="1600668" cy="763731"/>
          </a:xfrm>
        </p:grpSpPr>
        <p:sp>
          <p:nvSpPr>
            <p:cNvPr id="3" name="平行四边形 2"/>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平行四边形 3"/>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cs typeface="+mn-ea"/>
                <a:sym typeface="+mn-lt"/>
              </a:endParaRPr>
            </a:p>
          </p:txBody>
        </p:sp>
      </p:grpSp>
      <p:sp>
        <p:nvSpPr>
          <p:cNvPr id="32" name="矩形 31"/>
          <p:cNvSpPr/>
          <p:nvPr/>
        </p:nvSpPr>
        <p:spPr>
          <a:xfrm>
            <a:off x="465455" y="1303655"/>
            <a:ext cx="1699895" cy="904875"/>
          </a:xfrm>
          <a:prstGeom prst="rect">
            <a:avLst/>
          </a:prstGeom>
          <a:solidFill>
            <a:srgbClr val="3271CC"/>
          </a:solidFill>
          <a:ln w="12700">
            <a:noFill/>
          </a:ln>
          <a:effectLst>
            <a:outerShdw blurRad="50800" dist="38100" dir="2700000" algn="tl" rotWithShape="0">
              <a:schemeClr val="accent1">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cs typeface="+mn-ea"/>
                <a:sym typeface="+mn-lt"/>
              </a:rPr>
              <a:t>筹备</a:t>
            </a:r>
            <a:r>
              <a:rPr lang="zh-CN" altLang="en-US" b="1">
                <a:cs typeface="+mn-ea"/>
                <a:sym typeface="+mn-lt"/>
              </a:rPr>
              <a:t>启动</a:t>
            </a:r>
            <a:endParaRPr lang="zh-CN" altLang="en-US" b="1">
              <a:cs typeface="+mn-ea"/>
              <a:sym typeface="+mn-lt"/>
            </a:endParaRPr>
          </a:p>
          <a:p>
            <a:pPr algn="ctr"/>
            <a:r>
              <a:rPr lang="en-US" altLang="zh-CN" b="1">
                <a:cs typeface="+mn-ea"/>
                <a:sym typeface="+mn-lt"/>
              </a:rPr>
              <a:t>25</a:t>
            </a:r>
            <a:r>
              <a:rPr lang="zh-CN" altLang="en-US" b="1">
                <a:cs typeface="+mn-ea"/>
                <a:sym typeface="+mn-lt"/>
              </a:rPr>
              <a:t>年</a:t>
            </a:r>
            <a:r>
              <a:rPr lang="en-US" altLang="zh-CN" b="1">
                <a:cs typeface="+mn-ea"/>
                <a:sym typeface="+mn-lt"/>
              </a:rPr>
              <a:t>11</a:t>
            </a:r>
            <a:r>
              <a:rPr lang="zh-CN" altLang="en-US" b="1">
                <a:cs typeface="+mn-ea"/>
                <a:sym typeface="+mn-lt"/>
              </a:rPr>
              <a:t>月</a:t>
            </a:r>
            <a:endParaRPr lang="zh-CN" altLang="en-US" b="1">
              <a:cs typeface="+mn-ea"/>
              <a:sym typeface="+mn-lt"/>
            </a:endParaRPr>
          </a:p>
        </p:txBody>
      </p:sp>
      <p:sp>
        <p:nvSpPr>
          <p:cNvPr id="33" name="矩形 32"/>
          <p:cNvSpPr/>
          <p:nvPr/>
        </p:nvSpPr>
        <p:spPr>
          <a:xfrm>
            <a:off x="2784475" y="1303655"/>
            <a:ext cx="1713865" cy="904875"/>
          </a:xfrm>
          <a:prstGeom prst="rect">
            <a:avLst/>
          </a:prstGeom>
          <a:solidFill>
            <a:srgbClr val="3271CC"/>
          </a:solidFill>
          <a:ln w="12700">
            <a:noFill/>
          </a:ln>
          <a:effectLst>
            <a:outerShdw blurRad="50800" dist="38100" dir="2700000" algn="tl" rotWithShape="0">
              <a:schemeClr val="accent1">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cs typeface="+mn-ea"/>
                <a:sym typeface="+mn-lt"/>
              </a:rPr>
              <a:t>平台开发</a:t>
            </a:r>
            <a:r>
              <a:rPr lang="zh-CN" altLang="en-US" b="1">
                <a:cs typeface="+mn-ea"/>
                <a:sym typeface="+mn-lt"/>
              </a:rPr>
              <a:t>测试</a:t>
            </a:r>
            <a:endParaRPr lang="zh-CN" altLang="en-US" b="1">
              <a:cs typeface="+mn-ea"/>
              <a:sym typeface="+mn-lt"/>
            </a:endParaRPr>
          </a:p>
          <a:p>
            <a:pPr algn="ctr"/>
            <a:r>
              <a:rPr lang="en-US" altLang="zh-CN" b="1">
                <a:cs typeface="+mn-ea"/>
                <a:sym typeface="+mn-lt"/>
              </a:rPr>
              <a:t>25</a:t>
            </a:r>
            <a:r>
              <a:rPr lang="zh-CN" altLang="en-US" b="1">
                <a:cs typeface="+mn-ea"/>
                <a:sym typeface="+mn-lt"/>
              </a:rPr>
              <a:t>年</a:t>
            </a:r>
            <a:r>
              <a:rPr lang="en-US" altLang="zh-CN" b="1">
                <a:cs typeface="+mn-ea"/>
                <a:sym typeface="+mn-lt"/>
              </a:rPr>
              <a:t>12</a:t>
            </a:r>
            <a:r>
              <a:rPr lang="zh-CN" altLang="en-US" b="1">
                <a:cs typeface="+mn-ea"/>
                <a:sym typeface="+mn-lt"/>
              </a:rPr>
              <a:t>月</a:t>
            </a:r>
            <a:endParaRPr lang="zh-CN" altLang="en-US" b="1">
              <a:cs typeface="+mn-ea"/>
              <a:sym typeface="+mn-lt"/>
            </a:endParaRPr>
          </a:p>
        </p:txBody>
      </p:sp>
      <p:sp>
        <p:nvSpPr>
          <p:cNvPr id="34" name="矩形 33"/>
          <p:cNvSpPr/>
          <p:nvPr/>
        </p:nvSpPr>
        <p:spPr>
          <a:xfrm>
            <a:off x="5085080" y="1303655"/>
            <a:ext cx="1774825" cy="904875"/>
          </a:xfrm>
          <a:prstGeom prst="rect">
            <a:avLst/>
          </a:prstGeom>
          <a:solidFill>
            <a:srgbClr val="3271CC"/>
          </a:solidFill>
          <a:ln w="12700">
            <a:noFill/>
          </a:ln>
          <a:effectLst>
            <a:outerShdw blurRad="50800" dist="38100" dir="2700000" algn="tl" rotWithShape="0">
              <a:schemeClr val="accent1">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cs typeface="+mn-ea"/>
                <a:sym typeface="+mn-lt"/>
              </a:rPr>
              <a:t>培训试运行</a:t>
            </a:r>
            <a:endParaRPr lang="zh-CN" altLang="en-US" b="1">
              <a:cs typeface="+mn-ea"/>
              <a:sym typeface="+mn-lt"/>
            </a:endParaRPr>
          </a:p>
          <a:p>
            <a:pPr algn="ctr"/>
            <a:r>
              <a:rPr lang="en-US" altLang="zh-CN" b="1">
                <a:cs typeface="+mn-ea"/>
                <a:sym typeface="+mn-lt"/>
              </a:rPr>
              <a:t>26</a:t>
            </a:r>
            <a:r>
              <a:rPr lang="zh-CN" altLang="en-US" b="1">
                <a:cs typeface="+mn-ea"/>
                <a:sym typeface="+mn-lt"/>
              </a:rPr>
              <a:t>年</a:t>
            </a:r>
            <a:r>
              <a:rPr lang="en-US" altLang="zh-CN" b="1">
                <a:cs typeface="+mn-ea"/>
                <a:sym typeface="+mn-lt"/>
              </a:rPr>
              <a:t>1-3</a:t>
            </a:r>
            <a:r>
              <a:rPr lang="zh-CN" altLang="en-US" b="1">
                <a:cs typeface="+mn-ea"/>
                <a:sym typeface="+mn-lt"/>
              </a:rPr>
              <a:t>月</a:t>
            </a:r>
            <a:endParaRPr lang="zh-CN" altLang="en-US" b="1">
              <a:cs typeface="+mn-ea"/>
              <a:sym typeface="+mn-lt"/>
            </a:endParaRPr>
          </a:p>
        </p:txBody>
      </p:sp>
      <p:sp>
        <p:nvSpPr>
          <p:cNvPr id="35" name="矩形 34"/>
          <p:cNvSpPr/>
          <p:nvPr/>
        </p:nvSpPr>
        <p:spPr>
          <a:xfrm>
            <a:off x="7464275" y="1303843"/>
            <a:ext cx="2035959" cy="904875"/>
          </a:xfrm>
          <a:prstGeom prst="rect">
            <a:avLst/>
          </a:prstGeom>
          <a:solidFill>
            <a:srgbClr val="3271CC"/>
          </a:solidFill>
          <a:ln w="12700">
            <a:noFill/>
          </a:ln>
          <a:effectLst>
            <a:outerShdw blurRad="50800" dist="38100" dir="2700000" algn="tl" rotWithShape="0">
              <a:schemeClr val="accent1">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cs typeface="+mn-ea"/>
                <a:sym typeface="+mn-lt"/>
              </a:rPr>
              <a:t>全面</a:t>
            </a:r>
            <a:r>
              <a:rPr lang="zh-CN" altLang="en-US" b="1">
                <a:cs typeface="+mn-ea"/>
                <a:sym typeface="+mn-lt"/>
              </a:rPr>
              <a:t>推广</a:t>
            </a:r>
            <a:endParaRPr lang="zh-CN" altLang="en-US" b="1">
              <a:cs typeface="+mn-ea"/>
              <a:sym typeface="+mn-lt"/>
            </a:endParaRPr>
          </a:p>
          <a:p>
            <a:pPr algn="ctr"/>
            <a:r>
              <a:rPr lang="en-US" altLang="zh-CN" b="1">
                <a:cs typeface="+mn-ea"/>
                <a:sym typeface="+mn-lt"/>
              </a:rPr>
              <a:t>26</a:t>
            </a:r>
            <a:r>
              <a:rPr lang="zh-CN" altLang="en-US" b="1">
                <a:cs typeface="+mn-ea"/>
                <a:sym typeface="+mn-lt"/>
              </a:rPr>
              <a:t>年</a:t>
            </a:r>
            <a:r>
              <a:rPr lang="en-US" altLang="zh-CN" b="1">
                <a:cs typeface="+mn-ea"/>
                <a:sym typeface="+mn-lt"/>
              </a:rPr>
              <a:t>4-12</a:t>
            </a:r>
            <a:r>
              <a:rPr lang="zh-CN" altLang="en-US" b="1">
                <a:cs typeface="+mn-ea"/>
                <a:sym typeface="+mn-lt"/>
              </a:rPr>
              <a:t>月</a:t>
            </a:r>
            <a:endParaRPr lang="zh-CN" altLang="en-US" b="1">
              <a:cs typeface="+mn-ea"/>
              <a:sym typeface="+mn-lt"/>
            </a:endParaRPr>
          </a:p>
        </p:txBody>
      </p:sp>
      <p:sp>
        <p:nvSpPr>
          <p:cNvPr id="37" name="文本框 36"/>
          <p:cNvSpPr txBox="1"/>
          <p:nvPr/>
        </p:nvSpPr>
        <p:spPr>
          <a:xfrm>
            <a:off x="455929" y="2426075"/>
            <a:ext cx="2045360" cy="3646170"/>
          </a:xfrm>
          <a:prstGeom prst="rect">
            <a:avLst/>
          </a:prstGeom>
          <a:noFill/>
        </p:spPr>
        <p:txBody>
          <a:bodyPr wrap="square" rtlCol="0">
            <a:spAutoFit/>
          </a:bodyPr>
          <a:lstStyle/>
          <a:p>
            <a:pPr marL="285750" indent="-285750" algn="just" fontAlgn="auto">
              <a:lnSpc>
                <a:spcPct val="150000"/>
              </a:lnSpc>
              <a:buFont typeface="Wingdings" panose="05000000000000000000" pitchFamily="2" charset="2"/>
              <a:buChar char="n"/>
            </a:pPr>
            <a:r>
              <a:rPr lang="zh-CN" altLang="en-US" sz="1400" b="1" dirty="0">
                <a:cs typeface="+mn-ea"/>
                <a:sym typeface="+mn-lt"/>
              </a:rPr>
              <a:t>组织架构搭建</a:t>
            </a:r>
            <a:r>
              <a:rPr lang="zh-CN" altLang="en-US" sz="1400" dirty="0">
                <a:cs typeface="+mn-ea"/>
                <a:sym typeface="+mn-lt"/>
              </a:rPr>
              <a:t>：</a:t>
            </a:r>
            <a:endParaRPr lang="zh-CN" altLang="en-US" sz="1400" dirty="0">
              <a:cs typeface="+mn-ea"/>
              <a:sym typeface="+mn-lt"/>
            </a:endParaRPr>
          </a:p>
          <a:p>
            <a:pPr indent="0" algn="just" fontAlgn="auto">
              <a:lnSpc>
                <a:spcPct val="150000"/>
              </a:lnSpc>
              <a:buNone/>
            </a:pPr>
            <a:r>
              <a:rPr lang="zh-CN" altLang="en-US" sz="1400" dirty="0">
                <a:cs typeface="+mn-ea"/>
                <a:sym typeface="+mn-lt"/>
              </a:rPr>
              <a:t>牵头成立专项工作组，明确责任</a:t>
            </a:r>
            <a:r>
              <a:rPr lang="zh-CN" altLang="en-US" sz="1400" dirty="0">
                <a:cs typeface="+mn-ea"/>
                <a:sym typeface="+mn-lt"/>
              </a:rPr>
              <a:t>分工</a:t>
            </a:r>
            <a:endParaRPr lang="zh-CN" altLang="en-US" sz="1400" dirty="0">
              <a:cs typeface="+mn-ea"/>
              <a:sym typeface="+mn-lt"/>
            </a:endParaRPr>
          </a:p>
          <a:p>
            <a:pPr marL="285750" indent="-285750" algn="just" fontAlgn="auto">
              <a:lnSpc>
                <a:spcPct val="150000"/>
              </a:lnSpc>
              <a:buFont typeface="Wingdings" panose="05000000000000000000" pitchFamily="2" charset="2"/>
              <a:buChar char="n"/>
            </a:pPr>
            <a:r>
              <a:rPr lang="zh-CN" altLang="en-US" sz="1400" b="1" dirty="0">
                <a:cs typeface="+mn-ea"/>
                <a:sym typeface="+mn-lt"/>
              </a:rPr>
              <a:t>需求调研方案细化</a:t>
            </a:r>
            <a:endParaRPr lang="zh-CN" altLang="en-US" sz="1400" b="1" dirty="0">
              <a:cs typeface="+mn-ea"/>
              <a:sym typeface="+mn-lt"/>
            </a:endParaRPr>
          </a:p>
          <a:p>
            <a:pPr indent="0" algn="just" fontAlgn="auto">
              <a:lnSpc>
                <a:spcPct val="150000"/>
              </a:lnSpc>
              <a:buNone/>
            </a:pPr>
            <a:r>
              <a:rPr lang="zh-CN" altLang="en-US" sz="1400" dirty="0">
                <a:cs typeface="+mn-ea"/>
                <a:sym typeface="+mn-lt"/>
              </a:rPr>
              <a:t>深入试点国企调研业务流程，确定采购目录与对接标准</a:t>
            </a:r>
            <a:endParaRPr lang="en-US" altLang="zh-CN" sz="1400" dirty="0">
              <a:cs typeface="+mn-ea"/>
              <a:sym typeface="+mn-lt"/>
            </a:endParaRPr>
          </a:p>
          <a:p>
            <a:pPr marL="285750" indent="-285750" algn="just" fontAlgn="auto">
              <a:lnSpc>
                <a:spcPct val="150000"/>
              </a:lnSpc>
              <a:buFont typeface="Wingdings" panose="05000000000000000000" pitchFamily="2" charset="2"/>
              <a:buChar char="n"/>
            </a:pPr>
            <a:r>
              <a:rPr lang="zh-CN" altLang="en-US" sz="1400" b="1" dirty="0">
                <a:cs typeface="+mn-ea"/>
                <a:sym typeface="+mn-lt"/>
              </a:rPr>
              <a:t>合规前置准备</a:t>
            </a:r>
            <a:endParaRPr lang="en-US" altLang="zh-CN" sz="1400" b="1" dirty="0">
              <a:cs typeface="+mn-ea"/>
              <a:sym typeface="+mn-lt"/>
            </a:endParaRPr>
          </a:p>
          <a:p>
            <a:pPr indent="0" algn="just" fontAlgn="auto">
              <a:lnSpc>
                <a:spcPct val="150000"/>
              </a:lnSpc>
              <a:buNone/>
            </a:pPr>
            <a:r>
              <a:rPr lang="zh-CN" altLang="en-US" sz="1400" dirty="0">
                <a:solidFill>
                  <a:schemeClr val="tx1"/>
                </a:solidFill>
                <a:cs typeface="+mn-ea"/>
                <a:sym typeface="+mn-lt"/>
              </a:rPr>
              <a:t>明确</a:t>
            </a:r>
            <a:r>
              <a:rPr lang="en-US" altLang="zh-CN" sz="1400" dirty="0">
                <a:solidFill>
                  <a:schemeClr val="tx1"/>
                </a:solidFill>
                <a:cs typeface="+mn-ea"/>
                <a:sym typeface="+mn-lt"/>
              </a:rPr>
              <a:t>EBS</a:t>
            </a:r>
            <a:r>
              <a:rPr lang="zh-CN" altLang="en-US" sz="1400" dirty="0">
                <a:solidFill>
                  <a:schemeClr val="tx1"/>
                </a:solidFill>
                <a:cs typeface="+mn-ea"/>
                <a:sym typeface="+mn-lt"/>
              </a:rPr>
              <a:t>、三级等保等检测要求，同步准备相关材料</a:t>
            </a:r>
            <a:endParaRPr lang="zh-CN" altLang="en-US" sz="1400" dirty="0">
              <a:solidFill>
                <a:schemeClr val="tx1"/>
              </a:solidFill>
              <a:cs typeface="+mn-ea"/>
              <a:sym typeface="+mn-lt"/>
            </a:endParaRPr>
          </a:p>
        </p:txBody>
      </p:sp>
      <p:sp>
        <p:nvSpPr>
          <p:cNvPr id="38" name="文本框 37"/>
          <p:cNvSpPr txBox="1"/>
          <p:nvPr/>
        </p:nvSpPr>
        <p:spPr>
          <a:xfrm>
            <a:off x="2697480" y="2426335"/>
            <a:ext cx="2058035" cy="3646170"/>
          </a:xfrm>
          <a:prstGeom prst="rect">
            <a:avLst/>
          </a:prstGeom>
          <a:noFill/>
        </p:spPr>
        <p:txBody>
          <a:bodyPr wrap="square" rtlCol="0">
            <a:spAutoFit/>
          </a:bodyPr>
          <a:lstStyle/>
          <a:p>
            <a:pPr marL="285750" indent="-285750" algn="just" fontAlgn="auto">
              <a:lnSpc>
                <a:spcPct val="150000"/>
              </a:lnSpc>
              <a:buFont typeface="Wingdings" panose="05000000000000000000" pitchFamily="2" charset="2"/>
              <a:buChar char="n"/>
            </a:pPr>
            <a:r>
              <a:rPr lang="zh-CN" altLang="en-US" sz="1400" b="1" dirty="0">
                <a:cs typeface="+mn-ea"/>
                <a:sym typeface="+mn-lt"/>
              </a:rPr>
              <a:t>核心系统开发</a:t>
            </a:r>
            <a:endParaRPr lang="zh-CN" altLang="en-US" sz="1400" b="1" dirty="0">
              <a:cs typeface="+mn-ea"/>
              <a:sym typeface="+mn-lt"/>
            </a:endParaRPr>
          </a:p>
          <a:p>
            <a:pPr indent="0" algn="just" fontAlgn="auto">
              <a:lnSpc>
                <a:spcPct val="150000"/>
              </a:lnSpc>
              <a:buNone/>
            </a:pPr>
            <a:r>
              <a:rPr lang="zh-CN" altLang="en-US" sz="1400" dirty="0">
                <a:cs typeface="+mn-ea"/>
                <a:sym typeface="+mn-lt"/>
              </a:rPr>
              <a:t>完成平台功能开发，同步推进</a:t>
            </a:r>
            <a:r>
              <a:rPr lang="zh-CN" altLang="en-US" sz="1400" dirty="0">
                <a:cs typeface="+mn-ea"/>
                <a:sym typeface="+mn-lt"/>
              </a:rPr>
              <a:t>三方系统的对接开发</a:t>
            </a:r>
            <a:endParaRPr lang="zh-CN" altLang="en-US" sz="1400" dirty="0">
              <a:cs typeface="+mn-ea"/>
              <a:sym typeface="+mn-lt"/>
            </a:endParaRPr>
          </a:p>
          <a:p>
            <a:pPr marL="285750" indent="-285750" algn="just" fontAlgn="auto">
              <a:lnSpc>
                <a:spcPct val="150000"/>
              </a:lnSpc>
              <a:buFont typeface="Wingdings" panose="05000000000000000000" pitchFamily="2" charset="2"/>
              <a:buChar char="n"/>
            </a:pPr>
            <a:r>
              <a:rPr lang="zh-CN" altLang="en-US" sz="1400" b="1" dirty="0">
                <a:cs typeface="+mn-ea"/>
                <a:sym typeface="+mn-lt"/>
              </a:rPr>
              <a:t>分层测试验证</a:t>
            </a:r>
            <a:endParaRPr lang="zh-CN" altLang="en-US" sz="1400" b="1" dirty="0">
              <a:cs typeface="+mn-ea"/>
              <a:sym typeface="+mn-lt"/>
            </a:endParaRPr>
          </a:p>
          <a:p>
            <a:pPr indent="0" algn="just" fontAlgn="auto">
              <a:lnSpc>
                <a:spcPct val="150000"/>
              </a:lnSpc>
              <a:buNone/>
            </a:pPr>
            <a:r>
              <a:rPr lang="zh-CN" altLang="en-US" sz="1400" dirty="0">
                <a:cs typeface="+mn-ea"/>
                <a:sym typeface="+mn-lt"/>
              </a:rPr>
              <a:t>开展功能测试、压力测试、</a:t>
            </a:r>
            <a:r>
              <a:rPr lang="zh-CN" altLang="en-US" sz="1400" dirty="0">
                <a:cs typeface="+mn-ea"/>
                <a:sym typeface="+mn-lt"/>
              </a:rPr>
              <a:t>安全测试，确保平台稳定性与安全性达标</a:t>
            </a:r>
            <a:endParaRPr lang="zh-CN" altLang="en-US" sz="1400" dirty="0">
              <a:cs typeface="+mn-ea"/>
              <a:sym typeface="+mn-lt"/>
            </a:endParaRPr>
          </a:p>
          <a:p>
            <a:pPr marL="285750" indent="-285750" algn="just" fontAlgn="auto">
              <a:lnSpc>
                <a:spcPct val="150000"/>
              </a:lnSpc>
              <a:buFont typeface="Wingdings" panose="05000000000000000000" pitchFamily="2" charset="2"/>
              <a:buChar char="n"/>
            </a:pPr>
            <a:r>
              <a:rPr lang="zh-CN" altLang="en-US" sz="1400" b="1" dirty="0">
                <a:cs typeface="+mn-ea"/>
                <a:sym typeface="+mn-lt"/>
              </a:rPr>
              <a:t>监管规则配置</a:t>
            </a:r>
            <a:endParaRPr lang="zh-CN" altLang="en-US" sz="1400" b="1" dirty="0">
              <a:cs typeface="+mn-ea"/>
              <a:sym typeface="+mn-lt"/>
            </a:endParaRPr>
          </a:p>
          <a:p>
            <a:pPr indent="0" algn="just" fontAlgn="auto">
              <a:lnSpc>
                <a:spcPct val="150000"/>
              </a:lnSpc>
              <a:buNone/>
            </a:pPr>
            <a:r>
              <a:rPr lang="zh-CN" altLang="en-US" sz="1400" dirty="0">
                <a:cs typeface="+mn-ea"/>
                <a:sym typeface="+mn-lt"/>
              </a:rPr>
              <a:t>梳理</a:t>
            </a:r>
            <a:r>
              <a:rPr lang="zh-CN" altLang="en-US" sz="1400" dirty="0">
                <a:cs typeface="+mn-ea"/>
                <a:sym typeface="+mn-lt"/>
              </a:rPr>
              <a:t>合规配置，完成与国资委监管系统</a:t>
            </a:r>
            <a:r>
              <a:rPr lang="zh-CN" altLang="en-US" sz="1400" dirty="0">
                <a:cs typeface="+mn-ea"/>
                <a:sym typeface="+mn-lt"/>
              </a:rPr>
              <a:t>对接</a:t>
            </a:r>
            <a:endParaRPr lang="zh-CN" altLang="en-US" sz="1400" dirty="0">
              <a:cs typeface="+mn-ea"/>
              <a:sym typeface="+mn-lt"/>
            </a:endParaRPr>
          </a:p>
        </p:txBody>
      </p:sp>
      <p:sp>
        <p:nvSpPr>
          <p:cNvPr id="39" name="文本框 38"/>
          <p:cNvSpPr txBox="1"/>
          <p:nvPr/>
        </p:nvSpPr>
        <p:spPr>
          <a:xfrm>
            <a:off x="5076190" y="2426335"/>
            <a:ext cx="2061845" cy="3646170"/>
          </a:xfrm>
          <a:prstGeom prst="rect">
            <a:avLst/>
          </a:prstGeom>
          <a:noFill/>
        </p:spPr>
        <p:txBody>
          <a:bodyPr wrap="square" rtlCol="0">
            <a:spAutoFit/>
          </a:bodyPr>
          <a:lstStyle/>
          <a:p>
            <a:pPr marL="285750" indent="-285750" algn="just" fontAlgn="auto">
              <a:lnSpc>
                <a:spcPct val="150000"/>
              </a:lnSpc>
              <a:buFont typeface="Wingdings" panose="05000000000000000000" pitchFamily="2" charset="2"/>
              <a:buChar char="n"/>
            </a:pPr>
            <a:r>
              <a:rPr lang="zh-CN" altLang="en-US" sz="1400" b="1" dirty="0">
                <a:cs typeface="+mn-ea"/>
                <a:sym typeface="+mn-lt"/>
              </a:rPr>
              <a:t>分层培训落地</a:t>
            </a:r>
            <a:endParaRPr lang="zh-CN" altLang="en-US" sz="1400" b="1" dirty="0">
              <a:cs typeface="+mn-ea"/>
              <a:sym typeface="+mn-lt"/>
            </a:endParaRPr>
          </a:p>
          <a:p>
            <a:pPr indent="0" algn="just" fontAlgn="auto">
              <a:lnSpc>
                <a:spcPct val="150000"/>
              </a:lnSpc>
              <a:buNone/>
            </a:pPr>
            <a:r>
              <a:rPr lang="zh-CN" altLang="en-US" sz="1400" dirty="0">
                <a:cs typeface="+mn-ea"/>
                <a:sym typeface="+mn-lt"/>
              </a:rPr>
              <a:t>制定培训计划，对监管人员、国企采购人员、供应商进行实操指导</a:t>
            </a:r>
            <a:endParaRPr lang="en-US" altLang="zh-CN" sz="1400" dirty="0">
              <a:cs typeface="+mn-ea"/>
              <a:sym typeface="+mn-lt"/>
            </a:endParaRPr>
          </a:p>
          <a:p>
            <a:pPr marL="285750" indent="-285750" algn="just" fontAlgn="auto">
              <a:lnSpc>
                <a:spcPct val="150000"/>
              </a:lnSpc>
              <a:buFont typeface="Wingdings" panose="05000000000000000000" pitchFamily="2" charset="2"/>
              <a:buChar char="n"/>
            </a:pPr>
            <a:r>
              <a:rPr lang="zh-CN" altLang="en-US" sz="1400" b="1" dirty="0">
                <a:cs typeface="+mn-ea"/>
                <a:sym typeface="+mn-lt"/>
              </a:rPr>
              <a:t>试点单位上线</a:t>
            </a:r>
            <a:endParaRPr lang="zh-CN" altLang="en-US" sz="1400" b="1" dirty="0">
              <a:cs typeface="+mn-ea"/>
              <a:sym typeface="+mn-lt"/>
            </a:endParaRPr>
          </a:p>
          <a:p>
            <a:pPr indent="0" algn="just" fontAlgn="auto">
              <a:lnSpc>
                <a:spcPct val="150000"/>
              </a:lnSpc>
              <a:buNone/>
            </a:pPr>
            <a:r>
              <a:rPr lang="zh-CN" altLang="en-US" sz="1400" dirty="0">
                <a:cs typeface="+mn-ea"/>
                <a:sym typeface="+mn-lt"/>
              </a:rPr>
              <a:t>选取兵团大型国企作为试点，启动线上交易流程，收集优化</a:t>
            </a:r>
            <a:r>
              <a:rPr lang="zh-CN" altLang="en-US" sz="1400" dirty="0">
                <a:cs typeface="+mn-ea"/>
                <a:sym typeface="+mn-lt"/>
              </a:rPr>
              <a:t>建议</a:t>
            </a:r>
            <a:endParaRPr lang="zh-CN" altLang="en-US" sz="1400" dirty="0">
              <a:cs typeface="+mn-ea"/>
              <a:sym typeface="+mn-lt"/>
            </a:endParaRPr>
          </a:p>
          <a:p>
            <a:pPr marL="285750" indent="-285750" algn="just" fontAlgn="auto">
              <a:lnSpc>
                <a:spcPct val="150000"/>
              </a:lnSpc>
              <a:buFont typeface="Wingdings" panose="05000000000000000000" pitchFamily="2" charset="2"/>
              <a:buChar char="n"/>
            </a:pPr>
            <a:r>
              <a:rPr lang="zh-CN" altLang="en-US" sz="1400" b="1" dirty="0">
                <a:cs typeface="+mn-ea"/>
                <a:sym typeface="+mn-lt"/>
              </a:rPr>
              <a:t>流程优化迭代</a:t>
            </a:r>
            <a:endParaRPr lang="zh-CN" altLang="en-US" sz="1400" b="1" dirty="0">
              <a:cs typeface="+mn-ea"/>
              <a:sym typeface="+mn-lt"/>
            </a:endParaRPr>
          </a:p>
          <a:p>
            <a:pPr indent="0" algn="just" fontAlgn="auto">
              <a:lnSpc>
                <a:spcPct val="150000"/>
              </a:lnSpc>
              <a:buNone/>
            </a:pPr>
            <a:r>
              <a:rPr lang="zh-CN" altLang="en-US" sz="1400" dirty="0">
                <a:cs typeface="+mn-ea"/>
                <a:sym typeface="+mn-lt"/>
              </a:rPr>
              <a:t>根据试点运行数据，优化平台操作流程。</a:t>
            </a:r>
            <a:endParaRPr lang="zh-CN" altLang="en-US" sz="1400" dirty="0">
              <a:cs typeface="+mn-ea"/>
              <a:sym typeface="+mn-lt"/>
            </a:endParaRPr>
          </a:p>
        </p:txBody>
      </p:sp>
      <p:sp>
        <p:nvSpPr>
          <p:cNvPr id="40" name="文本框 39"/>
          <p:cNvSpPr txBox="1"/>
          <p:nvPr/>
        </p:nvSpPr>
        <p:spPr>
          <a:xfrm>
            <a:off x="7464425" y="2426335"/>
            <a:ext cx="2183130" cy="3646170"/>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en-US" sz="1400" b="1" dirty="0">
                <a:cs typeface="+mn-ea"/>
                <a:sym typeface="+mn-lt"/>
              </a:rPr>
              <a:t>全面推广落地</a:t>
            </a:r>
            <a:endParaRPr lang="zh-CN" altLang="en-US" sz="1400" b="1" dirty="0">
              <a:cs typeface="+mn-ea"/>
              <a:sym typeface="+mn-lt"/>
            </a:endParaRPr>
          </a:p>
          <a:p>
            <a:pPr indent="0">
              <a:lnSpc>
                <a:spcPct val="150000"/>
              </a:lnSpc>
              <a:buNone/>
            </a:pPr>
            <a:r>
              <a:rPr lang="zh-CN" altLang="en-US" sz="1400" dirty="0">
                <a:cs typeface="+mn-ea"/>
                <a:sym typeface="+mn-lt"/>
              </a:rPr>
              <a:t>召开动员会，明确上线时间，实现兵团国企采购业务全覆盖</a:t>
            </a:r>
            <a:endParaRPr lang="zh-CN" altLang="en-US" sz="1400" dirty="0">
              <a:cs typeface="+mn-ea"/>
              <a:sym typeface="+mn-lt"/>
            </a:endParaRPr>
          </a:p>
          <a:p>
            <a:pPr marL="285750" indent="-285750">
              <a:lnSpc>
                <a:spcPct val="150000"/>
              </a:lnSpc>
              <a:buFont typeface="Wingdings" panose="05000000000000000000" pitchFamily="2" charset="2"/>
              <a:buChar char="n"/>
            </a:pPr>
            <a:r>
              <a:rPr lang="zh-CN" altLang="en-US" sz="1400" b="1" dirty="0">
                <a:cs typeface="+mn-ea"/>
                <a:sym typeface="+mn-lt"/>
              </a:rPr>
              <a:t>合规认证收尾</a:t>
            </a:r>
            <a:endParaRPr lang="zh-CN" altLang="en-US" sz="1400" b="1" dirty="0">
              <a:cs typeface="+mn-ea"/>
              <a:sym typeface="+mn-lt"/>
            </a:endParaRPr>
          </a:p>
          <a:p>
            <a:pPr indent="0">
              <a:lnSpc>
                <a:spcPct val="150000"/>
              </a:lnSpc>
              <a:buNone/>
            </a:pPr>
            <a:r>
              <a:rPr lang="zh-CN" altLang="en-US" sz="1400" dirty="0">
                <a:cs typeface="+mn-ea"/>
                <a:sym typeface="+mn-lt"/>
              </a:rPr>
              <a:t>完成</a:t>
            </a:r>
            <a:r>
              <a:rPr lang="en-US" altLang="zh-CN" sz="1400" dirty="0">
                <a:cs typeface="+mn-ea"/>
                <a:sym typeface="+mn-lt"/>
              </a:rPr>
              <a:t> EBS </a:t>
            </a:r>
            <a:r>
              <a:rPr lang="zh-CN" altLang="en-US" sz="1400" dirty="0">
                <a:cs typeface="+mn-ea"/>
                <a:sym typeface="+mn-lt"/>
              </a:rPr>
              <a:t>认证、三级等保检测，确保平台获取合规资质，符合政策要求。</a:t>
            </a:r>
            <a:endParaRPr lang="zh-CN" altLang="en-US" sz="1400" dirty="0">
              <a:cs typeface="+mn-ea"/>
              <a:sym typeface="+mn-lt"/>
            </a:endParaRPr>
          </a:p>
          <a:p>
            <a:pPr marL="285750" indent="-285750">
              <a:lnSpc>
                <a:spcPct val="150000"/>
              </a:lnSpc>
              <a:buFont typeface="Wingdings" panose="05000000000000000000" pitchFamily="2" charset="2"/>
              <a:buChar char="n"/>
            </a:pPr>
            <a:r>
              <a:rPr lang="zh-CN" altLang="en-US" sz="1400" b="1" dirty="0">
                <a:cs typeface="+mn-ea"/>
                <a:sym typeface="+mn-lt"/>
              </a:rPr>
              <a:t>验收评估</a:t>
            </a:r>
            <a:endParaRPr lang="zh-CN" altLang="en-US" sz="1400" b="1" dirty="0">
              <a:cs typeface="+mn-ea"/>
              <a:sym typeface="+mn-lt"/>
            </a:endParaRPr>
          </a:p>
          <a:p>
            <a:pPr indent="0">
              <a:lnSpc>
                <a:spcPct val="150000"/>
              </a:lnSpc>
              <a:buNone/>
            </a:pPr>
            <a:r>
              <a:rPr lang="zh-CN" altLang="en-US" sz="1400" dirty="0">
                <a:cs typeface="+mn-ea"/>
                <a:sym typeface="+mn-lt"/>
              </a:rPr>
              <a:t>组织验收小组，评估平台建设成效，出具验收报告</a:t>
            </a:r>
            <a:endParaRPr lang="zh-CN" altLang="en-US" sz="1400" dirty="0">
              <a:cs typeface="+mn-ea"/>
              <a:sym typeface="+mn-lt"/>
            </a:endParaRPr>
          </a:p>
        </p:txBody>
      </p:sp>
      <p:sp>
        <p:nvSpPr>
          <p:cNvPr id="9" name="文本框 8"/>
          <p:cNvSpPr txBox="1"/>
          <p:nvPr/>
        </p:nvSpPr>
        <p:spPr>
          <a:xfrm>
            <a:off x="673100" y="326390"/>
            <a:ext cx="11626850"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实施步骤：分阶段、逐步构建数字化</a:t>
            </a:r>
            <a:r>
              <a:rPr lang="zh-CN" altLang="en-US" sz="3200" b="1" dirty="0">
                <a:solidFill>
                  <a:srgbClr val="3271CC"/>
                </a:solidFill>
                <a:latin typeface="微软雅黑" panose="020B0503020204020204" charset="-122"/>
                <a:ea typeface="微软雅黑" panose="020B0503020204020204" charset="-122"/>
                <a:cs typeface="+mn-ea"/>
                <a:sym typeface="+mn-lt"/>
              </a:rPr>
              <a:t>阳光采购体系</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sp>
        <p:nvSpPr>
          <p:cNvPr id="13" name="矩形 12"/>
          <p:cNvSpPr/>
          <p:nvPr/>
        </p:nvSpPr>
        <p:spPr>
          <a:xfrm>
            <a:off x="9956015" y="1303843"/>
            <a:ext cx="2035959" cy="904875"/>
          </a:xfrm>
          <a:prstGeom prst="rect">
            <a:avLst/>
          </a:prstGeom>
          <a:solidFill>
            <a:srgbClr val="3271CC"/>
          </a:solidFill>
          <a:ln w="12700">
            <a:noFill/>
          </a:ln>
          <a:effectLst>
            <a:outerShdw blurRad="50800" dist="38100" dir="2700000" algn="tl" rotWithShape="0">
              <a:schemeClr val="accent1">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cs typeface="+mn-ea"/>
                <a:sym typeface="+mn-lt"/>
              </a:rPr>
              <a:t>长期</a:t>
            </a:r>
            <a:r>
              <a:rPr lang="zh-CN" altLang="en-US" b="1">
                <a:cs typeface="+mn-ea"/>
                <a:sym typeface="+mn-lt"/>
              </a:rPr>
              <a:t>运营</a:t>
            </a:r>
            <a:endParaRPr lang="zh-CN" altLang="en-US" b="1">
              <a:cs typeface="+mn-ea"/>
              <a:sym typeface="+mn-lt"/>
            </a:endParaRPr>
          </a:p>
        </p:txBody>
      </p:sp>
      <p:sp>
        <p:nvSpPr>
          <p:cNvPr id="14" name="文本框 13"/>
          <p:cNvSpPr txBox="1"/>
          <p:nvPr/>
        </p:nvSpPr>
        <p:spPr>
          <a:xfrm>
            <a:off x="9782175" y="2448560"/>
            <a:ext cx="2183130" cy="3322955"/>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en-US" sz="1400" b="1" dirty="0">
                <a:cs typeface="+mn-ea"/>
                <a:sym typeface="+mn-lt"/>
              </a:rPr>
              <a:t>系统保障</a:t>
            </a:r>
            <a:r>
              <a:rPr lang="zh-CN" altLang="en-US" sz="1400" b="1" dirty="0">
                <a:cs typeface="+mn-ea"/>
                <a:sym typeface="+mn-lt"/>
              </a:rPr>
              <a:t>运维</a:t>
            </a:r>
            <a:endParaRPr lang="zh-CN" altLang="en-US" sz="1400" b="1" dirty="0">
              <a:cs typeface="+mn-ea"/>
              <a:sym typeface="+mn-lt"/>
            </a:endParaRPr>
          </a:p>
          <a:p>
            <a:pPr indent="0">
              <a:lnSpc>
                <a:spcPct val="150000"/>
              </a:lnSpc>
              <a:buNone/>
            </a:pPr>
            <a:r>
              <a:rPr lang="zh-CN" altLang="en-US" sz="1400" dirty="0">
                <a:cs typeface="+mn-ea"/>
                <a:sym typeface="+mn-lt"/>
              </a:rPr>
              <a:t>提供</a:t>
            </a:r>
            <a:r>
              <a:rPr lang="en-US" altLang="zh-CN" sz="1400" dirty="0">
                <a:cs typeface="+mn-ea"/>
                <a:sym typeface="+mn-lt"/>
              </a:rPr>
              <a:t>5*8</a:t>
            </a:r>
            <a:r>
              <a:rPr lang="zh-CN" altLang="en-US" sz="1400" dirty="0">
                <a:cs typeface="+mn-ea"/>
                <a:sym typeface="+mn-lt"/>
              </a:rPr>
              <a:t>小时技术支持，定期开展巡检、功能</a:t>
            </a:r>
            <a:r>
              <a:rPr lang="zh-CN" altLang="en-US" sz="1400" dirty="0">
                <a:cs typeface="+mn-ea"/>
                <a:sym typeface="+mn-lt"/>
              </a:rPr>
              <a:t>迭代</a:t>
            </a:r>
            <a:endParaRPr lang="zh-CN" altLang="en-US" sz="1400" dirty="0">
              <a:cs typeface="+mn-ea"/>
              <a:sym typeface="+mn-lt"/>
            </a:endParaRPr>
          </a:p>
          <a:p>
            <a:pPr marL="285750" indent="-285750">
              <a:lnSpc>
                <a:spcPct val="150000"/>
              </a:lnSpc>
              <a:buFont typeface="Wingdings" panose="05000000000000000000" pitchFamily="2" charset="2"/>
              <a:buChar char="n"/>
            </a:pPr>
            <a:r>
              <a:rPr lang="zh-CN" altLang="en-US" sz="1400" b="1" dirty="0">
                <a:cs typeface="+mn-ea"/>
                <a:sym typeface="+mn-lt"/>
              </a:rPr>
              <a:t>运营优化</a:t>
            </a:r>
            <a:endParaRPr lang="zh-CN" altLang="en-US" sz="1400" b="1" dirty="0">
              <a:cs typeface="+mn-ea"/>
              <a:sym typeface="+mn-lt"/>
            </a:endParaRPr>
          </a:p>
          <a:p>
            <a:pPr indent="0">
              <a:lnSpc>
                <a:spcPct val="150000"/>
              </a:lnSpc>
              <a:buNone/>
            </a:pPr>
            <a:r>
              <a:rPr lang="zh-CN" altLang="en-US" sz="1400" dirty="0">
                <a:cs typeface="+mn-ea"/>
                <a:sym typeface="+mn-lt"/>
              </a:rPr>
              <a:t>根据平台交易数据，优化收费机制、拓展服务场景</a:t>
            </a:r>
            <a:endParaRPr lang="zh-CN" altLang="en-US" sz="1400" dirty="0">
              <a:cs typeface="+mn-ea"/>
              <a:sym typeface="+mn-lt"/>
            </a:endParaRPr>
          </a:p>
          <a:p>
            <a:pPr marL="285750" indent="-285750">
              <a:lnSpc>
                <a:spcPct val="150000"/>
              </a:lnSpc>
              <a:buFont typeface="Wingdings" panose="05000000000000000000" pitchFamily="2" charset="2"/>
              <a:buChar char="n"/>
            </a:pPr>
            <a:r>
              <a:rPr lang="zh-CN" altLang="en-US" sz="1400" b="1" dirty="0">
                <a:cs typeface="+mn-ea"/>
                <a:sym typeface="+mn-lt"/>
              </a:rPr>
              <a:t>运行监管</a:t>
            </a:r>
            <a:endParaRPr lang="zh-CN" altLang="en-US" sz="1400" b="1" dirty="0">
              <a:cs typeface="+mn-ea"/>
              <a:sym typeface="+mn-lt"/>
            </a:endParaRPr>
          </a:p>
          <a:p>
            <a:pPr indent="0">
              <a:lnSpc>
                <a:spcPct val="150000"/>
              </a:lnSpc>
              <a:buNone/>
            </a:pPr>
            <a:r>
              <a:rPr lang="zh-CN" altLang="en-US" sz="1400" dirty="0">
                <a:cs typeface="+mn-ea"/>
                <a:sym typeface="+mn-lt"/>
              </a:rPr>
              <a:t>持续监督平台合规运行，定期核查风险预警处理情况，确保国有资产安全</a:t>
            </a:r>
            <a:endParaRPr lang="zh-CN" altLang="en-US" sz="1400" dirty="0">
              <a:cs typeface="+mn-ea"/>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 name="í$ḷíďe"/>
          <p:cNvGrpSpPr/>
          <p:nvPr/>
        </p:nvGrpSpPr>
        <p:grpSpPr>
          <a:xfrm rot="0">
            <a:off x="527050" y="3872799"/>
            <a:ext cx="10036696" cy="1142458"/>
            <a:chOff x="677876" y="1996365"/>
            <a:chExt cx="8791964" cy="1142540"/>
          </a:xfrm>
        </p:grpSpPr>
        <p:grpSp>
          <p:nvGrpSpPr>
            <p:cNvPr id="121" name="í$ľíḑê"/>
            <p:cNvGrpSpPr/>
            <p:nvPr/>
          </p:nvGrpSpPr>
          <p:grpSpPr>
            <a:xfrm>
              <a:off x="677876" y="1996365"/>
              <a:ext cx="552650" cy="553518"/>
              <a:chOff x="883164" y="1816317"/>
              <a:chExt cx="869436" cy="870802"/>
            </a:xfrm>
          </p:grpSpPr>
          <p:sp>
            <p:nvSpPr>
              <p:cNvPr id="125" name="îSļîdê"/>
              <p:cNvSpPr/>
              <p:nvPr>
                <p:custDataLst>
                  <p:tags r:id="rId1"/>
                </p:custDataLst>
              </p:nvPr>
            </p:nvSpPr>
            <p:spPr bwMode="auto">
              <a:xfrm>
                <a:off x="883164" y="1816317"/>
                <a:ext cx="869436" cy="870802"/>
              </a:xfrm>
              <a:custGeom>
                <a:avLst/>
                <a:gdLst>
                  <a:gd name="T0" fmla="*/ 1066 w 1272"/>
                  <a:gd name="T1" fmla="*/ 168 h 1274"/>
                  <a:gd name="T2" fmla="*/ 1132 w 1272"/>
                  <a:gd name="T3" fmla="*/ 238 h 1274"/>
                  <a:gd name="T4" fmla="*/ 1186 w 1272"/>
                  <a:gd name="T5" fmla="*/ 316 h 1274"/>
                  <a:gd name="T6" fmla="*/ 1226 w 1272"/>
                  <a:gd name="T7" fmla="*/ 398 h 1274"/>
                  <a:gd name="T8" fmla="*/ 1254 w 1272"/>
                  <a:gd name="T9" fmla="*/ 486 h 1274"/>
                  <a:gd name="T10" fmla="*/ 1270 w 1272"/>
                  <a:gd name="T11" fmla="*/ 576 h 1274"/>
                  <a:gd name="T12" fmla="*/ 1272 w 1272"/>
                  <a:gd name="T13" fmla="*/ 668 h 1274"/>
                  <a:gd name="T14" fmla="*/ 1260 w 1272"/>
                  <a:gd name="T15" fmla="*/ 760 h 1274"/>
                  <a:gd name="T16" fmla="*/ 1236 w 1272"/>
                  <a:gd name="T17" fmla="*/ 850 h 1274"/>
                  <a:gd name="T18" fmla="*/ 1198 w 1272"/>
                  <a:gd name="T19" fmla="*/ 936 h 1274"/>
                  <a:gd name="T20" fmla="*/ 1146 w 1272"/>
                  <a:gd name="T21" fmla="*/ 1016 h 1274"/>
                  <a:gd name="T22" fmla="*/ 1106 w 1272"/>
                  <a:gd name="T23" fmla="*/ 1068 h 1274"/>
                  <a:gd name="T24" fmla="*/ 1036 w 1272"/>
                  <a:gd name="T25" fmla="*/ 1134 h 1274"/>
                  <a:gd name="T26" fmla="*/ 958 w 1272"/>
                  <a:gd name="T27" fmla="*/ 1186 h 1274"/>
                  <a:gd name="T28" fmla="*/ 874 w 1272"/>
                  <a:gd name="T29" fmla="*/ 1228 h 1274"/>
                  <a:gd name="T30" fmla="*/ 786 w 1272"/>
                  <a:gd name="T31" fmla="*/ 1256 h 1274"/>
                  <a:gd name="T32" fmla="*/ 696 w 1272"/>
                  <a:gd name="T33" fmla="*/ 1272 h 1274"/>
                  <a:gd name="T34" fmla="*/ 604 w 1272"/>
                  <a:gd name="T35" fmla="*/ 1274 h 1274"/>
                  <a:gd name="T36" fmla="*/ 514 w 1272"/>
                  <a:gd name="T37" fmla="*/ 1262 h 1274"/>
                  <a:gd name="T38" fmla="*/ 424 w 1272"/>
                  <a:gd name="T39" fmla="*/ 1238 h 1274"/>
                  <a:gd name="T40" fmla="*/ 338 w 1272"/>
                  <a:gd name="T41" fmla="*/ 1200 h 1274"/>
                  <a:gd name="T42" fmla="*/ 256 w 1272"/>
                  <a:gd name="T43" fmla="*/ 1148 h 1274"/>
                  <a:gd name="T44" fmla="*/ 206 w 1272"/>
                  <a:gd name="T45" fmla="*/ 1106 h 1274"/>
                  <a:gd name="T46" fmla="*/ 140 w 1272"/>
                  <a:gd name="T47" fmla="*/ 1036 h 1274"/>
                  <a:gd name="T48" fmla="*/ 86 w 1272"/>
                  <a:gd name="T49" fmla="*/ 958 h 1274"/>
                  <a:gd name="T50" fmla="*/ 46 w 1272"/>
                  <a:gd name="T51" fmla="*/ 876 h 1274"/>
                  <a:gd name="T52" fmla="*/ 18 w 1272"/>
                  <a:gd name="T53" fmla="*/ 788 h 1274"/>
                  <a:gd name="T54" fmla="*/ 2 w 1272"/>
                  <a:gd name="T55" fmla="*/ 698 h 1274"/>
                  <a:gd name="T56" fmla="*/ 0 w 1272"/>
                  <a:gd name="T57" fmla="*/ 606 h 1274"/>
                  <a:gd name="T58" fmla="*/ 10 w 1272"/>
                  <a:gd name="T59" fmla="*/ 514 h 1274"/>
                  <a:gd name="T60" fmla="*/ 36 w 1272"/>
                  <a:gd name="T61" fmla="*/ 426 h 1274"/>
                  <a:gd name="T62" fmla="*/ 74 w 1272"/>
                  <a:gd name="T63" fmla="*/ 338 h 1274"/>
                  <a:gd name="T64" fmla="*/ 124 w 1272"/>
                  <a:gd name="T65" fmla="*/ 258 h 1274"/>
                  <a:gd name="T66" fmla="*/ 166 w 1272"/>
                  <a:gd name="T67" fmla="*/ 208 h 1274"/>
                  <a:gd name="T68" fmla="*/ 236 w 1272"/>
                  <a:gd name="T69" fmla="*/ 142 h 1274"/>
                  <a:gd name="T70" fmla="*/ 314 w 1272"/>
                  <a:gd name="T71" fmla="*/ 88 h 1274"/>
                  <a:gd name="T72" fmla="*/ 398 w 1272"/>
                  <a:gd name="T73" fmla="*/ 46 h 1274"/>
                  <a:gd name="T74" fmla="*/ 486 w 1272"/>
                  <a:gd name="T75" fmla="*/ 18 h 1274"/>
                  <a:gd name="T76" fmla="*/ 576 w 1272"/>
                  <a:gd name="T77" fmla="*/ 4 h 1274"/>
                  <a:gd name="T78" fmla="*/ 668 w 1272"/>
                  <a:gd name="T79" fmla="*/ 2 h 1274"/>
                  <a:gd name="T80" fmla="*/ 758 w 1272"/>
                  <a:gd name="T81" fmla="*/ 12 h 1274"/>
                  <a:gd name="T82" fmla="*/ 848 w 1272"/>
                  <a:gd name="T83" fmla="*/ 36 h 1274"/>
                  <a:gd name="T84" fmla="*/ 934 w 1272"/>
                  <a:gd name="T85" fmla="*/ 74 h 1274"/>
                  <a:gd name="T86" fmla="*/ 1016 w 1272"/>
                  <a:gd name="T87" fmla="*/ 126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2" h="1274">
                    <a:moveTo>
                      <a:pt x="1042" y="146"/>
                    </a:moveTo>
                    <a:lnTo>
                      <a:pt x="1042" y="146"/>
                    </a:lnTo>
                    <a:lnTo>
                      <a:pt x="1066" y="168"/>
                    </a:lnTo>
                    <a:lnTo>
                      <a:pt x="1090" y="190"/>
                    </a:lnTo>
                    <a:lnTo>
                      <a:pt x="1112" y="214"/>
                    </a:lnTo>
                    <a:lnTo>
                      <a:pt x="1132" y="238"/>
                    </a:lnTo>
                    <a:lnTo>
                      <a:pt x="1152" y="264"/>
                    </a:lnTo>
                    <a:lnTo>
                      <a:pt x="1170" y="290"/>
                    </a:lnTo>
                    <a:lnTo>
                      <a:pt x="1186" y="316"/>
                    </a:lnTo>
                    <a:lnTo>
                      <a:pt x="1200" y="342"/>
                    </a:lnTo>
                    <a:lnTo>
                      <a:pt x="1214" y="370"/>
                    </a:lnTo>
                    <a:lnTo>
                      <a:pt x="1226" y="398"/>
                    </a:lnTo>
                    <a:lnTo>
                      <a:pt x="1238" y="428"/>
                    </a:lnTo>
                    <a:lnTo>
                      <a:pt x="1246" y="456"/>
                    </a:lnTo>
                    <a:lnTo>
                      <a:pt x="1254" y="486"/>
                    </a:lnTo>
                    <a:lnTo>
                      <a:pt x="1260" y="516"/>
                    </a:lnTo>
                    <a:lnTo>
                      <a:pt x="1266" y="546"/>
                    </a:lnTo>
                    <a:lnTo>
                      <a:pt x="1270" y="576"/>
                    </a:lnTo>
                    <a:lnTo>
                      <a:pt x="1272" y="608"/>
                    </a:lnTo>
                    <a:lnTo>
                      <a:pt x="1272" y="638"/>
                    </a:lnTo>
                    <a:lnTo>
                      <a:pt x="1272" y="668"/>
                    </a:lnTo>
                    <a:lnTo>
                      <a:pt x="1270" y="700"/>
                    </a:lnTo>
                    <a:lnTo>
                      <a:pt x="1266" y="730"/>
                    </a:lnTo>
                    <a:lnTo>
                      <a:pt x="1260" y="760"/>
                    </a:lnTo>
                    <a:lnTo>
                      <a:pt x="1254" y="790"/>
                    </a:lnTo>
                    <a:lnTo>
                      <a:pt x="1246" y="820"/>
                    </a:lnTo>
                    <a:lnTo>
                      <a:pt x="1236" y="850"/>
                    </a:lnTo>
                    <a:lnTo>
                      <a:pt x="1226" y="878"/>
                    </a:lnTo>
                    <a:lnTo>
                      <a:pt x="1212" y="908"/>
                    </a:lnTo>
                    <a:lnTo>
                      <a:pt x="1198" y="936"/>
                    </a:lnTo>
                    <a:lnTo>
                      <a:pt x="1182" y="964"/>
                    </a:lnTo>
                    <a:lnTo>
                      <a:pt x="1166" y="990"/>
                    </a:lnTo>
                    <a:lnTo>
                      <a:pt x="1146" y="1016"/>
                    </a:lnTo>
                    <a:lnTo>
                      <a:pt x="1126" y="1042"/>
                    </a:lnTo>
                    <a:lnTo>
                      <a:pt x="1126" y="1042"/>
                    </a:lnTo>
                    <a:lnTo>
                      <a:pt x="1106" y="1068"/>
                    </a:lnTo>
                    <a:lnTo>
                      <a:pt x="1082" y="1090"/>
                    </a:lnTo>
                    <a:lnTo>
                      <a:pt x="1060" y="1112"/>
                    </a:lnTo>
                    <a:lnTo>
                      <a:pt x="1036" y="1134"/>
                    </a:lnTo>
                    <a:lnTo>
                      <a:pt x="1010" y="1152"/>
                    </a:lnTo>
                    <a:lnTo>
                      <a:pt x="984" y="1170"/>
                    </a:lnTo>
                    <a:lnTo>
                      <a:pt x="958" y="1186"/>
                    </a:lnTo>
                    <a:lnTo>
                      <a:pt x="930" y="1202"/>
                    </a:lnTo>
                    <a:lnTo>
                      <a:pt x="902" y="1216"/>
                    </a:lnTo>
                    <a:lnTo>
                      <a:pt x="874" y="1228"/>
                    </a:lnTo>
                    <a:lnTo>
                      <a:pt x="846" y="1238"/>
                    </a:lnTo>
                    <a:lnTo>
                      <a:pt x="816" y="1248"/>
                    </a:lnTo>
                    <a:lnTo>
                      <a:pt x="786" y="1256"/>
                    </a:lnTo>
                    <a:lnTo>
                      <a:pt x="756" y="1262"/>
                    </a:lnTo>
                    <a:lnTo>
                      <a:pt x="726" y="1268"/>
                    </a:lnTo>
                    <a:lnTo>
                      <a:pt x="696" y="1272"/>
                    </a:lnTo>
                    <a:lnTo>
                      <a:pt x="666" y="1274"/>
                    </a:lnTo>
                    <a:lnTo>
                      <a:pt x="636" y="1274"/>
                    </a:lnTo>
                    <a:lnTo>
                      <a:pt x="604" y="1274"/>
                    </a:lnTo>
                    <a:lnTo>
                      <a:pt x="574" y="1270"/>
                    </a:lnTo>
                    <a:lnTo>
                      <a:pt x="544" y="1268"/>
                    </a:lnTo>
                    <a:lnTo>
                      <a:pt x="514" y="1262"/>
                    </a:lnTo>
                    <a:lnTo>
                      <a:pt x="484" y="1256"/>
                    </a:lnTo>
                    <a:lnTo>
                      <a:pt x="454" y="1248"/>
                    </a:lnTo>
                    <a:lnTo>
                      <a:pt x="424" y="1238"/>
                    </a:lnTo>
                    <a:lnTo>
                      <a:pt x="394" y="1226"/>
                    </a:lnTo>
                    <a:lnTo>
                      <a:pt x="366" y="1214"/>
                    </a:lnTo>
                    <a:lnTo>
                      <a:pt x="338" y="1200"/>
                    </a:lnTo>
                    <a:lnTo>
                      <a:pt x="310" y="1184"/>
                    </a:lnTo>
                    <a:lnTo>
                      <a:pt x="282" y="1166"/>
                    </a:lnTo>
                    <a:lnTo>
                      <a:pt x="256" y="1148"/>
                    </a:lnTo>
                    <a:lnTo>
                      <a:pt x="230" y="1128"/>
                    </a:lnTo>
                    <a:lnTo>
                      <a:pt x="230" y="1128"/>
                    </a:lnTo>
                    <a:lnTo>
                      <a:pt x="206" y="1106"/>
                    </a:lnTo>
                    <a:lnTo>
                      <a:pt x="182" y="1084"/>
                    </a:lnTo>
                    <a:lnTo>
                      <a:pt x="160" y="1060"/>
                    </a:lnTo>
                    <a:lnTo>
                      <a:pt x="140" y="1036"/>
                    </a:lnTo>
                    <a:lnTo>
                      <a:pt x="120" y="1012"/>
                    </a:lnTo>
                    <a:lnTo>
                      <a:pt x="102" y="986"/>
                    </a:lnTo>
                    <a:lnTo>
                      <a:pt x="86" y="958"/>
                    </a:lnTo>
                    <a:lnTo>
                      <a:pt x="72" y="932"/>
                    </a:lnTo>
                    <a:lnTo>
                      <a:pt x="58" y="904"/>
                    </a:lnTo>
                    <a:lnTo>
                      <a:pt x="46" y="876"/>
                    </a:lnTo>
                    <a:lnTo>
                      <a:pt x="34" y="846"/>
                    </a:lnTo>
                    <a:lnTo>
                      <a:pt x="26" y="818"/>
                    </a:lnTo>
                    <a:lnTo>
                      <a:pt x="18" y="788"/>
                    </a:lnTo>
                    <a:lnTo>
                      <a:pt x="10" y="758"/>
                    </a:lnTo>
                    <a:lnTo>
                      <a:pt x="6" y="728"/>
                    </a:lnTo>
                    <a:lnTo>
                      <a:pt x="2" y="698"/>
                    </a:lnTo>
                    <a:lnTo>
                      <a:pt x="0" y="668"/>
                    </a:lnTo>
                    <a:lnTo>
                      <a:pt x="0" y="636"/>
                    </a:lnTo>
                    <a:lnTo>
                      <a:pt x="0" y="606"/>
                    </a:lnTo>
                    <a:lnTo>
                      <a:pt x="2" y="576"/>
                    </a:lnTo>
                    <a:lnTo>
                      <a:pt x="6" y="544"/>
                    </a:lnTo>
                    <a:lnTo>
                      <a:pt x="10" y="514"/>
                    </a:lnTo>
                    <a:lnTo>
                      <a:pt x="18" y="484"/>
                    </a:lnTo>
                    <a:lnTo>
                      <a:pt x="26" y="454"/>
                    </a:lnTo>
                    <a:lnTo>
                      <a:pt x="36" y="426"/>
                    </a:lnTo>
                    <a:lnTo>
                      <a:pt x="46" y="396"/>
                    </a:lnTo>
                    <a:lnTo>
                      <a:pt x="60" y="368"/>
                    </a:lnTo>
                    <a:lnTo>
                      <a:pt x="74" y="338"/>
                    </a:lnTo>
                    <a:lnTo>
                      <a:pt x="88" y="312"/>
                    </a:lnTo>
                    <a:lnTo>
                      <a:pt x="106" y="284"/>
                    </a:lnTo>
                    <a:lnTo>
                      <a:pt x="124" y="258"/>
                    </a:lnTo>
                    <a:lnTo>
                      <a:pt x="146" y="232"/>
                    </a:lnTo>
                    <a:lnTo>
                      <a:pt x="146" y="232"/>
                    </a:lnTo>
                    <a:lnTo>
                      <a:pt x="166" y="208"/>
                    </a:lnTo>
                    <a:lnTo>
                      <a:pt x="190" y="184"/>
                    </a:lnTo>
                    <a:lnTo>
                      <a:pt x="212" y="162"/>
                    </a:lnTo>
                    <a:lnTo>
                      <a:pt x="236" y="142"/>
                    </a:lnTo>
                    <a:lnTo>
                      <a:pt x="262" y="122"/>
                    </a:lnTo>
                    <a:lnTo>
                      <a:pt x="288" y="104"/>
                    </a:lnTo>
                    <a:lnTo>
                      <a:pt x="314" y="88"/>
                    </a:lnTo>
                    <a:lnTo>
                      <a:pt x="342" y="72"/>
                    </a:lnTo>
                    <a:lnTo>
                      <a:pt x="370" y="58"/>
                    </a:lnTo>
                    <a:lnTo>
                      <a:pt x="398" y="46"/>
                    </a:lnTo>
                    <a:lnTo>
                      <a:pt x="426" y="36"/>
                    </a:lnTo>
                    <a:lnTo>
                      <a:pt x="456" y="26"/>
                    </a:lnTo>
                    <a:lnTo>
                      <a:pt x="486" y="18"/>
                    </a:lnTo>
                    <a:lnTo>
                      <a:pt x="516" y="12"/>
                    </a:lnTo>
                    <a:lnTo>
                      <a:pt x="546" y="8"/>
                    </a:lnTo>
                    <a:lnTo>
                      <a:pt x="576" y="4"/>
                    </a:lnTo>
                    <a:lnTo>
                      <a:pt x="606" y="2"/>
                    </a:lnTo>
                    <a:lnTo>
                      <a:pt x="636" y="0"/>
                    </a:lnTo>
                    <a:lnTo>
                      <a:pt x="668" y="2"/>
                    </a:lnTo>
                    <a:lnTo>
                      <a:pt x="698" y="4"/>
                    </a:lnTo>
                    <a:lnTo>
                      <a:pt x="728" y="8"/>
                    </a:lnTo>
                    <a:lnTo>
                      <a:pt x="758" y="12"/>
                    </a:lnTo>
                    <a:lnTo>
                      <a:pt x="788" y="18"/>
                    </a:lnTo>
                    <a:lnTo>
                      <a:pt x="818" y="28"/>
                    </a:lnTo>
                    <a:lnTo>
                      <a:pt x="848" y="36"/>
                    </a:lnTo>
                    <a:lnTo>
                      <a:pt x="878" y="48"/>
                    </a:lnTo>
                    <a:lnTo>
                      <a:pt x="906" y="60"/>
                    </a:lnTo>
                    <a:lnTo>
                      <a:pt x="934" y="74"/>
                    </a:lnTo>
                    <a:lnTo>
                      <a:pt x="962" y="90"/>
                    </a:lnTo>
                    <a:lnTo>
                      <a:pt x="990" y="108"/>
                    </a:lnTo>
                    <a:lnTo>
                      <a:pt x="1016" y="126"/>
                    </a:lnTo>
                    <a:lnTo>
                      <a:pt x="1042" y="146"/>
                    </a:lnTo>
                    <a:lnTo>
                      <a:pt x="1042" y="146"/>
                    </a:lnTo>
                    <a:close/>
                  </a:path>
                </a:pathLst>
              </a:custGeom>
              <a:solidFill>
                <a:schemeClr val="accent2"/>
              </a:solidFill>
              <a:ln>
                <a:noFill/>
              </a:ln>
            </p:spPr>
            <p:txBody>
              <a:bodyPr vert="horz" wrap="square" lIns="91440" tIns="45720" rIns="91440" bIns="45720" numCol="1" anchor="t" anchorCtr="0" compatLnSpc="1"/>
              <a:lstStyle/>
              <a:p>
                <a:endParaRPr lang="id-ID"/>
              </a:p>
            </p:txBody>
          </p:sp>
          <p:sp>
            <p:nvSpPr>
              <p:cNvPr id="126" name="îsḷíḑe"/>
              <p:cNvSpPr/>
              <p:nvPr>
                <p:custDataLst>
                  <p:tags r:id="rId2"/>
                </p:custDataLst>
              </p:nvPr>
            </p:nvSpPr>
            <p:spPr>
              <a:xfrm>
                <a:off x="1044066" y="1996395"/>
                <a:ext cx="547632" cy="510646"/>
              </a:xfrm>
              <a:custGeom>
                <a:avLst/>
                <a:gdLst>
                  <a:gd name="T0" fmla="*/ 3958 w 4630"/>
                  <a:gd name="T1" fmla="*/ 1193 h 4324"/>
                  <a:gd name="T2" fmla="*/ 3772 w 4630"/>
                  <a:gd name="T3" fmla="*/ 1223 h 4324"/>
                  <a:gd name="T4" fmla="*/ 3358 w 4630"/>
                  <a:gd name="T5" fmla="*/ 1778 h 4324"/>
                  <a:gd name="T6" fmla="*/ 3055 w 4630"/>
                  <a:gd name="T7" fmla="*/ 1876 h 4324"/>
                  <a:gd name="T8" fmla="*/ 2515 w 4630"/>
                  <a:gd name="T9" fmla="*/ 1484 h 4324"/>
                  <a:gd name="T10" fmla="*/ 2515 w 4630"/>
                  <a:gd name="T11" fmla="*/ 1166 h 4324"/>
                  <a:gd name="T12" fmla="*/ 2915 w 4630"/>
                  <a:gd name="T13" fmla="*/ 600 h 4324"/>
                  <a:gd name="T14" fmla="*/ 2315 w 4630"/>
                  <a:gd name="T15" fmla="*/ 0 h 4324"/>
                  <a:gd name="T16" fmla="*/ 1715 w 4630"/>
                  <a:gd name="T17" fmla="*/ 600 h 4324"/>
                  <a:gd name="T18" fmla="*/ 2115 w 4630"/>
                  <a:gd name="T19" fmla="*/ 1166 h 4324"/>
                  <a:gd name="T20" fmla="*/ 2115 w 4630"/>
                  <a:gd name="T21" fmla="*/ 1484 h 4324"/>
                  <a:gd name="T22" fmla="*/ 1575 w 4630"/>
                  <a:gd name="T23" fmla="*/ 1877 h 4324"/>
                  <a:gd name="T24" fmla="*/ 1273 w 4630"/>
                  <a:gd name="T25" fmla="*/ 1778 h 4324"/>
                  <a:gd name="T26" fmla="*/ 858 w 4630"/>
                  <a:gd name="T27" fmla="*/ 1223 h 4324"/>
                  <a:gd name="T28" fmla="*/ 673 w 4630"/>
                  <a:gd name="T29" fmla="*/ 1193 h 4324"/>
                  <a:gd name="T30" fmla="*/ 102 w 4630"/>
                  <a:gd name="T31" fmla="*/ 1608 h 4324"/>
                  <a:gd name="T32" fmla="*/ 488 w 4630"/>
                  <a:gd name="T33" fmla="*/ 2364 h 4324"/>
                  <a:gd name="T34" fmla="*/ 673 w 4630"/>
                  <a:gd name="T35" fmla="*/ 2394 h 4324"/>
                  <a:gd name="T36" fmla="*/ 1149 w 4630"/>
                  <a:gd name="T37" fmla="*/ 2159 h 4324"/>
                  <a:gd name="T38" fmla="*/ 1452 w 4630"/>
                  <a:gd name="T39" fmla="*/ 2258 h 4324"/>
                  <a:gd name="T40" fmla="*/ 1449 w 4630"/>
                  <a:gd name="T41" fmla="*/ 2327 h 4324"/>
                  <a:gd name="T42" fmla="*/ 1658 w 4630"/>
                  <a:gd name="T43" fmla="*/ 2891 h 4324"/>
                  <a:gd name="T44" fmla="*/ 1471 w 4630"/>
                  <a:gd name="T45" fmla="*/ 3149 h 4324"/>
                  <a:gd name="T46" fmla="*/ 1301 w 4630"/>
                  <a:gd name="T47" fmla="*/ 3124 h 4324"/>
                  <a:gd name="T48" fmla="*/ 815 w 4630"/>
                  <a:gd name="T49" fmla="*/ 3371 h 4324"/>
                  <a:gd name="T50" fmla="*/ 948 w 4630"/>
                  <a:gd name="T51" fmla="*/ 4209 h 4324"/>
                  <a:gd name="T52" fmla="*/ 1300 w 4630"/>
                  <a:gd name="T53" fmla="*/ 4324 h 4324"/>
                  <a:gd name="T54" fmla="*/ 1786 w 4630"/>
                  <a:gd name="T55" fmla="*/ 4077 h 4324"/>
                  <a:gd name="T56" fmla="*/ 1795 w 4630"/>
                  <a:gd name="T57" fmla="*/ 3384 h 4324"/>
                  <a:gd name="T58" fmla="*/ 1981 w 4630"/>
                  <a:gd name="T59" fmla="*/ 3127 h 4324"/>
                  <a:gd name="T60" fmla="*/ 2315 w 4630"/>
                  <a:gd name="T61" fmla="*/ 3194 h 4324"/>
                  <a:gd name="T62" fmla="*/ 2647 w 4630"/>
                  <a:gd name="T63" fmla="*/ 3127 h 4324"/>
                  <a:gd name="T64" fmla="*/ 2836 w 4630"/>
                  <a:gd name="T65" fmla="*/ 3385 h 4324"/>
                  <a:gd name="T66" fmla="*/ 2845 w 4630"/>
                  <a:gd name="T67" fmla="*/ 4077 h 4324"/>
                  <a:gd name="T68" fmla="*/ 3331 w 4630"/>
                  <a:gd name="T69" fmla="*/ 4324 h 4324"/>
                  <a:gd name="T70" fmla="*/ 3331 w 4630"/>
                  <a:gd name="T71" fmla="*/ 4324 h 4324"/>
                  <a:gd name="T72" fmla="*/ 3683 w 4630"/>
                  <a:gd name="T73" fmla="*/ 4209 h 4324"/>
                  <a:gd name="T74" fmla="*/ 3816 w 4630"/>
                  <a:gd name="T75" fmla="*/ 3371 h 4324"/>
                  <a:gd name="T76" fmla="*/ 3330 w 4630"/>
                  <a:gd name="T77" fmla="*/ 3124 h 4324"/>
                  <a:gd name="T78" fmla="*/ 3159 w 4630"/>
                  <a:gd name="T79" fmla="*/ 3149 h 4324"/>
                  <a:gd name="T80" fmla="*/ 2971 w 4630"/>
                  <a:gd name="T81" fmla="*/ 2893 h 4324"/>
                  <a:gd name="T82" fmla="*/ 3182 w 4630"/>
                  <a:gd name="T83" fmla="*/ 2327 h 4324"/>
                  <a:gd name="T84" fmla="*/ 3179 w 4630"/>
                  <a:gd name="T85" fmla="*/ 2257 h 4324"/>
                  <a:gd name="T86" fmla="*/ 3481 w 4630"/>
                  <a:gd name="T87" fmla="*/ 2159 h 4324"/>
                  <a:gd name="T88" fmla="*/ 3957 w 4630"/>
                  <a:gd name="T89" fmla="*/ 2394 h 4324"/>
                  <a:gd name="T90" fmla="*/ 3957 w 4630"/>
                  <a:gd name="T91" fmla="*/ 2394 h 4324"/>
                  <a:gd name="T92" fmla="*/ 4143 w 4630"/>
                  <a:gd name="T93" fmla="*/ 2364 h 4324"/>
                  <a:gd name="T94" fmla="*/ 4528 w 4630"/>
                  <a:gd name="T95" fmla="*/ 1608 h 4324"/>
                  <a:gd name="T96" fmla="*/ 3958 w 4630"/>
                  <a:gd name="T97" fmla="*/ 1193 h 4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30" h="4324">
                    <a:moveTo>
                      <a:pt x="3958" y="1193"/>
                    </a:moveTo>
                    <a:cubicBezTo>
                      <a:pt x="3895" y="1193"/>
                      <a:pt x="3832" y="1203"/>
                      <a:pt x="3772" y="1223"/>
                    </a:cubicBezTo>
                    <a:cubicBezTo>
                      <a:pt x="3524" y="1304"/>
                      <a:pt x="3364" y="1531"/>
                      <a:pt x="3358" y="1778"/>
                    </a:cubicBezTo>
                    <a:lnTo>
                      <a:pt x="3055" y="1876"/>
                    </a:lnTo>
                    <a:cubicBezTo>
                      <a:pt x="2936" y="1682"/>
                      <a:pt x="2743" y="1538"/>
                      <a:pt x="2515" y="1484"/>
                    </a:cubicBezTo>
                    <a:lnTo>
                      <a:pt x="2515" y="1166"/>
                    </a:lnTo>
                    <a:cubicBezTo>
                      <a:pt x="2748" y="1083"/>
                      <a:pt x="2915" y="861"/>
                      <a:pt x="2915" y="600"/>
                    </a:cubicBezTo>
                    <a:cubicBezTo>
                      <a:pt x="2915" y="270"/>
                      <a:pt x="2646" y="0"/>
                      <a:pt x="2315" y="0"/>
                    </a:cubicBezTo>
                    <a:cubicBezTo>
                      <a:pt x="1984" y="0"/>
                      <a:pt x="1715" y="270"/>
                      <a:pt x="1715" y="600"/>
                    </a:cubicBezTo>
                    <a:cubicBezTo>
                      <a:pt x="1715" y="861"/>
                      <a:pt x="1882" y="1083"/>
                      <a:pt x="2115" y="1166"/>
                    </a:cubicBezTo>
                    <a:lnTo>
                      <a:pt x="2115" y="1484"/>
                    </a:lnTo>
                    <a:cubicBezTo>
                      <a:pt x="1887" y="1538"/>
                      <a:pt x="1694" y="1682"/>
                      <a:pt x="1575" y="1877"/>
                    </a:cubicBezTo>
                    <a:lnTo>
                      <a:pt x="1273" y="1778"/>
                    </a:lnTo>
                    <a:cubicBezTo>
                      <a:pt x="1266" y="1531"/>
                      <a:pt x="1107" y="1304"/>
                      <a:pt x="858" y="1223"/>
                    </a:cubicBezTo>
                    <a:cubicBezTo>
                      <a:pt x="798" y="1203"/>
                      <a:pt x="736" y="1193"/>
                      <a:pt x="673" y="1193"/>
                    </a:cubicBezTo>
                    <a:cubicBezTo>
                      <a:pt x="412" y="1193"/>
                      <a:pt x="183" y="1360"/>
                      <a:pt x="102" y="1608"/>
                    </a:cubicBezTo>
                    <a:cubicBezTo>
                      <a:pt x="0" y="1923"/>
                      <a:pt x="173" y="2262"/>
                      <a:pt x="488" y="2364"/>
                    </a:cubicBezTo>
                    <a:cubicBezTo>
                      <a:pt x="548" y="2384"/>
                      <a:pt x="610" y="2394"/>
                      <a:pt x="673" y="2394"/>
                    </a:cubicBezTo>
                    <a:cubicBezTo>
                      <a:pt x="864" y="2394"/>
                      <a:pt x="1038" y="2304"/>
                      <a:pt x="1149" y="2159"/>
                    </a:cubicBezTo>
                    <a:lnTo>
                      <a:pt x="1452" y="2258"/>
                    </a:lnTo>
                    <a:cubicBezTo>
                      <a:pt x="1450" y="2281"/>
                      <a:pt x="1449" y="2304"/>
                      <a:pt x="1449" y="2327"/>
                    </a:cubicBezTo>
                    <a:cubicBezTo>
                      <a:pt x="1449" y="2542"/>
                      <a:pt x="1528" y="2740"/>
                      <a:pt x="1658" y="2891"/>
                    </a:cubicBezTo>
                    <a:lnTo>
                      <a:pt x="1471" y="3149"/>
                    </a:lnTo>
                    <a:cubicBezTo>
                      <a:pt x="1416" y="3132"/>
                      <a:pt x="1359" y="3124"/>
                      <a:pt x="1301" y="3124"/>
                    </a:cubicBezTo>
                    <a:cubicBezTo>
                      <a:pt x="1109" y="3124"/>
                      <a:pt x="927" y="3216"/>
                      <a:pt x="815" y="3371"/>
                    </a:cubicBezTo>
                    <a:cubicBezTo>
                      <a:pt x="620" y="3639"/>
                      <a:pt x="680" y="4015"/>
                      <a:pt x="948" y="4209"/>
                    </a:cubicBezTo>
                    <a:cubicBezTo>
                      <a:pt x="1051" y="4284"/>
                      <a:pt x="1173" y="4324"/>
                      <a:pt x="1300" y="4324"/>
                    </a:cubicBezTo>
                    <a:cubicBezTo>
                      <a:pt x="1492" y="4324"/>
                      <a:pt x="1673" y="4232"/>
                      <a:pt x="1786" y="4077"/>
                    </a:cubicBezTo>
                    <a:cubicBezTo>
                      <a:pt x="1939" y="3866"/>
                      <a:pt x="1934" y="3588"/>
                      <a:pt x="1795" y="3384"/>
                    </a:cubicBezTo>
                    <a:lnTo>
                      <a:pt x="1981" y="3127"/>
                    </a:lnTo>
                    <a:cubicBezTo>
                      <a:pt x="2084" y="3170"/>
                      <a:pt x="2197" y="3194"/>
                      <a:pt x="2315" y="3194"/>
                    </a:cubicBezTo>
                    <a:cubicBezTo>
                      <a:pt x="2433" y="3194"/>
                      <a:pt x="2545" y="3170"/>
                      <a:pt x="2647" y="3127"/>
                    </a:cubicBezTo>
                    <a:lnTo>
                      <a:pt x="2836" y="3385"/>
                    </a:lnTo>
                    <a:cubicBezTo>
                      <a:pt x="2696" y="3588"/>
                      <a:pt x="2692" y="3866"/>
                      <a:pt x="2845" y="4077"/>
                    </a:cubicBezTo>
                    <a:cubicBezTo>
                      <a:pt x="2957" y="4232"/>
                      <a:pt x="3139" y="4324"/>
                      <a:pt x="3331" y="4324"/>
                    </a:cubicBezTo>
                    <a:lnTo>
                      <a:pt x="3331" y="4324"/>
                    </a:lnTo>
                    <a:cubicBezTo>
                      <a:pt x="3458" y="4324"/>
                      <a:pt x="3580" y="4284"/>
                      <a:pt x="3683" y="4209"/>
                    </a:cubicBezTo>
                    <a:cubicBezTo>
                      <a:pt x="3951" y="4015"/>
                      <a:pt x="4010" y="3639"/>
                      <a:pt x="3816" y="3371"/>
                    </a:cubicBezTo>
                    <a:cubicBezTo>
                      <a:pt x="3703" y="3216"/>
                      <a:pt x="3522" y="3124"/>
                      <a:pt x="3330" y="3124"/>
                    </a:cubicBezTo>
                    <a:cubicBezTo>
                      <a:pt x="3271" y="3124"/>
                      <a:pt x="3214" y="3133"/>
                      <a:pt x="3159" y="3149"/>
                    </a:cubicBezTo>
                    <a:lnTo>
                      <a:pt x="2971" y="2893"/>
                    </a:lnTo>
                    <a:cubicBezTo>
                      <a:pt x="3102" y="2741"/>
                      <a:pt x="3182" y="2543"/>
                      <a:pt x="3182" y="2327"/>
                    </a:cubicBezTo>
                    <a:cubicBezTo>
                      <a:pt x="3182" y="2303"/>
                      <a:pt x="3181" y="2280"/>
                      <a:pt x="3179" y="2257"/>
                    </a:cubicBezTo>
                    <a:lnTo>
                      <a:pt x="3481" y="2159"/>
                    </a:lnTo>
                    <a:cubicBezTo>
                      <a:pt x="3592" y="2304"/>
                      <a:pt x="3766" y="2394"/>
                      <a:pt x="3957" y="2394"/>
                    </a:cubicBezTo>
                    <a:lnTo>
                      <a:pt x="3957" y="2394"/>
                    </a:lnTo>
                    <a:cubicBezTo>
                      <a:pt x="4020" y="2394"/>
                      <a:pt x="4083" y="2384"/>
                      <a:pt x="4143" y="2364"/>
                    </a:cubicBezTo>
                    <a:cubicBezTo>
                      <a:pt x="4458" y="2262"/>
                      <a:pt x="4630" y="1923"/>
                      <a:pt x="4528" y="1608"/>
                    </a:cubicBezTo>
                    <a:cubicBezTo>
                      <a:pt x="4447" y="1360"/>
                      <a:pt x="4218" y="1193"/>
                      <a:pt x="3958" y="1193"/>
                    </a:cubicBezTo>
                    <a:close/>
                  </a:path>
                </a:pathLst>
              </a:custGeom>
              <a:solidFill>
                <a:schemeClr val="bg1"/>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defRPr>
                </a:pPr>
                <a:endParaRPr sz="1500">
                  <a:solidFill>
                    <a:srgbClr val="FFFFFF"/>
                  </a:solidFill>
                  <a:effectLst>
                    <a:outerShdw blurRad="38100" dist="12700" dir="5400000" rotWithShape="0">
                      <a:srgbClr val="000000">
                        <a:alpha val="50000"/>
                      </a:srgbClr>
                    </a:outerShdw>
                  </a:effectLst>
                </a:endParaRPr>
              </a:p>
            </p:txBody>
          </p:sp>
        </p:grpSp>
        <p:grpSp>
          <p:nvGrpSpPr>
            <p:cNvPr id="122" name="í$ļïde"/>
            <p:cNvGrpSpPr/>
            <p:nvPr/>
          </p:nvGrpSpPr>
          <p:grpSpPr>
            <a:xfrm>
              <a:off x="1217894" y="2068853"/>
              <a:ext cx="8251946" cy="1070052"/>
              <a:chOff x="664068" y="2679898"/>
              <a:chExt cx="8251946" cy="1070052"/>
            </a:xfrm>
          </p:grpSpPr>
          <p:sp>
            <p:nvSpPr>
              <p:cNvPr id="123" name="isḻiḍè"/>
              <p:cNvSpPr/>
              <p:nvPr>
                <p:custDataLst>
                  <p:tags r:id="rId3"/>
                </p:custDataLst>
              </p:nvPr>
            </p:nvSpPr>
            <p:spPr bwMode="auto">
              <a:xfrm>
                <a:off x="664068" y="3057115"/>
                <a:ext cx="8251946" cy="69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tabLst>
                    <a:tab pos="227965" algn="l"/>
                  </a:tabLst>
                  <a:defRPr/>
                </a:pPr>
                <a:r>
                  <a:rPr lang="en-US" altLang="zh-CN" sz="1400" dirty="0">
                    <a:latin typeface="微软雅黑" panose="020B0503020204020204" charset="-122"/>
                    <a:ea typeface="微软雅黑" panose="020B0503020204020204" charset="-122"/>
                  </a:rPr>
                  <a:t>    </a:t>
                </a:r>
                <a:r>
                  <a:rPr lang="zh-CN" altLang="en-US" sz="1400" dirty="0">
                    <a:latin typeface="微软雅黑" panose="020B0503020204020204" charset="-122"/>
                    <a:ea typeface="微软雅黑" panose="020B0503020204020204" charset="-122"/>
                  </a:rPr>
                  <a:t>新疆中新建数字发展有限责任公司作为兵团所属骨干企业，熟悉国企采购业务及监管要求，具备成熟的运营团队与资源整合能力。恳请贵委批准由中新建作为平台唯一运营主体，负责平台日常运维、供应商管理、数据安全保障及后续功能迭代升级等工作。</a:t>
                </a:r>
                <a:endParaRPr lang="zh-CN" altLang="en-US" sz="1400" dirty="0">
                  <a:latin typeface="微软雅黑" panose="020B0503020204020204" charset="-122"/>
                  <a:ea typeface="微软雅黑" panose="020B0503020204020204" charset="-122"/>
                </a:endParaRPr>
              </a:p>
              <a:p>
                <a:pPr algn="just">
                  <a:lnSpc>
                    <a:spcPct val="150000"/>
                  </a:lnSpc>
                  <a:tabLst>
                    <a:tab pos="227965" algn="l"/>
                  </a:tabLst>
                  <a:defRPr/>
                </a:pPr>
                <a:endParaRPr lang="zh-CN" altLang="en-US" sz="1400" dirty="0">
                  <a:latin typeface="微软雅黑" panose="020B0503020204020204" charset="-122"/>
                  <a:ea typeface="微软雅黑" panose="020B0503020204020204" charset="-122"/>
                </a:endParaRPr>
              </a:p>
            </p:txBody>
          </p:sp>
          <p:sp>
            <p:nvSpPr>
              <p:cNvPr id="124" name="ïşlïḓé"/>
              <p:cNvSpPr txBox="1"/>
              <p:nvPr>
                <p:custDataLst>
                  <p:tags r:id="rId4"/>
                </p:custDataLst>
              </p:nvPr>
            </p:nvSpPr>
            <p:spPr bwMode="auto">
              <a:xfrm>
                <a:off x="701279" y="2679898"/>
                <a:ext cx="5376847"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pPr>
                <a:r>
                  <a:rPr lang="zh-CN" altLang="en-US" sz="2000" b="1" dirty="0"/>
                  <a:t>恳请批准由中新建负责运营</a:t>
                </a:r>
                <a:endParaRPr lang="zh-CN" altLang="en-US" sz="2000" b="1" dirty="0"/>
              </a:p>
            </p:txBody>
          </p:sp>
        </p:grpSp>
      </p:grpSp>
      <p:sp>
        <p:nvSpPr>
          <p:cNvPr id="2" name="i$ļíḓê"/>
          <p:cNvSpPr/>
          <p:nvPr>
            <p:custDataLst>
              <p:tags r:id="rId5"/>
            </p:custDataLst>
          </p:nvPr>
        </p:nvSpPr>
        <p:spPr bwMode="auto">
          <a:xfrm>
            <a:off x="517163" y="5505813"/>
            <a:ext cx="552650" cy="553518"/>
          </a:xfrm>
          <a:custGeom>
            <a:avLst/>
            <a:gdLst>
              <a:gd name="T0" fmla="*/ 1066 w 1272"/>
              <a:gd name="T1" fmla="*/ 168 h 1274"/>
              <a:gd name="T2" fmla="*/ 1132 w 1272"/>
              <a:gd name="T3" fmla="*/ 238 h 1274"/>
              <a:gd name="T4" fmla="*/ 1186 w 1272"/>
              <a:gd name="T5" fmla="*/ 316 h 1274"/>
              <a:gd name="T6" fmla="*/ 1226 w 1272"/>
              <a:gd name="T7" fmla="*/ 398 h 1274"/>
              <a:gd name="T8" fmla="*/ 1254 w 1272"/>
              <a:gd name="T9" fmla="*/ 486 h 1274"/>
              <a:gd name="T10" fmla="*/ 1270 w 1272"/>
              <a:gd name="T11" fmla="*/ 576 h 1274"/>
              <a:gd name="T12" fmla="*/ 1272 w 1272"/>
              <a:gd name="T13" fmla="*/ 668 h 1274"/>
              <a:gd name="T14" fmla="*/ 1260 w 1272"/>
              <a:gd name="T15" fmla="*/ 760 h 1274"/>
              <a:gd name="T16" fmla="*/ 1236 w 1272"/>
              <a:gd name="T17" fmla="*/ 850 h 1274"/>
              <a:gd name="T18" fmla="*/ 1198 w 1272"/>
              <a:gd name="T19" fmla="*/ 936 h 1274"/>
              <a:gd name="T20" fmla="*/ 1146 w 1272"/>
              <a:gd name="T21" fmla="*/ 1016 h 1274"/>
              <a:gd name="T22" fmla="*/ 1106 w 1272"/>
              <a:gd name="T23" fmla="*/ 1068 h 1274"/>
              <a:gd name="T24" fmla="*/ 1036 w 1272"/>
              <a:gd name="T25" fmla="*/ 1134 h 1274"/>
              <a:gd name="T26" fmla="*/ 958 w 1272"/>
              <a:gd name="T27" fmla="*/ 1186 h 1274"/>
              <a:gd name="T28" fmla="*/ 874 w 1272"/>
              <a:gd name="T29" fmla="*/ 1228 h 1274"/>
              <a:gd name="T30" fmla="*/ 786 w 1272"/>
              <a:gd name="T31" fmla="*/ 1256 h 1274"/>
              <a:gd name="T32" fmla="*/ 696 w 1272"/>
              <a:gd name="T33" fmla="*/ 1272 h 1274"/>
              <a:gd name="T34" fmla="*/ 604 w 1272"/>
              <a:gd name="T35" fmla="*/ 1274 h 1274"/>
              <a:gd name="T36" fmla="*/ 514 w 1272"/>
              <a:gd name="T37" fmla="*/ 1262 h 1274"/>
              <a:gd name="T38" fmla="*/ 424 w 1272"/>
              <a:gd name="T39" fmla="*/ 1238 h 1274"/>
              <a:gd name="T40" fmla="*/ 338 w 1272"/>
              <a:gd name="T41" fmla="*/ 1200 h 1274"/>
              <a:gd name="T42" fmla="*/ 256 w 1272"/>
              <a:gd name="T43" fmla="*/ 1148 h 1274"/>
              <a:gd name="T44" fmla="*/ 206 w 1272"/>
              <a:gd name="T45" fmla="*/ 1106 h 1274"/>
              <a:gd name="T46" fmla="*/ 140 w 1272"/>
              <a:gd name="T47" fmla="*/ 1036 h 1274"/>
              <a:gd name="T48" fmla="*/ 86 w 1272"/>
              <a:gd name="T49" fmla="*/ 958 h 1274"/>
              <a:gd name="T50" fmla="*/ 46 w 1272"/>
              <a:gd name="T51" fmla="*/ 876 h 1274"/>
              <a:gd name="T52" fmla="*/ 18 w 1272"/>
              <a:gd name="T53" fmla="*/ 788 h 1274"/>
              <a:gd name="T54" fmla="*/ 2 w 1272"/>
              <a:gd name="T55" fmla="*/ 698 h 1274"/>
              <a:gd name="T56" fmla="*/ 0 w 1272"/>
              <a:gd name="T57" fmla="*/ 606 h 1274"/>
              <a:gd name="T58" fmla="*/ 10 w 1272"/>
              <a:gd name="T59" fmla="*/ 514 h 1274"/>
              <a:gd name="T60" fmla="*/ 36 w 1272"/>
              <a:gd name="T61" fmla="*/ 426 h 1274"/>
              <a:gd name="T62" fmla="*/ 74 w 1272"/>
              <a:gd name="T63" fmla="*/ 338 h 1274"/>
              <a:gd name="T64" fmla="*/ 124 w 1272"/>
              <a:gd name="T65" fmla="*/ 258 h 1274"/>
              <a:gd name="T66" fmla="*/ 166 w 1272"/>
              <a:gd name="T67" fmla="*/ 208 h 1274"/>
              <a:gd name="T68" fmla="*/ 236 w 1272"/>
              <a:gd name="T69" fmla="*/ 142 h 1274"/>
              <a:gd name="T70" fmla="*/ 314 w 1272"/>
              <a:gd name="T71" fmla="*/ 88 h 1274"/>
              <a:gd name="T72" fmla="*/ 398 w 1272"/>
              <a:gd name="T73" fmla="*/ 46 h 1274"/>
              <a:gd name="T74" fmla="*/ 486 w 1272"/>
              <a:gd name="T75" fmla="*/ 18 h 1274"/>
              <a:gd name="T76" fmla="*/ 576 w 1272"/>
              <a:gd name="T77" fmla="*/ 4 h 1274"/>
              <a:gd name="T78" fmla="*/ 668 w 1272"/>
              <a:gd name="T79" fmla="*/ 2 h 1274"/>
              <a:gd name="T80" fmla="*/ 758 w 1272"/>
              <a:gd name="T81" fmla="*/ 12 h 1274"/>
              <a:gd name="T82" fmla="*/ 848 w 1272"/>
              <a:gd name="T83" fmla="*/ 36 h 1274"/>
              <a:gd name="T84" fmla="*/ 934 w 1272"/>
              <a:gd name="T85" fmla="*/ 74 h 1274"/>
              <a:gd name="T86" fmla="*/ 1016 w 1272"/>
              <a:gd name="T87" fmla="*/ 126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2" h="1274">
                <a:moveTo>
                  <a:pt x="1042" y="146"/>
                </a:moveTo>
                <a:lnTo>
                  <a:pt x="1042" y="146"/>
                </a:lnTo>
                <a:lnTo>
                  <a:pt x="1066" y="168"/>
                </a:lnTo>
                <a:lnTo>
                  <a:pt x="1090" y="190"/>
                </a:lnTo>
                <a:lnTo>
                  <a:pt x="1112" y="214"/>
                </a:lnTo>
                <a:lnTo>
                  <a:pt x="1132" y="238"/>
                </a:lnTo>
                <a:lnTo>
                  <a:pt x="1152" y="264"/>
                </a:lnTo>
                <a:lnTo>
                  <a:pt x="1170" y="290"/>
                </a:lnTo>
                <a:lnTo>
                  <a:pt x="1186" y="316"/>
                </a:lnTo>
                <a:lnTo>
                  <a:pt x="1200" y="342"/>
                </a:lnTo>
                <a:lnTo>
                  <a:pt x="1214" y="370"/>
                </a:lnTo>
                <a:lnTo>
                  <a:pt x="1226" y="398"/>
                </a:lnTo>
                <a:lnTo>
                  <a:pt x="1238" y="428"/>
                </a:lnTo>
                <a:lnTo>
                  <a:pt x="1246" y="456"/>
                </a:lnTo>
                <a:lnTo>
                  <a:pt x="1254" y="486"/>
                </a:lnTo>
                <a:lnTo>
                  <a:pt x="1260" y="516"/>
                </a:lnTo>
                <a:lnTo>
                  <a:pt x="1266" y="546"/>
                </a:lnTo>
                <a:lnTo>
                  <a:pt x="1270" y="576"/>
                </a:lnTo>
                <a:lnTo>
                  <a:pt x="1272" y="608"/>
                </a:lnTo>
                <a:lnTo>
                  <a:pt x="1272" y="638"/>
                </a:lnTo>
                <a:lnTo>
                  <a:pt x="1272" y="668"/>
                </a:lnTo>
                <a:lnTo>
                  <a:pt x="1270" y="700"/>
                </a:lnTo>
                <a:lnTo>
                  <a:pt x="1266" y="730"/>
                </a:lnTo>
                <a:lnTo>
                  <a:pt x="1260" y="760"/>
                </a:lnTo>
                <a:lnTo>
                  <a:pt x="1254" y="790"/>
                </a:lnTo>
                <a:lnTo>
                  <a:pt x="1246" y="820"/>
                </a:lnTo>
                <a:lnTo>
                  <a:pt x="1236" y="850"/>
                </a:lnTo>
                <a:lnTo>
                  <a:pt x="1226" y="878"/>
                </a:lnTo>
                <a:lnTo>
                  <a:pt x="1212" y="908"/>
                </a:lnTo>
                <a:lnTo>
                  <a:pt x="1198" y="936"/>
                </a:lnTo>
                <a:lnTo>
                  <a:pt x="1182" y="964"/>
                </a:lnTo>
                <a:lnTo>
                  <a:pt x="1166" y="990"/>
                </a:lnTo>
                <a:lnTo>
                  <a:pt x="1146" y="1016"/>
                </a:lnTo>
                <a:lnTo>
                  <a:pt x="1126" y="1042"/>
                </a:lnTo>
                <a:lnTo>
                  <a:pt x="1126" y="1042"/>
                </a:lnTo>
                <a:lnTo>
                  <a:pt x="1106" y="1068"/>
                </a:lnTo>
                <a:lnTo>
                  <a:pt x="1082" y="1090"/>
                </a:lnTo>
                <a:lnTo>
                  <a:pt x="1060" y="1112"/>
                </a:lnTo>
                <a:lnTo>
                  <a:pt x="1036" y="1134"/>
                </a:lnTo>
                <a:lnTo>
                  <a:pt x="1010" y="1152"/>
                </a:lnTo>
                <a:lnTo>
                  <a:pt x="984" y="1170"/>
                </a:lnTo>
                <a:lnTo>
                  <a:pt x="958" y="1186"/>
                </a:lnTo>
                <a:lnTo>
                  <a:pt x="930" y="1202"/>
                </a:lnTo>
                <a:lnTo>
                  <a:pt x="902" y="1216"/>
                </a:lnTo>
                <a:lnTo>
                  <a:pt x="874" y="1228"/>
                </a:lnTo>
                <a:lnTo>
                  <a:pt x="846" y="1238"/>
                </a:lnTo>
                <a:lnTo>
                  <a:pt x="816" y="1248"/>
                </a:lnTo>
                <a:lnTo>
                  <a:pt x="786" y="1256"/>
                </a:lnTo>
                <a:lnTo>
                  <a:pt x="756" y="1262"/>
                </a:lnTo>
                <a:lnTo>
                  <a:pt x="726" y="1268"/>
                </a:lnTo>
                <a:lnTo>
                  <a:pt x="696" y="1272"/>
                </a:lnTo>
                <a:lnTo>
                  <a:pt x="666" y="1274"/>
                </a:lnTo>
                <a:lnTo>
                  <a:pt x="636" y="1274"/>
                </a:lnTo>
                <a:lnTo>
                  <a:pt x="604" y="1274"/>
                </a:lnTo>
                <a:lnTo>
                  <a:pt x="574" y="1270"/>
                </a:lnTo>
                <a:lnTo>
                  <a:pt x="544" y="1268"/>
                </a:lnTo>
                <a:lnTo>
                  <a:pt x="514" y="1262"/>
                </a:lnTo>
                <a:lnTo>
                  <a:pt x="484" y="1256"/>
                </a:lnTo>
                <a:lnTo>
                  <a:pt x="454" y="1248"/>
                </a:lnTo>
                <a:lnTo>
                  <a:pt x="424" y="1238"/>
                </a:lnTo>
                <a:lnTo>
                  <a:pt x="394" y="1226"/>
                </a:lnTo>
                <a:lnTo>
                  <a:pt x="366" y="1214"/>
                </a:lnTo>
                <a:lnTo>
                  <a:pt x="338" y="1200"/>
                </a:lnTo>
                <a:lnTo>
                  <a:pt x="310" y="1184"/>
                </a:lnTo>
                <a:lnTo>
                  <a:pt x="282" y="1166"/>
                </a:lnTo>
                <a:lnTo>
                  <a:pt x="256" y="1148"/>
                </a:lnTo>
                <a:lnTo>
                  <a:pt x="230" y="1128"/>
                </a:lnTo>
                <a:lnTo>
                  <a:pt x="230" y="1128"/>
                </a:lnTo>
                <a:lnTo>
                  <a:pt x="206" y="1106"/>
                </a:lnTo>
                <a:lnTo>
                  <a:pt x="182" y="1084"/>
                </a:lnTo>
                <a:lnTo>
                  <a:pt x="160" y="1060"/>
                </a:lnTo>
                <a:lnTo>
                  <a:pt x="140" y="1036"/>
                </a:lnTo>
                <a:lnTo>
                  <a:pt x="120" y="1012"/>
                </a:lnTo>
                <a:lnTo>
                  <a:pt x="102" y="986"/>
                </a:lnTo>
                <a:lnTo>
                  <a:pt x="86" y="958"/>
                </a:lnTo>
                <a:lnTo>
                  <a:pt x="72" y="932"/>
                </a:lnTo>
                <a:lnTo>
                  <a:pt x="58" y="904"/>
                </a:lnTo>
                <a:lnTo>
                  <a:pt x="46" y="876"/>
                </a:lnTo>
                <a:lnTo>
                  <a:pt x="34" y="846"/>
                </a:lnTo>
                <a:lnTo>
                  <a:pt x="26" y="818"/>
                </a:lnTo>
                <a:lnTo>
                  <a:pt x="18" y="788"/>
                </a:lnTo>
                <a:lnTo>
                  <a:pt x="10" y="758"/>
                </a:lnTo>
                <a:lnTo>
                  <a:pt x="6" y="728"/>
                </a:lnTo>
                <a:lnTo>
                  <a:pt x="2" y="698"/>
                </a:lnTo>
                <a:lnTo>
                  <a:pt x="0" y="668"/>
                </a:lnTo>
                <a:lnTo>
                  <a:pt x="0" y="636"/>
                </a:lnTo>
                <a:lnTo>
                  <a:pt x="0" y="606"/>
                </a:lnTo>
                <a:lnTo>
                  <a:pt x="2" y="576"/>
                </a:lnTo>
                <a:lnTo>
                  <a:pt x="6" y="544"/>
                </a:lnTo>
                <a:lnTo>
                  <a:pt x="10" y="514"/>
                </a:lnTo>
                <a:lnTo>
                  <a:pt x="18" y="484"/>
                </a:lnTo>
                <a:lnTo>
                  <a:pt x="26" y="454"/>
                </a:lnTo>
                <a:lnTo>
                  <a:pt x="36" y="426"/>
                </a:lnTo>
                <a:lnTo>
                  <a:pt x="46" y="396"/>
                </a:lnTo>
                <a:lnTo>
                  <a:pt x="60" y="368"/>
                </a:lnTo>
                <a:lnTo>
                  <a:pt x="74" y="338"/>
                </a:lnTo>
                <a:lnTo>
                  <a:pt x="88" y="312"/>
                </a:lnTo>
                <a:lnTo>
                  <a:pt x="106" y="284"/>
                </a:lnTo>
                <a:lnTo>
                  <a:pt x="124" y="258"/>
                </a:lnTo>
                <a:lnTo>
                  <a:pt x="146" y="232"/>
                </a:lnTo>
                <a:lnTo>
                  <a:pt x="146" y="232"/>
                </a:lnTo>
                <a:lnTo>
                  <a:pt x="166" y="208"/>
                </a:lnTo>
                <a:lnTo>
                  <a:pt x="190" y="184"/>
                </a:lnTo>
                <a:lnTo>
                  <a:pt x="212" y="162"/>
                </a:lnTo>
                <a:lnTo>
                  <a:pt x="236" y="142"/>
                </a:lnTo>
                <a:lnTo>
                  <a:pt x="262" y="122"/>
                </a:lnTo>
                <a:lnTo>
                  <a:pt x="288" y="104"/>
                </a:lnTo>
                <a:lnTo>
                  <a:pt x="314" y="88"/>
                </a:lnTo>
                <a:lnTo>
                  <a:pt x="342" y="72"/>
                </a:lnTo>
                <a:lnTo>
                  <a:pt x="370" y="58"/>
                </a:lnTo>
                <a:lnTo>
                  <a:pt x="398" y="46"/>
                </a:lnTo>
                <a:lnTo>
                  <a:pt x="426" y="36"/>
                </a:lnTo>
                <a:lnTo>
                  <a:pt x="456" y="26"/>
                </a:lnTo>
                <a:lnTo>
                  <a:pt x="486" y="18"/>
                </a:lnTo>
                <a:lnTo>
                  <a:pt x="516" y="12"/>
                </a:lnTo>
                <a:lnTo>
                  <a:pt x="546" y="8"/>
                </a:lnTo>
                <a:lnTo>
                  <a:pt x="576" y="4"/>
                </a:lnTo>
                <a:lnTo>
                  <a:pt x="606" y="2"/>
                </a:lnTo>
                <a:lnTo>
                  <a:pt x="636" y="0"/>
                </a:lnTo>
                <a:lnTo>
                  <a:pt x="668" y="2"/>
                </a:lnTo>
                <a:lnTo>
                  <a:pt x="698" y="4"/>
                </a:lnTo>
                <a:lnTo>
                  <a:pt x="728" y="8"/>
                </a:lnTo>
                <a:lnTo>
                  <a:pt x="758" y="12"/>
                </a:lnTo>
                <a:lnTo>
                  <a:pt x="788" y="18"/>
                </a:lnTo>
                <a:lnTo>
                  <a:pt x="818" y="28"/>
                </a:lnTo>
                <a:lnTo>
                  <a:pt x="848" y="36"/>
                </a:lnTo>
                <a:lnTo>
                  <a:pt x="878" y="48"/>
                </a:lnTo>
                <a:lnTo>
                  <a:pt x="906" y="60"/>
                </a:lnTo>
                <a:lnTo>
                  <a:pt x="934" y="74"/>
                </a:lnTo>
                <a:lnTo>
                  <a:pt x="962" y="90"/>
                </a:lnTo>
                <a:lnTo>
                  <a:pt x="990" y="108"/>
                </a:lnTo>
                <a:lnTo>
                  <a:pt x="1016" y="126"/>
                </a:lnTo>
                <a:lnTo>
                  <a:pt x="1042" y="146"/>
                </a:lnTo>
                <a:lnTo>
                  <a:pt x="1042" y="146"/>
                </a:lnTo>
                <a:close/>
              </a:path>
            </a:pathLst>
          </a:custGeom>
          <a:solidFill>
            <a:schemeClr val="accent5">
              <a:lumMod val="60000"/>
              <a:lumOff val="40000"/>
            </a:schemeClr>
          </a:solidFill>
          <a:ln>
            <a:noFill/>
          </a:ln>
        </p:spPr>
        <p:txBody>
          <a:bodyPr vert="horz" wrap="square" lIns="91440" tIns="45720" rIns="91440" bIns="45720" numCol="1" anchor="t" anchorCtr="0" compatLnSpc="1"/>
          <a:lstStyle/>
          <a:p>
            <a:endParaRPr lang="id-ID"/>
          </a:p>
        </p:txBody>
      </p:sp>
      <p:sp>
        <p:nvSpPr>
          <p:cNvPr id="3" name="isḷíḍê"/>
          <p:cNvSpPr/>
          <p:nvPr>
            <p:custDataLst>
              <p:tags r:id="rId6"/>
            </p:custDataLst>
          </p:nvPr>
        </p:nvSpPr>
        <p:spPr bwMode="auto">
          <a:xfrm>
            <a:off x="1217295" y="5917565"/>
            <a:ext cx="9347200" cy="82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indent="0" fontAlgn="auto">
              <a:lnSpc>
                <a:spcPct val="150000"/>
              </a:lnSpc>
              <a:buFont typeface="Arial" panose="020B0604020202020204" pitchFamily="34" charset="0"/>
              <a:buNone/>
            </a:pPr>
            <a:r>
              <a:rPr lang="en-US" altLang="zh-CN" sz="1400" dirty="0">
                <a:latin typeface="微软雅黑" panose="020B0503020204020204" charset="-122"/>
                <a:ea typeface="微软雅黑" panose="020B0503020204020204" charset="-122"/>
                <a:sym typeface="+mn-ea"/>
              </a:rPr>
              <a:t>    </a:t>
            </a:r>
            <a:r>
              <a:rPr lang="zh-CN" altLang="en-US" sz="1400" dirty="0">
                <a:latin typeface="微软雅黑" panose="020B0503020204020204" charset="-122"/>
                <a:ea typeface="微软雅黑" panose="020B0503020204020204" charset="-122"/>
                <a:sym typeface="+mn-ea"/>
              </a:rPr>
              <a:t>平台效能发挥依赖企业广泛参与，恳请贵委协调各师市国有企业积极对接平台，明确入驻时限与责任分工；指导国有企业完成内部采购流程与平台的适配调整，协助中新建开展培训推广，确保平台快速实现全覆盖与常态化使用。</a:t>
            </a:r>
            <a:endParaRPr lang="zh-CN" altLang="en-US" sz="1400" dirty="0">
              <a:latin typeface="微软雅黑" panose="020B0503020204020204" charset="-122"/>
              <a:ea typeface="微软雅黑" panose="020B0503020204020204" charset="-122"/>
              <a:sym typeface="+mn-ea"/>
            </a:endParaRPr>
          </a:p>
        </p:txBody>
      </p:sp>
      <p:sp>
        <p:nvSpPr>
          <p:cNvPr id="6" name="iS1ïḍé"/>
          <p:cNvSpPr/>
          <p:nvPr>
            <p:custDataLst>
              <p:tags r:id="rId7"/>
            </p:custDataLst>
          </p:nvPr>
        </p:nvSpPr>
        <p:spPr>
          <a:xfrm>
            <a:off x="593057" y="5622381"/>
            <a:ext cx="393231" cy="324564"/>
          </a:xfrm>
          <a:custGeom>
            <a:avLst/>
            <a:gdLst>
              <a:gd name="T0" fmla="*/ 3958 w 4630"/>
              <a:gd name="T1" fmla="*/ 1193 h 4324"/>
              <a:gd name="T2" fmla="*/ 3772 w 4630"/>
              <a:gd name="T3" fmla="*/ 1223 h 4324"/>
              <a:gd name="T4" fmla="*/ 3358 w 4630"/>
              <a:gd name="T5" fmla="*/ 1778 h 4324"/>
              <a:gd name="T6" fmla="*/ 3055 w 4630"/>
              <a:gd name="T7" fmla="*/ 1876 h 4324"/>
              <a:gd name="T8" fmla="*/ 2515 w 4630"/>
              <a:gd name="T9" fmla="*/ 1484 h 4324"/>
              <a:gd name="T10" fmla="*/ 2515 w 4630"/>
              <a:gd name="T11" fmla="*/ 1166 h 4324"/>
              <a:gd name="T12" fmla="*/ 2915 w 4630"/>
              <a:gd name="T13" fmla="*/ 600 h 4324"/>
              <a:gd name="T14" fmla="*/ 2315 w 4630"/>
              <a:gd name="T15" fmla="*/ 0 h 4324"/>
              <a:gd name="T16" fmla="*/ 1715 w 4630"/>
              <a:gd name="T17" fmla="*/ 600 h 4324"/>
              <a:gd name="T18" fmla="*/ 2115 w 4630"/>
              <a:gd name="T19" fmla="*/ 1166 h 4324"/>
              <a:gd name="T20" fmla="*/ 2115 w 4630"/>
              <a:gd name="T21" fmla="*/ 1484 h 4324"/>
              <a:gd name="T22" fmla="*/ 1575 w 4630"/>
              <a:gd name="T23" fmla="*/ 1877 h 4324"/>
              <a:gd name="T24" fmla="*/ 1273 w 4630"/>
              <a:gd name="T25" fmla="*/ 1778 h 4324"/>
              <a:gd name="T26" fmla="*/ 858 w 4630"/>
              <a:gd name="T27" fmla="*/ 1223 h 4324"/>
              <a:gd name="T28" fmla="*/ 673 w 4630"/>
              <a:gd name="T29" fmla="*/ 1193 h 4324"/>
              <a:gd name="T30" fmla="*/ 102 w 4630"/>
              <a:gd name="T31" fmla="*/ 1608 h 4324"/>
              <a:gd name="T32" fmla="*/ 488 w 4630"/>
              <a:gd name="T33" fmla="*/ 2364 h 4324"/>
              <a:gd name="T34" fmla="*/ 673 w 4630"/>
              <a:gd name="T35" fmla="*/ 2394 h 4324"/>
              <a:gd name="T36" fmla="*/ 1149 w 4630"/>
              <a:gd name="T37" fmla="*/ 2159 h 4324"/>
              <a:gd name="T38" fmla="*/ 1452 w 4630"/>
              <a:gd name="T39" fmla="*/ 2258 h 4324"/>
              <a:gd name="T40" fmla="*/ 1449 w 4630"/>
              <a:gd name="T41" fmla="*/ 2327 h 4324"/>
              <a:gd name="T42" fmla="*/ 1658 w 4630"/>
              <a:gd name="T43" fmla="*/ 2891 h 4324"/>
              <a:gd name="T44" fmla="*/ 1471 w 4630"/>
              <a:gd name="T45" fmla="*/ 3149 h 4324"/>
              <a:gd name="T46" fmla="*/ 1301 w 4630"/>
              <a:gd name="T47" fmla="*/ 3124 h 4324"/>
              <a:gd name="T48" fmla="*/ 815 w 4630"/>
              <a:gd name="T49" fmla="*/ 3371 h 4324"/>
              <a:gd name="T50" fmla="*/ 948 w 4630"/>
              <a:gd name="T51" fmla="*/ 4209 h 4324"/>
              <a:gd name="T52" fmla="*/ 1300 w 4630"/>
              <a:gd name="T53" fmla="*/ 4324 h 4324"/>
              <a:gd name="T54" fmla="*/ 1786 w 4630"/>
              <a:gd name="T55" fmla="*/ 4077 h 4324"/>
              <a:gd name="T56" fmla="*/ 1795 w 4630"/>
              <a:gd name="T57" fmla="*/ 3384 h 4324"/>
              <a:gd name="T58" fmla="*/ 1981 w 4630"/>
              <a:gd name="T59" fmla="*/ 3127 h 4324"/>
              <a:gd name="T60" fmla="*/ 2315 w 4630"/>
              <a:gd name="T61" fmla="*/ 3194 h 4324"/>
              <a:gd name="T62" fmla="*/ 2647 w 4630"/>
              <a:gd name="T63" fmla="*/ 3127 h 4324"/>
              <a:gd name="T64" fmla="*/ 2836 w 4630"/>
              <a:gd name="T65" fmla="*/ 3385 h 4324"/>
              <a:gd name="T66" fmla="*/ 2845 w 4630"/>
              <a:gd name="T67" fmla="*/ 4077 h 4324"/>
              <a:gd name="T68" fmla="*/ 3331 w 4630"/>
              <a:gd name="T69" fmla="*/ 4324 h 4324"/>
              <a:gd name="T70" fmla="*/ 3331 w 4630"/>
              <a:gd name="T71" fmla="*/ 4324 h 4324"/>
              <a:gd name="T72" fmla="*/ 3683 w 4630"/>
              <a:gd name="T73" fmla="*/ 4209 h 4324"/>
              <a:gd name="T74" fmla="*/ 3816 w 4630"/>
              <a:gd name="T75" fmla="*/ 3371 h 4324"/>
              <a:gd name="T76" fmla="*/ 3330 w 4630"/>
              <a:gd name="T77" fmla="*/ 3124 h 4324"/>
              <a:gd name="T78" fmla="*/ 3159 w 4630"/>
              <a:gd name="T79" fmla="*/ 3149 h 4324"/>
              <a:gd name="T80" fmla="*/ 2971 w 4630"/>
              <a:gd name="T81" fmla="*/ 2893 h 4324"/>
              <a:gd name="T82" fmla="*/ 3182 w 4630"/>
              <a:gd name="T83" fmla="*/ 2327 h 4324"/>
              <a:gd name="T84" fmla="*/ 3179 w 4630"/>
              <a:gd name="T85" fmla="*/ 2257 h 4324"/>
              <a:gd name="T86" fmla="*/ 3481 w 4630"/>
              <a:gd name="T87" fmla="*/ 2159 h 4324"/>
              <a:gd name="T88" fmla="*/ 3957 w 4630"/>
              <a:gd name="T89" fmla="*/ 2394 h 4324"/>
              <a:gd name="T90" fmla="*/ 3957 w 4630"/>
              <a:gd name="T91" fmla="*/ 2394 h 4324"/>
              <a:gd name="T92" fmla="*/ 4143 w 4630"/>
              <a:gd name="T93" fmla="*/ 2364 h 4324"/>
              <a:gd name="T94" fmla="*/ 4528 w 4630"/>
              <a:gd name="T95" fmla="*/ 1608 h 4324"/>
              <a:gd name="T96" fmla="*/ 3958 w 4630"/>
              <a:gd name="T97" fmla="*/ 1193 h 4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30" h="4324">
                <a:moveTo>
                  <a:pt x="3958" y="1193"/>
                </a:moveTo>
                <a:cubicBezTo>
                  <a:pt x="3895" y="1193"/>
                  <a:pt x="3832" y="1203"/>
                  <a:pt x="3772" y="1223"/>
                </a:cubicBezTo>
                <a:cubicBezTo>
                  <a:pt x="3524" y="1304"/>
                  <a:pt x="3364" y="1531"/>
                  <a:pt x="3358" y="1778"/>
                </a:cubicBezTo>
                <a:lnTo>
                  <a:pt x="3055" y="1876"/>
                </a:lnTo>
                <a:cubicBezTo>
                  <a:pt x="2936" y="1682"/>
                  <a:pt x="2743" y="1538"/>
                  <a:pt x="2515" y="1484"/>
                </a:cubicBezTo>
                <a:lnTo>
                  <a:pt x="2515" y="1166"/>
                </a:lnTo>
                <a:cubicBezTo>
                  <a:pt x="2748" y="1083"/>
                  <a:pt x="2915" y="861"/>
                  <a:pt x="2915" y="600"/>
                </a:cubicBezTo>
                <a:cubicBezTo>
                  <a:pt x="2915" y="270"/>
                  <a:pt x="2646" y="0"/>
                  <a:pt x="2315" y="0"/>
                </a:cubicBezTo>
                <a:cubicBezTo>
                  <a:pt x="1984" y="0"/>
                  <a:pt x="1715" y="270"/>
                  <a:pt x="1715" y="600"/>
                </a:cubicBezTo>
                <a:cubicBezTo>
                  <a:pt x="1715" y="861"/>
                  <a:pt x="1882" y="1083"/>
                  <a:pt x="2115" y="1166"/>
                </a:cubicBezTo>
                <a:lnTo>
                  <a:pt x="2115" y="1484"/>
                </a:lnTo>
                <a:cubicBezTo>
                  <a:pt x="1887" y="1538"/>
                  <a:pt x="1694" y="1682"/>
                  <a:pt x="1575" y="1877"/>
                </a:cubicBezTo>
                <a:lnTo>
                  <a:pt x="1273" y="1778"/>
                </a:lnTo>
                <a:cubicBezTo>
                  <a:pt x="1266" y="1531"/>
                  <a:pt x="1107" y="1304"/>
                  <a:pt x="858" y="1223"/>
                </a:cubicBezTo>
                <a:cubicBezTo>
                  <a:pt x="798" y="1203"/>
                  <a:pt x="736" y="1193"/>
                  <a:pt x="673" y="1193"/>
                </a:cubicBezTo>
                <a:cubicBezTo>
                  <a:pt x="412" y="1193"/>
                  <a:pt x="183" y="1360"/>
                  <a:pt x="102" y="1608"/>
                </a:cubicBezTo>
                <a:cubicBezTo>
                  <a:pt x="0" y="1923"/>
                  <a:pt x="173" y="2262"/>
                  <a:pt x="488" y="2364"/>
                </a:cubicBezTo>
                <a:cubicBezTo>
                  <a:pt x="548" y="2384"/>
                  <a:pt x="610" y="2394"/>
                  <a:pt x="673" y="2394"/>
                </a:cubicBezTo>
                <a:cubicBezTo>
                  <a:pt x="864" y="2394"/>
                  <a:pt x="1038" y="2304"/>
                  <a:pt x="1149" y="2159"/>
                </a:cubicBezTo>
                <a:lnTo>
                  <a:pt x="1452" y="2258"/>
                </a:lnTo>
                <a:cubicBezTo>
                  <a:pt x="1450" y="2281"/>
                  <a:pt x="1449" y="2304"/>
                  <a:pt x="1449" y="2327"/>
                </a:cubicBezTo>
                <a:cubicBezTo>
                  <a:pt x="1449" y="2542"/>
                  <a:pt x="1528" y="2740"/>
                  <a:pt x="1658" y="2891"/>
                </a:cubicBezTo>
                <a:lnTo>
                  <a:pt x="1471" y="3149"/>
                </a:lnTo>
                <a:cubicBezTo>
                  <a:pt x="1416" y="3132"/>
                  <a:pt x="1359" y="3124"/>
                  <a:pt x="1301" y="3124"/>
                </a:cubicBezTo>
                <a:cubicBezTo>
                  <a:pt x="1109" y="3124"/>
                  <a:pt x="927" y="3216"/>
                  <a:pt x="815" y="3371"/>
                </a:cubicBezTo>
                <a:cubicBezTo>
                  <a:pt x="620" y="3639"/>
                  <a:pt x="680" y="4015"/>
                  <a:pt x="948" y="4209"/>
                </a:cubicBezTo>
                <a:cubicBezTo>
                  <a:pt x="1051" y="4284"/>
                  <a:pt x="1173" y="4324"/>
                  <a:pt x="1300" y="4324"/>
                </a:cubicBezTo>
                <a:cubicBezTo>
                  <a:pt x="1492" y="4324"/>
                  <a:pt x="1673" y="4232"/>
                  <a:pt x="1786" y="4077"/>
                </a:cubicBezTo>
                <a:cubicBezTo>
                  <a:pt x="1939" y="3866"/>
                  <a:pt x="1934" y="3588"/>
                  <a:pt x="1795" y="3384"/>
                </a:cubicBezTo>
                <a:lnTo>
                  <a:pt x="1981" y="3127"/>
                </a:lnTo>
                <a:cubicBezTo>
                  <a:pt x="2084" y="3170"/>
                  <a:pt x="2197" y="3194"/>
                  <a:pt x="2315" y="3194"/>
                </a:cubicBezTo>
                <a:cubicBezTo>
                  <a:pt x="2433" y="3194"/>
                  <a:pt x="2545" y="3170"/>
                  <a:pt x="2647" y="3127"/>
                </a:cubicBezTo>
                <a:lnTo>
                  <a:pt x="2836" y="3385"/>
                </a:lnTo>
                <a:cubicBezTo>
                  <a:pt x="2696" y="3588"/>
                  <a:pt x="2692" y="3866"/>
                  <a:pt x="2845" y="4077"/>
                </a:cubicBezTo>
                <a:cubicBezTo>
                  <a:pt x="2957" y="4232"/>
                  <a:pt x="3139" y="4324"/>
                  <a:pt x="3331" y="4324"/>
                </a:cubicBezTo>
                <a:lnTo>
                  <a:pt x="3331" y="4324"/>
                </a:lnTo>
                <a:cubicBezTo>
                  <a:pt x="3458" y="4324"/>
                  <a:pt x="3580" y="4284"/>
                  <a:pt x="3683" y="4209"/>
                </a:cubicBezTo>
                <a:cubicBezTo>
                  <a:pt x="3951" y="4015"/>
                  <a:pt x="4010" y="3639"/>
                  <a:pt x="3816" y="3371"/>
                </a:cubicBezTo>
                <a:cubicBezTo>
                  <a:pt x="3703" y="3216"/>
                  <a:pt x="3522" y="3124"/>
                  <a:pt x="3330" y="3124"/>
                </a:cubicBezTo>
                <a:cubicBezTo>
                  <a:pt x="3271" y="3124"/>
                  <a:pt x="3214" y="3133"/>
                  <a:pt x="3159" y="3149"/>
                </a:cubicBezTo>
                <a:lnTo>
                  <a:pt x="2971" y="2893"/>
                </a:lnTo>
                <a:cubicBezTo>
                  <a:pt x="3102" y="2741"/>
                  <a:pt x="3182" y="2543"/>
                  <a:pt x="3182" y="2327"/>
                </a:cubicBezTo>
                <a:cubicBezTo>
                  <a:pt x="3182" y="2303"/>
                  <a:pt x="3181" y="2280"/>
                  <a:pt x="3179" y="2257"/>
                </a:cubicBezTo>
                <a:lnTo>
                  <a:pt x="3481" y="2159"/>
                </a:lnTo>
                <a:cubicBezTo>
                  <a:pt x="3592" y="2304"/>
                  <a:pt x="3766" y="2394"/>
                  <a:pt x="3957" y="2394"/>
                </a:cubicBezTo>
                <a:lnTo>
                  <a:pt x="3957" y="2394"/>
                </a:lnTo>
                <a:cubicBezTo>
                  <a:pt x="4020" y="2394"/>
                  <a:pt x="4083" y="2384"/>
                  <a:pt x="4143" y="2364"/>
                </a:cubicBezTo>
                <a:cubicBezTo>
                  <a:pt x="4458" y="2262"/>
                  <a:pt x="4630" y="1923"/>
                  <a:pt x="4528" y="1608"/>
                </a:cubicBezTo>
                <a:cubicBezTo>
                  <a:pt x="4447" y="1360"/>
                  <a:pt x="4218" y="1193"/>
                  <a:pt x="3958" y="1193"/>
                </a:cubicBezTo>
                <a:close/>
              </a:path>
            </a:pathLst>
          </a:custGeom>
          <a:solidFill>
            <a:schemeClr val="bg1"/>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defRPr>
            </a:pPr>
            <a:endParaRPr sz="1500">
              <a:solidFill>
                <a:srgbClr val="FFFFFF"/>
              </a:solidFill>
              <a:effectLst>
                <a:outerShdw blurRad="38100" dist="12700" dir="5400000" rotWithShape="0">
                  <a:srgbClr val="000000">
                    <a:alpha val="50000"/>
                  </a:srgbClr>
                </a:outerShdw>
              </a:effectLst>
            </a:endParaRPr>
          </a:p>
        </p:txBody>
      </p:sp>
      <p:sp>
        <p:nvSpPr>
          <p:cNvPr id="7" name="îšlïḍe"/>
          <p:cNvSpPr txBox="1"/>
          <p:nvPr>
            <p:custDataLst>
              <p:tags r:id="rId8"/>
            </p:custDataLst>
          </p:nvPr>
        </p:nvSpPr>
        <p:spPr bwMode="auto">
          <a:xfrm>
            <a:off x="1198024" y="5502275"/>
            <a:ext cx="6073995" cy="4417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pPr>
            <a:r>
              <a:rPr lang="zh-CN" altLang="en-US" sz="2000" b="1" dirty="0"/>
              <a:t>恳请协调国有企业对接入驻</a:t>
            </a:r>
            <a:endParaRPr lang="zh-CN" altLang="en-US" sz="2000" b="1" dirty="0"/>
          </a:p>
        </p:txBody>
      </p:sp>
      <p:sp>
        <p:nvSpPr>
          <p:cNvPr id="4" name="ïşlïḓé"/>
          <p:cNvSpPr txBox="1"/>
          <p:nvPr>
            <p:custDataLst>
              <p:tags r:id="rId9"/>
            </p:custDataLst>
          </p:nvPr>
        </p:nvSpPr>
        <p:spPr bwMode="auto">
          <a:xfrm>
            <a:off x="1240273" y="1130300"/>
            <a:ext cx="5377064" cy="4417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pPr>
            <a:r>
              <a:rPr lang="zh-CN" altLang="en-US" sz="2000" b="1" dirty="0"/>
              <a:t>恳请提供政策导向支持</a:t>
            </a:r>
            <a:endParaRPr lang="zh-CN" altLang="en-US" sz="2000" b="1" dirty="0"/>
          </a:p>
        </p:txBody>
      </p:sp>
      <p:grpSp>
        <p:nvGrpSpPr>
          <p:cNvPr id="8" name="îṧļîḓe"/>
          <p:cNvGrpSpPr/>
          <p:nvPr/>
        </p:nvGrpSpPr>
        <p:grpSpPr>
          <a:xfrm rot="0">
            <a:off x="516890" y="2283394"/>
            <a:ext cx="9538115" cy="1220536"/>
            <a:chOff x="677876" y="1996365"/>
            <a:chExt cx="8443369" cy="1220624"/>
          </a:xfrm>
        </p:grpSpPr>
        <p:grpSp>
          <p:nvGrpSpPr>
            <p:cNvPr id="9" name="í$ļiḋè"/>
            <p:cNvGrpSpPr/>
            <p:nvPr/>
          </p:nvGrpSpPr>
          <p:grpSpPr>
            <a:xfrm>
              <a:off x="677876" y="1996365"/>
              <a:ext cx="552650" cy="553518"/>
              <a:chOff x="883164" y="1816317"/>
              <a:chExt cx="869436" cy="870802"/>
            </a:xfrm>
          </p:grpSpPr>
          <p:sp>
            <p:nvSpPr>
              <p:cNvPr id="10" name="i$ļíḓê"/>
              <p:cNvSpPr/>
              <p:nvPr>
                <p:custDataLst>
                  <p:tags r:id="rId10"/>
                </p:custDataLst>
              </p:nvPr>
            </p:nvSpPr>
            <p:spPr bwMode="auto">
              <a:xfrm>
                <a:off x="883164" y="1816317"/>
                <a:ext cx="869436" cy="870802"/>
              </a:xfrm>
              <a:custGeom>
                <a:avLst/>
                <a:gdLst>
                  <a:gd name="T0" fmla="*/ 1066 w 1272"/>
                  <a:gd name="T1" fmla="*/ 168 h 1274"/>
                  <a:gd name="T2" fmla="*/ 1132 w 1272"/>
                  <a:gd name="T3" fmla="*/ 238 h 1274"/>
                  <a:gd name="T4" fmla="*/ 1186 w 1272"/>
                  <a:gd name="T5" fmla="*/ 316 h 1274"/>
                  <a:gd name="T6" fmla="*/ 1226 w 1272"/>
                  <a:gd name="T7" fmla="*/ 398 h 1274"/>
                  <a:gd name="T8" fmla="*/ 1254 w 1272"/>
                  <a:gd name="T9" fmla="*/ 486 h 1274"/>
                  <a:gd name="T10" fmla="*/ 1270 w 1272"/>
                  <a:gd name="T11" fmla="*/ 576 h 1274"/>
                  <a:gd name="T12" fmla="*/ 1272 w 1272"/>
                  <a:gd name="T13" fmla="*/ 668 h 1274"/>
                  <a:gd name="T14" fmla="*/ 1260 w 1272"/>
                  <a:gd name="T15" fmla="*/ 760 h 1274"/>
                  <a:gd name="T16" fmla="*/ 1236 w 1272"/>
                  <a:gd name="T17" fmla="*/ 850 h 1274"/>
                  <a:gd name="T18" fmla="*/ 1198 w 1272"/>
                  <a:gd name="T19" fmla="*/ 936 h 1274"/>
                  <a:gd name="T20" fmla="*/ 1146 w 1272"/>
                  <a:gd name="T21" fmla="*/ 1016 h 1274"/>
                  <a:gd name="T22" fmla="*/ 1106 w 1272"/>
                  <a:gd name="T23" fmla="*/ 1068 h 1274"/>
                  <a:gd name="T24" fmla="*/ 1036 w 1272"/>
                  <a:gd name="T25" fmla="*/ 1134 h 1274"/>
                  <a:gd name="T26" fmla="*/ 958 w 1272"/>
                  <a:gd name="T27" fmla="*/ 1186 h 1274"/>
                  <a:gd name="T28" fmla="*/ 874 w 1272"/>
                  <a:gd name="T29" fmla="*/ 1228 h 1274"/>
                  <a:gd name="T30" fmla="*/ 786 w 1272"/>
                  <a:gd name="T31" fmla="*/ 1256 h 1274"/>
                  <a:gd name="T32" fmla="*/ 696 w 1272"/>
                  <a:gd name="T33" fmla="*/ 1272 h 1274"/>
                  <a:gd name="T34" fmla="*/ 604 w 1272"/>
                  <a:gd name="T35" fmla="*/ 1274 h 1274"/>
                  <a:gd name="T36" fmla="*/ 514 w 1272"/>
                  <a:gd name="T37" fmla="*/ 1262 h 1274"/>
                  <a:gd name="T38" fmla="*/ 424 w 1272"/>
                  <a:gd name="T39" fmla="*/ 1238 h 1274"/>
                  <a:gd name="T40" fmla="*/ 338 w 1272"/>
                  <a:gd name="T41" fmla="*/ 1200 h 1274"/>
                  <a:gd name="T42" fmla="*/ 256 w 1272"/>
                  <a:gd name="T43" fmla="*/ 1148 h 1274"/>
                  <a:gd name="T44" fmla="*/ 206 w 1272"/>
                  <a:gd name="T45" fmla="*/ 1106 h 1274"/>
                  <a:gd name="T46" fmla="*/ 140 w 1272"/>
                  <a:gd name="T47" fmla="*/ 1036 h 1274"/>
                  <a:gd name="T48" fmla="*/ 86 w 1272"/>
                  <a:gd name="T49" fmla="*/ 958 h 1274"/>
                  <a:gd name="T50" fmla="*/ 46 w 1272"/>
                  <a:gd name="T51" fmla="*/ 876 h 1274"/>
                  <a:gd name="T52" fmla="*/ 18 w 1272"/>
                  <a:gd name="T53" fmla="*/ 788 h 1274"/>
                  <a:gd name="T54" fmla="*/ 2 w 1272"/>
                  <a:gd name="T55" fmla="*/ 698 h 1274"/>
                  <a:gd name="T56" fmla="*/ 0 w 1272"/>
                  <a:gd name="T57" fmla="*/ 606 h 1274"/>
                  <a:gd name="T58" fmla="*/ 10 w 1272"/>
                  <a:gd name="T59" fmla="*/ 514 h 1274"/>
                  <a:gd name="T60" fmla="*/ 36 w 1272"/>
                  <a:gd name="T61" fmla="*/ 426 h 1274"/>
                  <a:gd name="T62" fmla="*/ 74 w 1272"/>
                  <a:gd name="T63" fmla="*/ 338 h 1274"/>
                  <a:gd name="T64" fmla="*/ 124 w 1272"/>
                  <a:gd name="T65" fmla="*/ 258 h 1274"/>
                  <a:gd name="T66" fmla="*/ 166 w 1272"/>
                  <a:gd name="T67" fmla="*/ 208 h 1274"/>
                  <a:gd name="T68" fmla="*/ 236 w 1272"/>
                  <a:gd name="T69" fmla="*/ 142 h 1274"/>
                  <a:gd name="T70" fmla="*/ 314 w 1272"/>
                  <a:gd name="T71" fmla="*/ 88 h 1274"/>
                  <a:gd name="T72" fmla="*/ 398 w 1272"/>
                  <a:gd name="T73" fmla="*/ 46 h 1274"/>
                  <a:gd name="T74" fmla="*/ 486 w 1272"/>
                  <a:gd name="T75" fmla="*/ 18 h 1274"/>
                  <a:gd name="T76" fmla="*/ 576 w 1272"/>
                  <a:gd name="T77" fmla="*/ 4 h 1274"/>
                  <a:gd name="T78" fmla="*/ 668 w 1272"/>
                  <a:gd name="T79" fmla="*/ 2 h 1274"/>
                  <a:gd name="T80" fmla="*/ 758 w 1272"/>
                  <a:gd name="T81" fmla="*/ 12 h 1274"/>
                  <a:gd name="T82" fmla="*/ 848 w 1272"/>
                  <a:gd name="T83" fmla="*/ 36 h 1274"/>
                  <a:gd name="T84" fmla="*/ 934 w 1272"/>
                  <a:gd name="T85" fmla="*/ 74 h 1274"/>
                  <a:gd name="T86" fmla="*/ 1016 w 1272"/>
                  <a:gd name="T87" fmla="*/ 126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2" h="1274">
                    <a:moveTo>
                      <a:pt x="1042" y="146"/>
                    </a:moveTo>
                    <a:lnTo>
                      <a:pt x="1042" y="146"/>
                    </a:lnTo>
                    <a:lnTo>
                      <a:pt x="1066" y="168"/>
                    </a:lnTo>
                    <a:lnTo>
                      <a:pt x="1090" y="190"/>
                    </a:lnTo>
                    <a:lnTo>
                      <a:pt x="1112" y="214"/>
                    </a:lnTo>
                    <a:lnTo>
                      <a:pt x="1132" y="238"/>
                    </a:lnTo>
                    <a:lnTo>
                      <a:pt x="1152" y="264"/>
                    </a:lnTo>
                    <a:lnTo>
                      <a:pt x="1170" y="290"/>
                    </a:lnTo>
                    <a:lnTo>
                      <a:pt x="1186" y="316"/>
                    </a:lnTo>
                    <a:lnTo>
                      <a:pt x="1200" y="342"/>
                    </a:lnTo>
                    <a:lnTo>
                      <a:pt x="1214" y="370"/>
                    </a:lnTo>
                    <a:lnTo>
                      <a:pt x="1226" y="398"/>
                    </a:lnTo>
                    <a:lnTo>
                      <a:pt x="1238" y="428"/>
                    </a:lnTo>
                    <a:lnTo>
                      <a:pt x="1246" y="456"/>
                    </a:lnTo>
                    <a:lnTo>
                      <a:pt x="1254" y="486"/>
                    </a:lnTo>
                    <a:lnTo>
                      <a:pt x="1260" y="516"/>
                    </a:lnTo>
                    <a:lnTo>
                      <a:pt x="1266" y="546"/>
                    </a:lnTo>
                    <a:lnTo>
                      <a:pt x="1270" y="576"/>
                    </a:lnTo>
                    <a:lnTo>
                      <a:pt x="1272" y="608"/>
                    </a:lnTo>
                    <a:lnTo>
                      <a:pt x="1272" y="638"/>
                    </a:lnTo>
                    <a:lnTo>
                      <a:pt x="1272" y="668"/>
                    </a:lnTo>
                    <a:lnTo>
                      <a:pt x="1270" y="700"/>
                    </a:lnTo>
                    <a:lnTo>
                      <a:pt x="1266" y="730"/>
                    </a:lnTo>
                    <a:lnTo>
                      <a:pt x="1260" y="760"/>
                    </a:lnTo>
                    <a:lnTo>
                      <a:pt x="1254" y="790"/>
                    </a:lnTo>
                    <a:lnTo>
                      <a:pt x="1246" y="820"/>
                    </a:lnTo>
                    <a:lnTo>
                      <a:pt x="1236" y="850"/>
                    </a:lnTo>
                    <a:lnTo>
                      <a:pt x="1226" y="878"/>
                    </a:lnTo>
                    <a:lnTo>
                      <a:pt x="1212" y="908"/>
                    </a:lnTo>
                    <a:lnTo>
                      <a:pt x="1198" y="936"/>
                    </a:lnTo>
                    <a:lnTo>
                      <a:pt x="1182" y="964"/>
                    </a:lnTo>
                    <a:lnTo>
                      <a:pt x="1166" y="990"/>
                    </a:lnTo>
                    <a:lnTo>
                      <a:pt x="1146" y="1016"/>
                    </a:lnTo>
                    <a:lnTo>
                      <a:pt x="1126" y="1042"/>
                    </a:lnTo>
                    <a:lnTo>
                      <a:pt x="1126" y="1042"/>
                    </a:lnTo>
                    <a:lnTo>
                      <a:pt x="1106" y="1068"/>
                    </a:lnTo>
                    <a:lnTo>
                      <a:pt x="1082" y="1090"/>
                    </a:lnTo>
                    <a:lnTo>
                      <a:pt x="1060" y="1112"/>
                    </a:lnTo>
                    <a:lnTo>
                      <a:pt x="1036" y="1134"/>
                    </a:lnTo>
                    <a:lnTo>
                      <a:pt x="1010" y="1152"/>
                    </a:lnTo>
                    <a:lnTo>
                      <a:pt x="984" y="1170"/>
                    </a:lnTo>
                    <a:lnTo>
                      <a:pt x="958" y="1186"/>
                    </a:lnTo>
                    <a:lnTo>
                      <a:pt x="930" y="1202"/>
                    </a:lnTo>
                    <a:lnTo>
                      <a:pt x="902" y="1216"/>
                    </a:lnTo>
                    <a:lnTo>
                      <a:pt x="874" y="1228"/>
                    </a:lnTo>
                    <a:lnTo>
                      <a:pt x="846" y="1238"/>
                    </a:lnTo>
                    <a:lnTo>
                      <a:pt x="816" y="1248"/>
                    </a:lnTo>
                    <a:lnTo>
                      <a:pt x="786" y="1256"/>
                    </a:lnTo>
                    <a:lnTo>
                      <a:pt x="756" y="1262"/>
                    </a:lnTo>
                    <a:lnTo>
                      <a:pt x="726" y="1268"/>
                    </a:lnTo>
                    <a:lnTo>
                      <a:pt x="696" y="1272"/>
                    </a:lnTo>
                    <a:lnTo>
                      <a:pt x="666" y="1274"/>
                    </a:lnTo>
                    <a:lnTo>
                      <a:pt x="636" y="1274"/>
                    </a:lnTo>
                    <a:lnTo>
                      <a:pt x="604" y="1274"/>
                    </a:lnTo>
                    <a:lnTo>
                      <a:pt x="574" y="1270"/>
                    </a:lnTo>
                    <a:lnTo>
                      <a:pt x="544" y="1268"/>
                    </a:lnTo>
                    <a:lnTo>
                      <a:pt x="514" y="1262"/>
                    </a:lnTo>
                    <a:lnTo>
                      <a:pt x="484" y="1256"/>
                    </a:lnTo>
                    <a:lnTo>
                      <a:pt x="454" y="1248"/>
                    </a:lnTo>
                    <a:lnTo>
                      <a:pt x="424" y="1238"/>
                    </a:lnTo>
                    <a:lnTo>
                      <a:pt x="394" y="1226"/>
                    </a:lnTo>
                    <a:lnTo>
                      <a:pt x="366" y="1214"/>
                    </a:lnTo>
                    <a:lnTo>
                      <a:pt x="338" y="1200"/>
                    </a:lnTo>
                    <a:lnTo>
                      <a:pt x="310" y="1184"/>
                    </a:lnTo>
                    <a:lnTo>
                      <a:pt x="282" y="1166"/>
                    </a:lnTo>
                    <a:lnTo>
                      <a:pt x="256" y="1148"/>
                    </a:lnTo>
                    <a:lnTo>
                      <a:pt x="230" y="1128"/>
                    </a:lnTo>
                    <a:lnTo>
                      <a:pt x="230" y="1128"/>
                    </a:lnTo>
                    <a:lnTo>
                      <a:pt x="206" y="1106"/>
                    </a:lnTo>
                    <a:lnTo>
                      <a:pt x="182" y="1084"/>
                    </a:lnTo>
                    <a:lnTo>
                      <a:pt x="160" y="1060"/>
                    </a:lnTo>
                    <a:lnTo>
                      <a:pt x="140" y="1036"/>
                    </a:lnTo>
                    <a:lnTo>
                      <a:pt x="120" y="1012"/>
                    </a:lnTo>
                    <a:lnTo>
                      <a:pt x="102" y="986"/>
                    </a:lnTo>
                    <a:lnTo>
                      <a:pt x="86" y="958"/>
                    </a:lnTo>
                    <a:lnTo>
                      <a:pt x="72" y="932"/>
                    </a:lnTo>
                    <a:lnTo>
                      <a:pt x="58" y="904"/>
                    </a:lnTo>
                    <a:lnTo>
                      <a:pt x="46" y="876"/>
                    </a:lnTo>
                    <a:lnTo>
                      <a:pt x="34" y="846"/>
                    </a:lnTo>
                    <a:lnTo>
                      <a:pt x="26" y="818"/>
                    </a:lnTo>
                    <a:lnTo>
                      <a:pt x="18" y="788"/>
                    </a:lnTo>
                    <a:lnTo>
                      <a:pt x="10" y="758"/>
                    </a:lnTo>
                    <a:lnTo>
                      <a:pt x="6" y="728"/>
                    </a:lnTo>
                    <a:lnTo>
                      <a:pt x="2" y="698"/>
                    </a:lnTo>
                    <a:lnTo>
                      <a:pt x="0" y="668"/>
                    </a:lnTo>
                    <a:lnTo>
                      <a:pt x="0" y="636"/>
                    </a:lnTo>
                    <a:lnTo>
                      <a:pt x="0" y="606"/>
                    </a:lnTo>
                    <a:lnTo>
                      <a:pt x="2" y="576"/>
                    </a:lnTo>
                    <a:lnTo>
                      <a:pt x="6" y="544"/>
                    </a:lnTo>
                    <a:lnTo>
                      <a:pt x="10" y="514"/>
                    </a:lnTo>
                    <a:lnTo>
                      <a:pt x="18" y="484"/>
                    </a:lnTo>
                    <a:lnTo>
                      <a:pt x="26" y="454"/>
                    </a:lnTo>
                    <a:lnTo>
                      <a:pt x="36" y="426"/>
                    </a:lnTo>
                    <a:lnTo>
                      <a:pt x="46" y="396"/>
                    </a:lnTo>
                    <a:lnTo>
                      <a:pt x="60" y="368"/>
                    </a:lnTo>
                    <a:lnTo>
                      <a:pt x="74" y="338"/>
                    </a:lnTo>
                    <a:lnTo>
                      <a:pt x="88" y="312"/>
                    </a:lnTo>
                    <a:lnTo>
                      <a:pt x="106" y="284"/>
                    </a:lnTo>
                    <a:lnTo>
                      <a:pt x="124" y="258"/>
                    </a:lnTo>
                    <a:lnTo>
                      <a:pt x="146" y="232"/>
                    </a:lnTo>
                    <a:lnTo>
                      <a:pt x="146" y="232"/>
                    </a:lnTo>
                    <a:lnTo>
                      <a:pt x="166" y="208"/>
                    </a:lnTo>
                    <a:lnTo>
                      <a:pt x="190" y="184"/>
                    </a:lnTo>
                    <a:lnTo>
                      <a:pt x="212" y="162"/>
                    </a:lnTo>
                    <a:lnTo>
                      <a:pt x="236" y="142"/>
                    </a:lnTo>
                    <a:lnTo>
                      <a:pt x="262" y="122"/>
                    </a:lnTo>
                    <a:lnTo>
                      <a:pt x="288" y="104"/>
                    </a:lnTo>
                    <a:lnTo>
                      <a:pt x="314" y="88"/>
                    </a:lnTo>
                    <a:lnTo>
                      <a:pt x="342" y="72"/>
                    </a:lnTo>
                    <a:lnTo>
                      <a:pt x="370" y="58"/>
                    </a:lnTo>
                    <a:lnTo>
                      <a:pt x="398" y="46"/>
                    </a:lnTo>
                    <a:lnTo>
                      <a:pt x="426" y="36"/>
                    </a:lnTo>
                    <a:lnTo>
                      <a:pt x="456" y="26"/>
                    </a:lnTo>
                    <a:lnTo>
                      <a:pt x="486" y="18"/>
                    </a:lnTo>
                    <a:lnTo>
                      <a:pt x="516" y="12"/>
                    </a:lnTo>
                    <a:lnTo>
                      <a:pt x="546" y="8"/>
                    </a:lnTo>
                    <a:lnTo>
                      <a:pt x="576" y="4"/>
                    </a:lnTo>
                    <a:lnTo>
                      <a:pt x="606" y="2"/>
                    </a:lnTo>
                    <a:lnTo>
                      <a:pt x="636" y="0"/>
                    </a:lnTo>
                    <a:lnTo>
                      <a:pt x="668" y="2"/>
                    </a:lnTo>
                    <a:lnTo>
                      <a:pt x="698" y="4"/>
                    </a:lnTo>
                    <a:lnTo>
                      <a:pt x="728" y="8"/>
                    </a:lnTo>
                    <a:lnTo>
                      <a:pt x="758" y="12"/>
                    </a:lnTo>
                    <a:lnTo>
                      <a:pt x="788" y="18"/>
                    </a:lnTo>
                    <a:lnTo>
                      <a:pt x="818" y="28"/>
                    </a:lnTo>
                    <a:lnTo>
                      <a:pt x="848" y="36"/>
                    </a:lnTo>
                    <a:lnTo>
                      <a:pt x="878" y="48"/>
                    </a:lnTo>
                    <a:lnTo>
                      <a:pt x="906" y="60"/>
                    </a:lnTo>
                    <a:lnTo>
                      <a:pt x="934" y="74"/>
                    </a:lnTo>
                    <a:lnTo>
                      <a:pt x="962" y="90"/>
                    </a:lnTo>
                    <a:lnTo>
                      <a:pt x="990" y="108"/>
                    </a:lnTo>
                    <a:lnTo>
                      <a:pt x="1016" y="126"/>
                    </a:lnTo>
                    <a:lnTo>
                      <a:pt x="1042" y="146"/>
                    </a:lnTo>
                    <a:lnTo>
                      <a:pt x="1042" y="146"/>
                    </a:lnTo>
                    <a:close/>
                  </a:path>
                </a:pathLst>
              </a:custGeom>
              <a:solidFill>
                <a:schemeClr val="accent3"/>
              </a:solidFill>
              <a:ln>
                <a:noFill/>
              </a:ln>
            </p:spPr>
            <p:txBody>
              <a:bodyPr vert="horz" wrap="square" lIns="91440" tIns="45720" rIns="91440" bIns="45720" numCol="1" anchor="t" anchorCtr="0" compatLnSpc="1"/>
              <a:lstStyle/>
              <a:p>
                <a:endParaRPr lang="id-ID"/>
              </a:p>
            </p:txBody>
          </p:sp>
          <p:sp>
            <p:nvSpPr>
              <p:cNvPr id="11" name="iS1ïḍé"/>
              <p:cNvSpPr/>
              <p:nvPr>
                <p:custDataLst>
                  <p:tags r:id="rId11"/>
                </p:custDataLst>
              </p:nvPr>
            </p:nvSpPr>
            <p:spPr>
              <a:xfrm>
                <a:off x="1044066" y="1996395"/>
                <a:ext cx="547632" cy="510646"/>
              </a:xfrm>
              <a:custGeom>
                <a:avLst/>
                <a:gdLst>
                  <a:gd name="T0" fmla="*/ 3958 w 4630"/>
                  <a:gd name="T1" fmla="*/ 1193 h 4324"/>
                  <a:gd name="T2" fmla="*/ 3772 w 4630"/>
                  <a:gd name="T3" fmla="*/ 1223 h 4324"/>
                  <a:gd name="T4" fmla="*/ 3358 w 4630"/>
                  <a:gd name="T5" fmla="*/ 1778 h 4324"/>
                  <a:gd name="T6" fmla="*/ 3055 w 4630"/>
                  <a:gd name="T7" fmla="*/ 1876 h 4324"/>
                  <a:gd name="T8" fmla="*/ 2515 w 4630"/>
                  <a:gd name="T9" fmla="*/ 1484 h 4324"/>
                  <a:gd name="T10" fmla="*/ 2515 w 4630"/>
                  <a:gd name="T11" fmla="*/ 1166 h 4324"/>
                  <a:gd name="T12" fmla="*/ 2915 w 4630"/>
                  <a:gd name="T13" fmla="*/ 600 h 4324"/>
                  <a:gd name="T14" fmla="*/ 2315 w 4630"/>
                  <a:gd name="T15" fmla="*/ 0 h 4324"/>
                  <a:gd name="T16" fmla="*/ 1715 w 4630"/>
                  <a:gd name="T17" fmla="*/ 600 h 4324"/>
                  <a:gd name="T18" fmla="*/ 2115 w 4630"/>
                  <a:gd name="T19" fmla="*/ 1166 h 4324"/>
                  <a:gd name="T20" fmla="*/ 2115 w 4630"/>
                  <a:gd name="T21" fmla="*/ 1484 h 4324"/>
                  <a:gd name="T22" fmla="*/ 1575 w 4630"/>
                  <a:gd name="T23" fmla="*/ 1877 h 4324"/>
                  <a:gd name="T24" fmla="*/ 1273 w 4630"/>
                  <a:gd name="T25" fmla="*/ 1778 h 4324"/>
                  <a:gd name="T26" fmla="*/ 858 w 4630"/>
                  <a:gd name="T27" fmla="*/ 1223 h 4324"/>
                  <a:gd name="T28" fmla="*/ 673 w 4630"/>
                  <a:gd name="T29" fmla="*/ 1193 h 4324"/>
                  <a:gd name="T30" fmla="*/ 102 w 4630"/>
                  <a:gd name="T31" fmla="*/ 1608 h 4324"/>
                  <a:gd name="T32" fmla="*/ 488 w 4630"/>
                  <a:gd name="T33" fmla="*/ 2364 h 4324"/>
                  <a:gd name="T34" fmla="*/ 673 w 4630"/>
                  <a:gd name="T35" fmla="*/ 2394 h 4324"/>
                  <a:gd name="T36" fmla="*/ 1149 w 4630"/>
                  <a:gd name="T37" fmla="*/ 2159 h 4324"/>
                  <a:gd name="T38" fmla="*/ 1452 w 4630"/>
                  <a:gd name="T39" fmla="*/ 2258 h 4324"/>
                  <a:gd name="T40" fmla="*/ 1449 w 4630"/>
                  <a:gd name="T41" fmla="*/ 2327 h 4324"/>
                  <a:gd name="T42" fmla="*/ 1658 w 4630"/>
                  <a:gd name="T43" fmla="*/ 2891 h 4324"/>
                  <a:gd name="T44" fmla="*/ 1471 w 4630"/>
                  <a:gd name="T45" fmla="*/ 3149 h 4324"/>
                  <a:gd name="T46" fmla="*/ 1301 w 4630"/>
                  <a:gd name="T47" fmla="*/ 3124 h 4324"/>
                  <a:gd name="T48" fmla="*/ 815 w 4630"/>
                  <a:gd name="T49" fmla="*/ 3371 h 4324"/>
                  <a:gd name="T50" fmla="*/ 948 w 4630"/>
                  <a:gd name="T51" fmla="*/ 4209 h 4324"/>
                  <a:gd name="T52" fmla="*/ 1300 w 4630"/>
                  <a:gd name="T53" fmla="*/ 4324 h 4324"/>
                  <a:gd name="T54" fmla="*/ 1786 w 4630"/>
                  <a:gd name="T55" fmla="*/ 4077 h 4324"/>
                  <a:gd name="T56" fmla="*/ 1795 w 4630"/>
                  <a:gd name="T57" fmla="*/ 3384 h 4324"/>
                  <a:gd name="T58" fmla="*/ 1981 w 4630"/>
                  <a:gd name="T59" fmla="*/ 3127 h 4324"/>
                  <a:gd name="T60" fmla="*/ 2315 w 4630"/>
                  <a:gd name="T61" fmla="*/ 3194 h 4324"/>
                  <a:gd name="T62" fmla="*/ 2647 w 4630"/>
                  <a:gd name="T63" fmla="*/ 3127 h 4324"/>
                  <a:gd name="T64" fmla="*/ 2836 w 4630"/>
                  <a:gd name="T65" fmla="*/ 3385 h 4324"/>
                  <a:gd name="T66" fmla="*/ 2845 w 4630"/>
                  <a:gd name="T67" fmla="*/ 4077 h 4324"/>
                  <a:gd name="T68" fmla="*/ 3331 w 4630"/>
                  <a:gd name="T69" fmla="*/ 4324 h 4324"/>
                  <a:gd name="T70" fmla="*/ 3331 w 4630"/>
                  <a:gd name="T71" fmla="*/ 4324 h 4324"/>
                  <a:gd name="T72" fmla="*/ 3683 w 4630"/>
                  <a:gd name="T73" fmla="*/ 4209 h 4324"/>
                  <a:gd name="T74" fmla="*/ 3816 w 4630"/>
                  <a:gd name="T75" fmla="*/ 3371 h 4324"/>
                  <a:gd name="T76" fmla="*/ 3330 w 4630"/>
                  <a:gd name="T77" fmla="*/ 3124 h 4324"/>
                  <a:gd name="T78" fmla="*/ 3159 w 4630"/>
                  <a:gd name="T79" fmla="*/ 3149 h 4324"/>
                  <a:gd name="T80" fmla="*/ 2971 w 4630"/>
                  <a:gd name="T81" fmla="*/ 2893 h 4324"/>
                  <a:gd name="T82" fmla="*/ 3182 w 4630"/>
                  <a:gd name="T83" fmla="*/ 2327 h 4324"/>
                  <a:gd name="T84" fmla="*/ 3179 w 4630"/>
                  <a:gd name="T85" fmla="*/ 2257 h 4324"/>
                  <a:gd name="T86" fmla="*/ 3481 w 4630"/>
                  <a:gd name="T87" fmla="*/ 2159 h 4324"/>
                  <a:gd name="T88" fmla="*/ 3957 w 4630"/>
                  <a:gd name="T89" fmla="*/ 2394 h 4324"/>
                  <a:gd name="T90" fmla="*/ 3957 w 4630"/>
                  <a:gd name="T91" fmla="*/ 2394 h 4324"/>
                  <a:gd name="T92" fmla="*/ 4143 w 4630"/>
                  <a:gd name="T93" fmla="*/ 2364 h 4324"/>
                  <a:gd name="T94" fmla="*/ 4528 w 4630"/>
                  <a:gd name="T95" fmla="*/ 1608 h 4324"/>
                  <a:gd name="T96" fmla="*/ 3958 w 4630"/>
                  <a:gd name="T97" fmla="*/ 1193 h 4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30" h="4324">
                    <a:moveTo>
                      <a:pt x="3958" y="1193"/>
                    </a:moveTo>
                    <a:cubicBezTo>
                      <a:pt x="3895" y="1193"/>
                      <a:pt x="3832" y="1203"/>
                      <a:pt x="3772" y="1223"/>
                    </a:cubicBezTo>
                    <a:cubicBezTo>
                      <a:pt x="3524" y="1304"/>
                      <a:pt x="3364" y="1531"/>
                      <a:pt x="3358" y="1778"/>
                    </a:cubicBezTo>
                    <a:lnTo>
                      <a:pt x="3055" y="1876"/>
                    </a:lnTo>
                    <a:cubicBezTo>
                      <a:pt x="2936" y="1682"/>
                      <a:pt x="2743" y="1538"/>
                      <a:pt x="2515" y="1484"/>
                    </a:cubicBezTo>
                    <a:lnTo>
                      <a:pt x="2515" y="1166"/>
                    </a:lnTo>
                    <a:cubicBezTo>
                      <a:pt x="2748" y="1083"/>
                      <a:pt x="2915" y="861"/>
                      <a:pt x="2915" y="600"/>
                    </a:cubicBezTo>
                    <a:cubicBezTo>
                      <a:pt x="2915" y="270"/>
                      <a:pt x="2646" y="0"/>
                      <a:pt x="2315" y="0"/>
                    </a:cubicBezTo>
                    <a:cubicBezTo>
                      <a:pt x="1984" y="0"/>
                      <a:pt x="1715" y="270"/>
                      <a:pt x="1715" y="600"/>
                    </a:cubicBezTo>
                    <a:cubicBezTo>
                      <a:pt x="1715" y="861"/>
                      <a:pt x="1882" y="1083"/>
                      <a:pt x="2115" y="1166"/>
                    </a:cubicBezTo>
                    <a:lnTo>
                      <a:pt x="2115" y="1484"/>
                    </a:lnTo>
                    <a:cubicBezTo>
                      <a:pt x="1887" y="1538"/>
                      <a:pt x="1694" y="1682"/>
                      <a:pt x="1575" y="1877"/>
                    </a:cubicBezTo>
                    <a:lnTo>
                      <a:pt x="1273" y="1778"/>
                    </a:lnTo>
                    <a:cubicBezTo>
                      <a:pt x="1266" y="1531"/>
                      <a:pt x="1107" y="1304"/>
                      <a:pt x="858" y="1223"/>
                    </a:cubicBezTo>
                    <a:cubicBezTo>
                      <a:pt x="798" y="1203"/>
                      <a:pt x="736" y="1193"/>
                      <a:pt x="673" y="1193"/>
                    </a:cubicBezTo>
                    <a:cubicBezTo>
                      <a:pt x="412" y="1193"/>
                      <a:pt x="183" y="1360"/>
                      <a:pt x="102" y="1608"/>
                    </a:cubicBezTo>
                    <a:cubicBezTo>
                      <a:pt x="0" y="1923"/>
                      <a:pt x="173" y="2262"/>
                      <a:pt x="488" y="2364"/>
                    </a:cubicBezTo>
                    <a:cubicBezTo>
                      <a:pt x="548" y="2384"/>
                      <a:pt x="610" y="2394"/>
                      <a:pt x="673" y="2394"/>
                    </a:cubicBezTo>
                    <a:cubicBezTo>
                      <a:pt x="864" y="2394"/>
                      <a:pt x="1038" y="2304"/>
                      <a:pt x="1149" y="2159"/>
                    </a:cubicBezTo>
                    <a:lnTo>
                      <a:pt x="1452" y="2258"/>
                    </a:lnTo>
                    <a:cubicBezTo>
                      <a:pt x="1450" y="2281"/>
                      <a:pt x="1449" y="2304"/>
                      <a:pt x="1449" y="2327"/>
                    </a:cubicBezTo>
                    <a:cubicBezTo>
                      <a:pt x="1449" y="2542"/>
                      <a:pt x="1528" y="2740"/>
                      <a:pt x="1658" y="2891"/>
                    </a:cubicBezTo>
                    <a:lnTo>
                      <a:pt x="1471" y="3149"/>
                    </a:lnTo>
                    <a:cubicBezTo>
                      <a:pt x="1416" y="3132"/>
                      <a:pt x="1359" y="3124"/>
                      <a:pt x="1301" y="3124"/>
                    </a:cubicBezTo>
                    <a:cubicBezTo>
                      <a:pt x="1109" y="3124"/>
                      <a:pt x="927" y="3216"/>
                      <a:pt x="815" y="3371"/>
                    </a:cubicBezTo>
                    <a:cubicBezTo>
                      <a:pt x="620" y="3639"/>
                      <a:pt x="680" y="4015"/>
                      <a:pt x="948" y="4209"/>
                    </a:cubicBezTo>
                    <a:cubicBezTo>
                      <a:pt x="1051" y="4284"/>
                      <a:pt x="1173" y="4324"/>
                      <a:pt x="1300" y="4324"/>
                    </a:cubicBezTo>
                    <a:cubicBezTo>
                      <a:pt x="1492" y="4324"/>
                      <a:pt x="1673" y="4232"/>
                      <a:pt x="1786" y="4077"/>
                    </a:cubicBezTo>
                    <a:cubicBezTo>
                      <a:pt x="1939" y="3866"/>
                      <a:pt x="1934" y="3588"/>
                      <a:pt x="1795" y="3384"/>
                    </a:cubicBezTo>
                    <a:lnTo>
                      <a:pt x="1981" y="3127"/>
                    </a:lnTo>
                    <a:cubicBezTo>
                      <a:pt x="2084" y="3170"/>
                      <a:pt x="2197" y="3194"/>
                      <a:pt x="2315" y="3194"/>
                    </a:cubicBezTo>
                    <a:cubicBezTo>
                      <a:pt x="2433" y="3194"/>
                      <a:pt x="2545" y="3170"/>
                      <a:pt x="2647" y="3127"/>
                    </a:cubicBezTo>
                    <a:lnTo>
                      <a:pt x="2836" y="3385"/>
                    </a:lnTo>
                    <a:cubicBezTo>
                      <a:pt x="2696" y="3588"/>
                      <a:pt x="2692" y="3866"/>
                      <a:pt x="2845" y="4077"/>
                    </a:cubicBezTo>
                    <a:cubicBezTo>
                      <a:pt x="2957" y="4232"/>
                      <a:pt x="3139" y="4324"/>
                      <a:pt x="3331" y="4324"/>
                    </a:cubicBezTo>
                    <a:lnTo>
                      <a:pt x="3331" y="4324"/>
                    </a:lnTo>
                    <a:cubicBezTo>
                      <a:pt x="3458" y="4324"/>
                      <a:pt x="3580" y="4284"/>
                      <a:pt x="3683" y="4209"/>
                    </a:cubicBezTo>
                    <a:cubicBezTo>
                      <a:pt x="3951" y="4015"/>
                      <a:pt x="4010" y="3639"/>
                      <a:pt x="3816" y="3371"/>
                    </a:cubicBezTo>
                    <a:cubicBezTo>
                      <a:pt x="3703" y="3216"/>
                      <a:pt x="3522" y="3124"/>
                      <a:pt x="3330" y="3124"/>
                    </a:cubicBezTo>
                    <a:cubicBezTo>
                      <a:pt x="3271" y="3124"/>
                      <a:pt x="3214" y="3133"/>
                      <a:pt x="3159" y="3149"/>
                    </a:cubicBezTo>
                    <a:lnTo>
                      <a:pt x="2971" y="2893"/>
                    </a:lnTo>
                    <a:cubicBezTo>
                      <a:pt x="3102" y="2741"/>
                      <a:pt x="3182" y="2543"/>
                      <a:pt x="3182" y="2327"/>
                    </a:cubicBezTo>
                    <a:cubicBezTo>
                      <a:pt x="3182" y="2303"/>
                      <a:pt x="3181" y="2280"/>
                      <a:pt x="3179" y="2257"/>
                    </a:cubicBezTo>
                    <a:lnTo>
                      <a:pt x="3481" y="2159"/>
                    </a:lnTo>
                    <a:cubicBezTo>
                      <a:pt x="3592" y="2304"/>
                      <a:pt x="3766" y="2394"/>
                      <a:pt x="3957" y="2394"/>
                    </a:cubicBezTo>
                    <a:lnTo>
                      <a:pt x="3957" y="2394"/>
                    </a:lnTo>
                    <a:cubicBezTo>
                      <a:pt x="4020" y="2394"/>
                      <a:pt x="4083" y="2384"/>
                      <a:pt x="4143" y="2364"/>
                    </a:cubicBezTo>
                    <a:cubicBezTo>
                      <a:pt x="4458" y="2262"/>
                      <a:pt x="4630" y="1923"/>
                      <a:pt x="4528" y="1608"/>
                    </a:cubicBezTo>
                    <a:cubicBezTo>
                      <a:pt x="4447" y="1360"/>
                      <a:pt x="4218" y="1193"/>
                      <a:pt x="3958" y="1193"/>
                    </a:cubicBezTo>
                    <a:close/>
                  </a:path>
                </a:pathLst>
              </a:custGeom>
              <a:solidFill>
                <a:schemeClr val="bg1"/>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defRPr>
                </a:pPr>
                <a:endParaRPr sz="1500">
                  <a:solidFill>
                    <a:srgbClr val="FFFFFF"/>
                  </a:solidFill>
                  <a:effectLst>
                    <a:outerShdw blurRad="38100" dist="12700" dir="5400000" rotWithShape="0">
                      <a:srgbClr val="000000">
                        <a:alpha val="50000"/>
                      </a:srgbClr>
                    </a:outerShdw>
                  </a:effectLst>
                </a:endParaRPr>
              </a:p>
            </p:txBody>
          </p:sp>
        </p:grpSp>
        <p:grpSp>
          <p:nvGrpSpPr>
            <p:cNvPr id="12" name="išľíḑè"/>
            <p:cNvGrpSpPr/>
            <p:nvPr/>
          </p:nvGrpSpPr>
          <p:grpSpPr>
            <a:xfrm>
              <a:off x="1272963" y="2110739"/>
              <a:ext cx="7848282" cy="1106250"/>
              <a:chOff x="719137" y="2721784"/>
              <a:chExt cx="7848282" cy="1106250"/>
            </a:xfrm>
          </p:grpSpPr>
          <p:sp>
            <p:nvSpPr>
              <p:cNvPr id="13" name="isḷíḍê"/>
              <p:cNvSpPr/>
              <p:nvPr>
                <p:custDataLst>
                  <p:tags r:id="rId12"/>
                </p:custDataLst>
              </p:nvPr>
            </p:nvSpPr>
            <p:spPr bwMode="auto">
              <a:xfrm>
                <a:off x="719137" y="3135199"/>
                <a:ext cx="7848282" cy="69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tabLst>
                    <a:tab pos="227965" algn="l"/>
                  </a:tabLst>
                  <a:defRPr/>
                </a:pPr>
                <a:r>
                  <a:rPr lang="en-US" altLang="zh-CN" sz="1400" dirty="0">
                    <a:latin typeface="微软雅黑" panose="020B0503020204020204" charset="-122"/>
                    <a:ea typeface="微软雅黑" panose="020B0503020204020204" charset="-122"/>
                  </a:rPr>
                  <a:t>  </a:t>
                </a:r>
                <a:r>
                  <a:rPr lang="zh-CN" altLang="en-US" sz="1400" dirty="0">
                    <a:latin typeface="微软雅黑" panose="020B0503020204020204" charset="-122"/>
                    <a:ea typeface="微软雅黑" panose="020B0503020204020204" charset="-122"/>
                  </a:rPr>
                  <a:t>鉴于平台建设涉及多部门、多系统协同，恳请贵委牵头组建专项工作专班，成员涵盖贵委相关处室、中新建及重点国有企业代表。专班负责统筹推进建设规划、协调解决重大问题、督导项目进度，保障平台建设按时间节点高效落地。</a:t>
                </a:r>
                <a:endParaRPr lang="zh-CN" altLang="en-US" sz="1400" dirty="0">
                  <a:latin typeface="微软雅黑" panose="020B0503020204020204" charset="-122"/>
                  <a:ea typeface="微软雅黑" panose="020B0503020204020204" charset="-122"/>
                </a:endParaRPr>
              </a:p>
              <a:p>
                <a:pPr algn="just">
                  <a:lnSpc>
                    <a:spcPct val="150000"/>
                  </a:lnSpc>
                  <a:tabLst>
                    <a:tab pos="227965" algn="l"/>
                  </a:tabLst>
                  <a:defRPr/>
                </a:pPr>
                <a:endParaRPr lang="zh-CN" altLang="en-US" sz="1400" dirty="0">
                  <a:latin typeface="微软雅黑" panose="020B0503020204020204" charset="-122"/>
                  <a:ea typeface="微软雅黑" panose="020B0503020204020204" charset="-122"/>
                </a:endParaRPr>
              </a:p>
            </p:txBody>
          </p:sp>
          <p:sp>
            <p:nvSpPr>
              <p:cNvPr id="14" name="îšlïḍe"/>
              <p:cNvSpPr txBox="1"/>
              <p:nvPr>
                <p:custDataLst>
                  <p:tags r:id="rId13"/>
                </p:custDataLst>
              </p:nvPr>
            </p:nvSpPr>
            <p:spPr bwMode="auto">
              <a:xfrm>
                <a:off x="758485" y="2721784"/>
                <a:ext cx="5376847"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eaLnBrk="1" hangingPunct="1">
                  <a:lnSpc>
                    <a:spcPct val="100000"/>
                  </a:lnSpc>
                  <a:spcBef>
                    <a:spcPct val="0"/>
                  </a:spcBef>
                </a:pPr>
                <a:r>
                  <a:rPr lang="zh-CN" altLang="en-US" sz="2000" b="1" dirty="0"/>
                  <a:t>恳请组织专项工作专班</a:t>
                </a:r>
                <a:endParaRPr lang="zh-CN" altLang="en-US" sz="2000" b="1" dirty="0"/>
              </a:p>
            </p:txBody>
          </p:sp>
        </p:grpSp>
      </p:grpSp>
      <p:cxnSp>
        <p:nvCxnSpPr>
          <p:cNvPr id="15" name="直接连接符 14"/>
          <p:cNvCxnSpPr/>
          <p:nvPr>
            <p:custDataLst>
              <p:tags r:id="rId14"/>
            </p:custDataLst>
          </p:nvPr>
        </p:nvCxnSpPr>
        <p:spPr>
          <a:xfrm>
            <a:off x="1263650" y="2364105"/>
            <a:ext cx="604139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5"/>
            </p:custDataLst>
          </p:nvPr>
        </p:nvCxnSpPr>
        <p:spPr>
          <a:xfrm>
            <a:off x="1217295" y="3885565"/>
            <a:ext cx="600456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6"/>
            </p:custDataLst>
          </p:nvPr>
        </p:nvCxnSpPr>
        <p:spPr>
          <a:xfrm>
            <a:off x="1158240" y="5340985"/>
            <a:ext cx="600456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9" name="îSļîdê"/>
          <p:cNvSpPr/>
          <p:nvPr>
            <p:custDataLst>
              <p:tags r:id="rId17"/>
            </p:custDataLst>
          </p:nvPr>
        </p:nvSpPr>
        <p:spPr bwMode="auto">
          <a:xfrm>
            <a:off x="534670" y="1133409"/>
            <a:ext cx="630892" cy="553478"/>
          </a:xfrm>
          <a:custGeom>
            <a:avLst/>
            <a:gdLst>
              <a:gd name="T0" fmla="*/ 1066 w 1272"/>
              <a:gd name="T1" fmla="*/ 168 h 1274"/>
              <a:gd name="T2" fmla="*/ 1132 w 1272"/>
              <a:gd name="T3" fmla="*/ 238 h 1274"/>
              <a:gd name="T4" fmla="*/ 1186 w 1272"/>
              <a:gd name="T5" fmla="*/ 316 h 1274"/>
              <a:gd name="T6" fmla="*/ 1226 w 1272"/>
              <a:gd name="T7" fmla="*/ 398 h 1274"/>
              <a:gd name="T8" fmla="*/ 1254 w 1272"/>
              <a:gd name="T9" fmla="*/ 486 h 1274"/>
              <a:gd name="T10" fmla="*/ 1270 w 1272"/>
              <a:gd name="T11" fmla="*/ 576 h 1274"/>
              <a:gd name="T12" fmla="*/ 1272 w 1272"/>
              <a:gd name="T13" fmla="*/ 668 h 1274"/>
              <a:gd name="T14" fmla="*/ 1260 w 1272"/>
              <a:gd name="T15" fmla="*/ 760 h 1274"/>
              <a:gd name="T16" fmla="*/ 1236 w 1272"/>
              <a:gd name="T17" fmla="*/ 850 h 1274"/>
              <a:gd name="T18" fmla="*/ 1198 w 1272"/>
              <a:gd name="T19" fmla="*/ 936 h 1274"/>
              <a:gd name="T20" fmla="*/ 1146 w 1272"/>
              <a:gd name="T21" fmla="*/ 1016 h 1274"/>
              <a:gd name="T22" fmla="*/ 1106 w 1272"/>
              <a:gd name="T23" fmla="*/ 1068 h 1274"/>
              <a:gd name="T24" fmla="*/ 1036 w 1272"/>
              <a:gd name="T25" fmla="*/ 1134 h 1274"/>
              <a:gd name="T26" fmla="*/ 958 w 1272"/>
              <a:gd name="T27" fmla="*/ 1186 h 1274"/>
              <a:gd name="T28" fmla="*/ 874 w 1272"/>
              <a:gd name="T29" fmla="*/ 1228 h 1274"/>
              <a:gd name="T30" fmla="*/ 786 w 1272"/>
              <a:gd name="T31" fmla="*/ 1256 h 1274"/>
              <a:gd name="T32" fmla="*/ 696 w 1272"/>
              <a:gd name="T33" fmla="*/ 1272 h 1274"/>
              <a:gd name="T34" fmla="*/ 604 w 1272"/>
              <a:gd name="T35" fmla="*/ 1274 h 1274"/>
              <a:gd name="T36" fmla="*/ 514 w 1272"/>
              <a:gd name="T37" fmla="*/ 1262 h 1274"/>
              <a:gd name="T38" fmla="*/ 424 w 1272"/>
              <a:gd name="T39" fmla="*/ 1238 h 1274"/>
              <a:gd name="T40" fmla="*/ 338 w 1272"/>
              <a:gd name="T41" fmla="*/ 1200 h 1274"/>
              <a:gd name="T42" fmla="*/ 256 w 1272"/>
              <a:gd name="T43" fmla="*/ 1148 h 1274"/>
              <a:gd name="T44" fmla="*/ 206 w 1272"/>
              <a:gd name="T45" fmla="*/ 1106 h 1274"/>
              <a:gd name="T46" fmla="*/ 140 w 1272"/>
              <a:gd name="T47" fmla="*/ 1036 h 1274"/>
              <a:gd name="T48" fmla="*/ 86 w 1272"/>
              <a:gd name="T49" fmla="*/ 958 h 1274"/>
              <a:gd name="T50" fmla="*/ 46 w 1272"/>
              <a:gd name="T51" fmla="*/ 876 h 1274"/>
              <a:gd name="T52" fmla="*/ 18 w 1272"/>
              <a:gd name="T53" fmla="*/ 788 h 1274"/>
              <a:gd name="T54" fmla="*/ 2 w 1272"/>
              <a:gd name="T55" fmla="*/ 698 h 1274"/>
              <a:gd name="T56" fmla="*/ 0 w 1272"/>
              <a:gd name="T57" fmla="*/ 606 h 1274"/>
              <a:gd name="T58" fmla="*/ 10 w 1272"/>
              <a:gd name="T59" fmla="*/ 514 h 1274"/>
              <a:gd name="T60" fmla="*/ 36 w 1272"/>
              <a:gd name="T61" fmla="*/ 426 h 1274"/>
              <a:gd name="T62" fmla="*/ 74 w 1272"/>
              <a:gd name="T63" fmla="*/ 338 h 1274"/>
              <a:gd name="T64" fmla="*/ 124 w 1272"/>
              <a:gd name="T65" fmla="*/ 258 h 1274"/>
              <a:gd name="T66" fmla="*/ 166 w 1272"/>
              <a:gd name="T67" fmla="*/ 208 h 1274"/>
              <a:gd name="T68" fmla="*/ 236 w 1272"/>
              <a:gd name="T69" fmla="*/ 142 h 1274"/>
              <a:gd name="T70" fmla="*/ 314 w 1272"/>
              <a:gd name="T71" fmla="*/ 88 h 1274"/>
              <a:gd name="T72" fmla="*/ 398 w 1272"/>
              <a:gd name="T73" fmla="*/ 46 h 1274"/>
              <a:gd name="T74" fmla="*/ 486 w 1272"/>
              <a:gd name="T75" fmla="*/ 18 h 1274"/>
              <a:gd name="T76" fmla="*/ 576 w 1272"/>
              <a:gd name="T77" fmla="*/ 4 h 1274"/>
              <a:gd name="T78" fmla="*/ 668 w 1272"/>
              <a:gd name="T79" fmla="*/ 2 h 1274"/>
              <a:gd name="T80" fmla="*/ 758 w 1272"/>
              <a:gd name="T81" fmla="*/ 12 h 1274"/>
              <a:gd name="T82" fmla="*/ 848 w 1272"/>
              <a:gd name="T83" fmla="*/ 36 h 1274"/>
              <a:gd name="T84" fmla="*/ 934 w 1272"/>
              <a:gd name="T85" fmla="*/ 74 h 1274"/>
              <a:gd name="T86" fmla="*/ 1016 w 1272"/>
              <a:gd name="T87" fmla="*/ 126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2" h="1274">
                <a:moveTo>
                  <a:pt x="1042" y="146"/>
                </a:moveTo>
                <a:lnTo>
                  <a:pt x="1042" y="146"/>
                </a:lnTo>
                <a:lnTo>
                  <a:pt x="1066" y="168"/>
                </a:lnTo>
                <a:lnTo>
                  <a:pt x="1090" y="190"/>
                </a:lnTo>
                <a:lnTo>
                  <a:pt x="1112" y="214"/>
                </a:lnTo>
                <a:lnTo>
                  <a:pt x="1132" y="238"/>
                </a:lnTo>
                <a:lnTo>
                  <a:pt x="1152" y="264"/>
                </a:lnTo>
                <a:lnTo>
                  <a:pt x="1170" y="290"/>
                </a:lnTo>
                <a:lnTo>
                  <a:pt x="1186" y="316"/>
                </a:lnTo>
                <a:lnTo>
                  <a:pt x="1200" y="342"/>
                </a:lnTo>
                <a:lnTo>
                  <a:pt x="1214" y="370"/>
                </a:lnTo>
                <a:lnTo>
                  <a:pt x="1226" y="398"/>
                </a:lnTo>
                <a:lnTo>
                  <a:pt x="1238" y="428"/>
                </a:lnTo>
                <a:lnTo>
                  <a:pt x="1246" y="456"/>
                </a:lnTo>
                <a:lnTo>
                  <a:pt x="1254" y="486"/>
                </a:lnTo>
                <a:lnTo>
                  <a:pt x="1260" y="516"/>
                </a:lnTo>
                <a:lnTo>
                  <a:pt x="1266" y="546"/>
                </a:lnTo>
                <a:lnTo>
                  <a:pt x="1270" y="576"/>
                </a:lnTo>
                <a:lnTo>
                  <a:pt x="1272" y="608"/>
                </a:lnTo>
                <a:lnTo>
                  <a:pt x="1272" y="638"/>
                </a:lnTo>
                <a:lnTo>
                  <a:pt x="1272" y="668"/>
                </a:lnTo>
                <a:lnTo>
                  <a:pt x="1270" y="700"/>
                </a:lnTo>
                <a:lnTo>
                  <a:pt x="1266" y="730"/>
                </a:lnTo>
                <a:lnTo>
                  <a:pt x="1260" y="760"/>
                </a:lnTo>
                <a:lnTo>
                  <a:pt x="1254" y="790"/>
                </a:lnTo>
                <a:lnTo>
                  <a:pt x="1246" y="820"/>
                </a:lnTo>
                <a:lnTo>
                  <a:pt x="1236" y="850"/>
                </a:lnTo>
                <a:lnTo>
                  <a:pt x="1226" y="878"/>
                </a:lnTo>
                <a:lnTo>
                  <a:pt x="1212" y="908"/>
                </a:lnTo>
                <a:lnTo>
                  <a:pt x="1198" y="936"/>
                </a:lnTo>
                <a:lnTo>
                  <a:pt x="1182" y="964"/>
                </a:lnTo>
                <a:lnTo>
                  <a:pt x="1166" y="990"/>
                </a:lnTo>
                <a:lnTo>
                  <a:pt x="1146" y="1016"/>
                </a:lnTo>
                <a:lnTo>
                  <a:pt x="1126" y="1042"/>
                </a:lnTo>
                <a:lnTo>
                  <a:pt x="1126" y="1042"/>
                </a:lnTo>
                <a:lnTo>
                  <a:pt x="1106" y="1068"/>
                </a:lnTo>
                <a:lnTo>
                  <a:pt x="1082" y="1090"/>
                </a:lnTo>
                <a:lnTo>
                  <a:pt x="1060" y="1112"/>
                </a:lnTo>
                <a:lnTo>
                  <a:pt x="1036" y="1134"/>
                </a:lnTo>
                <a:lnTo>
                  <a:pt x="1010" y="1152"/>
                </a:lnTo>
                <a:lnTo>
                  <a:pt x="984" y="1170"/>
                </a:lnTo>
                <a:lnTo>
                  <a:pt x="958" y="1186"/>
                </a:lnTo>
                <a:lnTo>
                  <a:pt x="930" y="1202"/>
                </a:lnTo>
                <a:lnTo>
                  <a:pt x="902" y="1216"/>
                </a:lnTo>
                <a:lnTo>
                  <a:pt x="874" y="1228"/>
                </a:lnTo>
                <a:lnTo>
                  <a:pt x="846" y="1238"/>
                </a:lnTo>
                <a:lnTo>
                  <a:pt x="816" y="1248"/>
                </a:lnTo>
                <a:lnTo>
                  <a:pt x="786" y="1256"/>
                </a:lnTo>
                <a:lnTo>
                  <a:pt x="756" y="1262"/>
                </a:lnTo>
                <a:lnTo>
                  <a:pt x="726" y="1268"/>
                </a:lnTo>
                <a:lnTo>
                  <a:pt x="696" y="1272"/>
                </a:lnTo>
                <a:lnTo>
                  <a:pt x="666" y="1274"/>
                </a:lnTo>
                <a:lnTo>
                  <a:pt x="636" y="1274"/>
                </a:lnTo>
                <a:lnTo>
                  <a:pt x="604" y="1274"/>
                </a:lnTo>
                <a:lnTo>
                  <a:pt x="574" y="1270"/>
                </a:lnTo>
                <a:lnTo>
                  <a:pt x="544" y="1268"/>
                </a:lnTo>
                <a:lnTo>
                  <a:pt x="514" y="1262"/>
                </a:lnTo>
                <a:lnTo>
                  <a:pt x="484" y="1256"/>
                </a:lnTo>
                <a:lnTo>
                  <a:pt x="454" y="1248"/>
                </a:lnTo>
                <a:lnTo>
                  <a:pt x="424" y="1238"/>
                </a:lnTo>
                <a:lnTo>
                  <a:pt x="394" y="1226"/>
                </a:lnTo>
                <a:lnTo>
                  <a:pt x="366" y="1214"/>
                </a:lnTo>
                <a:lnTo>
                  <a:pt x="338" y="1200"/>
                </a:lnTo>
                <a:lnTo>
                  <a:pt x="310" y="1184"/>
                </a:lnTo>
                <a:lnTo>
                  <a:pt x="282" y="1166"/>
                </a:lnTo>
                <a:lnTo>
                  <a:pt x="256" y="1148"/>
                </a:lnTo>
                <a:lnTo>
                  <a:pt x="230" y="1128"/>
                </a:lnTo>
                <a:lnTo>
                  <a:pt x="230" y="1128"/>
                </a:lnTo>
                <a:lnTo>
                  <a:pt x="206" y="1106"/>
                </a:lnTo>
                <a:lnTo>
                  <a:pt x="182" y="1084"/>
                </a:lnTo>
                <a:lnTo>
                  <a:pt x="160" y="1060"/>
                </a:lnTo>
                <a:lnTo>
                  <a:pt x="140" y="1036"/>
                </a:lnTo>
                <a:lnTo>
                  <a:pt x="120" y="1012"/>
                </a:lnTo>
                <a:lnTo>
                  <a:pt x="102" y="986"/>
                </a:lnTo>
                <a:lnTo>
                  <a:pt x="86" y="958"/>
                </a:lnTo>
                <a:lnTo>
                  <a:pt x="72" y="932"/>
                </a:lnTo>
                <a:lnTo>
                  <a:pt x="58" y="904"/>
                </a:lnTo>
                <a:lnTo>
                  <a:pt x="46" y="876"/>
                </a:lnTo>
                <a:lnTo>
                  <a:pt x="34" y="846"/>
                </a:lnTo>
                <a:lnTo>
                  <a:pt x="26" y="818"/>
                </a:lnTo>
                <a:lnTo>
                  <a:pt x="18" y="788"/>
                </a:lnTo>
                <a:lnTo>
                  <a:pt x="10" y="758"/>
                </a:lnTo>
                <a:lnTo>
                  <a:pt x="6" y="728"/>
                </a:lnTo>
                <a:lnTo>
                  <a:pt x="2" y="698"/>
                </a:lnTo>
                <a:lnTo>
                  <a:pt x="0" y="668"/>
                </a:lnTo>
                <a:lnTo>
                  <a:pt x="0" y="636"/>
                </a:lnTo>
                <a:lnTo>
                  <a:pt x="0" y="606"/>
                </a:lnTo>
                <a:lnTo>
                  <a:pt x="2" y="576"/>
                </a:lnTo>
                <a:lnTo>
                  <a:pt x="6" y="544"/>
                </a:lnTo>
                <a:lnTo>
                  <a:pt x="10" y="514"/>
                </a:lnTo>
                <a:lnTo>
                  <a:pt x="18" y="484"/>
                </a:lnTo>
                <a:lnTo>
                  <a:pt x="26" y="454"/>
                </a:lnTo>
                <a:lnTo>
                  <a:pt x="36" y="426"/>
                </a:lnTo>
                <a:lnTo>
                  <a:pt x="46" y="396"/>
                </a:lnTo>
                <a:lnTo>
                  <a:pt x="60" y="368"/>
                </a:lnTo>
                <a:lnTo>
                  <a:pt x="74" y="338"/>
                </a:lnTo>
                <a:lnTo>
                  <a:pt x="88" y="312"/>
                </a:lnTo>
                <a:lnTo>
                  <a:pt x="106" y="284"/>
                </a:lnTo>
                <a:lnTo>
                  <a:pt x="124" y="258"/>
                </a:lnTo>
                <a:lnTo>
                  <a:pt x="146" y="232"/>
                </a:lnTo>
                <a:lnTo>
                  <a:pt x="146" y="232"/>
                </a:lnTo>
                <a:lnTo>
                  <a:pt x="166" y="208"/>
                </a:lnTo>
                <a:lnTo>
                  <a:pt x="190" y="184"/>
                </a:lnTo>
                <a:lnTo>
                  <a:pt x="212" y="162"/>
                </a:lnTo>
                <a:lnTo>
                  <a:pt x="236" y="142"/>
                </a:lnTo>
                <a:lnTo>
                  <a:pt x="262" y="122"/>
                </a:lnTo>
                <a:lnTo>
                  <a:pt x="288" y="104"/>
                </a:lnTo>
                <a:lnTo>
                  <a:pt x="314" y="88"/>
                </a:lnTo>
                <a:lnTo>
                  <a:pt x="342" y="72"/>
                </a:lnTo>
                <a:lnTo>
                  <a:pt x="370" y="58"/>
                </a:lnTo>
                <a:lnTo>
                  <a:pt x="398" y="46"/>
                </a:lnTo>
                <a:lnTo>
                  <a:pt x="426" y="36"/>
                </a:lnTo>
                <a:lnTo>
                  <a:pt x="456" y="26"/>
                </a:lnTo>
                <a:lnTo>
                  <a:pt x="486" y="18"/>
                </a:lnTo>
                <a:lnTo>
                  <a:pt x="516" y="12"/>
                </a:lnTo>
                <a:lnTo>
                  <a:pt x="546" y="8"/>
                </a:lnTo>
                <a:lnTo>
                  <a:pt x="576" y="4"/>
                </a:lnTo>
                <a:lnTo>
                  <a:pt x="606" y="2"/>
                </a:lnTo>
                <a:lnTo>
                  <a:pt x="636" y="0"/>
                </a:lnTo>
                <a:lnTo>
                  <a:pt x="668" y="2"/>
                </a:lnTo>
                <a:lnTo>
                  <a:pt x="698" y="4"/>
                </a:lnTo>
                <a:lnTo>
                  <a:pt x="728" y="8"/>
                </a:lnTo>
                <a:lnTo>
                  <a:pt x="758" y="12"/>
                </a:lnTo>
                <a:lnTo>
                  <a:pt x="788" y="18"/>
                </a:lnTo>
                <a:lnTo>
                  <a:pt x="818" y="28"/>
                </a:lnTo>
                <a:lnTo>
                  <a:pt x="848" y="36"/>
                </a:lnTo>
                <a:lnTo>
                  <a:pt x="878" y="48"/>
                </a:lnTo>
                <a:lnTo>
                  <a:pt x="906" y="60"/>
                </a:lnTo>
                <a:lnTo>
                  <a:pt x="934" y="74"/>
                </a:lnTo>
                <a:lnTo>
                  <a:pt x="962" y="90"/>
                </a:lnTo>
                <a:lnTo>
                  <a:pt x="990" y="108"/>
                </a:lnTo>
                <a:lnTo>
                  <a:pt x="1016" y="126"/>
                </a:lnTo>
                <a:lnTo>
                  <a:pt x="1042" y="146"/>
                </a:lnTo>
                <a:lnTo>
                  <a:pt x="1042" y="146"/>
                </a:lnTo>
                <a:close/>
              </a:path>
            </a:pathLst>
          </a:custGeom>
          <a:solidFill>
            <a:srgbClr val="4276AA"/>
          </a:solidFill>
          <a:ln>
            <a:noFill/>
          </a:ln>
        </p:spPr>
        <p:txBody>
          <a:bodyPr vert="horz" wrap="square" lIns="91440" tIns="45720" rIns="91440" bIns="45720" numCol="1" anchor="t" anchorCtr="0" compatLnSpc="1"/>
          <a:lstStyle/>
          <a:p>
            <a:endParaRPr lang="id-ID"/>
          </a:p>
        </p:txBody>
      </p:sp>
      <p:sp>
        <p:nvSpPr>
          <p:cNvPr id="20" name="îsḷíḑe"/>
          <p:cNvSpPr/>
          <p:nvPr>
            <p:custDataLst>
              <p:tags r:id="rId18"/>
            </p:custDataLst>
          </p:nvPr>
        </p:nvSpPr>
        <p:spPr>
          <a:xfrm>
            <a:off x="651426" y="1247866"/>
            <a:ext cx="397380" cy="324564"/>
          </a:xfrm>
          <a:custGeom>
            <a:avLst/>
            <a:gdLst>
              <a:gd name="T0" fmla="*/ 3958 w 4630"/>
              <a:gd name="T1" fmla="*/ 1193 h 4324"/>
              <a:gd name="T2" fmla="*/ 3772 w 4630"/>
              <a:gd name="T3" fmla="*/ 1223 h 4324"/>
              <a:gd name="T4" fmla="*/ 3358 w 4630"/>
              <a:gd name="T5" fmla="*/ 1778 h 4324"/>
              <a:gd name="T6" fmla="*/ 3055 w 4630"/>
              <a:gd name="T7" fmla="*/ 1876 h 4324"/>
              <a:gd name="T8" fmla="*/ 2515 w 4630"/>
              <a:gd name="T9" fmla="*/ 1484 h 4324"/>
              <a:gd name="T10" fmla="*/ 2515 w 4630"/>
              <a:gd name="T11" fmla="*/ 1166 h 4324"/>
              <a:gd name="T12" fmla="*/ 2915 w 4630"/>
              <a:gd name="T13" fmla="*/ 600 h 4324"/>
              <a:gd name="T14" fmla="*/ 2315 w 4630"/>
              <a:gd name="T15" fmla="*/ 0 h 4324"/>
              <a:gd name="T16" fmla="*/ 1715 w 4630"/>
              <a:gd name="T17" fmla="*/ 600 h 4324"/>
              <a:gd name="T18" fmla="*/ 2115 w 4630"/>
              <a:gd name="T19" fmla="*/ 1166 h 4324"/>
              <a:gd name="T20" fmla="*/ 2115 w 4630"/>
              <a:gd name="T21" fmla="*/ 1484 h 4324"/>
              <a:gd name="T22" fmla="*/ 1575 w 4630"/>
              <a:gd name="T23" fmla="*/ 1877 h 4324"/>
              <a:gd name="T24" fmla="*/ 1273 w 4630"/>
              <a:gd name="T25" fmla="*/ 1778 h 4324"/>
              <a:gd name="T26" fmla="*/ 858 w 4630"/>
              <a:gd name="T27" fmla="*/ 1223 h 4324"/>
              <a:gd name="T28" fmla="*/ 673 w 4630"/>
              <a:gd name="T29" fmla="*/ 1193 h 4324"/>
              <a:gd name="T30" fmla="*/ 102 w 4630"/>
              <a:gd name="T31" fmla="*/ 1608 h 4324"/>
              <a:gd name="T32" fmla="*/ 488 w 4630"/>
              <a:gd name="T33" fmla="*/ 2364 h 4324"/>
              <a:gd name="T34" fmla="*/ 673 w 4630"/>
              <a:gd name="T35" fmla="*/ 2394 h 4324"/>
              <a:gd name="T36" fmla="*/ 1149 w 4630"/>
              <a:gd name="T37" fmla="*/ 2159 h 4324"/>
              <a:gd name="T38" fmla="*/ 1452 w 4630"/>
              <a:gd name="T39" fmla="*/ 2258 h 4324"/>
              <a:gd name="T40" fmla="*/ 1449 w 4630"/>
              <a:gd name="T41" fmla="*/ 2327 h 4324"/>
              <a:gd name="T42" fmla="*/ 1658 w 4630"/>
              <a:gd name="T43" fmla="*/ 2891 h 4324"/>
              <a:gd name="T44" fmla="*/ 1471 w 4630"/>
              <a:gd name="T45" fmla="*/ 3149 h 4324"/>
              <a:gd name="T46" fmla="*/ 1301 w 4630"/>
              <a:gd name="T47" fmla="*/ 3124 h 4324"/>
              <a:gd name="T48" fmla="*/ 815 w 4630"/>
              <a:gd name="T49" fmla="*/ 3371 h 4324"/>
              <a:gd name="T50" fmla="*/ 948 w 4630"/>
              <a:gd name="T51" fmla="*/ 4209 h 4324"/>
              <a:gd name="T52" fmla="*/ 1300 w 4630"/>
              <a:gd name="T53" fmla="*/ 4324 h 4324"/>
              <a:gd name="T54" fmla="*/ 1786 w 4630"/>
              <a:gd name="T55" fmla="*/ 4077 h 4324"/>
              <a:gd name="T56" fmla="*/ 1795 w 4630"/>
              <a:gd name="T57" fmla="*/ 3384 h 4324"/>
              <a:gd name="T58" fmla="*/ 1981 w 4630"/>
              <a:gd name="T59" fmla="*/ 3127 h 4324"/>
              <a:gd name="T60" fmla="*/ 2315 w 4630"/>
              <a:gd name="T61" fmla="*/ 3194 h 4324"/>
              <a:gd name="T62" fmla="*/ 2647 w 4630"/>
              <a:gd name="T63" fmla="*/ 3127 h 4324"/>
              <a:gd name="T64" fmla="*/ 2836 w 4630"/>
              <a:gd name="T65" fmla="*/ 3385 h 4324"/>
              <a:gd name="T66" fmla="*/ 2845 w 4630"/>
              <a:gd name="T67" fmla="*/ 4077 h 4324"/>
              <a:gd name="T68" fmla="*/ 3331 w 4630"/>
              <a:gd name="T69" fmla="*/ 4324 h 4324"/>
              <a:gd name="T70" fmla="*/ 3331 w 4630"/>
              <a:gd name="T71" fmla="*/ 4324 h 4324"/>
              <a:gd name="T72" fmla="*/ 3683 w 4630"/>
              <a:gd name="T73" fmla="*/ 4209 h 4324"/>
              <a:gd name="T74" fmla="*/ 3816 w 4630"/>
              <a:gd name="T75" fmla="*/ 3371 h 4324"/>
              <a:gd name="T76" fmla="*/ 3330 w 4630"/>
              <a:gd name="T77" fmla="*/ 3124 h 4324"/>
              <a:gd name="T78" fmla="*/ 3159 w 4630"/>
              <a:gd name="T79" fmla="*/ 3149 h 4324"/>
              <a:gd name="T80" fmla="*/ 2971 w 4630"/>
              <a:gd name="T81" fmla="*/ 2893 h 4324"/>
              <a:gd name="T82" fmla="*/ 3182 w 4630"/>
              <a:gd name="T83" fmla="*/ 2327 h 4324"/>
              <a:gd name="T84" fmla="*/ 3179 w 4630"/>
              <a:gd name="T85" fmla="*/ 2257 h 4324"/>
              <a:gd name="T86" fmla="*/ 3481 w 4630"/>
              <a:gd name="T87" fmla="*/ 2159 h 4324"/>
              <a:gd name="T88" fmla="*/ 3957 w 4630"/>
              <a:gd name="T89" fmla="*/ 2394 h 4324"/>
              <a:gd name="T90" fmla="*/ 3957 w 4630"/>
              <a:gd name="T91" fmla="*/ 2394 h 4324"/>
              <a:gd name="T92" fmla="*/ 4143 w 4630"/>
              <a:gd name="T93" fmla="*/ 2364 h 4324"/>
              <a:gd name="T94" fmla="*/ 4528 w 4630"/>
              <a:gd name="T95" fmla="*/ 1608 h 4324"/>
              <a:gd name="T96" fmla="*/ 3958 w 4630"/>
              <a:gd name="T97" fmla="*/ 1193 h 4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30" h="4324">
                <a:moveTo>
                  <a:pt x="3958" y="1193"/>
                </a:moveTo>
                <a:cubicBezTo>
                  <a:pt x="3895" y="1193"/>
                  <a:pt x="3832" y="1203"/>
                  <a:pt x="3772" y="1223"/>
                </a:cubicBezTo>
                <a:cubicBezTo>
                  <a:pt x="3524" y="1304"/>
                  <a:pt x="3364" y="1531"/>
                  <a:pt x="3358" y="1778"/>
                </a:cubicBezTo>
                <a:lnTo>
                  <a:pt x="3055" y="1876"/>
                </a:lnTo>
                <a:cubicBezTo>
                  <a:pt x="2936" y="1682"/>
                  <a:pt x="2743" y="1538"/>
                  <a:pt x="2515" y="1484"/>
                </a:cubicBezTo>
                <a:lnTo>
                  <a:pt x="2515" y="1166"/>
                </a:lnTo>
                <a:cubicBezTo>
                  <a:pt x="2748" y="1083"/>
                  <a:pt x="2915" y="861"/>
                  <a:pt x="2915" y="600"/>
                </a:cubicBezTo>
                <a:cubicBezTo>
                  <a:pt x="2915" y="270"/>
                  <a:pt x="2646" y="0"/>
                  <a:pt x="2315" y="0"/>
                </a:cubicBezTo>
                <a:cubicBezTo>
                  <a:pt x="1984" y="0"/>
                  <a:pt x="1715" y="270"/>
                  <a:pt x="1715" y="600"/>
                </a:cubicBezTo>
                <a:cubicBezTo>
                  <a:pt x="1715" y="861"/>
                  <a:pt x="1882" y="1083"/>
                  <a:pt x="2115" y="1166"/>
                </a:cubicBezTo>
                <a:lnTo>
                  <a:pt x="2115" y="1484"/>
                </a:lnTo>
                <a:cubicBezTo>
                  <a:pt x="1887" y="1538"/>
                  <a:pt x="1694" y="1682"/>
                  <a:pt x="1575" y="1877"/>
                </a:cubicBezTo>
                <a:lnTo>
                  <a:pt x="1273" y="1778"/>
                </a:lnTo>
                <a:cubicBezTo>
                  <a:pt x="1266" y="1531"/>
                  <a:pt x="1107" y="1304"/>
                  <a:pt x="858" y="1223"/>
                </a:cubicBezTo>
                <a:cubicBezTo>
                  <a:pt x="798" y="1203"/>
                  <a:pt x="736" y="1193"/>
                  <a:pt x="673" y="1193"/>
                </a:cubicBezTo>
                <a:cubicBezTo>
                  <a:pt x="412" y="1193"/>
                  <a:pt x="183" y="1360"/>
                  <a:pt x="102" y="1608"/>
                </a:cubicBezTo>
                <a:cubicBezTo>
                  <a:pt x="0" y="1923"/>
                  <a:pt x="173" y="2262"/>
                  <a:pt x="488" y="2364"/>
                </a:cubicBezTo>
                <a:cubicBezTo>
                  <a:pt x="548" y="2384"/>
                  <a:pt x="610" y="2394"/>
                  <a:pt x="673" y="2394"/>
                </a:cubicBezTo>
                <a:cubicBezTo>
                  <a:pt x="864" y="2394"/>
                  <a:pt x="1038" y="2304"/>
                  <a:pt x="1149" y="2159"/>
                </a:cubicBezTo>
                <a:lnTo>
                  <a:pt x="1452" y="2258"/>
                </a:lnTo>
                <a:cubicBezTo>
                  <a:pt x="1450" y="2281"/>
                  <a:pt x="1449" y="2304"/>
                  <a:pt x="1449" y="2327"/>
                </a:cubicBezTo>
                <a:cubicBezTo>
                  <a:pt x="1449" y="2542"/>
                  <a:pt x="1528" y="2740"/>
                  <a:pt x="1658" y="2891"/>
                </a:cubicBezTo>
                <a:lnTo>
                  <a:pt x="1471" y="3149"/>
                </a:lnTo>
                <a:cubicBezTo>
                  <a:pt x="1416" y="3132"/>
                  <a:pt x="1359" y="3124"/>
                  <a:pt x="1301" y="3124"/>
                </a:cubicBezTo>
                <a:cubicBezTo>
                  <a:pt x="1109" y="3124"/>
                  <a:pt x="927" y="3216"/>
                  <a:pt x="815" y="3371"/>
                </a:cubicBezTo>
                <a:cubicBezTo>
                  <a:pt x="620" y="3639"/>
                  <a:pt x="680" y="4015"/>
                  <a:pt x="948" y="4209"/>
                </a:cubicBezTo>
                <a:cubicBezTo>
                  <a:pt x="1051" y="4284"/>
                  <a:pt x="1173" y="4324"/>
                  <a:pt x="1300" y="4324"/>
                </a:cubicBezTo>
                <a:cubicBezTo>
                  <a:pt x="1492" y="4324"/>
                  <a:pt x="1673" y="4232"/>
                  <a:pt x="1786" y="4077"/>
                </a:cubicBezTo>
                <a:cubicBezTo>
                  <a:pt x="1939" y="3866"/>
                  <a:pt x="1934" y="3588"/>
                  <a:pt x="1795" y="3384"/>
                </a:cubicBezTo>
                <a:lnTo>
                  <a:pt x="1981" y="3127"/>
                </a:lnTo>
                <a:cubicBezTo>
                  <a:pt x="2084" y="3170"/>
                  <a:pt x="2197" y="3194"/>
                  <a:pt x="2315" y="3194"/>
                </a:cubicBezTo>
                <a:cubicBezTo>
                  <a:pt x="2433" y="3194"/>
                  <a:pt x="2545" y="3170"/>
                  <a:pt x="2647" y="3127"/>
                </a:cubicBezTo>
                <a:lnTo>
                  <a:pt x="2836" y="3385"/>
                </a:lnTo>
                <a:cubicBezTo>
                  <a:pt x="2696" y="3588"/>
                  <a:pt x="2692" y="3866"/>
                  <a:pt x="2845" y="4077"/>
                </a:cubicBezTo>
                <a:cubicBezTo>
                  <a:pt x="2957" y="4232"/>
                  <a:pt x="3139" y="4324"/>
                  <a:pt x="3331" y="4324"/>
                </a:cubicBezTo>
                <a:lnTo>
                  <a:pt x="3331" y="4324"/>
                </a:lnTo>
                <a:cubicBezTo>
                  <a:pt x="3458" y="4324"/>
                  <a:pt x="3580" y="4284"/>
                  <a:pt x="3683" y="4209"/>
                </a:cubicBezTo>
                <a:cubicBezTo>
                  <a:pt x="3951" y="4015"/>
                  <a:pt x="4010" y="3639"/>
                  <a:pt x="3816" y="3371"/>
                </a:cubicBezTo>
                <a:cubicBezTo>
                  <a:pt x="3703" y="3216"/>
                  <a:pt x="3522" y="3124"/>
                  <a:pt x="3330" y="3124"/>
                </a:cubicBezTo>
                <a:cubicBezTo>
                  <a:pt x="3271" y="3124"/>
                  <a:pt x="3214" y="3133"/>
                  <a:pt x="3159" y="3149"/>
                </a:cubicBezTo>
                <a:lnTo>
                  <a:pt x="2971" y="2893"/>
                </a:lnTo>
                <a:cubicBezTo>
                  <a:pt x="3102" y="2741"/>
                  <a:pt x="3182" y="2543"/>
                  <a:pt x="3182" y="2327"/>
                </a:cubicBezTo>
                <a:cubicBezTo>
                  <a:pt x="3182" y="2303"/>
                  <a:pt x="3181" y="2280"/>
                  <a:pt x="3179" y="2257"/>
                </a:cubicBezTo>
                <a:lnTo>
                  <a:pt x="3481" y="2159"/>
                </a:lnTo>
                <a:cubicBezTo>
                  <a:pt x="3592" y="2304"/>
                  <a:pt x="3766" y="2394"/>
                  <a:pt x="3957" y="2394"/>
                </a:cubicBezTo>
                <a:lnTo>
                  <a:pt x="3957" y="2394"/>
                </a:lnTo>
                <a:cubicBezTo>
                  <a:pt x="4020" y="2394"/>
                  <a:pt x="4083" y="2384"/>
                  <a:pt x="4143" y="2364"/>
                </a:cubicBezTo>
                <a:cubicBezTo>
                  <a:pt x="4458" y="2262"/>
                  <a:pt x="4630" y="1923"/>
                  <a:pt x="4528" y="1608"/>
                </a:cubicBezTo>
                <a:cubicBezTo>
                  <a:pt x="4447" y="1360"/>
                  <a:pt x="4218" y="1193"/>
                  <a:pt x="3958" y="1193"/>
                </a:cubicBezTo>
                <a:close/>
              </a:path>
            </a:pathLst>
          </a:custGeom>
          <a:solidFill>
            <a:schemeClr val="bg1"/>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defRPr>
            </a:pPr>
            <a:endParaRPr sz="1500">
              <a:solidFill>
                <a:srgbClr val="FFFFFF"/>
              </a:solidFill>
              <a:effectLst>
                <a:outerShdw blurRad="38100" dist="12700" dir="5400000" rotWithShape="0">
                  <a:srgbClr val="000000">
                    <a:alpha val="50000"/>
                  </a:srgbClr>
                </a:outerShdw>
              </a:effectLst>
            </a:endParaRPr>
          </a:p>
        </p:txBody>
      </p:sp>
      <p:sp>
        <p:nvSpPr>
          <p:cNvPr id="21" name="isḷíḍê"/>
          <p:cNvSpPr/>
          <p:nvPr>
            <p:custDataLst>
              <p:tags r:id="rId19"/>
            </p:custDataLst>
          </p:nvPr>
        </p:nvSpPr>
        <p:spPr bwMode="auto">
          <a:xfrm>
            <a:off x="1252855" y="1492250"/>
            <a:ext cx="8821420" cy="692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tabLst>
                <a:tab pos="227965" algn="l"/>
              </a:tabLst>
              <a:defRPr/>
            </a:pPr>
            <a:r>
              <a:rPr lang="en-US" altLang="zh-CN" sz="1400" dirty="0">
                <a:latin typeface="微软雅黑" panose="020B0503020204020204" charset="-122"/>
                <a:ea typeface="微软雅黑" panose="020B0503020204020204" charset="-122"/>
              </a:rPr>
              <a:t>  </a:t>
            </a:r>
            <a:r>
              <a:rPr lang="zh-CN" altLang="en-US" sz="1400" dirty="0">
                <a:latin typeface="微软雅黑" panose="020B0503020204020204" charset="-122"/>
                <a:ea typeface="微软雅黑" panose="020B0503020204020204" charset="-122"/>
              </a:rPr>
              <a:t>兵团国有企业</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人工智能</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阳光采购平台的建设需统筹各师市、各层级国有企业协同推进，恳请贵委出具专项指导意见，明确平台建设的政策定位与推进要求，给予政策指导，为平台建设运营营造良好政策环境。</a:t>
            </a:r>
            <a:endParaRPr lang="zh-CN" altLang="en-US" sz="1400" dirty="0">
              <a:latin typeface="微软雅黑" panose="020B0503020204020204" charset="-122"/>
              <a:ea typeface="微软雅黑" panose="020B0503020204020204" charset="-122"/>
            </a:endParaRPr>
          </a:p>
          <a:p>
            <a:pPr algn="just">
              <a:lnSpc>
                <a:spcPct val="150000"/>
              </a:lnSpc>
              <a:tabLst>
                <a:tab pos="227965" algn="l"/>
              </a:tabLst>
              <a:defRPr/>
            </a:pPr>
            <a:endParaRPr lang="zh-CN" altLang="en-US" sz="1400" dirty="0">
              <a:latin typeface="微软雅黑" panose="020B0503020204020204" charset="-122"/>
              <a:ea typeface="微软雅黑" panose="020B0503020204020204" charset="-122"/>
            </a:endParaRPr>
          </a:p>
        </p:txBody>
      </p:sp>
      <p:grpSp>
        <p:nvGrpSpPr>
          <p:cNvPr id="5" name="组合 4"/>
          <p:cNvGrpSpPr/>
          <p:nvPr/>
        </p:nvGrpSpPr>
        <p:grpSpPr>
          <a:xfrm>
            <a:off x="-609573" y="240598"/>
            <a:ext cx="1322628" cy="631070"/>
            <a:chOff x="-504068" y="174267"/>
            <a:chExt cx="1600668" cy="763731"/>
          </a:xfrm>
        </p:grpSpPr>
        <p:sp>
          <p:nvSpPr>
            <p:cNvPr id="18" name="平行四边形 17"/>
            <p:cNvSpPr/>
            <p:nvPr/>
          </p:nvSpPr>
          <p:spPr>
            <a:xfrm>
              <a:off x="-427868" y="217998"/>
              <a:ext cx="1524468" cy="720000"/>
            </a:xfrm>
            <a:prstGeom prst="parallelogram">
              <a:avLst>
                <a:gd name="adj" fmla="val 62277"/>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平行四边形 21"/>
            <p:cNvSpPr/>
            <p:nvPr/>
          </p:nvSpPr>
          <p:spPr>
            <a:xfrm>
              <a:off x="-504068" y="174267"/>
              <a:ext cx="1524468" cy="720000"/>
            </a:xfrm>
            <a:prstGeom prst="parallelogram">
              <a:avLst>
                <a:gd name="adj" fmla="val 62277"/>
              </a:avLst>
            </a:prstGeom>
            <a:solidFill>
              <a:srgbClr val="3271CC"/>
            </a:solidFill>
            <a:ln w="12700" cap="flat" cmpd="sng" algn="ctr">
              <a:noFill/>
              <a:prstDash val="solid"/>
              <a:miter lim="800000"/>
            </a:ln>
            <a:effectLst>
              <a:outerShdw blurRad="127000" dist="38100" dir="2700000" algn="tl" rotWithShape="0">
                <a:prstClr val="black">
                  <a:alpha val="20000"/>
                </a:prstClr>
              </a:outerShdw>
            </a:effectLst>
          </p:spPr>
          <p:txBody>
            <a:bodyPr rtlCol="0" anchor="ctr"/>
            <a:lstStyle/>
            <a:p>
              <a:pPr algn="ctr"/>
              <a:endParaRPr lang="zh-CN" altLang="en-US" kern="0" dirty="0">
                <a:solidFill>
                  <a:prstClr val="white"/>
                </a:solidFill>
                <a:cs typeface="+mn-ea"/>
                <a:sym typeface="+mn-lt"/>
              </a:endParaRPr>
            </a:p>
          </p:txBody>
        </p:sp>
      </p:grpSp>
      <p:sp>
        <p:nvSpPr>
          <p:cNvPr id="23" name="文本框 22"/>
          <p:cNvSpPr txBox="1"/>
          <p:nvPr/>
        </p:nvSpPr>
        <p:spPr>
          <a:xfrm>
            <a:off x="673100" y="326390"/>
            <a:ext cx="11626850" cy="583565"/>
          </a:xfrm>
          <a:prstGeom prst="rect">
            <a:avLst/>
          </a:prstGeom>
          <a:noFill/>
        </p:spPr>
        <p:txBody>
          <a:bodyPr wrap="square" rtlCol="0">
            <a:spAutoFit/>
          </a:bodyPr>
          <a:lstStyle/>
          <a:p>
            <a:r>
              <a:rPr lang="zh-CN" altLang="en-US" sz="3200" b="1" dirty="0">
                <a:solidFill>
                  <a:srgbClr val="3271CC"/>
                </a:solidFill>
                <a:latin typeface="微软雅黑" panose="020B0503020204020204" charset="-122"/>
                <a:ea typeface="微软雅黑" panose="020B0503020204020204" charset="-122"/>
                <a:cs typeface="+mn-ea"/>
                <a:sym typeface="+mn-lt"/>
              </a:rPr>
              <a:t>申请事项</a:t>
            </a:r>
            <a:endParaRPr lang="zh-CN" altLang="en-US" sz="3200" b="1" dirty="0">
              <a:solidFill>
                <a:srgbClr val="3271CC"/>
              </a:solidFill>
              <a:latin typeface="微软雅黑" panose="020B0503020204020204" charset="-122"/>
              <a:ea typeface="微软雅黑" panose="020B050302020402020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a:xfrm>
            <a:off x="0" y="-27039"/>
            <a:ext cx="12192000" cy="6885039"/>
            <a:chOff x="0" y="-27039"/>
            <a:chExt cx="12192000" cy="6885039"/>
          </a:xfrm>
        </p:grpSpPr>
        <p:pic>
          <p:nvPicPr>
            <p:cNvPr id="110" name="图片 109"/>
            <p:cNvPicPr>
              <a:picLocks noChangeAspect="1"/>
            </p:cNvPicPr>
            <p:nvPr/>
          </p:nvPicPr>
          <p:blipFill>
            <a:blip r:embed="rId1">
              <a:extLst>
                <a:ext uri="{BEBA8EAE-BF5A-486C-A8C5-ECC9F3942E4B}">
                  <a14:imgProps xmlns:a14="http://schemas.microsoft.com/office/drawing/2010/main">
                    <a14:imgLayer r:embed="rId2">
                      <a14:imgEffect>
                        <a14:artisticFilmGrain trans="85000" grainSize="80"/>
                      </a14:imgEffect>
                    </a14:imgLayer>
                  </a14:imgProps>
                </a:ext>
              </a:extLst>
            </a:blip>
            <a:stretch>
              <a:fillRect/>
            </a:stretch>
          </p:blipFill>
          <p:spPr>
            <a:xfrm>
              <a:off x="0" y="0"/>
              <a:ext cx="12192000" cy="6857999"/>
            </a:xfrm>
            <a:prstGeom prst="rect">
              <a:avLst/>
            </a:prstGeom>
          </p:spPr>
        </p:pic>
        <p:pic>
          <p:nvPicPr>
            <p:cNvPr id="111" name="图片 110" descr="背景图案&#10;&#10;描述已自动生成"/>
            <p:cNvPicPr>
              <a:picLocks noChangeAspect="1"/>
            </p:cNvPicPr>
            <p:nvPr/>
          </p:nvPicPr>
          <p:blipFill>
            <a:blip r:embed="rId3" cstate="print">
              <a:alphaModFix amt="20000"/>
              <a:extLst>
                <a:ext uri="{28A0092B-C50C-407E-A947-70E740481C1C}">
                  <a14:useLocalDpi xmlns:a14="http://schemas.microsoft.com/office/drawing/2010/main" val="0"/>
                </a:ext>
              </a:extLst>
            </a:blip>
            <a:stretch>
              <a:fillRect/>
            </a:stretch>
          </p:blipFill>
          <p:spPr>
            <a:xfrm>
              <a:off x="0" y="-27039"/>
              <a:ext cx="12191999" cy="6885039"/>
            </a:xfrm>
            <a:prstGeom prst="rect">
              <a:avLst/>
            </a:prstGeom>
          </p:spPr>
        </p:pic>
      </p:grpSp>
      <p:sp>
        <p:nvSpPr>
          <p:cNvPr id="112" name="任意多边形: 形状 111"/>
          <p:cNvSpPr/>
          <p:nvPr/>
        </p:nvSpPr>
        <p:spPr>
          <a:xfrm>
            <a:off x="1" y="-912186"/>
            <a:ext cx="12191999" cy="5978523"/>
          </a:xfrm>
          <a:custGeom>
            <a:avLst/>
            <a:gdLst>
              <a:gd name="connsiteX0" fmla="*/ 6096001 w 12191999"/>
              <a:gd name="connsiteY0" fmla="*/ 0 h 5978523"/>
              <a:gd name="connsiteX1" fmla="*/ 11879794 w 12191999"/>
              <a:gd name="connsiteY1" fmla="*/ 234911 h 5978523"/>
              <a:gd name="connsiteX2" fmla="*/ 12191999 w 12191999"/>
              <a:gd name="connsiteY2" fmla="*/ 263306 h 5978523"/>
              <a:gd name="connsiteX3" fmla="*/ 12191999 w 12191999"/>
              <a:gd name="connsiteY3" fmla="*/ 5715217 h 5978523"/>
              <a:gd name="connsiteX4" fmla="*/ 11879794 w 12191999"/>
              <a:gd name="connsiteY4" fmla="*/ 5743612 h 5978523"/>
              <a:gd name="connsiteX5" fmla="*/ 6096001 w 12191999"/>
              <a:gd name="connsiteY5" fmla="*/ 5978523 h 5978523"/>
              <a:gd name="connsiteX6" fmla="*/ 312207 w 12191999"/>
              <a:gd name="connsiteY6" fmla="*/ 5743612 h 5978523"/>
              <a:gd name="connsiteX7" fmla="*/ 0 w 12191999"/>
              <a:gd name="connsiteY7" fmla="*/ 5715217 h 5978523"/>
              <a:gd name="connsiteX8" fmla="*/ 0 w 12191999"/>
              <a:gd name="connsiteY8" fmla="*/ 263306 h 5978523"/>
              <a:gd name="connsiteX9" fmla="*/ 312207 w 12191999"/>
              <a:gd name="connsiteY9" fmla="*/ 234911 h 5978523"/>
              <a:gd name="connsiteX10" fmla="*/ 6096001 w 12191999"/>
              <a:gd name="connsiteY10" fmla="*/ 0 h 5978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9" h="5978523">
                <a:moveTo>
                  <a:pt x="6096001" y="0"/>
                </a:moveTo>
                <a:cubicBezTo>
                  <a:pt x="8147601" y="0"/>
                  <a:pt x="10102088" y="83646"/>
                  <a:pt x="11879794" y="234911"/>
                </a:cubicBezTo>
                <a:lnTo>
                  <a:pt x="12191999" y="263306"/>
                </a:lnTo>
                <a:lnTo>
                  <a:pt x="12191999" y="5715217"/>
                </a:lnTo>
                <a:lnTo>
                  <a:pt x="11879794" y="5743612"/>
                </a:lnTo>
                <a:cubicBezTo>
                  <a:pt x="10102088" y="5894877"/>
                  <a:pt x="8147601" y="5978523"/>
                  <a:pt x="6096001" y="5978523"/>
                </a:cubicBezTo>
                <a:cubicBezTo>
                  <a:pt x="4044401" y="5978523"/>
                  <a:pt x="2089914" y="5894877"/>
                  <a:pt x="312207" y="5743612"/>
                </a:cubicBezTo>
                <a:lnTo>
                  <a:pt x="0" y="5715217"/>
                </a:lnTo>
                <a:lnTo>
                  <a:pt x="0" y="263306"/>
                </a:lnTo>
                <a:lnTo>
                  <a:pt x="312207" y="234911"/>
                </a:lnTo>
                <a:cubicBezTo>
                  <a:pt x="2089914" y="83646"/>
                  <a:pt x="4044401" y="0"/>
                  <a:pt x="6096001" y="0"/>
                </a:cubicBezTo>
                <a:close/>
              </a:path>
            </a:pathLst>
          </a:custGeom>
          <a:gradFill>
            <a:gsLst>
              <a:gs pos="0">
                <a:srgbClr val="FEA725">
                  <a:lumMod val="90000"/>
                  <a:lumOff val="10000"/>
                </a:srgbClr>
              </a:gs>
              <a:gs pos="100000">
                <a:srgbClr val="FEA725">
                  <a:lumMod val="79000"/>
                </a:srgbClr>
              </a:gs>
            </a:gsLst>
            <a:lin ang="0" scaled="0"/>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sp>
        <p:nvSpPr>
          <p:cNvPr id="113" name="任意多边形: 形状 112"/>
          <p:cNvSpPr/>
          <p:nvPr/>
        </p:nvSpPr>
        <p:spPr>
          <a:xfrm>
            <a:off x="1" y="-912186"/>
            <a:ext cx="12191999" cy="5978523"/>
          </a:xfrm>
          <a:custGeom>
            <a:avLst/>
            <a:gdLst>
              <a:gd name="connsiteX0" fmla="*/ 6096001 w 12191999"/>
              <a:gd name="connsiteY0" fmla="*/ 0 h 5978523"/>
              <a:gd name="connsiteX1" fmla="*/ 11963602 w 12191999"/>
              <a:gd name="connsiteY1" fmla="*/ 432765 h 5978523"/>
              <a:gd name="connsiteX2" fmla="*/ 12191999 w 12191999"/>
              <a:gd name="connsiteY2" fmla="*/ 471445 h 5978523"/>
              <a:gd name="connsiteX3" fmla="*/ 12191999 w 12191999"/>
              <a:gd name="connsiteY3" fmla="*/ 5507078 h 5978523"/>
              <a:gd name="connsiteX4" fmla="*/ 11963602 w 12191999"/>
              <a:gd name="connsiteY4" fmla="*/ 5545758 h 5978523"/>
              <a:gd name="connsiteX5" fmla="*/ 6096001 w 12191999"/>
              <a:gd name="connsiteY5" fmla="*/ 5978523 h 5978523"/>
              <a:gd name="connsiteX6" fmla="*/ 228398 w 12191999"/>
              <a:gd name="connsiteY6" fmla="*/ 5545758 h 5978523"/>
              <a:gd name="connsiteX7" fmla="*/ 0 w 12191999"/>
              <a:gd name="connsiteY7" fmla="*/ 5507077 h 5978523"/>
              <a:gd name="connsiteX8" fmla="*/ 0 w 12191999"/>
              <a:gd name="connsiteY8" fmla="*/ 471445 h 5978523"/>
              <a:gd name="connsiteX9" fmla="*/ 228398 w 12191999"/>
              <a:gd name="connsiteY9" fmla="*/ 432765 h 5978523"/>
              <a:gd name="connsiteX10" fmla="*/ 6096001 w 12191999"/>
              <a:gd name="connsiteY10" fmla="*/ 0 h 5978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9" h="5978523">
                <a:moveTo>
                  <a:pt x="6096001" y="0"/>
                </a:moveTo>
                <a:cubicBezTo>
                  <a:pt x="8244262" y="0"/>
                  <a:pt x="10252702" y="158143"/>
                  <a:pt x="11963602" y="432765"/>
                </a:cubicBezTo>
                <a:lnTo>
                  <a:pt x="12191999" y="471445"/>
                </a:lnTo>
                <a:lnTo>
                  <a:pt x="12191999" y="5507078"/>
                </a:lnTo>
                <a:lnTo>
                  <a:pt x="11963602" y="5545758"/>
                </a:lnTo>
                <a:cubicBezTo>
                  <a:pt x="10252702" y="5820380"/>
                  <a:pt x="8244262" y="5978523"/>
                  <a:pt x="6096001" y="5978523"/>
                </a:cubicBezTo>
                <a:cubicBezTo>
                  <a:pt x="3947739" y="5978523"/>
                  <a:pt x="1939298" y="5820380"/>
                  <a:pt x="228398" y="5545758"/>
                </a:cubicBezTo>
                <a:lnTo>
                  <a:pt x="0" y="5507077"/>
                </a:lnTo>
                <a:lnTo>
                  <a:pt x="0" y="471445"/>
                </a:lnTo>
                <a:lnTo>
                  <a:pt x="228398" y="432765"/>
                </a:lnTo>
                <a:cubicBezTo>
                  <a:pt x="1939298" y="158143"/>
                  <a:pt x="3947739" y="0"/>
                  <a:pt x="6096001" y="0"/>
                </a:cubicBezTo>
                <a:close/>
              </a:path>
            </a:pathLst>
          </a:custGeom>
          <a:solidFill>
            <a:srgbClr val="FFFFFF"/>
          </a:solidFill>
          <a:ln w="12700" cap="flat" cmpd="sng" algn="ctr">
            <a:noFill/>
            <a:prstDash val="solid"/>
            <a:miter lim="800000"/>
          </a:ln>
          <a:effectLst>
            <a:outerShdw blurRad="127000" dist="63500" dir="5400000" algn="t" rotWithShape="0">
              <a:srgbClr val="073F97">
                <a:lumMod val="75000"/>
                <a:alpha val="30000"/>
              </a:srgb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pic>
        <p:nvPicPr>
          <p:cNvPr id="114" name="图片 113" descr="图片包含 物体, 发动机, 桌子, 大&#10;&#10;描述已自动生成"/>
          <p:cNvPicPr>
            <a:picLocks noChangeAspect="1"/>
          </p:cNvPicPr>
          <p:nvPr/>
        </p:nvPicPr>
        <p:blipFill rotWithShape="1">
          <a:blip r:embed="rId4" cstate="print">
            <a:grayscl/>
            <a:extLst>
              <a:ext uri="{28A0092B-C50C-407E-A947-70E740481C1C}">
                <a14:useLocalDpi xmlns:a14="http://schemas.microsoft.com/office/drawing/2010/main" val="0"/>
              </a:ext>
            </a:extLst>
          </a:blip>
          <a:srcRect t="1405" b="2344"/>
          <a:stretch>
            <a:fillRect/>
          </a:stretch>
        </p:blipFill>
        <p:spPr>
          <a:xfrm>
            <a:off x="0" y="-937874"/>
            <a:ext cx="12192000" cy="5867469"/>
          </a:xfrm>
          <a:custGeom>
            <a:avLst/>
            <a:gdLst>
              <a:gd name="connsiteX0" fmla="*/ 6096000 w 12192000"/>
              <a:gd name="connsiteY0" fmla="*/ 0 h 5867469"/>
              <a:gd name="connsiteX1" fmla="*/ 11851845 w 12192000"/>
              <a:gd name="connsiteY1" fmla="*/ 682602 h 5867469"/>
              <a:gd name="connsiteX2" fmla="*/ 12192000 w 12192000"/>
              <a:gd name="connsiteY2" fmla="*/ 784731 h 5867469"/>
              <a:gd name="connsiteX3" fmla="*/ 12192000 w 12192000"/>
              <a:gd name="connsiteY3" fmla="*/ 5193793 h 5867469"/>
              <a:gd name="connsiteX4" fmla="*/ 11851845 w 12192000"/>
              <a:gd name="connsiteY4" fmla="*/ 5295922 h 5867469"/>
              <a:gd name="connsiteX5" fmla="*/ 8786822 w 12192000"/>
              <a:gd name="connsiteY5" fmla="*/ 5844133 h 5867469"/>
              <a:gd name="connsiteX6" fmla="*/ 8512089 w 12192000"/>
              <a:gd name="connsiteY6" fmla="*/ 5867469 h 5867469"/>
              <a:gd name="connsiteX7" fmla="*/ 3679911 w 12192000"/>
              <a:gd name="connsiteY7" fmla="*/ 5867469 h 5867469"/>
              <a:gd name="connsiteX8" fmla="*/ 3405179 w 12192000"/>
              <a:gd name="connsiteY8" fmla="*/ 5844133 h 5867469"/>
              <a:gd name="connsiteX9" fmla="*/ 340155 w 12192000"/>
              <a:gd name="connsiteY9" fmla="*/ 5295922 h 5867469"/>
              <a:gd name="connsiteX10" fmla="*/ 0 w 12192000"/>
              <a:gd name="connsiteY10" fmla="*/ 5193793 h 5867469"/>
              <a:gd name="connsiteX11" fmla="*/ 0 w 12192000"/>
              <a:gd name="connsiteY11" fmla="*/ 784731 h 5867469"/>
              <a:gd name="connsiteX12" fmla="*/ 340155 w 12192000"/>
              <a:gd name="connsiteY12" fmla="*/ 682602 h 5867469"/>
              <a:gd name="connsiteX13" fmla="*/ 6096000 w 12192000"/>
              <a:gd name="connsiteY13" fmla="*/ 0 h 58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867469">
                <a:moveTo>
                  <a:pt x="6096000" y="0"/>
                </a:moveTo>
                <a:cubicBezTo>
                  <a:pt x="8282401" y="0"/>
                  <a:pt x="10287688" y="256166"/>
                  <a:pt x="11851845" y="682602"/>
                </a:cubicBezTo>
                <a:lnTo>
                  <a:pt x="12192000" y="784731"/>
                </a:lnTo>
                <a:lnTo>
                  <a:pt x="12192000" y="5193793"/>
                </a:lnTo>
                <a:lnTo>
                  <a:pt x="11851845" y="5295922"/>
                </a:lnTo>
                <a:cubicBezTo>
                  <a:pt x="10958041" y="5539600"/>
                  <a:pt x="9920194" y="5727679"/>
                  <a:pt x="8786822" y="5844133"/>
                </a:cubicBezTo>
                <a:lnTo>
                  <a:pt x="8512089" y="5867469"/>
                </a:lnTo>
                <a:lnTo>
                  <a:pt x="3679911" y="5867469"/>
                </a:lnTo>
                <a:lnTo>
                  <a:pt x="3405179" y="5844133"/>
                </a:lnTo>
                <a:cubicBezTo>
                  <a:pt x="2271806" y="5727679"/>
                  <a:pt x="1233959" y="5539600"/>
                  <a:pt x="340155" y="5295922"/>
                </a:cubicBezTo>
                <a:lnTo>
                  <a:pt x="0" y="5193793"/>
                </a:lnTo>
                <a:lnTo>
                  <a:pt x="0" y="784731"/>
                </a:lnTo>
                <a:lnTo>
                  <a:pt x="340155" y="682602"/>
                </a:lnTo>
                <a:cubicBezTo>
                  <a:pt x="1904312" y="256166"/>
                  <a:pt x="3909600" y="0"/>
                  <a:pt x="6096000" y="0"/>
                </a:cubicBezTo>
                <a:close/>
              </a:path>
            </a:pathLst>
          </a:custGeom>
        </p:spPr>
      </p:pic>
      <p:sp>
        <p:nvSpPr>
          <p:cNvPr id="115" name="任意多边形: 形状 114"/>
          <p:cNvSpPr/>
          <p:nvPr/>
        </p:nvSpPr>
        <p:spPr>
          <a:xfrm>
            <a:off x="1" y="-937873"/>
            <a:ext cx="12191999" cy="5978523"/>
          </a:xfrm>
          <a:custGeom>
            <a:avLst/>
            <a:gdLst>
              <a:gd name="connsiteX0" fmla="*/ 6096001 w 12191999"/>
              <a:gd name="connsiteY0" fmla="*/ 0 h 5978523"/>
              <a:gd name="connsiteX1" fmla="*/ 12180175 w 12191999"/>
              <a:gd name="connsiteY1" fmla="*/ 776555 h 5978523"/>
              <a:gd name="connsiteX2" fmla="*/ 12191999 w 12191999"/>
              <a:gd name="connsiteY2" fmla="*/ 780279 h 5978523"/>
              <a:gd name="connsiteX3" fmla="*/ 12191999 w 12191999"/>
              <a:gd name="connsiteY3" fmla="*/ 5198243 h 5978523"/>
              <a:gd name="connsiteX4" fmla="*/ 12180175 w 12191999"/>
              <a:gd name="connsiteY4" fmla="*/ 5201967 h 5978523"/>
              <a:gd name="connsiteX5" fmla="*/ 6096001 w 12191999"/>
              <a:gd name="connsiteY5" fmla="*/ 5978523 h 5978523"/>
              <a:gd name="connsiteX6" fmla="*/ 11825 w 12191999"/>
              <a:gd name="connsiteY6" fmla="*/ 5201967 h 5978523"/>
              <a:gd name="connsiteX7" fmla="*/ 0 w 12191999"/>
              <a:gd name="connsiteY7" fmla="*/ 5198243 h 5978523"/>
              <a:gd name="connsiteX8" fmla="*/ 0 w 12191999"/>
              <a:gd name="connsiteY8" fmla="*/ 780280 h 5978523"/>
              <a:gd name="connsiteX9" fmla="*/ 11825 w 12191999"/>
              <a:gd name="connsiteY9" fmla="*/ 776555 h 5978523"/>
              <a:gd name="connsiteX10" fmla="*/ 6096001 w 12191999"/>
              <a:gd name="connsiteY10" fmla="*/ 0 h 5978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9" h="5978523">
                <a:moveTo>
                  <a:pt x="6096001" y="0"/>
                </a:moveTo>
                <a:cubicBezTo>
                  <a:pt x="8438572" y="0"/>
                  <a:pt x="10573234" y="294068"/>
                  <a:pt x="12180175" y="776555"/>
                </a:cubicBezTo>
                <a:lnTo>
                  <a:pt x="12191999" y="780279"/>
                </a:lnTo>
                <a:lnTo>
                  <a:pt x="12191999" y="5198243"/>
                </a:lnTo>
                <a:lnTo>
                  <a:pt x="12180175" y="5201967"/>
                </a:lnTo>
                <a:cubicBezTo>
                  <a:pt x="10573234" y="5684455"/>
                  <a:pt x="8438572" y="5978523"/>
                  <a:pt x="6096001" y="5978523"/>
                </a:cubicBezTo>
                <a:cubicBezTo>
                  <a:pt x="3753429" y="5978523"/>
                  <a:pt x="1618767" y="5684455"/>
                  <a:pt x="11825" y="5201967"/>
                </a:cubicBezTo>
                <a:lnTo>
                  <a:pt x="0" y="5198243"/>
                </a:lnTo>
                <a:lnTo>
                  <a:pt x="0" y="780280"/>
                </a:lnTo>
                <a:lnTo>
                  <a:pt x="11825" y="776555"/>
                </a:lnTo>
                <a:cubicBezTo>
                  <a:pt x="1618767" y="294068"/>
                  <a:pt x="3753429" y="0"/>
                  <a:pt x="6096001" y="0"/>
                </a:cubicBezTo>
                <a:close/>
              </a:path>
            </a:pathLst>
          </a:custGeom>
          <a:gradFill>
            <a:gsLst>
              <a:gs pos="1000">
                <a:srgbClr val="073F97">
                  <a:lumMod val="90000"/>
                  <a:lumOff val="10000"/>
                  <a:alpha val="82000"/>
                </a:srgbClr>
              </a:gs>
              <a:gs pos="100000">
                <a:srgbClr val="073F97">
                  <a:lumMod val="95000"/>
                  <a:alpha val="88000"/>
                </a:srgbClr>
              </a:gs>
            </a:gsLst>
            <a:lin ang="0" scaled="0"/>
          </a:gradFill>
          <a:ln w="12700" cap="flat" cmpd="sng" algn="ctr">
            <a:noFill/>
            <a:prstDash val="solid"/>
            <a:miter lim="800000"/>
          </a:ln>
          <a:effectLst>
            <a:outerShdw blurRad="254000" dist="63500" dir="5400000" rotWithShape="0">
              <a:srgbClr val="073F97">
                <a:lumMod val="75000"/>
                <a:alpha val="35000"/>
              </a:srgb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sp>
        <p:nvSpPr>
          <p:cNvPr id="118" name="椭圆 117"/>
          <p:cNvSpPr/>
          <p:nvPr/>
        </p:nvSpPr>
        <p:spPr>
          <a:xfrm rot="8581646">
            <a:off x="-1891053" y="-2397629"/>
            <a:ext cx="7282933" cy="7282933"/>
          </a:xfrm>
          <a:prstGeom prst="ellipse">
            <a:avLst/>
          </a:prstGeom>
          <a:gradFill>
            <a:gsLst>
              <a:gs pos="0">
                <a:srgbClr val="073F97">
                  <a:lumMod val="20000"/>
                  <a:lumOff val="80000"/>
                  <a:alpha val="7000"/>
                </a:srgbClr>
              </a:gs>
              <a:gs pos="75000">
                <a:srgbClr val="073F97">
                  <a:lumMod val="20000"/>
                  <a:lumOff val="80000"/>
                  <a:alpha val="0"/>
                </a:srgbClr>
              </a:gs>
            </a:gsLst>
            <a:lin ang="54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sp>
        <p:nvSpPr>
          <p:cNvPr id="125" name="矩形 124"/>
          <p:cNvSpPr/>
          <p:nvPr/>
        </p:nvSpPr>
        <p:spPr>
          <a:xfrm>
            <a:off x="70944135" y="3826038"/>
            <a:ext cx="914400" cy="914400"/>
          </a:xfrm>
          <a:prstGeom prst="rect">
            <a:avLst/>
          </a:prstGeom>
          <a:solidFill>
            <a:srgbClr val="073F97"/>
          </a:solidFill>
          <a:ln w="12700" cap="flat" cmpd="sng" algn="ctr">
            <a:solidFill>
              <a:srgbClr val="073F9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sp>
        <p:nvSpPr>
          <p:cNvPr id="127" name="矩形 126"/>
          <p:cNvSpPr/>
          <p:nvPr/>
        </p:nvSpPr>
        <p:spPr>
          <a:xfrm>
            <a:off x="-61795905" y="1695450"/>
            <a:ext cx="914400" cy="914400"/>
          </a:xfrm>
          <a:prstGeom prst="rect">
            <a:avLst/>
          </a:prstGeom>
          <a:solidFill>
            <a:srgbClr val="073F97"/>
          </a:solidFill>
          <a:ln w="12700" cap="flat" cmpd="sng" algn="ctr">
            <a:solidFill>
              <a:srgbClr val="073F9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sp>
        <p:nvSpPr>
          <p:cNvPr id="128" name="任意多边形: 形状 127"/>
          <p:cNvSpPr/>
          <p:nvPr/>
        </p:nvSpPr>
        <p:spPr>
          <a:xfrm>
            <a:off x="511750" y="444500"/>
            <a:ext cx="142939" cy="176028"/>
          </a:xfrm>
          <a:custGeom>
            <a:avLst/>
            <a:gdLst>
              <a:gd name="connsiteX0" fmla="*/ 88014 w 142939"/>
              <a:gd name="connsiteY0" fmla="*/ 0 h 176028"/>
              <a:gd name="connsiteX1" fmla="*/ 122273 w 142939"/>
              <a:gd name="connsiteY1" fmla="*/ 6917 h 176028"/>
              <a:gd name="connsiteX2" fmla="*/ 142939 w 142939"/>
              <a:gd name="connsiteY2" fmla="*/ 20850 h 176028"/>
              <a:gd name="connsiteX3" fmla="*/ 135628 w 142939"/>
              <a:gd name="connsiteY3" fmla="*/ 25779 h 176028"/>
              <a:gd name="connsiteX4" fmla="*/ 109849 w 142939"/>
              <a:gd name="connsiteY4" fmla="*/ 88014 h 176028"/>
              <a:gd name="connsiteX5" fmla="*/ 135628 w 142939"/>
              <a:gd name="connsiteY5" fmla="*/ 150249 h 176028"/>
              <a:gd name="connsiteX6" fmla="*/ 142939 w 142939"/>
              <a:gd name="connsiteY6" fmla="*/ 155179 h 176028"/>
              <a:gd name="connsiteX7" fmla="*/ 122273 w 142939"/>
              <a:gd name="connsiteY7" fmla="*/ 169111 h 176028"/>
              <a:gd name="connsiteX8" fmla="*/ 88014 w 142939"/>
              <a:gd name="connsiteY8" fmla="*/ 176028 h 176028"/>
              <a:gd name="connsiteX9" fmla="*/ 0 w 142939"/>
              <a:gd name="connsiteY9" fmla="*/ 88014 h 176028"/>
              <a:gd name="connsiteX10" fmla="*/ 88014 w 142939"/>
              <a:gd name="connsiteY10" fmla="*/ 0 h 17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39" h="176028">
                <a:moveTo>
                  <a:pt x="88014" y="0"/>
                </a:moveTo>
                <a:cubicBezTo>
                  <a:pt x="100166" y="0"/>
                  <a:pt x="111743" y="2463"/>
                  <a:pt x="122273" y="6917"/>
                </a:cubicBezTo>
                <a:lnTo>
                  <a:pt x="142939" y="20850"/>
                </a:lnTo>
                <a:lnTo>
                  <a:pt x="135628" y="25779"/>
                </a:lnTo>
                <a:cubicBezTo>
                  <a:pt x="119700" y="41706"/>
                  <a:pt x="109849" y="63710"/>
                  <a:pt x="109849" y="88014"/>
                </a:cubicBezTo>
                <a:cubicBezTo>
                  <a:pt x="109849" y="112319"/>
                  <a:pt x="119700" y="134322"/>
                  <a:pt x="135628" y="150249"/>
                </a:cubicBezTo>
                <a:lnTo>
                  <a:pt x="142939" y="155179"/>
                </a:lnTo>
                <a:lnTo>
                  <a:pt x="122273" y="169111"/>
                </a:lnTo>
                <a:cubicBezTo>
                  <a:pt x="111743" y="173565"/>
                  <a:pt x="100166" y="176028"/>
                  <a:pt x="88014" y="176028"/>
                </a:cubicBezTo>
                <a:cubicBezTo>
                  <a:pt x="39405" y="176028"/>
                  <a:pt x="0" y="136623"/>
                  <a:pt x="0" y="88014"/>
                </a:cubicBezTo>
                <a:cubicBezTo>
                  <a:pt x="0" y="39405"/>
                  <a:pt x="39405" y="0"/>
                  <a:pt x="88014" y="0"/>
                </a:cubicBezTo>
                <a:close/>
              </a:path>
            </a:pathLst>
          </a:custGeom>
          <a:noFill/>
          <a:ln w="9525" cap="flat" cmpd="sng" algn="ctr">
            <a:solidFill>
              <a:srgbClr val="FFFFFF">
                <a:alpha val="80000"/>
              </a:srgbClr>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sp>
        <p:nvSpPr>
          <p:cNvPr id="129" name="椭圆 128"/>
          <p:cNvSpPr/>
          <p:nvPr/>
        </p:nvSpPr>
        <p:spPr>
          <a:xfrm>
            <a:off x="621598" y="444500"/>
            <a:ext cx="176028" cy="176028"/>
          </a:xfrm>
          <a:prstGeom prst="ellipse">
            <a:avLst/>
          </a:prstGeom>
          <a:noFill/>
          <a:ln w="9525" cap="flat" cmpd="sng" algn="ctr">
            <a:solidFill>
              <a:srgbClr val="FFFFFF">
                <a:alpha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ource Sans Pro SemiBold"/>
              <a:ea typeface="微软雅黑" panose="020B0503020204020204" charset="-122"/>
              <a:cs typeface="+mn-cs"/>
            </a:endParaRPr>
          </a:p>
        </p:txBody>
      </p:sp>
      <p:cxnSp>
        <p:nvCxnSpPr>
          <p:cNvPr id="130" name="直接连接符 129"/>
          <p:cNvCxnSpPr/>
          <p:nvPr/>
        </p:nvCxnSpPr>
        <p:spPr>
          <a:xfrm>
            <a:off x="797626" y="535781"/>
            <a:ext cx="969262" cy="0"/>
          </a:xfrm>
          <a:prstGeom prst="line">
            <a:avLst/>
          </a:prstGeom>
          <a:noFill/>
          <a:ln w="9525" cap="flat" cmpd="sng" algn="ctr">
            <a:solidFill>
              <a:srgbClr val="FFFFFF">
                <a:alpha val="80000"/>
              </a:srgbClr>
            </a:solidFill>
            <a:prstDash val="solid"/>
            <a:miter lim="800000"/>
          </a:ln>
          <a:effectLst/>
        </p:spPr>
      </p:cxnSp>
      <p:sp>
        <p:nvSpPr>
          <p:cNvPr id="134" name="椭圆 133"/>
          <p:cNvSpPr/>
          <p:nvPr/>
        </p:nvSpPr>
        <p:spPr>
          <a:xfrm rot="19172093">
            <a:off x="9171997" y="2035670"/>
            <a:ext cx="4035249" cy="4035249"/>
          </a:xfrm>
          <a:prstGeom prst="ellipse">
            <a:avLst/>
          </a:prstGeom>
          <a:gradFill>
            <a:gsLst>
              <a:gs pos="0">
                <a:srgbClr val="073F97">
                  <a:lumMod val="20000"/>
                  <a:lumOff val="80000"/>
                  <a:alpha val="5000"/>
                </a:srgbClr>
              </a:gs>
              <a:gs pos="75000">
                <a:srgbClr val="073F97">
                  <a:lumMod val="20000"/>
                  <a:lumOff val="80000"/>
                  <a:alpha val="0"/>
                </a:srgbClr>
              </a:gs>
            </a:gsLst>
            <a:lin ang="54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sp>
        <p:nvSpPr>
          <p:cNvPr id="135" name="椭圆 134"/>
          <p:cNvSpPr/>
          <p:nvPr/>
        </p:nvSpPr>
        <p:spPr>
          <a:xfrm rot="9939948">
            <a:off x="5980521" y="-2004212"/>
            <a:ext cx="3502136" cy="3502136"/>
          </a:xfrm>
          <a:prstGeom prst="ellipse">
            <a:avLst/>
          </a:prstGeom>
          <a:gradFill>
            <a:gsLst>
              <a:gs pos="0">
                <a:srgbClr val="073F97">
                  <a:lumMod val="20000"/>
                  <a:lumOff val="80000"/>
                  <a:alpha val="5000"/>
                </a:srgbClr>
              </a:gs>
              <a:gs pos="52000">
                <a:srgbClr val="073F97">
                  <a:lumMod val="20000"/>
                  <a:lumOff val="80000"/>
                  <a:alpha val="0"/>
                </a:srgbClr>
              </a:gs>
            </a:gsLst>
            <a:lin ang="54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Source Sans Pro SemiBold"/>
              <a:ea typeface="微软雅黑" panose="020B0503020204020204" charset="-122"/>
              <a:cs typeface="+mn-cs"/>
            </a:endParaRPr>
          </a:p>
        </p:txBody>
      </p:sp>
      <p:grpSp>
        <p:nvGrpSpPr>
          <p:cNvPr id="141" name="组合 140"/>
          <p:cNvGrpSpPr/>
          <p:nvPr/>
        </p:nvGrpSpPr>
        <p:grpSpPr>
          <a:xfrm>
            <a:off x="489099" y="881952"/>
            <a:ext cx="274523" cy="3129650"/>
            <a:chOff x="-4651596" y="-2431303"/>
            <a:chExt cx="286657" cy="3267983"/>
          </a:xfrm>
        </p:grpSpPr>
        <p:cxnSp>
          <p:nvCxnSpPr>
            <p:cNvPr id="142" name="直接连接符 141"/>
            <p:cNvCxnSpPr/>
            <p:nvPr/>
          </p:nvCxnSpPr>
          <p:spPr>
            <a:xfrm rot="5400000">
              <a:off x="-4508267" y="-2574632"/>
              <a:ext cx="0" cy="286657"/>
            </a:xfrm>
            <a:prstGeom prst="line">
              <a:avLst/>
            </a:prstGeom>
            <a:noFill/>
            <a:ln w="25400" cap="flat" cmpd="sng" algn="ctr">
              <a:solidFill>
                <a:srgbClr val="FFFFFF">
                  <a:alpha val="6000"/>
                </a:srgbClr>
              </a:solidFill>
              <a:prstDash val="solid"/>
              <a:miter lim="800000"/>
            </a:ln>
            <a:effectLst/>
          </p:spPr>
        </p:cxnSp>
        <p:cxnSp>
          <p:nvCxnSpPr>
            <p:cNvPr id="143" name="直接连接符 142"/>
            <p:cNvCxnSpPr/>
            <p:nvPr/>
          </p:nvCxnSpPr>
          <p:spPr>
            <a:xfrm rot="5400000">
              <a:off x="-4562696" y="-2426833"/>
              <a:ext cx="0" cy="177800"/>
            </a:xfrm>
            <a:prstGeom prst="line">
              <a:avLst/>
            </a:prstGeom>
            <a:noFill/>
            <a:ln w="12700" cap="flat" cmpd="sng" algn="ctr">
              <a:solidFill>
                <a:srgbClr val="FFFFFF">
                  <a:alpha val="6000"/>
                </a:srgbClr>
              </a:solidFill>
              <a:prstDash val="solid"/>
              <a:miter lim="800000"/>
            </a:ln>
            <a:effectLst/>
          </p:spPr>
        </p:cxnSp>
        <p:cxnSp>
          <p:nvCxnSpPr>
            <p:cNvPr id="144" name="直接连接符 143"/>
            <p:cNvCxnSpPr/>
            <p:nvPr/>
          </p:nvCxnSpPr>
          <p:spPr>
            <a:xfrm rot="5400000">
              <a:off x="-4562696" y="-2333462"/>
              <a:ext cx="0" cy="177800"/>
            </a:xfrm>
            <a:prstGeom prst="line">
              <a:avLst/>
            </a:prstGeom>
            <a:noFill/>
            <a:ln w="12700" cap="flat" cmpd="sng" algn="ctr">
              <a:solidFill>
                <a:srgbClr val="FFFFFF">
                  <a:alpha val="6000"/>
                </a:srgbClr>
              </a:solidFill>
              <a:prstDash val="solid"/>
              <a:miter lim="800000"/>
            </a:ln>
            <a:effectLst/>
          </p:spPr>
        </p:cxnSp>
        <p:cxnSp>
          <p:nvCxnSpPr>
            <p:cNvPr id="145" name="直接连接符 144"/>
            <p:cNvCxnSpPr/>
            <p:nvPr/>
          </p:nvCxnSpPr>
          <p:spPr>
            <a:xfrm rot="5400000">
              <a:off x="-4562696" y="-2240091"/>
              <a:ext cx="0" cy="177800"/>
            </a:xfrm>
            <a:prstGeom prst="line">
              <a:avLst/>
            </a:prstGeom>
            <a:noFill/>
            <a:ln w="12700" cap="flat" cmpd="sng" algn="ctr">
              <a:solidFill>
                <a:srgbClr val="FFFFFF">
                  <a:alpha val="6000"/>
                </a:srgbClr>
              </a:solidFill>
              <a:prstDash val="solid"/>
              <a:miter lim="800000"/>
            </a:ln>
            <a:effectLst/>
          </p:spPr>
        </p:cxnSp>
        <p:cxnSp>
          <p:nvCxnSpPr>
            <p:cNvPr id="146" name="直接连接符 145"/>
            <p:cNvCxnSpPr/>
            <p:nvPr/>
          </p:nvCxnSpPr>
          <p:spPr>
            <a:xfrm rot="5400000">
              <a:off x="-4562696" y="-2146720"/>
              <a:ext cx="0" cy="177800"/>
            </a:xfrm>
            <a:prstGeom prst="line">
              <a:avLst/>
            </a:prstGeom>
            <a:noFill/>
            <a:ln w="12700" cap="flat" cmpd="sng" algn="ctr">
              <a:solidFill>
                <a:srgbClr val="FFFFFF">
                  <a:alpha val="6000"/>
                </a:srgbClr>
              </a:solidFill>
              <a:prstDash val="solid"/>
              <a:miter lim="800000"/>
            </a:ln>
            <a:effectLst/>
          </p:spPr>
        </p:cxnSp>
        <p:cxnSp>
          <p:nvCxnSpPr>
            <p:cNvPr id="147" name="直接连接符 146"/>
            <p:cNvCxnSpPr/>
            <p:nvPr/>
          </p:nvCxnSpPr>
          <p:spPr>
            <a:xfrm rot="5400000">
              <a:off x="-4508267" y="-2107777"/>
              <a:ext cx="0" cy="286657"/>
            </a:xfrm>
            <a:prstGeom prst="line">
              <a:avLst/>
            </a:prstGeom>
            <a:noFill/>
            <a:ln w="25400" cap="flat" cmpd="sng" algn="ctr">
              <a:solidFill>
                <a:srgbClr val="FFFFFF">
                  <a:alpha val="6000"/>
                </a:srgbClr>
              </a:solidFill>
              <a:prstDash val="solid"/>
              <a:miter lim="800000"/>
            </a:ln>
            <a:effectLst/>
          </p:spPr>
        </p:cxnSp>
        <p:cxnSp>
          <p:nvCxnSpPr>
            <p:cNvPr id="148" name="直接连接符 147"/>
            <p:cNvCxnSpPr/>
            <p:nvPr/>
          </p:nvCxnSpPr>
          <p:spPr>
            <a:xfrm rot="5400000">
              <a:off x="-4562696" y="-1959978"/>
              <a:ext cx="0" cy="177800"/>
            </a:xfrm>
            <a:prstGeom prst="line">
              <a:avLst/>
            </a:prstGeom>
            <a:noFill/>
            <a:ln w="12700" cap="flat" cmpd="sng" algn="ctr">
              <a:solidFill>
                <a:srgbClr val="FFFFFF">
                  <a:alpha val="6000"/>
                </a:srgbClr>
              </a:solidFill>
              <a:prstDash val="solid"/>
              <a:miter lim="800000"/>
            </a:ln>
            <a:effectLst/>
          </p:spPr>
        </p:cxnSp>
        <p:cxnSp>
          <p:nvCxnSpPr>
            <p:cNvPr id="149" name="直接连接符 148"/>
            <p:cNvCxnSpPr/>
            <p:nvPr/>
          </p:nvCxnSpPr>
          <p:spPr>
            <a:xfrm rot="5400000">
              <a:off x="-4562696" y="-1866607"/>
              <a:ext cx="0" cy="177800"/>
            </a:xfrm>
            <a:prstGeom prst="line">
              <a:avLst/>
            </a:prstGeom>
            <a:noFill/>
            <a:ln w="12700" cap="flat" cmpd="sng" algn="ctr">
              <a:solidFill>
                <a:srgbClr val="FFFFFF">
                  <a:alpha val="6000"/>
                </a:srgbClr>
              </a:solidFill>
              <a:prstDash val="solid"/>
              <a:miter lim="800000"/>
            </a:ln>
            <a:effectLst/>
          </p:spPr>
        </p:cxnSp>
        <p:cxnSp>
          <p:nvCxnSpPr>
            <p:cNvPr id="150" name="直接连接符 149"/>
            <p:cNvCxnSpPr/>
            <p:nvPr/>
          </p:nvCxnSpPr>
          <p:spPr>
            <a:xfrm rot="5400000">
              <a:off x="-4562696" y="-1773236"/>
              <a:ext cx="0" cy="177800"/>
            </a:xfrm>
            <a:prstGeom prst="line">
              <a:avLst/>
            </a:prstGeom>
            <a:noFill/>
            <a:ln w="12700" cap="flat" cmpd="sng" algn="ctr">
              <a:solidFill>
                <a:srgbClr val="FFFFFF">
                  <a:alpha val="6000"/>
                </a:srgbClr>
              </a:solidFill>
              <a:prstDash val="solid"/>
              <a:miter lim="800000"/>
            </a:ln>
            <a:effectLst/>
          </p:spPr>
        </p:cxnSp>
        <p:cxnSp>
          <p:nvCxnSpPr>
            <p:cNvPr id="151" name="直接连接符 150"/>
            <p:cNvCxnSpPr/>
            <p:nvPr/>
          </p:nvCxnSpPr>
          <p:spPr>
            <a:xfrm rot="5400000">
              <a:off x="-4562696" y="-1679865"/>
              <a:ext cx="0" cy="177800"/>
            </a:xfrm>
            <a:prstGeom prst="line">
              <a:avLst/>
            </a:prstGeom>
            <a:noFill/>
            <a:ln w="12700" cap="flat" cmpd="sng" algn="ctr">
              <a:solidFill>
                <a:srgbClr val="FFFFFF">
                  <a:alpha val="6000"/>
                </a:srgbClr>
              </a:solidFill>
              <a:prstDash val="solid"/>
              <a:miter lim="800000"/>
            </a:ln>
            <a:effectLst/>
          </p:spPr>
        </p:cxnSp>
        <p:cxnSp>
          <p:nvCxnSpPr>
            <p:cNvPr id="152" name="直接连接符 151"/>
            <p:cNvCxnSpPr/>
            <p:nvPr/>
          </p:nvCxnSpPr>
          <p:spPr>
            <a:xfrm rot="5400000">
              <a:off x="-4508267" y="-1640923"/>
              <a:ext cx="0" cy="286657"/>
            </a:xfrm>
            <a:prstGeom prst="line">
              <a:avLst/>
            </a:prstGeom>
            <a:noFill/>
            <a:ln w="25400" cap="flat" cmpd="sng" algn="ctr">
              <a:solidFill>
                <a:srgbClr val="FFFFFF">
                  <a:alpha val="6000"/>
                </a:srgbClr>
              </a:solidFill>
              <a:prstDash val="solid"/>
              <a:miter lim="800000"/>
            </a:ln>
            <a:effectLst/>
          </p:spPr>
        </p:cxnSp>
        <p:cxnSp>
          <p:nvCxnSpPr>
            <p:cNvPr id="153" name="直接连接符 152"/>
            <p:cNvCxnSpPr/>
            <p:nvPr/>
          </p:nvCxnSpPr>
          <p:spPr>
            <a:xfrm rot="5400000">
              <a:off x="-4562696" y="-1493123"/>
              <a:ext cx="0" cy="177800"/>
            </a:xfrm>
            <a:prstGeom prst="line">
              <a:avLst/>
            </a:prstGeom>
            <a:noFill/>
            <a:ln w="12700" cap="flat" cmpd="sng" algn="ctr">
              <a:solidFill>
                <a:srgbClr val="FFFFFF">
                  <a:alpha val="6000"/>
                </a:srgbClr>
              </a:solidFill>
              <a:prstDash val="solid"/>
              <a:miter lim="800000"/>
            </a:ln>
            <a:effectLst/>
          </p:spPr>
        </p:cxnSp>
        <p:cxnSp>
          <p:nvCxnSpPr>
            <p:cNvPr id="154" name="直接连接符 153"/>
            <p:cNvCxnSpPr/>
            <p:nvPr/>
          </p:nvCxnSpPr>
          <p:spPr>
            <a:xfrm rot="5400000">
              <a:off x="-4562696" y="-1399752"/>
              <a:ext cx="0" cy="177800"/>
            </a:xfrm>
            <a:prstGeom prst="line">
              <a:avLst/>
            </a:prstGeom>
            <a:noFill/>
            <a:ln w="12700" cap="flat" cmpd="sng" algn="ctr">
              <a:solidFill>
                <a:srgbClr val="FFFFFF">
                  <a:alpha val="6000"/>
                </a:srgbClr>
              </a:solidFill>
              <a:prstDash val="solid"/>
              <a:miter lim="800000"/>
            </a:ln>
            <a:effectLst/>
          </p:spPr>
        </p:cxnSp>
        <p:cxnSp>
          <p:nvCxnSpPr>
            <p:cNvPr id="155" name="直接连接符 154"/>
            <p:cNvCxnSpPr/>
            <p:nvPr/>
          </p:nvCxnSpPr>
          <p:spPr>
            <a:xfrm rot="5400000">
              <a:off x="-4562696" y="-1306381"/>
              <a:ext cx="0" cy="177800"/>
            </a:xfrm>
            <a:prstGeom prst="line">
              <a:avLst/>
            </a:prstGeom>
            <a:noFill/>
            <a:ln w="12700" cap="flat" cmpd="sng" algn="ctr">
              <a:solidFill>
                <a:srgbClr val="FFFFFF">
                  <a:alpha val="6000"/>
                </a:srgbClr>
              </a:solidFill>
              <a:prstDash val="solid"/>
              <a:miter lim="800000"/>
            </a:ln>
            <a:effectLst/>
          </p:spPr>
        </p:cxnSp>
        <p:cxnSp>
          <p:nvCxnSpPr>
            <p:cNvPr id="156" name="直接连接符 155"/>
            <p:cNvCxnSpPr/>
            <p:nvPr/>
          </p:nvCxnSpPr>
          <p:spPr>
            <a:xfrm rot="5400000">
              <a:off x="-4562696" y="-1213010"/>
              <a:ext cx="0" cy="177800"/>
            </a:xfrm>
            <a:prstGeom prst="line">
              <a:avLst/>
            </a:prstGeom>
            <a:noFill/>
            <a:ln w="12700" cap="flat" cmpd="sng" algn="ctr">
              <a:solidFill>
                <a:srgbClr val="FFFFFF">
                  <a:alpha val="6000"/>
                </a:srgbClr>
              </a:solidFill>
              <a:prstDash val="solid"/>
              <a:miter lim="800000"/>
            </a:ln>
            <a:effectLst/>
          </p:spPr>
        </p:cxnSp>
        <p:cxnSp>
          <p:nvCxnSpPr>
            <p:cNvPr id="157" name="直接连接符 156"/>
            <p:cNvCxnSpPr/>
            <p:nvPr/>
          </p:nvCxnSpPr>
          <p:spPr>
            <a:xfrm rot="5400000">
              <a:off x="-4508267" y="-1174068"/>
              <a:ext cx="0" cy="286657"/>
            </a:xfrm>
            <a:prstGeom prst="line">
              <a:avLst/>
            </a:prstGeom>
            <a:noFill/>
            <a:ln w="25400" cap="flat" cmpd="sng" algn="ctr">
              <a:solidFill>
                <a:srgbClr val="FFFFFF">
                  <a:alpha val="6000"/>
                </a:srgbClr>
              </a:solidFill>
              <a:prstDash val="solid"/>
              <a:miter lim="800000"/>
            </a:ln>
            <a:effectLst/>
          </p:spPr>
        </p:cxnSp>
        <p:cxnSp>
          <p:nvCxnSpPr>
            <p:cNvPr id="158" name="直接连接符 157"/>
            <p:cNvCxnSpPr/>
            <p:nvPr/>
          </p:nvCxnSpPr>
          <p:spPr>
            <a:xfrm rot="5400000">
              <a:off x="-4562696" y="-1026269"/>
              <a:ext cx="0" cy="177800"/>
            </a:xfrm>
            <a:prstGeom prst="line">
              <a:avLst/>
            </a:prstGeom>
            <a:noFill/>
            <a:ln w="12700" cap="flat" cmpd="sng" algn="ctr">
              <a:solidFill>
                <a:srgbClr val="FFFFFF">
                  <a:alpha val="6000"/>
                </a:srgbClr>
              </a:solidFill>
              <a:prstDash val="solid"/>
              <a:miter lim="800000"/>
            </a:ln>
            <a:effectLst/>
          </p:spPr>
        </p:cxnSp>
        <p:cxnSp>
          <p:nvCxnSpPr>
            <p:cNvPr id="159" name="直接连接符 158"/>
            <p:cNvCxnSpPr/>
            <p:nvPr/>
          </p:nvCxnSpPr>
          <p:spPr>
            <a:xfrm rot="5400000">
              <a:off x="-4562696" y="-932898"/>
              <a:ext cx="0" cy="177800"/>
            </a:xfrm>
            <a:prstGeom prst="line">
              <a:avLst/>
            </a:prstGeom>
            <a:noFill/>
            <a:ln w="12700" cap="flat" cmpd="sng" algn="ctr">
              <a:solidFill>
                <a:srgbClr val="FFFFFF">
                  <a:alpha val="6000"/>
                </a:srgbClr>
              </a:solidFill>
              <a:prstDash val="solid"/>
              <a:miter lim="800000"/>
            </a:ln>
            <a:effectLst/>
          </p:spPr>
        </p:cxnSp>
        <p:cxnSp>
          <p:nvCxnSpPr>
            <p:cNvPr id="160" name="直接连接符 159"/>
            <p:cNvCxnSpPr/>
            <p:nvPr/>
          </p:nvCxnSpPr>
          <p:spPr>
            <a:xfrm rot="5400000">
              <a:off x="-4562696" y="-839527"/>
              <a:ext cx="0" cy="177800"/>
            </a:xfrm>
            <a:prstGeom prst="line">
              <a:avLst/>
            </a:prstGeom>
            <a:noFill/>
            <a:ln w="12700" cap="flat" cmpd="sng" algn="ctr">
              <a:solidFill>
                <a:srgbClr val="FFFFFF">
                  <a:alpha val="6000"/>
                </a:srgbClr>
              </a:solidFill>
              <a:prstDash val="solid"/>
              <a:miter lim="800000"/>
            </a:ln>
            <a:effectLst/>
          </p:spPr>
        </p:cxnSp>
        <p:cxnSp>
          <p:nvCxnSpPr>
            <p:cNvPr id="161" name="直接连接符 160"/>
            <p:cNvCxnSpPr/>
            <p:nvPr/>
          </p:nvCxnSpPr>
          <p:spPr>
            <a:xfrm rot="5400000">
              <a:off x="-4562696" y="-746156"/>
              <a:ext cx="0" cy="177800"/>
            </a:xfrm>
            <a:prstGeom prst="line">
              <a:avLst/>
            </a:prstGeom>
            <a:noFill/>
            <a:ln w="12700" cap="flat" cmpd="sng" algn="ctr">
              <a:solidFill>
                <a:srgbClr val="FFFFFF">
                  <a:alpha val="6000"/>
                </a:srgbClr>
              </a:solidFill>
              <a:prstDash val="solid"/>
              <a:miter lim="800000"/>
            </a:ln>
            <a:effectLst/>
          </p:spPr>
        </p:cxnSp>
        <p:cxnSp>
          <p:nvCxnSpPr>
            <p:cNvPr id="162" name="直接连接符 161"/>
            <p:cNvCxnSpPr/>
            <p:nvPr/>
          </p:nvCxnSpPr>
          <p:spPr>
            <a:xfrm rot="5400000">
              <a:off x="-4508267" y="-707213"/>
              <a:ext cx="0" cy="286657"/>
            </a:xfrm>
            <a:prstGeom prst="line">
              <a:avLst/>
            </a:prstGeom>
            <a:noFill/>
            <a:ln w="25400" cap="flat" cmpd="sng" algn="ctr">
              <a:solidFill>
                <a:srgbClr val="FFFFFF">
                  <a:alpha val="6000"/>
                </a:srgbClr>
              </a:solidFill>
              <a:prstDash val="solid"/>
              <a:miter lim="800000"/>
            </a:ln>
            <a:effectLst/>
          </p:spPr>
        </p:cxnSp>
        <p:cxnSp>
          <p:nvCxnSpPr>
            <p:cNvPr id="163" name="直接连接符 162"/>
            <p:cNvCxnSpPr/>
            <p:nvPr/>
          </p:nvCxnSpPr>
          <p:spPr>
            <a:xfrm rot="5400000">
              <a:off x="-4562696" y="-559414"/>
              <a:ext cx="0" cy="177800"/>
            </a:xfrm>
            <a:prstGeom prst="line">
              <a:avLst/>
            </a:prstGeom>
            <a:noFill/>
            <a:ln w="12700" cap="flat" cmpd="sng" algn="ctr">
              <a:solidFill>
                <a:srgbClr val="FFFFFF">
                  <a:alpha val="6000"/>
                </a:srgbClr>
              </a:solidFill>
              <a:prstDash val="solid"/>
              <a:miter lim="800000"/>
            </a:ln>
            <a:effectLst/>
          </p:spPr>
        </p:cxnSp>
        <p:cxnSp>
          <p:nvCxnSpPr>
            <p:cNvPr id="164" name="直接连接符 163"/>
            <p:cNvCxnSpPr/>
            <p:nvPr/>
          </p:nvCxnSpPr>
          <p:spPr>
            <a:xfrm rot="5400000">
              <a:off x="-4562696" y="-466043"/>
              <a:ext cx="0" cy="177800"/>
            </a:xfrm>
            <a:prstGeom prst="line">
              <a:avLst/>
            </a:prstGeom>
            <a:noFill/>
            <a:ln w="12700" cap="flat" cmpd="sng" algn="ctr">
              <a:solidFill>
                <a:srgbClr val="FFFFFF">
                  <a:alpha val="6000"/>
                </a:srgbClr>
              </a:solidFill>
              <a:prstDash val="solid"/>
              <a:miter lim="800000"/>
            </a:ln>
            <a:effectLst/>
          </p:spPr>
        </p:cxnSp>
        <p:cxnSp>
          <p:nvCxnSpPr>
            <p:cNvPr id="165" name="直接连接符 164"/>
            <p:cNvCxnSpPr/>
            <p:nvPr/>
          </p:nvCxnSpPr>
          <p:spPr>
            <a:xfrm rot="5400000">
              <a:off x="-4562696" y="-372672"/>
              <a:ext cx="0" cy="177800"/>
            </a:xfrm>
            <a:prstGeom prst="line">
              <a:avLst/>
            </a:prstGeom>
            <a:noFill/>
            <a:ln w="12700" cap="flat" cmpd="sng" algn="ctr">
              <a:solidFill>
                <a:srgbClr val="FFFFFF">
                  <a:alpha val="6000"/>
                </a:srgbClr>
              </a:solidFill>
              <a:prstDash val="solid"/>
              <a:miter lim="800000"/>
            </a:ln>
            <a:effectLst/>
          </p:spPr>
        </p:cxnSp>
        <p:cxnSp>
          <p:nvCxnSpPr>
            <p:cNvPr id="166" name="直接连接符 165"/>
            <p:cNvCxnSpPr/>
            <p:nvPr/>
          </p:nvCxnSpPr>
          <p:spPr>
            <a:xfrm rot="5400000">
              <a:off x="-4562696" y="-279301"/>
              <a:ext cx="0" cy="177800"/>
            </a:xfrm>
            <a:prstGeom prst="line">
              <a:avLst/>
            </a:prstGeom>
            <a:noFill/>
            <a:ln w="12700" cap="flat" cmpd="sng" algn="ctr">
              <a:solidFill>
                <a:srgbClr val="FFFFFF">
                  <a:alpha val="6000"/>
                </a:srgbClr>
              </a:solidFill>
              <a:prstDash val="solid"/>
              <a:miter lim="800000"/>
            </a:ln>
            <a:effectLst/>
          </p:spPr>
        </p:cxnSp>
        <p:cxnSp>
          <p:nvCxnSpPr>
            <p:cNvPr id="167" name="直接连接符 166"/>
            <p:cNvCxnSpPr/>
            <p:nvPr/>
          </p:nvCxnSpPr>
          <p:spPr>
            <a:xfrm rot="5400000">
              <a:off x="-4508267" y="-240359"/>
              <a:ext cx="0" cy="286657"/>
            </a:xfrm>
            <a:prstGeom prst="line">
              <a:avLst/>
            </a:prstGeom>
            <a:noFill/>
            <a:ln w="25400" cap="flat" cmpd="sng" algn="ctr">
              <a:solidFill>
                <a:srgbClr val="FFFFFF">
                  <a:alpha val="6000"/>
                </a:srgbClr>
              </a:solidFill>
              <a:prstDash val="solid"/>
              <a:miter lim="800000"/>
            </a:ln>
            <a:effectLst/>
          </p:spPr>
        </p:cxnSp>
        <p:cxnSp>
          <p:nvCxnSpPr>
            <p:cNvPr id="168" name="直接连接符 167"/>
            <p:cNvCxnSpPr/>
            <p:nvPr/>
          </p:nvCxnSpPr>
          <p:spPr>
            <a:xfrm rot="5400000">
              <a:off x="-4562696" y="-92559"/>
              <a:ext cx="0" cy="177800"/>
            </a:xfrm>
            <a:prstGeom prst="line">
              <a:avLst/>
            </a:prstGeom>
            <a:noFill/>
            <a:ln w="12700" cap="flat" cmpd="sng" algn="ctr">
              <a:solidFill>
                <a:srgbClr val="FFFFFF">
                  <a:alpha val="6000"/>
                </a:srgbClr>
              </a:solidFill>
              <a:prstDash val="solid"/>
              <a:miter lim="800000"/>
            </a:ln>
            <a:effectLst/>
          </p:spPr>
        </p:cxnSp>
        <p:cxnSp>
          <p:nvCxnSpPr>
            <p:cNvPr id="169" name="直接连接符 168"/>
            <p:cNvCxnSpPr/>
            <p:nvPr/>
          </p:nvCxnSpPr>
          <p:spPr>
            <a:xfrm rot="5400000">
              <a:off x="-4562696" y="812"/>
              <a:ext cx="0" cy="177800"/>
            </a:xfrm>
            <a:prstGeom prst="line">
              <a:avLst/>
            </a:prstGeom>
            <a:noFill/>
            <a:ln w="12700" cap="flat" cmpd="sng" algn="ctr">
              <a:solidFill>
                <a:srgbClr val="FFFFFF">
                  <a:alpha val="6000"/>
                </a:srgbClr>
              </a:solidFill>
              <a:prstDash val="solid"/>
              <a:miter lim="800000"/>
            </a:ln>
            <a:effectLst/>
          </p:spPr>
        </p:cxnSp>
        <p:cxnSp>
          <p:nvCxnSpPr>
            <p:cNvPr id="170" name="直接连接符 169"/>
            <p:cNvCxnSpPr/>
            <p:nvPr/>
          </p:nvCxnSpPr>
          <p:spPr>
            <a:xfrm rot="5400000">
              <a:off x="-4562696" y="94183"/>
              <a:ext cx="0" cy="177800"/>
            </a:xfrm>
            <a:prstGeom prst="line">
              <a:avLst/>
            </a:prstGeom>
            <a:noFill/>
            <a:ln w="12700" cap="flat" cmpd="sng" algn="ctr">
              <a:solidFill>
                <a:srgbClr val="FFFFFF">
                  <a:alpha val="6000"/>
                </a:srgbClr>
              </a:solidFill>
              <a:prstDash val="solid"/>
              <a:miter lim="800000"/>
            </a:ln>
            <a:effectLst/>
          </p:spPr>
        </p:cxnSp>
        <p:cxnSp>
          <p:nvCxnSpPr>
            <p:cNvPr id="171" name="直接连接符 170"/>
            <p:cNvCxnSpPr/>
            <p:nvPr/>
          </p:nvCxnSpPr>
          <p:spPr>
            <a:xfrm rot="5400000">
              <a:off x="-4562696" y="187554"/>
              <a:ext cx="0" cy="177800"/>
            </a:xfrm>
            <a:prstGeom prst="line">
              <a:avLst/>
            </a:prstGeom>
            <a:noFill/>
            <a:ln w="12700" cap="flat" cmpd="sng" algn="ctr">
              <a:solidFill>
                <a:srgbClr val="FFFFFF">
                  <a:alpha val="6000"/>
                </a:srgbClr>
              </a:solidFill>
              <a:prstDash val="solid"/>
              <a:miter lim="800000"/>
            </a:ln>
            <a:effectLst/>
          </p:spPr>
        </p:cxnSp>
        <p:cxnSp>
          <p:nvCxnSpPr>
            <p:cNvPr id="172" name="直接连接符 171"/>
            <p:cNvCxnSpPr/>
            <p:nvPr/>
          </p:nvCxnSpPr>
          <p:spPr>
            <a:xfrm rot="5400000">
              <a:off x="-4508267" y="226496"/>
              <a:ext cx="0" cy="286657"/>
            </a:xfrm>
            <a:prstGeom prst="line">
              <a:avLst/>
            </a:prstGeom>
            <a:noFill/>
            <a:ln w="25400" cap="flat" cmpd="sng" algn="ctr">
              <a:solidFill>
                <a:srgbClr val="FFFFFF">
                  <a:alpha val="6000"/>
                </a:srgbClr>
              </a:solidFill>
              <a:prstDash val="solid"/>
              <a:miter lim="800000"/>
            </a:ln>
            <a:effectLst/>
          </p:spPr>
        </p:cxnSp>
        <p:cxnSp>
          <p:nvCxnSpPr>
            <p:cNvPr id="173" name="直接连接符 172"/>
            <p:cNvCxnSpPr/>
            <p:nvPr/>
          </p:nvCxnSpPr>
          <p:spPr>
            <a:xfrm rot="5400000">
              <a:off x="-4562696" y="374296"/>
              <a:ext cx="0" cy="177800"/>
            </a:xfrm>
            <a:prstGeom prst="line">
              <a:avLst/>
            </a:prstGeom>
            <a:noFill/>
            <a:ln w="12700" cap="flat" cmpd="sng" algn="ctr">
              <a:solidFill>
                <a:srgbClr val="FFFFFF">
                  <a:alpha val="6000"/>
                </a:srgbClr>
              </a:solidFill>
              <a:prstDash val="solid"/>
              <a:miter lim="800000"/>
            </a:ln>
            <a:effectLst/>
          </p:spPr>
        </p:cxnSp>
        <p:cxnSp>
          <p:nvCxnSpPr>
            <p:cNvPr id="174" name="直接连接符 173"/>
            <p:cNvCxnSpPr/>
            <p:nvPr/>
          </p:nvCxnSpPr>
          <p:spPr>
            <a:xfrm rot="5400000">
              <a:off x="-4562696" y="467666"/>
              <a:ext cx="0" cy="177800"/>
            </a:xfrm>
            <a:prstGeom prst="line">
              <a:avLst/>
            </a:prstGeom>
            <a:noFill/>
            <a:ln w="12700" cap="flat" cmpd="sng" algn="ctr">
              <a:solidFill>
                <a:srgbClr val="FFFFFF">
                  <a:alpha val="6000"/>
                </a:srgbClr>
              </a:solidFill>
              <a:prstDash val="solid"/>
              <a:miter lim="800000"/>
            </a:ln>
            <a:effectLst/>
          </p:spPr>
        </p:cxnSp>
        <p:cxnSp>
          <p:nvCxnSpPr>
            <p:cNvPr id="175" name="直接连接符 174"/>
            <p:cNvCxnSpPr/>
            <p:nvPr/>
          </p:nvCxnSpPr>
          <p:spPr>
            <a:xfrm rot="5400000">
              <a:off x="-4562696" y="561037"/>
              <a:ext cx="0" cy="177800"/>
            </a:xfrm>
            <a:prstGeom prst="line">
              <a:avLst/>
            </a:prstGeom>
            <a:noFill/>
            <a:ln w="12700" cap="flat" cmpd="sng" algn="ctr">
              <a:solidFill>
                <a:srgbClr val="FFFFFF">
                  <a:alpha val="6000"/>
                </a:srgbClr>
              </a:solidFill>
              <a:prstDash val="solid"/>
              <a:miter lim="800000"/>
            </a:ln>
            <a:effectLst/>
          </p:spPr>
        </p:cxnSp>
        <p:cxnSp>
          <p:nvCxnSpPr>
            <p:cNvPr id="176" name="直接连接符 175"/>
            <p:cNvCxnSpPr/>
            <p:nvPr/>
          </p:nvCxnSpPr>
          <p:spPr>
            <a:xfrm rot="5400000">
              <a:off x="-4562696" y="654408"/>
              <a:ext cx="0" cy="177800"/>
            </a:xfrm>
            <a:prstGeom prst="line">
              <a:avLst/>
            </a:prstGeom>
            <a:noFill/>
            <a:ln w="12700" cap="flat" cmpd="sng" algn="ctr">
              <a:solidFill>
                <a:srgbClr val="FFFFFF">
                  <a:alpha val="6000"/>
                </a:srgbClr>
              </a:solidFill>
              <a:prstDash val="solid"/>
              <a:miter lim="800000"/>
            </a:ln>
            <a:effectLst/>
          </p:spPr>
        </p:cxnSp>
        <p:cxnSp>
          <p:nvCxnSpPr>
            <p:cNvPr id="177" name="直接连接符 176"/>
            <p:cNvCxnSpPr/>
            <p:nvPr/>
          </p:nvCxnSpPr>
          <p:spPr>
            <a:xfrm rot="5400000">
              <a:off x="-4508267" y="693351"/>
              <a:ext cx="0" cy="286657"/>
            </a:xfrm>
            <a:prstGeom prst="line">
              <a:avLst/>
            </a:prstGeom>
            <a:noFill/>
            <a:ln w="25400" cap="flat" cmpd="sng" algn="ctr">
              <a:solidFill>
                <a:srgbClr val="FFFFFF">
                  <a:alpha val="6000"/>
                </a:srgbClr>
              </a:solidFill>
              <a:prstDash val="solid"/>
              <a:miter lim="800000"/>
            </a:ln>
            <a:effectLst/>
          </p:spPr>
        </p:cxnSp>
      </p:grpSp>
      <p:grpSp>
        <p:nvGrpSpPr>
          <p:cNvPr id="178" name="组合 177"/>
          <p:cNvGrpSpPr/>
          <p:nvPr/>
        </p:nvGrpSpPr>
        <p:grpSpPr>
          <a:xfrm flipH="1">
            <a:off x="11426344" y="881952"/>
            <a:ext cx="274523" cy="3129650"/>
            <a:chOff x="-4651596" y="-2431303"/>
            <a:chExt cx="286657" cy="3267983"/>
          </a:xfrm>
        </p:grpSpPr>
        <p:cxnSp>
          <p:nvCxnSpPr>
            <p:cNvPr id="179" name="直接连接符 178"/>
            <p:cNvCxnSpPr/>
            <p:nvPr/>
          </p:nvCxnSpPr>
          <p:spPr>
            <a:xfrm rot="5400000">
              <a:off x="-4508267" y="-2574632"/>
              <a:ext cx="0" cy="286657"/>
            </a:xfrm>
            <a:prstGeom prst="line">
              <a:avLst/>
            </a:prstGeom>
            <a:noFill/>
            <a:ln w="25400" cap="flat" cmpd="sng" algn="ctr">
              <a:solidFill>
                <a:srgbClr val="FFFFFF">
                  <a:alpha val="6000"/>
                </a:srgbClr>
              </a:solidFill>
              <a:prstDash val="solid"/>
              <a:miter lim="800000"/>
            </a:ln>
            <a:effectLst/>
          </p:spPr>
        </p:cxnSp>
        <p:cxnSp>
          <p:nvCxnSpPr>
            <p:cNvPr id="180" name="直接连接符 179"/>
            <p:cNvCxnSpPr/>
            <p:nvPr/>
          </p:nvCxnSpPr>
          <p:spPr>
            <a:xfrm rot="5400000">
              <a:off x="-4562696" y="-2426833"/>
              <a:ext cx="0" cy="177800"/>
            </a:xfrm>
            <a:prstGeom prst="line">
              <a:avLst/>
            </a:prstGeom>
            <a:noFill/>
            <a:ln w="12700" cap="flat" cmpd="sng" algn="ctr">
              <a:solidFill>
                <a:srgbClr val="FFFFFF">
                  <a:alpha val="6000"/>
                </a:srgbClr>
              </a:solidFill>
              <a:prstDash val="solid"/>
              <a:miter lim="800000"/>
            </a:ln>
            <a:effectLst/>
          </p:spPr>
        </p:cxnSp>
        <p:cxnSp>
          <p:nvCxnSpPr>
            <p:cNvPr id="181" name="直接连接符 180"/>
            <p:cNvCxnSpPr/>
            <p:nvPr/>
          </p:nvCxnSpPr>
          <p:spPr>
            <a:xfrm rot="5400000">
              <a:off x="-4562696" y="-2333462"/>
              <a:ext cx="0" cy="177800"/>
            </a:xfrm>
            <a:prstGeom prst="line">
              <a:avLst/>
            </a:prstGeom>
            <a:noFill/>
            <a:ln w="12700" cap="flat" cmpd="sng" algn="ctr">
              <a:solidFill>
                <a:srgbClr val="FFFFFF">
                  <a:alpha val="6000"/>
                </a:srgbClr>
              </a:solidFill>
              <a:prstDash val="solid"/>
              <a:miter lim="800000"/>
            </a:ln>
            <a:effectLst/>
          </p:spPr>
        </p:cxnSp>
        <p:cxnSp>
          <p:nvCxnSpPr>
            <p:cNvPr id="182" name="直接连接符 181"/>
            <p:cNvCxnSpPr/>
            <p:nvPr/>
          </p:nvCxnSpPr>
          <p:spPr>
            <a:xfrm rot="5400000">
              <a:off x="-4562696" y="-2240091"/>
              <a:ext cx="0" cy="177800"/>
            </a:xfrm>
            <a:prstGeom prst="line">
              <a:avLst/>
            </a:prstGeom>
            <a:noFill/>
            <a:ln w="12700" cap="flat" cmpd="sng" algn="ctr">
              <a:solidFill>
                <a:srgbClr val="FFFFFF">
                  <a:alpha val="6000"/>
                </a:srgbClr>
              </a:solidFill>
              <a:prstDash val="solid"/>
              <a:miter lim="800000"/>
            </a:ln>
            <a:effectLst/>
          </p:spPr>
        </p:cxnSp>
        <p:cxnSp>
          <p:nvCxnSpPr>
            <p:cNvPr id="183" name="直接连接符 182"/>
            <p:cNvCxnSpPr/>
            <p:nvPr/>
          </p:nvCxnSpPr>
          <p:spPr>
            <a:xfrm rot="5400000">
              <a:off x="-4562696" y="-2146720"/>
              <a:ext cx="0" cy="177800"/>
            </a:xfrm>
            <a:prstGeom prst="line">
              <a:avLst/>
            </a:prstGeom>
            <a:noFill/>
            <a:ln w="12700" cap="flat" cmpd="sng" algn="ctr">
              <a:solidFill>
                <a:srgbClr val="FFFFFF">
                  <a:alpha val="6000"/>
                </a:srgbClr>
              </a:solidFill>
              <a:prstDash val="solid"/>
              <a:miter lim="800000"/>
            </a:ln>
            <a:effectLst/>
          </p:spPr>
        </p:cxnSp>
        <p:cxnSp>
          <p:nvCxnSpPr>
            <p:cNvPr id="184" name="直接连接符 183"/>
            <p:cNvCxnSpPr/>
            <p:nvPr/>
          </p:nvCxnSpPr>
          <p:spPr>
            <a:xfrm rot="5400000">
              <a:off x="-4508267" y="-2107777"/>
              <a:ext cx="0" cy="286657"/>
            </a:xfrm>
            <a:prstGeom prst="line">
              <a:avLst/>
            </a:prstGeom>
            <a:noFill/>
            <a:ln w="25400" cap="flat" cmpd="sng" algn="ctr">
              <a:solidFill>
                <a:srgbClr val="FFFFFF">
                  <a:alpha val="6000"/>
                </a:srgbClr>
              </a:solidFill>
              <a:prstDash val="solid"/>
              <a:miter lim="800000"/>
            </a:ln>
            <a:effectLst/>
          </p:spPr>
        </p:cxnSp>
        <p:cxnSp>
          <p:nvCxnSpPr>
            <p:cNvPr id="185" name="直接连接符 184"/>
            <p:cNvCxnSpPr/>
            <p:nvPr/>
          </p:nvCxnSpPr>
          <p:spPr>
            <a:xfrm rot="5400000">
              <a:off x="-4562696" y="-1959978"/>
              <a:ext cx="0" cy="177800"/>
            </a:xfrm>
            <a:prstGeom prst="line">
              <a:avLst/>
            </a:prstGeom>
            <a:noFill/>
            <a:ln w="12700" cap="flat" cmpd="sng" algn="ctr">
              <a:solidFill>
                <a:srgbClr val="FFFFFF">
                  <a:alpha val="6000"/>
                </a:srgbClr>
              </a:solidFill>
              <a:prstDash val="solid"/>
              <a:miter lim="800000"/>
            </a:ln>
            <a:effectLst/>
          </p:spPr>
        </p:cxnSp>
        <p:cxnSp>
          <p:nvCxnSpPr>
            <p:cNvPr id="186" name="直接连接符 185"/>
            <p:cNvCxnSpPr/>
            <p:nvPr/>
          </p:nvCxnSpPr>
          <p:spPr>
            <a:xfrm rot="5400000">
              <a:off x="-4562696" y="-1866607"/>
              <a:ext cx="0" cy="177800"/>
            </a:xfrm>
            <a:prstGeom prst="line">
              <a:avLst/>
            </a:prstGeom>
            <a:noFill/>
            <a:ln w="12700" cap="flat" cmpd="sng" algn="ctr">
              <a:solidFill>
                <a:srgbClr val="FFFFFF">
                  <a:alpha val="6000"/>
                </a:srgbClr>
              </a:solidFill>
              <a:prstDash val="solid"/>
              <a:miter lim="800000"/>
            </a:ln>
            <a:effectLst/>
          </p:spPr>
        </p:cxnSp>
        <p:cxnSp>
          <p:nvCxnSpPr>
            <p:cNvPr id="187" name="直接连接符 186"/>
            <p:cNvCxnSpPr/>
            <p:nvPr/>
          </p:nvCxnSpPr>
          <p:spPr>
            <a:xfrm rot="5400000">
              <a:off x="-4562696" y="-1773236"/>
              <a:ext cx="0" cy="177800"/>
            </a:xfrm>
            <a:prstGeom prst="line">
              <a:avLst/>
            </a:prstGeom>
            <a:noFill/>
            <a:ln w="12700" cap="flat" cmpd="sng" algn="ctr">
              <a:solidFill>
                <a:srgbClr val="FFFFFF">
                  <a:alpha val="6000"/>
                </a:srgbClr>
              </a:solidFill>
              <a:prstDash val="solid"/>
              <a:miter lim="800000"/>
            </a:ln>
            <a:effectLst/>
          </p:spPr>
        </p:cxnSp>
        <p:cxnSp>
          <p:nvCxnSpPr>
            <p:cNvPr id="188" name="直接连接符 187"/>
            <p:cNvCxnSpPr/>
            <p:nvPr/>
          </p:nvCxnSpPr>
          <p:spPr>
            <a:xfrm rot="5400000">
              <a:off x="-4562696" y="-1679865"/>
              <a:ext cx="0" cy="177800"/>
            </a:xfrm>
            <a:prstGeom prst="line">
              <a:avLst/>
            </a:prstGeom>
            <a:noFill/>
            <a:ln w="12700" cap="flat" cmpd="sng" algn="ctr">
              <a:solidFill>
                <a:srgbClr val="FFFFFF">
                  <a:alpha val="6000"/>
                </a:srgbClr>
              </a:solidFill>
              <a:prstDash val="solid"/>
              <a:miter lim="800000"/>
            </a:ln>
            <a:effectLst/>
          </p:spPr>
        </p:cxnSp>
        <p:cxnSp>
          <p:nvCxnSpPr>
            <p:cNvPr id="189" name="直接连接符 188"/>
            <p:cNvCxnSpPr/>
            <p:nvPr/>
          </p:nvCxnSpPr>
          <p:spPr>
            <a:xfrm rot="5400000">
              <a:off x="-4508267" y="-1640923"/>
              <a:ext cx="0" cy="286657"/>
            </a:xfrm>
            <a:prstGeom prst="line">
              <a:avLst/>
            </a:prstGeom>
            <a:noFill/>
            <a:ln w="25400" cap="flat" cmpd="sng" algn="ctr">
              <a:solidFill>
                <a:srgbClr val="FFFFFF">
                  <a:alpha val="6000"/>
                </a:srgbClr>
              </a:solidFill>
              <a:prstDash val="solid"/>
              <a:miter lim="800000"/>
            </a:ln>
            <a:effectLst/>
          </p:spPr>
        </p:cxnSp>
        <p:cxnSp>
          <p:nvCxnSpPr>
            <p:cNvPr id="190" name="直接连接符 189"/>
            <p:cNvCxnSpPr/>
            <p:nvPr/>
          </p:nvCxnSpPr>
          <p:spPr>
            <a:xfrm rot="5400000">
              <a:off x="-4562696" y="-1493123"/>
              <a:ext cx="0" cy="177800"/>
            </a:xfrm>
            <a:prstGeom prst="line">
              <a:avLst/>
            </a:prstGeom>
            <a:noFill/>
            <a:ln w="12700" cap="flat" cmpd="sng" algn="ctr">
              <a:solidFill>
                <a:srgbClr val="FFFFFF">
                  <a:alpha val="6000"/>
                </a:srgbClr>
              </a:solidFill>
              <a:prstDash val="solid"/>
              <a:miter lim="800000"/>
            </a:ln>
            <a:effectLst/>
          </p:spPr>
        </p:cxnSp>
        <p:cxnSp>
          <p:nvCxnSpPr>
            <p:cNvPr id="191" name="直接连接符 190"/>
            <p:cNvCxnSpPr/>
            <p:nvPr/>
          </p:nvCxnSpPr>
          <p:spPr>
            <a:xfrm rot="5400000">
              <a:off x="-4562696" y="-1399752"/>
              <a:ext cx="0" cy="177800"/>
            </a:xfrm>
            <a:prstGeom prst="line">
              <a:avLst/>
            </a:prstGeom>
            <a:noFill/>
            <a:ln w="12700" cap="flat" cmpd="sng" algn="ctr">
              <a:solidFill>
                <a:srgbClr val="FFFFFF">
                  <a:alpha val="6000"/>
                </a:srgbClr>
              </a:solidFill>
              <a:prstDash val="solid"/>
              <a:miter lim="800000"/>
            </a:ln>
            <a:effectLst/>
          </p:spPr>
        </p:cxnSp>
        <p:cxnSp>
          <p:nvCxnSpPr>
            <p:cNvPr id="192" name="直接连接符 191"/>
            <p:cNvCxnSpPr/>
            <p:nvPr/>
          </p:nvCxnSpPr>
          <p:spPr>
            <a:xfrm rot="5400000">
              <a:off x="-4562696" y="-1306381"/>
              <a:ext cx="0" cy="177800"/>
            </a:xfrm>
            <a:prstGeom prst="line">
              <a:avLst/>
            </a:prstGeom>
            <a:noFill/>
            <a:ln w="12700" cap="flat" cmpd="sng" algn="ctr">
              <a:solidFill>
                <a:srgbClr val="FFFFFF">
                  <a:alpha val="6000"/>
                </a:srgbClr>
              </a:solidFill>
              <a:prstDash val="solid"/>
              <a:miter lim="800000"/>
            </a:ln>
            <a:effectLst/>
          </p:spPr>
        </p:cxnSp>
        <p:cxnSp>
          <p:nvCxnSpPr>
            <p:cNvPr id="193" name="直接连接符 192"/>
            <p:cNvCxnSpPr/>
            <p:nvPr/>
          </p:nvCxnSpPr>
          <p:spPr>
            <a:xfrm rot="5400000">
              <a:off x="-4562696" y="-1213010"/>
              <a:ext cx="0" cy="177800"/>
            </a:xfrm>
            <a:prstGeom prst="line">
              <a:avLst/>
            </a:prstGeom>
            <a:noFill/>
            <a:ln w="12700" cap="flat" cmpd="sng" algn="ctr">
              <a:solidFill>
                <a:srgbClr val="FFFFFF">
                  <a:alpha val="6000"/>
                </a:srgbClr>
              </a:solidFill>
              <a:prstDash val="solid"/>
              <a:miter lim="800000"/>
            </a:ln>
            <a:effectLst/>
          </p:spPr>
        </p:cxnSp>
        <p:cxnSp>
          <p:nvCxnSpPr>
            <p:cNvPr id="194" name="直接连接符 193"/>
            <p:cNvCxnSpPr/>
            <p:nvPr/>
          </p:nvCxnSpPr>
          <p:spPr>
            <a:xfrm rot="5400000">
              <a:off x="-4508267" y="-1174068"/>
              <a:ext cx="0" cy="286657"/>
            </a:xfrm>
            <a:prstGeom prst="line">
              <a:avLst/>
            </a:prstGeom>
            <a:noFill/>
            <a:ln w="25400" cap="flat" cmpd="sng" algn="ctr">
              <a:solidFill>
                <a:srgbClr val="FFFFFF">
                  <a:alpha val="6000"/>
                </a:srgbClr>
              </a:solidFill>
              <a:prstDash val="solid"/>
              <a:miter lim="800000"/>
            </a:ln>
            <a:effectLst/>
          </p:spPr>
        </p:cxnSp>
        <p:cxnSp>
          <p:nvCxnSpPr>
            <p:cNvPr id="195" name="直接连接符 194"/>
            <p:cNvCxnSpPr/>
            <p:nvPr/>
          </p:nvCxnSpPr>
          <p:spPr>
            <a:xfrm rot="5400000">
              <a:off x="-4562696" y="-1026269"/>
              <a:ext cx="0" cy="177800"/>
            </a:xfrm>
            <a:prstGeom prst="line">
              <a:avLst/>
            </a:prstGeom>
            <a:noFill/>
            <a:ln w="12700" cap="flat" cmpd="sng" algn="ctr">
              <a:solidFill>
                <a:srgbClr val="FFFFFF">
                  <a:alpha val="6000"/>
                </a:srgbClr>
              </a:solidFill>
              <a:prstDash val="solid"/>
              <a:miter lim="800000"/>
            </a:ln>
            <a:effectLst/>
          </p:spPr>
        </p:cxnSp>
        <p:cxnSp>
          <p:nvCxnSpPr>
            <p:cNvPr id="196" name="直接连接符 195"/>
            <p:cNvCxnSpPr/>
            <p:nvPr/>
          </p:nvCxnSpPr>
          <p:spPr>
            <a:xfrm rot="5400000">
              <a:off x="-4562696" y="-932898"/>
              <a:ext cx="0" cy="177800"/>
            </a:xfrm>
            <a:prstGeom prst="line">
              <a:avLst/>
            </a:prstGeom>
            <a:noFill/>
            <a:ln w="12700" cap="flat" cmpd="sng" algn="ctr">
              <a:solidFill>
                <a:srgbClr val="FFFFFF">
                  <a:alpha val="6000"/>
                </a:srgbClr>
              </a:solidFill>
              <a:prstDash val="solid"/>
              <a:miter lim="800000"/>
            </a:ln>
            <a:effectLst/>
          </p:spPr>
        </p:cxnSp>
        <p:cxnSp>
          <p:nvCxnSpPr>
            <p:cNvPr id="197" name="直接连接符 196"/>
            <p:cNvCxnSpPr/>
            <p:nvPr/>
          </p:nvCxnSpPr>
          <p:spPr>
            <a:xfrm rot="5400000">
              <a:off x="-4562696" y="-839527"/>
              <a:ext cx="0" cy="177800"/>
            </a:xfrm>
            <a:prstGeom prst="line">
              <a:avLst/>
            </a:prstGeom>
            <a:noFill/>
            <a:ln w="12700" cap="flat" cmpd="sng" algn="ctr">
              <a:solidFill>
                <a:srgbClr val="FFFFFF">
                  <a:alpha val="6000"/>
                </a:srgbClr>
              </a:solidFill>
              <a:prstDash val="solid"/>
              <a:miter lim="800000"/>
            </a:ln>
            <a:effectLst/>
          </p:spPr>
        </p:cxnSp>
        <p:cxnSp>
          <p:nvCxnSpPr>
            <p:cNvPr id="198" name="直接连接符 197"/>
            <p:cNvCxnSpPr/>
            <p:nvPr/>
          </p:nvCxnSpPr>
          <p:spPr>
            <a:xfrm rot="5400000">
              <a:off x="-4562696" y="-746156"/>
              <a:ext cx="0" cy="177800"/>
            </a:xfrm>
            <a:prstGeom prst="line">
              <a:avLst/>
            </a:prstGeom>
            <a:noFill/>
            <a:ln w="12700" cap="flat" cmpd="sng" algn="ctr">
              <a:solidFill>
                <a:srgbClr val="FFFFFF">
                  <a:alpha val="6000"/>
                </a:srgbClr>
              </a:solidFill>
              <a:prstDash val="solid"/>
              <a:miter lim="800000"/>
            </a:ln>
            <a:effectLst/>
          </p:spPr>
        </p:cxnSp>
        <p:cxnSp>
          <p:nvCxnSpPr>
            <p:cNvPr id="199" name="直接连接符 198"/>
            <p:cNvCxnSpPr/>
            <p:nvPr/>
          </p:nvCxnSpPr>
          <p:spPr>
            <a:xfrm rot="5400000">
              <a:off x="-4508267" y="-707213"/>
              <a:ext cx="0" cy="286657"/>
            </a:xfrm>
            <a:prstGeom prst="line">
              <a:avLst/>
            </a:prstGeom>
            <a:noFill/>
            <a:ln w="25400" cap="flat" cmpd="sng" algn="ctr">
              <a:solidFill>
                <a:srgbClr val="FFFFFF">
                  <a:alpha val="6000"/>
                </a:srgbClr>
              </a:solidFill>
              <a:prstDash val="solid"/>
              <a:miter lim="800000"/>
            </a:ln>
            <a:effectLst/>
          </p:spPr>
        </p:cxnSp>
        <p:cxnSp>
          <p:nvCxnSpPr>
            <p:cNvPr id="200" name="直接连接符 199"/>
            <p:cNvCxnSpPr/>
            <p:nvPr/>
          </p:nvCxnSpPr>
          <p:spPr>
            <a:xfrm rot="5400000">
              <a:off x="-4562696" y="-559414"/>
              <a:ext cx="0" cy="177800"/>
            </a:xfrm>
            <a:prstGeom prst="line">
              <a:avLst/>
            </a:prstGeom>
            <a:noFill/>
            <a:ln w="12700" cap="flat" cmpd="sng" algn="ctr">
              <a:solidFill>
                <a:srgbClr val="FFFFFF">
                  <a:alpha val="6000"/>
                </a:srgbClr>
              </a:solidFill>
              <a:prstDash val="solid"/>
              <a:miter lim="800000"/>
            </a:ln>
            <a:effectLst/>
          </p:spPr>
        </p:cxnSp>
        <p:cxnSp>
          <p:nvCxnSpPr>
            <p:cNvPr id="201" name="直接连接符 200"/>
            <p:cNvCxnSpPr/>
            <p:nvPr/>
          </p:nvCxnSpPr>
          <p:spPr>
            <a:xfrm rot="5400000">
              <a:off x="-4562696" y="-466043"/>
              <a:ext cx="0" cy="177800"/>
            </a:xfrm>
            <a:prstGeom prst="line">
              <a:avLst/>
            </a:prstGeom>
            <a:noFill/>
            <a:ln w="12700" cap="flat" cmpd="sng" algn="ctr">
              <a:solidFill>
                <a:srgbClr val="FFFFFF">
                  <a:alpha val="6000"/>
                </a:srgbClr>
              </a:solidFill>
              <a:prstDash val="solid"/>
              <a:miter lim="800000"/>
            </a:ln>
            <a:effectLst/>
          </p:spPr>
        </p:cxnSp>
        <p:cxnSp>
          <p:nvCxnSpPr>
            <p:cNvPr id="202" name="直接连接符 201"/>
            <p:cNvCxnSpPr/>
            <p:nvPr/>
          </p:nvCxnSpPr>
          <p:spPr>
            <a:xfrm rot="5400000">
              <a:off x="-4562696" y="-372672"/>
              <a:ext cx="0" cy="177800"/>
            </a:xfrm>
            <a:prstGeom prst="line">
              <a:avLst/>
            </a:prstGeom>
            <a:noFill/>
            <a:ln w="12700" cap="flat" cmpd="sng" algn="ctr">
              <a:solidFill>
                <a:srgbClr val="FFFFFF">
                  <a:alpha val="6000"/>
                </a:srgbClr>
              </a:solidFill>
              <a:prstDash val="solid"/>
              <a:miter lim="800000"/>
            </a:ln>
            <a:effectLst/>
          </p:spPr>
        </p:cxnSp>
        <p:cxnSp>
          <p:nvCxnSpPr>
            <p:cNvPr id="203" name="直接连接符 202"/>
            <p:cNvCxnSpPr/>
            <p:nvPr/>
          </p:nvCxnSpPr>
          <p:spPr>
            <a:xfrm rot="5400000">
              <a:off x="-4562696" y="-279301"/>
              <a:ext cx="0" cy="177800"/>
            </a:xfrm>
            <a:prstGeom prst="line">
              <a:avLst/>
            </a:prstGeom>
            <a:noFill/>
            <a:ln w="12700" cap="flat" cmpd="sng" algn="ctr">
              <a:solidFill>
                <a:srgbClr val="FFFFFF">
                  <a:alpha val="6000"/>
                </a:srgbClr>
              </a:solidFill>
              <a:prstDash val="solid"/>
              <a:miter lim="800000"/>
            </a:ln>
            <a:effectLst/>
          </p:spPr>
        </p:cxnSp>
        <p:cxnSp>
          <p:nvCxnSpPr>
            <p:cNvPr id="204" name="直接连接符 203"/>
            <p:cNvCxnSpPr/>
            <p:nvPr/>
          </p:nvCxnSpPr>
          <p:spPr>
            <a:xfrm rot="5400000">
              <a:off x="-4508267" y="-240359"/>
              <a:ext cx="0" cy="286657"/>
            </a:xfrm>
            <a:prstGeom prst="line">
              <a:avLst/>
            </a:prstGeom>
            <a:noFill/>
            <a:ln w="25400" cap="flat" cmpd="sng" algn="ctr">
              <a:solidFill>
                <a:srgbClr val="FFFFFF">
                  <a:alpha val="6000"/>
                </a:srgbClr>
              </a:solidFill>
              <a:prstDash val="solid"/>
              <a:miter lim="800000"/>
            </a:ln>
            <a:effectLst/>
          </p:spPr>
        </p:cxnSp>
        <p:cxnSp>
          <p:nvCxnSpPr>
            <p:cNvPr id="205" name="直接连接符 204"/>
            <p:cNvCxnSpPr/>
            <p:nvPr/>
          </p:nvCxnSpPr>
          <p:spPr>
            <a:xfrm rot="5400000">
              <a:off x="-4562696" y="-92559"/>
              <a:ext cx="0" cy="177800"/>
            </a:xfrm>
            <a:prstGeom prst="line">
              <a:avLst/>
            </a:prstGeom>
            <a:noFill/>
            <a:ln w="12700" cap="flat" cmpd="sng" algn="ctr">
              <a:solidFill>
                <a:srgbClr val="FFFFFF">
                  <a:alpha val="6000"/>
                </a:srgbClr>
              </a:solidFill>
              <a:prstDash val="solid"/>
              <a:miter lim="800000"/>
            </a:ln>
            <a:effectLst/>
          </p:spPr>
        </p:cxnSp>
        <p:cxnSp>
          <p:nvCxnSpPr>
            <p:cNvPr id="206" name="直接连接符 205"/>
            <p:cNvCxnSpPr/>
            <p:nvPr/>
          </p:nvCxnSpPr>
          <p:spPr>
            <a:xfrm rot="5400000">
              <a:off x="-4562696" y="812"/>
              <a:ext cx="0" cy="177800"/>
            </a:xfrm>
            <a:prstGeom prst="line">
              <a:avLst/>
            </a:prstGeom>
            <a:noFill/>
            <a:ln w="12700" cap="flat" cmpd="sng" algn="ctr">
              <a:solidFill>
                <a:srgbClr val="FFFFFF">
                  <a:alpha val="6000"/>
                </a:srgbClr>
              </a:solidFill>
              <a:prstDash val="solid"/>
              <a:miter lim="800000"/>
            </a:ln>
            <a:effectLst/>
          </p:spPr>
        </p:cxnSp>
        <p:cxnSp>
          <p:nvCxnSpPr>
            <p:cNvPr id="207" name="直接连接符 206"/>
            <p:cNvCxnSpPr/>
            <p:nvPr/>
          </p:nvCxnSpPr>
          <p:spPr>
            <a:xfrm rot="5400000">
              <a:off x="-4562696" y="94183"/>
              <a:ext cx="0" cy="177800"/>
            </a:xfrm>
            <a:prstGeom prst="line">
              <a:avLst/>
            </a:prstGeom>
            <a:noFill/>
            <a:ln w="12700" cap="flat" cmpd="sng" algn="ctr">
              <a:solidFill>
                <a:srgbClr val="FFFFFF">
                  <a:alpha val="6000"/>
                </a:srgbClr>
              </a:solidFill>
              <a:prstDash val="solid"/>
              <a:miter lim="800000"/>
            </a:ln>
            <a:effectLst/>
          </p:spPr>
        </p:cxnSp>
        <p:cxnSp>
          <p:nvCxnSpPr>
            <p:cNvPr id="208" name="直接连接符 207"/>
            <p:cNvCxnSpPr/>
            <p:nvPr/>
          </p:nvCxnSpPr>
          <p:spPr>
            <a:xfrm rot="5400000">
              <a:off x="-4562696" y="187554"/>
              <a:ext cx="0" cy="177800"/>
            </a:xfrm>
            <a:prstGeom prst="line">
              <a:avLst/>
            </a:prstGeom>
            <a:noFill/>
            <a:ln w="12700" cap="flat" cmpd="sng" algn="ctr">
              <a:solidFill>
                <a:srgbClr val="FFFFFF">
                  <a:alpha val="6000"/>
                </a:srgbClr>
              </a:solidFill>
              <a:prstDash val="solid"/>
              <a:miter lim="800000"/>
            </a:ln>
            <a:effectLst/>
          </p:spPr>
        </p:cxnSp>
        <p:cxnSp>
          <p:nvCxnSpPr>
            <p:cNvPr id="209" name="直接连接符 208"/>
            <p:cNvCxnSpPr/>
            <p:nvPr/>
          </p:nvCxnSpPr>
          <p:spPr>
            <a:xfrm rot="5400000">
              <a:off x="-4508267" y="226496"/>
              <a:ext cx="0" cy="286657"/>
            </a:xfrm>
            <a:prstGeom prst="line">
              <a:avLst/>
            </a:prstGeom>
            <a:noFill/>
            <a:ln w="25400" cap="flat" cmpd="sng" algn="ctr">
              <a:solidFill>
                <a:srgbClr val="FFFFFF">
                  <a:alpha val="6000"/>
                </a:srgbClr>
              </a:solidFill>
              <a:prstDash val="solid"/>
              <a:miter lim="800000"/>
            </a:ln>
            <a:effectLst/>
          </p:spPr>
        </p:cxnSp>
        <p:cxnSp>
          <p:nvCxnSpPr>
            <p:cNvPr id="210" name="直接连接符 209"/>
            <p:cNvCxnSpPr/>
            <p:nvPr/>
          </p:nvCxnSpPr>
          <p:spPr>
            <a:xfrm rot="5400000">
              <a:off x="-4562696" y="374296"/>
              <a:ext cx="0" cy="177800"/>
            </a:xfrm>
            <a:prstGeom prst="line">
              <a:avLst/>
            </a:prstGeom>
            <a:noFill/>
            <a:ln w="12700" cap="flat" cmpd="sng" algn="ctr">
              <a:solidFill>
                <a:srgbClr val="FFFFFF">
                  <a:alpha val="6000"/>
                </a:srgbClr>
              </a:solidFill>
              <a:prstDash val="solid"/>
              <a:miter lim="800000"/>
            </a:ln>
            <a:effectLst/>
          </p:spPr>
        </p:cxnSp>
        <p:cxnSp>
          <p:nvCxnSpPr>
            <p:cNvPr id="211" name="直接连接符 210"/>
            <p:cNvCxnSpPr/>
            <p:nvPr/>
          </p:nvCxnSpPr>
          <p:spPr>
            <a:xfrm rot="5400000">
              <a:off x="-4562696" y="467666"/>
              <a:ext cx="0" cy="177800"/>
            </a:xfrm>
            <a:prstGeom prst="line">
              <a:avLst/>
            </a:prstGeom>
            <a:noFill/>
            <a:ln w="12700" cap="flat" cmpd="sng" algn="ctr">
              <a:solidFill>
                <a:srgbClr val="FFFFFF">
                  <a:alpha val="6000"/>
                </a:srgbClr>
              </a:solidFill>
              <a:prstDash val="solid"/>
              <a:miter lim="800000"/>
            </a:ln>
            <a:effectLst/>
          </p:spPr>
        </p:cxnSp>
        <p:cxnSp>
          <p:nvCxnSpPr>
            <p:cNvPr id="212" name="直接连接符 211"/>
            <p:cNvCxnSpPr/>
            <p:nvPr/>
          </p:nvCxnSpPr>
          <p:spPr>
            <a:xfrm rot="5400000">
              <a:off x="-4562696" y="561037"/>
              <a:ext cx="0" cy="177800"/>
            </a:xfrm>
            <a:prstGeom prst="line">
              <a:avLst/>
            </a:prstGeom>
            <a:noFill/>
            <a:ln w="12700" cap="flat" cmpd="sng" algn="ctr">
              <a:solidFill>
                <a:srgbClr val="FFFFFF">
                  <a:alpha val="6000"/>
                </a:srgbClr>
              </a:solidFill>
              <a:prstDash val="solid"/>
              <a:miter lim="800000"/>
            </a:ln>
            <a:effectLst/>
          </p:spPr>
        </p:cxnSp>
        <p:cxnSp>
          <p:nvCxnSpPr>
            <p:cNvPr id="213" name="直接连接符 212"/>
            <p:cNvCxnSpPr/>
            <p:nvPr/>
          </p:nvCxnSpPr>
          <p:spPr>
            <a:xfrm rot="5400000">
              <a:off x="-4562696" y="654408"/>
              <a:ext cx="0" cy="177800"/>
            </a:xfrm>
            <a:prstGeom prst="line">
              <a:avLst/>
            </a:prstGeom>
            <a:noFill/>
            <a:ln w="12700" cap="flat" cmpd="sng" algn="ctr">
              <a:solidFill>
                <a:srgbClr val="FFFFFF">
                  <a:alpha val="6000"/>
                </a:srgbClr>
              </a:solidFill>
              <a:prstDash val="solid"/>
              <a:miter lim="800000"/>
            </a:ln>
            <a:effectLst/>
          </p:spPr>
        </p:cxnSp>
        <p:cxnSp>
          <p:nvCxnSpPr>
            <p:cNvPr id="214" name="直接连接符 213"/>
            <p:cNvCxnSpPr/>
            <p:nvPr/>
          </p:nvCxnSpPr>
          <p:spPr>
            <a:xfrm rot="5400000">
              <a:off x="-4508267" y="693351"/>
              <a:ext cx="0" cy="286657"/>
            </a:xfrm>
            <a:prstGeom prst="line">
              <a:avLst/>
            </a:prstGeom>
            <a:noFill/>
            <a:ln w="25400" cap="flat" cmpd="sng" algn="ctr">
              <a:solidFill>
                <a:srgbClr val="FFFFFF">
                  <a:alpha val="6000"/>
                </a:srgbClr>
              </a:solidFill>
              <a:prstDash val="solid"/>
              <a:miter lim="800000"/>
            </a:ln>
            <a:effectLst/>
          </p:spPr>
        </p:cxnSp>
      </p:grpSp>
      <p:sp>
        <p:nvSpPr>
          <p:cNvPr id="217" name="矩形 216"/>
          <p:cNvSpPr/>
          <p:nvPr/>
        </p:nvSpPr>
        <p:spPr>
          <a:xfrm>
            <a:off x="2186621" y="1676124"/>
            <a:ext cx="7871780" cy="1107996"/>
          </a:xfrm>
          <a:prstGeom prst="rect">
            <a:avLst/>
          </a:prstGeom>
          <a:noFill/>
        </p:spPr>
        <p:txBody>
          <a:bodyPr wrap="square">
            <a:spAutoFit/>
          </a:bodyPr>
          <a:lstStyle/>
          <a:p>
            <a:pPr algn="dist"/>
            <a:r>
              <a:rPr lang="zh-CN" altLang="en-US" sz="6600" b="1" dirty="0">
                <a:gradFill>
                  <a:gsLst>
                    <a:gs pos="0">
                      <a:schemeClr val="bg1"/>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汇报完毕</a:t>
            </a:r>
            <a:r>
              <a:rPr lang="en-US" altLang="zh-CN" sz="6600" b="1" dirty="0">
                <a:gradFill>
                  <a:gsLst>
                    <a:gs pos="0">
                      <a:schemeClr val="bg1"/>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a:t>
            </a:r>
            <a:r>
              <a:rPr lang="zh-CN" altLang="en-US" sz="6600" b="1" dirty="0">
                <a:gradFill>
                  <a:gsLst>
                    <a:gs pos="0">
                      <a:schemeClr val="bg1"/>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rPr>
              <a:t>感谢聆听</a:t>
            </a:r>
            <a:endParaRPr lang="zh-CN" altLang="en-US" sz="6600" b="1" dirty="0">
              <a:gradFill>
                <a:gsLst>
                  <a:gs pos="0">
                    <a:schemeClr val="bg1"/>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218" name="文本框 217"/>
          <p:cNvSpPr txBox="1"/>
          <p:nvPr/>
        </p:nvSpPr>
        <p:spPr>
          <a:xfrm>
            <a:off x="5247468" y="3725042"/>
            <a:ext cx="1697064" cy="215265"/>
          </a:xfrm>
          <a:prstGeom prst="rect">
            <a:avLst/>
          </a:prstGeom>
          <a:noFill/>
        </p:spPr>
        <p:txBody>
          <a:bodyPr wrap="square" lIns="0" tIns="0" rIns="0" bIns="0" rtlCol="0">
            <a:spAutoFit/>
          </a:bodyPr>
          <a:lstStyle/>
          <a:p>
            <a:pPr algn="ctr">
              <a:defRPr/>
            </a:pPr>
            <a:r>
              <a:rPr lang="en-US" altLang="zh-CN" sz="1400">
                <a:solidFill>
                  <a:schemeClr val="bg1"/>
                </a:solidFill>
                <a:latin typeface="微软雅黑" panose="020B0503020204020204" charset="-122"/>
                <a:ea typeface="微软雅黑" panose="020B0503020204020204" charset="-122"/>
                <a:cs typeface="微软雅黑" panose="020B0503020204020204" charset="-122"/>
              </a:rPr>
              <a:t>2025</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9</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月</a:t>
            </a:r>
            <a:endParaRPr lang="en-US" altLang="zh-CN" sz="1400"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tags/tag1.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2.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3.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4.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5.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6.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7.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8.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9.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10.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11.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12.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13.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14.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15.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16.xml><?xml version="1.0" encoding="utf-8"?>
<p:tagLst xmlns:p="http://schemas.openxmlformats.org/presentationml/2006/main">
  <p:tag name="KSO_WM_DIAGRAM_VIRTUALLY_FRAME" val="{&quot;height&quot;:208.7279527559055,&quot;left&quot;:443.03275590551186,&quot;top&quot;:116.18031496062993,&quot;width&quot;:286.6968503937008}"/>
</p:tagLst>
</file>

<file path=ppt/tags/tag17.xml><?xml version="1.0" encoding="utf-8"?>
<p:tagLst xmlns:p="http://schemas.openxmlformats.org/presentationml/2006/main">
  <p:tag name="KSO_WM_DIAGRAM_VIRTUALLY_FRAME" val="{&quot;height&quot;:435.1,&quot;left&quot;:-113.30007874015749,&quot;top&quot;:85.95527559055118,&quot;width&quot;:1054.2397637795275}"/>
</p:tagLst>
</file>

<file path=ppt/tags/tag18.xml><?xml version="1.0" encoding="utf-8"?>
<p:tagLst xmlns:p="http://schemas.openxmlformats.org/presentationml/2006/main">
  <p:tag name="KSO_WM_DIAGRAM_VIRTUALLY_FRAME" val="{&quot;height&quot;:435.1,&quot;left&quot;:-113.30007874015749,&quot;top&quot;:85.95527559055118,&quot;width&quot;:1054.2397637795275}"/>
</p:tagLst>
</file>

<file path=ppt/tags/tag19.xml><?xml version="1.0" encoding="utf-8"?>
<p:tagLst xmlns:p="http://schemas.openxmlformats.org/presentationml/2006/main">
  <p:tag name="KSO_WM_DIAGRAM_VIRTUALLY_FRAME" val="{&quot;height&quot;:435.1,&quot;left&quot;:-113.30007874015749,&quot;top&quot;:85.95527559055118,&quot;width&quot;:1054.2397637795275}"/>
</p:tagLst>
</file>

<file path=ppt/tags/tag20.xml><?xml version="1.0" encoding="utf-8"?>
<p:tagLst xmlns:p="http://schemas.openxmlformats.org/presentationml/2006/main">
  <p:tag name="KSO_WM_DIAGRAM_VIRTUALLY_FRAME" val="{&quot;height&quot;:435.1,&quot;left&quot;:-113.30007874015749,&quot;top&quot;:85.95527559055118,&quot;width&quot;:1054.2397637795275}"/>
</p:tagLst>
</file>

<file path=ppt/tags/tag21.xml><?xml version="1.0" encoding="utf-8"?>
<p:tagLst xmlns:p="http://schemas.openxmlformats.org/presentationml/2006/main">
  <p:tag name="KSO_WM_DIAGRAM_VIRTUALLY_FRAME" val="{&quot;height&quot;:435.1,&quot;left&quot;:-113.30007874015749,&quot;top&quot;:85.95527559055118,&quot;width&quot;:1054.2397637795275}"/>
</p:tagLst>
</file>

<file path=ppt/tags/tag22.xml><?xml version="1.0" encoding="utf-8"?>
<p:tagLst xmlns:p="http://schemas.openxmlformats.org/presentationml/2006/main">
  <p:tag name="KSO_WM_DIAGRAM_VIRTUALLY_FRAME" val="{&quot;height&quot;:435.1,&quot;left&quot;:-113.30007874015749,&quot;top&quot;:85.95527559055118,&quot;width&quot;:1054.2397637795275}"/>
</p:tagLst>
</file>

<file path=ppt/tags/tag23.xml><?xml version="1.0" encoding="utf-8"?>
<p:tagLst xmlns:p="http://schemas.openxmlformats.org/presentationml/2006/main">
  <p:tag name="KSO_WM_DIAGRAM_VIRTUALLY_FRAME" val="{&quot;height&quot;:435.1,&quot;left&quot;:-113.30007874015749,&quot;top&quot;:85.95527559055118,&quot;width&quot;:1054.2397637795275}"/>
</p:tagLst>
</file>

<file path=ppt/tags/tag24.xml><?xml version="1.0" encoding="utf-8"?>
<p:tagLst xmlns:p="http://schemas.openxmlformats.org/presentationml/2006/main">
  <p:tag name="KSO_WM_DIAGRAM_VIRTUALLY_FRAME" val="{&quot;height&quot;:435.1,&quot;left&quot;:-113.30007874015749,&quot;top&quot;:85.95527559055118,&quot;width&quot;:1054.2397637795275}"/>
</p:tagLst>
</file>

<file path=ppt/tags/tag25.xml><?xml version="1.0" encoding="utf-8"?>
<p:tagLst xmlns:p="http://schemas.openxmlformats.org/presentationml/2006/main">
  <p:tag name="KSO_WM_DIAGRAM_VIRTUALLY_FRAME" val="{&quot;height&quot;:435.1,&quot;left&quot;:-113.30007874015749,&quot;top&quot;:85.95527559055118,&quot;width&quot;:1054.2397637795275}"/>
</p:tagLst>
</file>

<file path=ppt/tags/tag26.xml><?xml version="1.0" encoding="utf-8"?>
<p:tagLst xmlns:p="http://schemas.openxmlformats.org/presentationml/2006/main">
  <p:tag name="KSO_WM_DIAGRAM_VIRTUALLY_FRAME" val="{&quot;height&quot;:435.1,&quot;left&quot;:-113.30007874015749,&quot;top&quot;:85.95527559055118,&quot;width&quot;:1054.2397637795275}"/>
</p:tagLst>
</file>

<file path=ppt/tags/tag27.xml><?xml version="1.0" encoding="utf-8"?>
<p:tagLst xmlns:p="http://schemas.openxmlformats.org/presentationml/2006/main">
  <p:tag name="KSO_WM_DIAGRAM_VIRTUALLY_FRAME" val="{&quot;height&quot;:435.1,&quot;left&quot;:-113.30007874015749,&quot;top&quot;:85.95527559055118,&quot;width&quot;:1054.2397637795275}"/>
</p:tagLst>
</file>

<file path=ppt/tags/tag28.xml><?xml version="1.0" encoding="utf-8"?>
<p:tagLst xmlns:p="http://schemas.openxmlformats.org/presentationml/2006/main">
  <p:tag name="KSO_WM_DIAGRAM_VIRTUALLY_FRAME" val="{&quot;height&quot;:435.1,&quot;left&quot;:-113.30007874015749,&quot;top&quot;:85.95527559055118,&quot;width&quot;:1054.2397637795275}"/>
</p:tagLst>
</file>

<file path=ppt/tags/tag29.xml><?xml version="1.0" encoding="utf-8"?>
<p:tagLst xmlns:p="http://schemas.openxmlformats.org/presentationml/2006/main">
  <p:tag name="KSO_WM_DIAGRAM_VIRTUALLY_FRAME" val="{&quot;height&quot;:435.1,&quot;left&quot;:-113.30007874015749,&quot;top&quot;:85.95527559055118,&quot;width&quot;:1054.2397637795275}"/>
</p:tagLst>
</file>

<file path=ppt/tags/tag30.xml><?xml version="1.0" encoding="utf-8"?>
<p:tagLst xmlns:p="http://schemas.openxmlformats.org/presentationml/2006/main">
  <p:tag name="KSO_WM_DIAGRAM_VIRTUALLY_FRAME" val="{&quot;height&quot;:435.1,&quot;left&quot;:-113.30007874015749,&quot;top&quot;:85.95527559055118,&quot;width&quot;:1054.2397637795275}"/>
</p:tagLst>
</file>

<file path=ppt/tags/tag31.xml><?xml version="1.0" encoding="utf-8"?>
<p:tagLst xmlns:p="http://schemas.openxmlformats.org/presentationml/2006/main">
  <p:tag name="KSO_WM_DIAGRAM_VIRTUALLY_FRAME" val="{&quot;height&quot;:435.1,&quot;left&quot;:-113.30007874015749,&quot;top&quot;:85.95527559055118,&quot;width&quot;:1054.2397637795275}"/>
</p:tagLst>
</file>

<file path=ppt/tags/tag32.xml><?xml version="1.0" encoding="utf-8"?>
<p:tagLst xmlns:p="http://schemas.openxmlformats.org/presentationml/2006/main">
  <p:tag name="KSO_WM_DIAGRAM_VIRTUALLY_FRAME" val="{&quot;height&quot;:435.1,&quot;left&quot;:-113.30007874015749,&quot;top&quot;:85.95527559055118,&quot;width&quot;:1054.2397637795275}"/>
</p:tagLst>
</file>

<file path=ppt/tags/tag33.xml><?xml version="1.0" encoding="utf-8"?>
<p:tagLst xmlns:p="http://schemas.openxmlformats.org/presentationml/2006/main">
  <p:tag name="KSO_WM_DIAGRAM_VIRTUALLY_FRAME" val="{&quot;height&quot;:435.1,&quot;left&quot;:-113.30007874015749,&quot;top&quot;:85.95527559055118,&quot;width&quot;:1054.2397637795275}"/>
</p:tagLst>
</file>

<file path=ppt/tags/tag34.xml><?xml version="1.0" encoding="utf-8"?>
<p:tagLst xmlns:p="http://schemas.openxmlformats.org/presentationml/2006/main">
  <p:tag name="KSO_WM_DIAGRAM_VIRTUALLY_FRAME" val="{&quot;height&quot;:435.1,&quot;left&quot;:-113.30007874015749,&quot;top&quot;:85.95527559055118,&quot;width&quot;:1054.2397637795275}"/>
</p:tagLst>
</file>

<file path=ppt/tags/tag35.xml><?xml version="1.0" encoding="utf-8"?>
<p:tagLst xmlns:p="http://schemas.openxmlformats.org/presentationml/2006/main">
  <p:tag name="KSO_WM_DIAGRAM_VIRTUALLY_FRAME" val="{&quot;height&quot;:435.1,&quot;left&quot;:-113.30007874015749,&quot;top&quot;:85.95527559055118,&quot;width&quot;:1054.2397637795275}"/>
</p:tagLst>
</file>

<file path=ppt/tags/tag36.xml><?xml version="1.0" encoding="utf-8"?>
<p:tagLst xmlns:p="http://schemas.openxmlformats.org/presentationml/2006/main">
  <p:tag name="KSO_WM_DIAGRAM_VIRTUALLY_FRAME" val="{&quot;height&quot;:435.1,&quot;left&quot;:-113.30007874015749,&quot;top&quot;:85.95527559055118,&quot;width&quot;:1054.2397637795275}"/>
</p:tagLst>
</file>

<file path=ppt/tags/tag37.xml><?xml version="1.0" encoding="utf-8"?>
<p:tagLst xmlns:p="http://schemas.openxmlformats.org/presentationml/2006/main">
  <p:tag name="KSO_WM_DIAGRAM_VIRTUALLY_FRAME" val="{&quot;height&quot;:435.1,&quot;left&quot;:-113.30007874015749,&quot;top&quot;:85.95527559055118,&quot;width&quot;:1054.2397637795275}"/>
</p:tagLst>
</file>

<file path=ppt/tags/tag38.xml><?xml version="1.0" encoding="utf-8"?>
<p:tagLst xmlns:p="http://schemas.openxmlformats.org/presentationml/2006/main">
  <p:tag name="KSO_WM_DIAGRAM_VIRTUALLY_FRAME" val="{&quot;height&quot;:435.1,&quot;left&quot;:-113.30007874015749,&quot;top&quot;:85.95527559055118,&quot;width&quot;:1054.2397637795275}"/>
</p:tagLst>
</file>

<file path=ppt/tags/tag39.xml><?xml version="1.0" encoding="utf-8"?>
<p:tagLst xmlns:p="http://schemas.openxmlformats.org/presentationml/2006/main">
  <p:tag name="KSO_WM_DIAGRAM_VIRTUALLY_FRAME" val="{&quot;height&quot;:435.1,&quot;left&quot;:-113.30007874015749,&quot;top&quot;:85.95527559055118,&quot;width&quot;:1054.2397637795275}"/>
</p:tagLst>
</file>

<file path=ppt/tags/tag40.xml><?xml version="1.0" encoding="utf-8"?>
<p:tagLst xmlns:p="http://schemas.openxmlformats.org/presentationml/2006/main">
  <p:tag name="KSO_WM_DIAGRAM_VIRTUALLY_FRAME" val="{&quot;height&quot;:435.1,&quot;left&quot;:-113.30007874015749,&quot;top&quot;:85.95527559055118,&quot;width&quot;:1054.2397637795275}"/>
</p:tagLst>
</file>

<file path=ppt/tags/tag41.xml><?xml version="1.0" encoding="utf-8"?>
<p:tagLst xmlns:p="http://schemas.openxmlformats.org/presentationml/2006/main">
  <p:tag name="KSO_WM_DIAGRAM_VIRTUALLY_FRAME" val="{&quot;height&quot;:435.1,&quot;left&quot;:-113.30007874015749,&quot;top&quot;:85.95527559055118,&quot;width&quot;:1054.2397637795275}"/>
</p:tagLst>
</file>

<file path=ppt/tags/tag42.xml><?xml version="1.0" encoding="utf-8"?>
<p:tagLst xmlns:p="http://schemas.openxmlformats.org/presentationml/2006/main">
  <p:tag name="KSO_WM_DIAGRAM_VIRTUALLY_FRAME" val="{&quot;height&quot;:435.1,&quot;left&quot;:-113.30007874015749,&quot;top&quot;:85.95527559055118,&quot;width&quot;:1054.2397637795275}"/>
</p:tagLst>
</file>

<file path=ppt/tags/tag43.xml><?xml version="1.0" encoding="utf-8"?>
<p:tagLst xmlns:p="http://schemas.openxmlformats.org/presentationml/2006/main">
  <p:tag name="KSO_WM_DIAGRAM_VIRTUALLY_FRAME" val="{&quot;height&quot;:435.1,&quot;left&quot;:-113.30007874015749,&quot;top&quot;:85.95527559055118,&quot;width&quot;:1054.2397637795275}"/>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49.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0.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1.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2.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3.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4.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5.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6.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7.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8.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59.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60.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61.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62.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63.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64.xml><?xml version="1.0" encoding="utf-8"?>
<p:tagLst xmlns:p="http://schemas.openxmlformats.org/presentationml/2006/main">
  <p:tag name="KSO_WM_DIAGRAM_VIRTUALLY_FRAME" val="{&quot;height&quot;:425.2295275590551,&quot;left&quot;:40.889606299212595,&quot;top&quot;:86.46464566929134,&quot;width&quot;:877.8013385826771}"/>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COMMONDATA" val="eyJoZGlkIjoiM2VkZWQzY2E5YWU5ODA4YTZiNzVlYWIzODZlZjJjYzkifQ=="/>
  <p:tag name="resource_record_key" val="{&quot;10&quot;:[20093111,3633130]}"/>
</p:tagLst>
</file>

<file path=ppt/theme/theme1.xml><?xml version="1.0" encoding="utf-8"?>
<a:theme xmlns:a="http://schemas.openxmlformats.org/drawingml/2006/main" name="Office 主题​​">
  <a:themeElements>
    <a:clrScheme name="自定义 58">
      <a:dk1>
        <a:sysClr val="windowText" lastClr="000000"/>
      </a:dk1>
      <a:lt1>
        <a:sysClr val="window" lastClr="FFFFFF"/>
      </a:lt1>
      <a:dk2>
        <a:srgbClr val="44546A"/>
      </a:dk2>
      <a:lt2>
        <a:srgbClr val="E7E6E6"/>
      </a:lt2>
      <a:accent1>
        <a:srgbClr val="094DB9"/>
      </a:accent1>
      <a:accent2>
        <a:srgbClr val="FEA725"/>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4sm3kci">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6292</Words>
  <Application>WPS 演示</Application>
  <PresentationFormat>宽屏</PresentationFormat>
  <Paragraphs>592</Paragraphs>
  <Slides>17</Slides>
  <Notes>11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17</vt:i4>
      </vt:variant>
    </vt:vector>
  </HeadingPairs>
  <TitlesOfParts>
    <vt:vector size="36" baseType="lpstr">
      <vt:lpstr>Arial</vt:lpstr>
      <vt:lpstr>宋体</vt:lpstr>
      <vt:lpstr>Wingdings</vt:lpstr>
      <vt:lpstr>微软雅黑</vt:lpstr>
      <vt:lpstr>Source Sans Pro SemiBold</vt:lpstr>
      <vt:lpstr>阿里巴巴普惠体</vt:lpstr>
      <vt:lpstr>思源黑体 CN Medium</vt:lpstr>
      <vt:lpstr>Wingdings</vt:lpstr>
      <vt:lpstr>Segoe Print</vt:lpstr>
      <vt:lpstr>Arial Unicode MS</vt:lpstr>
      <vt:lpstr>Calibri</vt:lpstr>
      <vt:lpstr>黑体</vt:lpstr>
      <vt:lpstr>Saturday Sans Regular</vt:lpstr>
      <vt:lpstr>方正仿宋_GB2312</vt:lpstr>
      <vt:lpstr>方正宝黑体 简 Medium</vt:lpstr>
      <vt:lpstr>阿里巴巴普惠体 2.0 95 ExtraBold</vt:lpstr>
      <vt:lpstr>思源黑体 CN Light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yu</dc:creator>
  <cp:lastModifiedBy>余温。</cp:lastModifiedBy>
  <cp:revision>300</cp:revision>
  <dcterms:created xsi:type="dcterms:W3CDTF">2025-09-13T14:22:00Z</dcterms:created>
  <dcterms:modified xsi:type="dcterms:W3CDTF">2025-11-13T11:44:24Z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1E0F89D1F8BD4C8E88DE40EC221D0E9A_13</vt:lpwstr>
  </property>
  <property fmtid="{D5CDD505-2E9C-101B-9397-08002B2CF9AE}" pid="3" name="KSOProductBuildVer">
    <vt:lpwstr>2052-12.1.0.23542</vt:lpwstr>
  </property>
</Properties>
</file>