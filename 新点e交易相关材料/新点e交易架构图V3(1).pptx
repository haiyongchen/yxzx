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73.svg" ContentType="image/svg+xml"/>
  <Override PartName="/ppt/media/image7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16765286" r:id="rId3"/>
    <p:sldId id="261" r:id="rId5"/>
    <p:sldId id="16765297" r:id="rId6"/>
    <p:sldId id="266" r:id="rId7"/>
    <p:sldId id="16765293" r:id="rId8"/>
    <p:sldId id="258" r:id="rId9"/>
    <p:sldId id="16765285" r:id="rId10"/>
    <p:sldId id="262" r:id="rId11"/>
  </p:sldIdLst>
  <p:sldSz cx="12192000" cy="6858000"/>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微软用户" initials="微软用户" lastIdx="1" clrIdx="0"/>
  <p:cmAuthor id="1" name="CREO" initials="C" lastIdx="4" clrIdx="0"/>
  <p:cmAuthor id="2" name="作者" initials="A" lastIdx="0" clrIdx="1"/>
  <p:cmAuthor id="3" name="林 蒋" initials="林" lastIdx="1" clrIdx="2"/>
  <p:cmAuthor id="4" name="leo zsw" initials="lz" lastIdx="1" clrIdx="3"/>
  <p:cmAuthor id="5" name="刘硕" initials="刘" lastIdx="2" clrIdx="4"/>
  <p:cmAuthor id="35" name="Author" initials="A" lastIdx="0" clrIdx="35"/>
  <p:cmAuthor id="6" name="NTKO" initials="N" lastIdx="13" clrIdx="5"/>
  <p:cmAuthor id="7" name="11" initials="1" lastIdx="11" clrIdx="6"/>
  <p:cmAuthor id="8" name="大洋悍马" initials="大" lastIdx="1" clrIdx="7"/>
  <p:cmAuthor id="9" name="David_Q" initials="D" lastIdx="1" clrIdx="8"/>
  <p:cmAuthor id="11" name="zhangzhihao" initials="z" lastIdx="10" clrIdx="10"/>
  <p:cmAuthor id="12" name="Bevan" initials="B" lastIdx="1" clrIdx="11"/>
  <p:cmAuthor id="13" name="dou" initials="d" lastIdx="5" clrIdx="12"/>
  <p:cmAuthor id="18" name="Epoint" initials="E" lastIdx="1" clrIdx="17"/>
  <p:cmAuthor id="76" name="chai elaine" initials="ce" lastIdx="13" clrIdx="37"/>
  <p:cmAuthor id="19" name="lshuyu" initials="l" lastIdx="1" clrIdx="18"/>
  <p:cmAuthor id="21" name="倪 成" initials="N" lastIdx="7" clrIdx="2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E54A1"/>
    <a:srgbClr val="5F5AEC"/>
    <a:srgbClr val="979797"/>
    <a:srgbClr val="4B04CC"/>
    <a:srgbClr val="3399FF"/>
    <a:srgbClr val="DEEBF7"/>
    <a:srgbClr val="4472C4"/>
    <a:srgbClr val="A4F6FA"/>
    <a:srgbClr val="0DE8F2"/>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86" autoAdjust="0"/>
    <p:restoredTop sz="96331" autoAdjust="0"/>
  </p:normalViewPr>
  <p:slideViewPr>
    <p:cSldViewPr snapToGrid="0">
      <p:cViewPr>
        <p:scale>
          <a:sx n="100" d="100"/>
          <a:sy n="100" d="100"/>
        </p:scale>
        <p:origin x="924" y="37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gs" Target="tags/tag184.xml"/><Relationship Id="rId15" Type="http://schemas.openxmlformats.org/officeDocument/2006/relationships/commentAuthors" Target="commentAuthors.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r>
              <a:rPr lang="en-US" altLang="zh-CN" b="1" dirty="0">
                <a:effectLst/>
              </a:rPr>
              <a:t>1. </a:t>
            </a:r>
            <a:r>
              <a:rPr lang="zh-CN" altLang="en-US" b="1" dirty="0">
                <a:effectLst/>
              </a:rPr>
              <a:t>总体架构图（</a:t>
            </a:r>
            <a:r>
              <a:rPr lang="en-US" altLang="zh-CN" b="1" dirty="0">
                <a:effectLst/>
              </a:rPr>
              <a:t>Overall Architecture Diagram</a:t>
            </a:r>
            <a:r>
              <a:rPr lang="zh-CN" altLang="en-US" b="1" dirty="0">
                <a:effectLst/>
              </a:rPr>
              <a:t>）</a:t>
            </a:r>
            <a:endParaRPr lang="zh-CN" altLang="en-US" dirty="0">
              <a:effectLst/>
            </a:endParaRPr>
          </a:p>
          <a:p>
            <a:pPr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定义：展示系统建设所涉及的所有组成部分及相互关系，突出微服务，体现中台化概念。</a:t>
            </a:r>
            <a:endParaRPr lang="zh-CN" altLang="en-US" b="0" i="0" u="none" strike="noStrike" dirty="0">
              <a:solidFill>
                <a:srgbClr val="000000"/>
              </a:solidFill>
              <a:effectLst/>
              <a:latin typeface="微软雅黑" panose="020B0503020204020204" charset="-122"/>
              <a:ea typeface="微软雅黑" panose="020B0503020204020204" charset="-122"/>
            </a:endParaRPr>
          </a:p>
          <a:p>
            <a:pPr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描述内容：</a:t>
            </a:r>
            <a:endParaRPr lang="zh-CN" altLang="en-US" b="0" i="0" u="none" strike="noStrike" dirty="0">
              <a:solidFill>
                <a:srgbClr val="000000"/>
              </a:solidFill>
              <a:effectLst/>
              <a:latin typeface="微软雅黑" panose="020B0503020204020204" charset="-122"/>
              <a:ea typeface="微软雅黑" panose="020B0503020204020204" charset="-122"/>
            </a:endParaRPr>
          </a:p>
          <a:p>
            <a:pPr marL="742950" lvl="1" indent="-285750"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系统的高层结构，通常包括应用、服务、数据库和外部系统之间的交互。</a:t>
            </a:r>
            <a:endParaRPr lang="zh-CN" altLang="en-US" b="0" i="0" u="none" strike="noStrike" dirty="0">
              <a:solidFill>
                <a:srgbClr val="000000"/>
              </a:solidFill>
              <a:effectLst/>
              <a:latin typeface="微软雅黑" panose="020B0503020204020204" charset="-122"/>
              <a:ea typeface="微软雅黑" panose="020B0503020204020204" charset="-122"/>
            </a:endParaRPr>
          </a:p>
          <a:p>
            <a:pPr marL="742950" lvl="1" indent="-285750"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侧重于系统的全局视图，给相关者提供对系统整体架构的概览。</a:t>
            </a:r>
            <a:endParaRPr lang="zh-CN" altLang="en-US" b="0" i="0" u="none" strike="noStrike" dirty="0">
              <a:solidFill>
                <a:srgbClr val="000000"/>
              </a:solidFill>
              <a:effectLst/>
              <a:latin typeface="微软雅黑" panose="020B0503020204020204" charset="-122"/>
              <a:ea typeface="微软雅黑" panose="020B0503020204020204" charset="-122"/>
            </a:endParaRPr>
          </a:p>
          <a:p>
            <a:pPr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应用场景：项目初期，用于向团队、客户或管理层展示系统的整体设计方向，系统架构图主要关注系统的整体结构和可扩展性，通过它可以了解到系统的部署和物理结构，指导系统各个方向的设计。</a:t>
            </a:r>
            <a:endParaRPr lang="zh-CN" altLang="en-US" b="0" i="0" u="none" strike="noStrike" dirty="0">
              <a:solidFill>
                <a:srgbClr val="000000"/>
              </a:solidFill>
              <a:effectLst/>
              <a:latin typeface="微软雅黑" panose="020B0503020204020204" charset="-122"/>
              <a:ea typeface="微软雅黑" panose="020B0503020204020204" charset="-122"/>
            </a:endParaRPr>
          </a:p>
          <a:p>
            <a:pPr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关注点：</a:t>
            </a:r>
            <a:endParaRPr lang="zh-CN" altLang="en-US" b="0" i="0" u="none" strike="noStrike" dirty="0">
              <a:solidFill>
                <a:srgbClr val="000000"/>
              </a:solidFill>
              <a:effectLst/>
              <a:latin typeface="微软雅黑" panose="020B0503020204020204" charset="-122"/>
              <a:ea typeface="微软雅黑" panose="020B0503020204020204" charset="-122"/>
            </a:endParaRPr>
          </a:p>
          <a:p>
            <a:pPr marL="742950" lvl="1" indent="-285750"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图例是按照复杂企业客户规划，措辞为企业行业措辞。</a:t>
            </a:r>
            <a:endParaRPr lang="zh-CN" altLang="en-US" b="0" i="0" u="none" strike="noStrike" dirty="0">
              <a:solidFill>
                <a:srgbClr val="000000"/>
              </a:solidFill>
              <a:effectLst/>
              <a:latin typeface="微软雅黑" panose="020B0503020204020204" charset="-122"/>
              <a:ea typeface="微软雅黑" panose="020B0503020204020204" charset="-122"/>
            </a:endParaRPr>
          </a:p>
          <a:p>
            <a:pPr marL="742950" lvl="1" indent="-285750"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业务中台中的业务集成中台，是内部包括低代码平台。</a:t>
            </a:r>
            <a:endParaRPr lang="zh-CN" altLang="en-US" b="0" i="0" u="none" strike="noStrike" dirty="0">
              <a:solidFill>
                <a:srgbClr val="000000"/>
              </a:solidFill>
              <a:effectLst/>
              <a:latin typeface="微软雅黑" panose="020B0503020204020204" charset="-122"/>
              <a:ea typeface="微软雅黑" panose="020B0503020204020204" charset="-122"/>
            </a:endParaRPr>
          </a:p>
          <a:p>
            <a:pPr marL="742950" lvl="1" indent="-285750"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顶部应用需要围绕客户的视角去看，而不能大而全。</a:t>
            </a:r>
            <a:endParaRPr lang="zh-CN" altLang="en-US" b="0" i="0" u="none" strike="noStrike" dirty="0">
              <a:solidFill>
                <a:srgbClr val="000000"/>
              </a:solidFill>
              <a:effectLst/>
              <a:latin typeface="微软雅黑" panose="020B0503020204020204" charset="-122"/>
              <a:ea typeface="微软雅黑" panose="020B0503020204020204" charset="-122"/>
            </a:endParaRPr>
          </a:p>
          <a:p>
            <a:pPr marL="742950" lvl="1" indent="-285750" algn="l">
              <a:buFont typeface="Arial" panose="020B0604020202020204" pitchFamily="34" charset="0"/>
              <a:buChar char="•"/>
            </a:pPr>
            <a:r>
              <a:rPr lang="zh-CN" altLang="en-US" b="0" i="0" u="none" strike="noStrike">
                <a:solidFill>
                  <a:srgbClr val="000000"/>
                </a:solidFill>
                <a:effectLst/>
                <a:latin typeface="微软雅黑" panose="020B0503020204020204" charset="-122"/>
                <a:ea typeface="微软雅黑" panose="020B0503020204020204" charset="-122"/>
              </a:rPr>
              <a:t>如果项目建设没有大数据，则取消顶部的大数据产品和数据中台，将其他区域扩大填充突出。</a:t>
            </a:r>
            <a:endParaRPr lang="zh-CN" altLang="en-US" b="0" i="0" u="none" strike="noStrike">
              <a:solidFill>
                <a:srgbClr val="000000"/>
              </a:solidFill>
              <a:effectLst/>
              <a:latin typeface="微软雅黑" panose="020B0503020204020204" charset="-122"/>
              <a:ea typeface="微软雅黑" panose="020B0503020204020204" charset="-122"/>
            </a:endParaRPr>
          </a:p>
          <a:p>
            <a:pPr algn="l"/>
            <a:endParaRPr lang="en-US" altLang="zh-CN" dirty="0">
              <a:effectLst/>
            </a:endParaRPr>
          </a:p>
          <a:p>
            <a:pPr algn="l"/>
            <a:endParaRPr lang="en-US" altLang="zh-CN" dirty="0">
              <a:effectLst/>
            </a:endParaRPr>
          </a:p>
          <a:p>
            <a:pPr algn="l"/>
            <a:r>
              <a:rPr lang="zh-CN" altLang="en-US" dirty="0">
                <a:effectLst/>
              </a:rPr>
              <a:t>总体架构图：</a:t>
            </a:r>
            <a:endParaRPr lang="zh-CN" altLang="en-US" dirty="0">
              <a:effectLst/>
            </a:endParaRPr>
          </a:p>
          <a:p>
            <a:pPr algn="l"/>
            <a:r>
              <a:rPr lang="zh-CN" altLang="en-US" dirty="0">
                <a:effectLst/>
              </a:rPr>
              <a:t>为此我们设计了微服务</a:t>
            </a:r>
            <a:r>
              <a:rPr lang="en-US" altLang="zh-CN" dirty="0">
                <a:effectLst/>
              </a:rPr>
              <a:t>+</a:t>
            </a:r>
            <a:r>
              <a:rPr lang="zh-CN" altLang="en-US" dirty="0">
                <a:effectLst/>
              </a:rPr>
              <a:t>中台化的总体架构，按层级逐步搭建：基础设施服务层（</a:t>
            </a:r>
            <a:r>
              <a:rPr lang="en-US" altLang="zh-CN" dirty="0">
                <a:effectLst/>
              </a:rPr>
              <a:t>IaaS</a:t>
            </a:r>
            <a:r>
              <a:rPr lang="zh-CN" altLang="en-US" dirty="0">
                <a:effectLst/>
              </a:rPr>
              <a:t>） 提供系统运行的通用基础环境，包括服务器、网络、存储设备等硬件设施及操作系统等底层支持，以保障硬件性能和可靠性。</a:t>
            </a:r>
            <a:endParaRPr lang="en-US" altLang="zh-CN" dirty="0">
              <a:effectLst/>
            </a:endParaRPr>
          </a:p>
          <a:p>
            <a:pPr algn="l"/>
            <a:endParaRPr lang="zh-CN" altLang="en-US" dirty="0">
              <a:effectLst/>
            </a:endParaRPr>
          </a:p>
          <a:p>
            <a:pPr algn="l"/>
            <a:r>
              <a:rPr lang="zh-CN" altLang="en-US" dirty="0">
                <a:effectLst/>
              </a:rPr>
              <a:t>  招采平台服务层（</a:t>
            </a:r>
            <a:r>
              <a:rPr lang="en-US" altLang="zh-CN" dirty="0">
                <a:effectLst/>
              </a:rPr>
              <a:t>PaaS</a:t>
            </a:r>
            <a:r>
              <a:rPr lang="zh-CN" altLang="en-US" dirty="0">
                <a:effectLst/>
              </a:rPr>
              <a:t>） 引入中台概念，主要分为业务中台、数据中台和技术中台。</a:t>
            </a:r>
            <a:endParaRPr lang="en-US" altLang="zh-CN" dirty="0">
              <a:effectLst/>
            </a:endParaRPr>
          </a:p>
          <a:p>
            <a:pPr algn="l"/>
            <a:r>
              <a:rPr lang="en-US" altLang="zh-CN" dirty="0">
                <a:effectLst/>
              </a:rPr>
              <a:t>1</a:t>
            </a:r>
            <a:r>
              <a:rPr lang="zh-CN" altLang="en-US" dirty="0">
                <a:effectLst/>
              </a:rPr>
              <a:t>、技术中台则整合了能力应用平台、集成开发平台、服务管理平台、大数据平台及各种中间件，以支撑底层的技术需求和系统扩展</a:t>
            </a:r>
            <a:r>
              <a:rPr lang="en-US" altLang="zh-CN" dirty="0">
                <a:effectLst/>
              </a:rPr>
              <a:t>;</a:t>
            </a:r>
            <a:endParaRPr lang="en-US" altLang="zh-CN" dirty="0">
              <a:effectLst/>
            </a:endParaRPr>
          </a:p>
          <a:p>
            <a:pPr algn="l"/>
            <a:r>
              <a:rPr lang="en-US" altLang="zh-CN" dirty="0">
                <a:effectLst/>
              </a:rPr>
              <a:t>2</a:t>
            </a:r>
            <a:r>
              <a:rPr lang="zh-CN" altLang="en-US" dirty="0">
                <a:effectLst/>
              </a:rPr>
              <a:t>、数据中台的核心是数据仓库，通过抽取、清洗和融合业务数据，建立标准化的数据模型并存储，沉淀为具有多个业务维度的数据资产；</a:t>
            </a:r>
            <a:endParaRPr lang="en-US" altLang="zh-CN" dirty="0">
              <a:effectLst/>
            </a:endParaRPr>
          </a:p>
          <a:p>
            <a:pPr algn="l"/>
            <a:r>
              <a:rPr lang="en-US" altLang="zh-CN" dirty="0">
                <a:effectLst/>
              </a:rPr>
              <a:t>3</a:t>
            </a:r>
            <a:r>
              <a:rPr lang="zh-CN" altLang="en-US" dirty="0">
                <a:effectLst/>
              </a:rPr>
              <a:t>、业务中台由业务组件和支撑组件组成，通过统一低码开发平台进行快速构建，为招采系统提供通用的业务处理能力；</a:t>
            </a:r>
            <a:endParaRPr lang="en-US" altLang="zh-CN" dirty="0">
              <a:effectLst/>
            </a:endParaRPr>
          </a:p>
          <a:p>
            <a:pPr algn="l"/>
            <a:endParaRPr lang="zh-CN" altLang="en-US" dirty="0">
              <a:effectLst/>
            </a:endParaRPr>
          </a:p>
          <a:p>
            <a:pPr algn="l"/>
            <a:r>
              <a:rPr lang="zh-CN" altLang="en-US" dirty="0">
                <a:effectLst/>
              </a:rPr>
              <a:t>    领域服务层</a:t>
            </a:r>
            <a:r>
              <a:rPr lang="zh-CN" altLang="en-US" strike="sngStrike" dirty="0">
                <a:effectLst/>
              </a:rPr>
              <a:t>（</a:t>
            </a:r>
            <a:r>
              <a:rPr lang="en-US" altLang="zh-CN" strike="sngStrike" dirty="0">
                <a:effectLst/>
              </a:rPr>
              <a:t>SaaS</a:t>
            </a:r>
            <a:r>
              <a:rPr lang="zh-CN" altLang="en-US" strike="sngStrike" dirty="0">
                <a:effectLst/>
              </a:rPr>
              <a:t>） </a:t>
            </a:r>
            <a:r>
              <a:rPr lang="zh-CN" altLang="en-US" dirty="0">
                <a:effectLst/>
              </a:rPr>
              <a:t>采用“领域驱动设计”方法论，基于招采业务特性和时间轴，结合并发需求和业务频繁调整的特性，合理拆分和划分组件，将招采全流程分解为三大领域：智慧交易、智慧见证、智慧监管，其中智慧交易又主要分成九个子域：工程业务、招标素材和制作软件、投标服务、开标服务、评标服务、定标服务、电子合同服务、智能主体及综合服务。每个领域服务独立且内聚，确保系统能够灵活应对不同的业务场景和负载需求。</a:t>
            </a:r>
            <a:endParaRPr lang="en-US" altLang="zh-CN" dirty="0">
              <a:effectLst/>
            </a:endParaRPr>
          </a:p>
          <a:p>
            <a:pPr algn="l"/>
            <a:endParaRPr lang="zh-CN" altLang="en-US" dirty="0">
              <a:effectLst/>
            </a:endParaRPr>
          </a:p>
          <a:p>
            <a:pPr algn="l"/>
            <a:r>
              <a:rPr lang="zh-CN" altLang="en-US" dirty="0">
                <a:effectLst/>
              </a:rPr>
              <a:t> </a:t>
            </a:r>
            <a:r>
              <a:rPr lang="zh-CN" altLang="en-US" strike="sngStrike" dirty="0">
                <a:effectLst/>
              </a:rPr>
              <a:t>应用层是通过服务网关将领域服务组合成业务流程的子系统，不仅支持交易集团内部应用，还可以扩展为支持三方应用，为用户提供系统的具体业务操作界面，展示最终的应用功能。</a:t>
            </a:r>
            <a:endParaRPr lang="en-US" altLang="zh-CN" strike="sngStrike" dirty="0">
              <a:effectLst/>
            </a:endParaRPr>
          </a:p>
          <a:p>
            <a:pPr algn="l"/>
            <a:endParaRPr lang="en-US" altLang="zh-CN" dirty="0">
              <a:effectLst/>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effectLst/>
              </a:rPr>
              <a:t>   </a:t>
            </a:r>
            <a:r>
              <a:rPr lang="zh-CN" altLang="en-US" dirty="0">
                <a:effectLst/>
              </a:rPr>
              <a:t>“一网通办”作为系统的入口，旨在为所有交易集团相关主体提供便捷、高效的服务体验。该系统整合了多个关键模块，包括统一业务门户网站、统一身份认证、统一数字证书签章、统一业务工作台以及统一消息平台等，以实现各类服务的无缝衔接、安全高效。</a:t>
            </a:r>
            <a:endParaRPr lang="zh-CN" altLang="en-US" dirty="0">
              <a:effectLst/>
            </a:endParaRPr>
          </a:p>
          <a:p>
            <a:pPr algn="l"/>
            <a:endParaRPr lang="en-US" altLang="zh-CN" dirty="0">
              <a:effectLst/>
            </a:endParaRPr>
          </a:p>
          <a:p>
            <a:pPr algn="l"/>
            <a:endParaRPr lang="zh-CN" altLang="en-US" dirty="0">
              <a:effectLst/>
            </a:endParaRPr>
          </a:p>
          <a:p>
            <a:pPr algn="l"/>
            <a:r>
              <a:rPr lang="zh-CN" altLang="en-US" dirty="0">
                <a:effectLst/>
              </a:rPr>
              <a:t>   系统通过服务网关打通内部集团已建设系统，包括企业采购平台、公共服务平台、企业信用信息平台，航运交易系统等，对外打通省专家库、四库一平台、监管网、粤公平等系统，实现多系统集成的可持续扩展的一体化信息管理系统。</a:t>
            </a:r>
            <a:endParaRPr lang="zh-CN" altLang="en-US" dirty="0">
              <a:effectLst/>
            </a:endParaRPr>
          </a:p>
          <a:p>
            <a:pPr algn="l"/>
            <a:endParaRPr lang="zh-CN" altLang="en-US" b="0" i="0" u="none" strike="noStrike" dirty="0">
              <a:solidFill>
                <a:srgbClr val="000000"/>
              </a:solidFill>
              <a:effectLst/>
              <a:latin typeface="微软雅黑" panose="020B0503020204020204" charset="-122"/>
              <a:ea typeface="微软雅黑" panose="020B050302020402020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r>
              <a:rPr lang="zh-CN" altLang="en-US" b="1" dirty="0">
                <a:effectLst/>
              </a:rPr>
              <a:t>功能架构图（</a:t>
            </a:r>
            <a:r>
              <a:rPr lang="en-US" altLang="zh-CN" b="1" dirty="0">
                <a:effectLst/>
              </a:rPr>
              <a:t>Functional Architecture Diagram</a:t>
            </a:r>
            <a:r>
              <a:rPr lang="zh-CN" altLang="en-US" b="1" dirty="0">
                <a:effectLst/>
              </a:rPr>
              <a:t>）</a:t>
            </a:r>
            <a:endParaRPr lang="zh-CN" altLang="en-US" dirty="0">
              <a:effectLst/>
            </a:endParaRPr>
          </a:p>
          <a:p>
            <a:pPr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目标：</a:t>
            </a:r>
            <a:r>
              <a:rPr lang="zh-CN" altLang="en-US" b="0" i="0" u="none" strike="noStrike" dirty="0">
                <a:solidFill>
                  <a:srgbClr val="F33232"/>
                </a:solidFill>
                <a:effectLst/>
                <a:latin typeface="微软雅黑" panose="020B0503020204020204" charset="-122"/>
                <a:ea typeface="微软雅黑" panose="020B0503020204020204" charset="-122"/>
              </a:rPr>
              <a:t>展示系统的功能结构，描述系统具备的核心功能及功能模块之间的关系。具体展示形式为系统功能清单，划分成子系统，功能类别</a:t>
            </a:r>
            <a:r>
              <a:rPr lang="zh-CN" altLang="en-US" b="0" i="0" u="none" strike="noStrike" dirty="0">
                <a:solidFill>
                  <a:srgbClr val="000000"/>
                </a:solidFill>
                <a:effectLst/>
                <a:latin typeface="微软雅黑" panose="020B0503020204020204" charset="-122"/>
                <a:ea typeface="微软雅黑" panose="020B0503020204020204" charset="-122"/>
              </a:rPr>
              <a:t>。描述“做什么”而不是“怎么做”。</a:t>
            </a:r>
            <a:endParaRPr lang="zh-CN" altLang="en-US" b="0" i="0" u="none" strike="noStrike" dirty="0">
              <a:solidFill>
                <a:srgbClr val="000000"/>
              </a:solidFill>
              <a:effectLst/>
              <a:latin typeface="微软雅黑" panose="020B0503020204020204" charset="-122"/>
              <a:ea typeface="微软雅黑" panose="020B0503020204020204" charset="-122"/>
            </a:endParaRPr>
          </a:p>
          <a:p>
            <a:pPr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描述内容：</a:t>
            </a:r>
            <a:endParaRPr lang="zh-CN" altLang="en-US" b="0" i="0" u="none" strike="noStrike" dirty="0">
              <a:solidFill>
                <a:srgbClr val="000000"/>
              </a:solidFill>
              <a:effectLst/>
              <a:latin typeface="微软雅黑" panose="020B0503020204020204" charset="-122"/>
              <a:ea typeface="微软雅黑" panose="020B0503020204020204" charset="-122"/>
            </a:endParaRPr>
          </a:p>
          <a:p>
            <a:pPr marL="742950" lvl="1" indent="-285750"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系统的功能模块、子系统和其分工。</a:t>
            </a:r>
            <a:endParaRPr lang="zh-CN" altLang="en-US" b="0" i="0" u="none" strike="noStrike" dirty="0">
              <a:solidFill>
                <a:srgbClr val="000000"/>
              </a:solidFill>
              <a:effectLst/>
              <a:latin typeface="微软雅黑" panose="020B0503020204020204" charset="-122"/>
              <a:ea typeface="微软雅黑" panose="020B0503020204020204" charset="-122"/>
            </a:endParaRPr>
          </a:p>
          <a:p>
            <a:pPr marL="742950" lvl="1" indent="-285750"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强调功能划分与业务逻辑，通常与用户需求直接相关。</a:t>
            </a:r>
            <a:endParaRPr lang="zh-CN" altLang="en-US" b="0" i="0" u="none" strike="noStrike" dirty="0">
              <a:solidFill>
                <a:srgbClr val="000000"/>
              </a:solidFill>
              <a:effectLst/>
              <a:latin typeface="微软雅黑" panose="020B0503020204020204" charset="-122"/>
              <a:ea typeface="微软雅黑" panose="020B0503020204020204" charset="-122"/>
            </a:endParaRPr>
          </a:p>
          <a:p>
            <a:pPr marL="742950" lvl="1" indent="-285750"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各个功能之间的依赖关系及功能的层次结构。</a:t>
            </a:r>
            <a:endParaRPr lang="zh-CN" altLang="en-US" b="0" i="0" u="none" strike="noStrike" dirty="0">
              <a:solidFill>
                <a:srgbClr val="000000"/>
              </a:solidFill>
              <a:effectLst/>
              <a:latin typeface="微软雅黑" panose="020B0503020204020204" charset="-122"/>
              <a:ea typeface="微软雅黑" panose="020B0503020204020204" charset="-122"/>
            </a:endParaRPr>
          </a:p>
          <a:p>
            <a:pPr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应用场景：在需求分析阶段用于展示系统要实现的业务功能，帮助业务人员和开发人员对功能模块达成一致理解。</a:t>
            </a:r>
            <a:endParaRPr lang="zh-CN" altLang="en-US" b="0" i="0" u="none" strike="noStrike" dirty="0">
              <a:solidFill>
                <a:srgbClr val="000000"/>
              </a:solidFill>
              <a:effectLst/>
              <a:latin typeface="微软雅黑" panose="020B0503020204020204" charset="-122"/>
              <a:ea typeface="微软雅黑" panose="020B0503020204020204" charset="-122"/>
            </a:endParaRPr>
          </a:p>
          <a:p>
            <a:pPr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关注点：</a:t>
            </a:r>
            <a:endParaRPr lang="zh-CN" altLang="en-US" b="0" i="0" u="none" strike="noStrike" dirty="0">
              <a:solidFill>
                <a:srgbClr val="000000"/>
              </a:solidFill>
              <a:effectLst/>
              <a:latin typeface="微软雅黑" panose="020B0503020204020204" charset="-122"/>
              <a:ea typeface="微软雅黑" panose="020B0503020204020204" charset="-122"/>
            </a:endParaRPr>
          </a:p>
          <a:p>
            <a:pPr marL="742950" lvl="1" indent="-285750"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系统要实现的功能、业务逻辑和功能间的依赖。</a:t>
            </a:r>
            <a:endParaRPr lang="zh-CN" altLang="en-US" b="0" i="0" u="none" strike="noStrike" dirty="0">
              <a:solidFill>
                <a:srgbClr val="000000"/>
              </a:solidFill>
              <a:effectLst/>
              <a:latin typeface="微软雅黑" panose="020B0503020204020204" charset="-122"/>
              <a:ea typeface="微软雅黑" panose="020B0503020204020204" charset="-122"/>
            </a:endParaRPr>
          </a:p>
          <a:p>
            <a:pPr marL="742950" lvl="1" indent="-285750"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企业客户关注统一门户入口。</a:t>
            </a:r>
            <a:endParaRPr lang="zh-CN" altLang="en-US" b="0" i="0" u="none" strike="noStrike" dirty="0">
              <a:solidFill>
                <a:srgbClr val="000000"/>
              </a:solidFill>
              <a:effectLst/>
              <a:latin typeface="微软雅黑" panose="020B0503020204020204" charset="-122"/>
              <a:ea typeface="微软雅黑" panose="020B0503020204020204" charset="-122"/>
            </a:endParaRPr>
          </a:p>
          <a:p>
            <a:pPr marL="742950" lvl="1" indent="-285750"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用图例进行替换，要与实际建设方案对应。</a:t>
            </a:r>
            <a:endParaRPr lang="zh-CN" altLang="en-US" b="0" i="0" u="none" strike="noStrike" dirty="0">
              <a:solidFill>
                <a:srgbClr val="000000"/>
              </a:solidFill>
              <a:effectLst/>
              <a:latin typeface="微软雅黑" panose="020B0503020204020204" charset="-122"/>
              <a:ea typeface="微软雅黑" panose="020B0503020204020204" charset="-122"/>
            </a:endParaRPr>
          </a:p>
          <a:p>
            <a:pPr marL="742950" lvl="1" indent="-285750"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标准方案中，</a:t>
            </a:r>
            <a:r>
              <a:rPr lang="en-US" altLang="zh-CN" b="0" i="0" u="none" strike="noStrike" dirty="0">
                <a:solidFill>
                  <a:srgbClr val="000000"/>
                </a:solidFill>
                <a:effectLst/>
                <a:latin typeface="微软雅黑" panose="020B0503020204020204" charset="-122"/>
                <a:ea typeface="微软雅黑" panose="020B0503020204020204" charset="-122"/>
              </a:rPr>
              <a:t>AI</a:t>
            </a:r>
            <a:r>
              <a:rPr lang="zh-CN" altLang="en-US" b="0" i="0" u="none" strike="noStrike" dirty="0">
                <a:solidFill>
                  <a:srgbClr val="000000"/>
                </a:solidFill>
                <a:effectLst/>
                <a:latin typeface="微软雅黑" panose="020B0503020204020204" charset="-122"/>
                <a:ea typeface="微软雅黑" panose="020B0503020204020204" charset="-122"/>
              </a:rPr>
              <a:t>不单独做应用，应该体现在业务应用中深度绑定。</a:t>
            </a:r>
            <a:endParaRPr lang="zh-CN" altLang="en-US" b="0" i="0" u="none" strike="noStrike" dirty="0">
              <a:solidFill>
                <a:srgbClr val="000000"/>
              </a:solidFill>
              <a:effectLst/>
              <a:latin typeface="微软雅黑" panose="020B0503020204020204" charset="-122"/>
              <a:ea typeface="微软雅黑" panose="020B0503020204020204" charset="-122"/>
            </a:endParaRPr>
          </a:p>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r>
              <a:rPr lang="en-US" altLang="zh-CN" b="1" dirty="0">
                <a:effectLst/>
              </a:rPr>
              <a:t>3. </a:t>
            </a:r>
            <a:r>
              <a:rPr lang="zh-CN" altLang="en-US" b="1" dirty="0">
                <a:effectLst/>
              </a:rPr>
              <a:t>应用架构图（</a:t>
            </a:r>
            <a:r>
              <a:rPr lang="en-US" altLang="zh-CN" b="1" dirty="0">
                <a:effectLst/>
              </a:rPr>
              <a:t>Application Architecture Diagram</a:t>
            </a:r>
            <a:r>
              <a:rPr lang="zh-CN" altLang="en-US" b="1" dirty="0">
                <a:effectLst/>
              </a:rPr>
              <a:t>）</a:t>
            </a:r>
            <a:endParaRPr lang="zh-CN" altLang="en-US" dirty="0">
              <a:effectLst/>
            </a:endParaRPr>
          </a:p>
          <a:p>
            <a:pPr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目标：描述系统中的具体</a:t>
            </a:r>
            <a:r>
              <a:rPr lang="zh-CN" altLang="en-US" b="0" i="0" u="none" strike="noStrike" dirty="0">
                <a:solidFill>
                  <a:srgbClr val="F33232"/>
                </a:solidFill>
                <a:effectLst/>
                <a:latin typeface="微软雅黑" panose="020B0503020204020204" charset="-122"/>
                <a:ea typeface="微软雅黑" panose="020B0503020204020204" charset="-122"/>
              </a:rPr>
              <a:t>应用和服务</a:t>
            </a:r>
            <a:r>
              <a:rPr lang="zh-CN" altLang="en-US" b="0" i="0" u="none" strike="noStrike" dirty="0">
                <a:solidFill>
                  <a:srgbClr val="000000"/>
                </a:solidFill>
                <a:effectLst/>
                <a:latin typeface="微软雅黑" panose="020B0503020204020204" charset="-122"/>
                <a:ea typeface="微软雅黑" panose="020B0503020204020204" charset="-122"/>
              </a:rPr>
              <a:t>，展示应用程序层的设计及其交互关系。</a:t>
            </a:r>
            <a:r>
              <a:rPr lang="zh-CN" altLang="en-US" b="0" i="0" u="none" strike="noStrike" dirty="0">
                <a:solidFill>
                  <a:srgbClr val="F33232"/>
                </a:solidFill>
                <a:effectLst/>
                <a:latin typeface="微软雅黑" panose="020B0503020204020204" charset="-122"/>
                <a:ea typeface="微软雅黑" panose="020B0503020204020204" charset="-122"/>
              </a:rPr>
              <a:t>应用架构一般分为：表现层，应用数据层、应用逻辑层和基础通用层</a:t>
            </a:r>
            <a:r>
              <a:rPr lang="zh-CN" altLang="en-US" b="0" i="0" u="none" strike="noStrike" dirty="0">
                <a:solidFill>
                  <a:srgbClr val="000000"/>
                </a:solidFill>
                <a:effectLst/>
                <a:latin typeface="微软雅黑" panose="020B0503020204020204" charset="-122"/>
                <a:ea typeface="微软雅黑" panose="020B0503020204020204" charset="-122"/>
              </a:rPr>
              <a:t>。</a:t>
            </a:r>
            <a:endParaRPr lang="zh-CN" altLang="en-US" b="0" i="0" u="none" strike="noStrike" dirty="0">
              <a:solidFill>
                <a:srgbClr val="000000"/>
              </a:solidFill>
              <a:effectLst/>
              <a:latin typeface="微软雅黑" panose="020B0503020204020204" charset="-122"/>
              <a:ea typeface="微软雅黑" panose="020B0503020204020204" charset="-122"/>
            </a:endParaRPr>
          </a:p>
          <a:p>
            <a:pPr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描述内容：</a:t>
            </a:r>
            <a:endParaRPr lang="zh-CN" altLang="en-US" b="0" i="0" u="none" strike="noStrike" dirty="0">
              <a:solidFill>
                <a:srgbClr val="000000"/>
              </a:solidFill>
              <a:effectLst/>
              <a:latin typeface="微软雅黑" panose="020B0503020204020204" charset="-122"/>
              <a:ea typeface="微软雅黑" panose="020B0503020204020204" charset="-122"/>
            </a:endParaRPr>
          </a:p>
          <a:p>
            <a:pPr marL="742950" lvl="1" indent="-285750"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应用或微服务的划分，以及它们之间的通信机制。</a:t>
            </a:r>
            <a:endParaRPr lang="zh-CN" altLang="en-US" b="0" i="0" u="none" strike="noStrike" dirty="0">
              <a:solidFill>
                <a:srgbClr val="000000"/>
              </a:solidFill>
              <a:effectLst/>
              <a:latin typeface="微软雅黑" panose="020B0503020204020204" charset="-122"/>
              <a:ea typeface="微软雅黑" panose="020B0503020204020204" charset="-122"/>
            </a:endParaRPr>
          </a:p>
          <a:p>
            <a:pPr marL="742950" lvl="1" indent="-285750"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涵盖了系统中的应用程序、服务、微服务等，展示它们如何协同工作。</a:t>
            </a:r>
            <a:endParaRPr lang="zh-CN" altLang="en-US" b="0" i="0" u="none" strike="noStrike" dirty="0">
              <a:solidFill>
                <a:srgbClr val="000000"/>
              </a:solidFill>
              <a:effectLst/>
              <a:latin typeface="微软雅黑" panose="020B0503020204020204" charset="-122"/>
              <a:ea typeface="微软雅黑" panose="020B0503020204020204" charset="-122"/>
            </a:endParaRPr>
          </a:p>
          <a:p>
            <a:pPr marL="742950" lvl="1" indent="-285750"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涉及到</a:t>
            </a:r>
            <a:r>
              <a:rPr lang="en-US" altLang="zh-CN" b="0" i="0" u="none" strike="noStrike" dirty="0">
                <a:solidFill>
                  <a:srgbClr val="000000"/>
                </a:solidFill>
                <a:effectLst/>
                <a:latin typeface="微软雅黑" panose="020B0503020204020204" charset="-122"/>
                <a:ea typeface="微软雅黑" panose="020B0503020204020204" charset="-122"/>
              </a:rPr>
              <a:t>API</a:t>
            </a:r>
            <a:r>
              <a:rPr lang="zh-CN" altLang="en-US" b="0" i="0" u="none" strike="noStrike" dirty="0">
                <a:solidFill>
                  <a:srgbClr val="000000"/>
                </a:solidFill>
                <a:effectLst/>
                <a:latin typeface="微软雅黑" panose="020B0503020204020204" charset="-122"/>
                <a:ea typeface="微软雅黑" panose="020B0503020204020204" charset="-122"/>
              </a:rPr>
              <a:t>、服务调用、应用间的集成以及依赖关系等。</a:t>
            </a:r>
            <a:endParaRPr lang="zh-CN" altLang="en-US" b="0" i="0" u="none" strike="noStrike" dirty="0">
              <a:solidFill>
                <a:srgbClr val="000000"/>
              </a:solidFill>
              <a:effectLst/>
              <a:latin typeface="微软雅黑" panose="020B0503020204020204" charset="-122"/>
              <a:ea typeface="微软雅黑" panose="020B0503020204020204" charset="-122"/>
            </a:endParaRPr>
          </a:p>
          <a:p>
            <a:pPr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应用场景：设计阶段，用于明确应用层面的组件、服务和它们之间的交互，帮助开发和架构团队理解系统中的应用如何运作。</a:t>
            </a:r>
            <a:endParaRPr lang="zh-CN" altLang="en-US" b="0" i="0" u="none" strike="noStrike" dirty="0">
              <a:solidFill>
                <a:srgbClr val="000000"/>
              </a:solidFill>
              <a:effectLst/>
              <a:latin typeface="微软雅黑" panose="020B0503020204020204" charset="-122"/>
              <a:ea typeface="微软雅黑" panose="020B0503020204020204" charset="-122"/>
            </a:endParaRPr>
          </a:p>
          <a:p>
            <a:pPr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关注点：</a:t>
            </a:r>
            <a:endParaRPr lang="zh-CN" altLang="en-US" b="0" i="0" u="none" strike="noStrike" dirty="0">
              <a:solidFill>
                <a:srgbClr val="000000"/>
              </a:solidFill>
              <a:effectLst/>
              <a:latin typeface="微软雅黑" panose="020B0503020204020204" charset="-122"/>
              <a:ea typeface="微软雅黑" panose="020B0503020204020204" charset="-122"/>
            </a:endParaRPr>
          </a:p>
          <a:p>
            <a:pPr marL="742950" lvl="1" indent="-285750"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应用程序或服务的分布、调用关系、应用间的集成。</a:t>
            </a:r>
            <a:endParaRPr lang="zh-CN" altLang="en-US" b="0" i="0" u="none" strike="noStrike" dirty="0">
              <a:solidFill>
                <a:srgbClr val="000000"/>
              </a:solidFill>
              <a:effectLst/>
              <a:latin typeface="微软雅黑" panose="020B0503020204020204" charset="-122"/>
              <a:ea typeface="微软雅黑" panose="020B0503020204020204"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r>
              <a:rPr lang="en-US" altLang="zh-CN" b="1" dirty="0">
                <a:effectLst/>
              </a:rPr>
              <a:t>5. </a:t>
            </a:r>
            <a:r>
              <a:rPr lang="zh-CN" altLang="en-US" b="1" dirty="0">
                <a:effectLst/>
              </a:rPr>
              <a:t>部署架构图（</a:t>
            </a:r>
            <a:r>
              <a:rPr lang="en-US" altLang="zh-CN" b="1" dirty="0">
                <a:effectLst/>
              </a:rPr>
              <a:t>Deployment Architecture Diagram</a:t>
            </a:r>
            <a:r>
              <a:rPr lang="zh-CN" altLang="en-US" b="1" dirty="0">
                <a:effectLst/>
              </a:rPr>
              <a:t>）</a:t>
            </a:r>
            <a:endParaRPr lang="zh-CN" altLang="en-US" dirty="0">
              <a:effectLst/>
            </a:endParaRPr>
          </a:p>
          <a:p>
            <a:pPr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目标：展示系统的各个软件组件在硬件设备（服务器、云、网络设备等）上的分布。</a:t>
            </a:r>
            <a:endParaRPr lang="zh-CN" altLang="en-US" b="0" i="0" u="none" strike="noStrike" dirty="0">
              <a:solidFill>
                <a:srgbClr val="000000"/>
              </a:solidFill>
              <a:effectLst/>
              <a:latin typeface="微软雅黑" panose="020B0503020204020204" charset="-122"/>
              <a:ea typeface="微软雅黑" panose="020B0503020204020204" charset="-122"/>
            </a:endParaRPr>
          </a:p>
          <a:p>
            <a:pPr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描述内容：</a:t>
            </a:r>
            <a:endParaRPr lang="zh-CN" altLang="en-US" b="0" i="0" u="none" strike="noStrike" dirty="0">
              <a:solidFill>
                <a:srgbClr val="000000"/>
              </a:solidFill>
              <a:effectLst/>
              <a:latin typeface="微软雅黑" panose="020B0503020204020204" charset="-122"/>
              <a:ea typeface="微软雅黑" panose="020B0503020204020204" charset="-122"/>
            </a:endParaRPr>
          </a:p>
          <a:p>
            <a:pPr marL="742950" lvl="1" indent="-285750"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硬件资源：包括物理服务器、虚拟机、存储设备、网络设备（如路由器、交换机）等。</a:t>
            </a:r>
            <a:endParaRPr lang="zh-CN" altLang="en-US" b="0" i="0" u="none" strike="noStrike" dirty="0">
              <a:solidFill>
                <a:srgbClr val="000000"/>
              </a:solidFill>
              <a:effectLst/>
              <a:latin typeface="微软雅黑" panose="020B0503020204020204" charset="-122"/>
              <a:ea typeface="微软雅黑" panose="020B0503020204020204" charset="-122"/>
            </a:endParaRPr>
          </a:p>
          <a:p>
            <a:pPr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应用场景：规划、部署和运维多阶段使用，便于项目人员了解系统部署。</a:t>
            </a:r>
            <a:endParaRPr lang="zh-CN" altLang="en-US" b="0" i="0" u="none" strike="noStrike" dirty="0">
              <a:solidFill>
                <a:srgbClr val="000000"/>
              </a:solidFill>
              <a:effectLst/>
              <a:latin typeface="微软雅黑" panose="020B0503020204020204" charset="-122"/>
              <a:ea typeface="微软雅黑" panose="020B0503020204020204" charset="-122"/>
            </a:endParaRPr>
          </a:p>
          <a:p>
            <a:pPr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关注点：</a:t>
            </a:r>
            <a:endParaRPr lang="zh-CN" altLang="en-US" b="0" i="0" u="none" strike="noStrike" dirty="0">
              <a:solidFill>
                <a:srgbClr val="000000"/>
              </a:solidFill>
              <a:effectLst/>
              <a:latin typeface="微软雅黑" panose="020B0503020204020204" charset="-122"/>
              <a:ea typeface="微软雅黑" panose="020B0503020204020204" charset="-122"/>
            </a:endParaRPr>
          </a:p>
          <a:p>
            <a:pPr marL="742950" lvl="1" indent="-285750"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无</a:t>
            </a:r>
            <a:endParaRPr lang="zh-CN" altLang="en-US" b="0" i="0" u="none" strike="noStrike" dirty="0">
              <a:solidFill>
                <a:srgbClr val="000000"/>
              </a:solidFill>
              <a:effectLst/>
              <a:latin typeface="微软雅黑" panose="020B0503020204020204" charset="-122"/>
              <a:ea typeface="微软雅黑" panose="020B0503020204020204"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1" dirty="0">
                <a:effectLst/>
              </a:rPr>
              <a:t>4. </a:t>
            </a:r>
            <a:r>
              <a:rPr lang="zh-CN" altLang="en-US" b="1" dirty="0">
                <a:effectLst/>
              </a:rPr>
              <a:t>技术架构图（</a:t>
            </a:r>
            <a:r>
              <a:rPr lang="en-US" altLang="zh-CN" b="1" dirty="0">
                <a:effectLst/>
              </a:rPr>
              <a:t>Technical Architecture Diagram</a:t>
            </a:r>
            <a:r>
              <a:rPr lang="zh-CN" altLang="en-US" b="1" dirty="0">
                <a:effectLst/>
              </a:rPr>
              <a:t>）</a:t>
            </a:r>
            <a:endParaRPr lang="zh-CN" altLang="en-US" dirty="0">
              <a:effectLst/>
            </a:endParaRPr>
          </a:p>
          <a:p>
            <a:pPr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目标：描述系统实现所需的技术栈和基础设施。</a:t>
            </a:r>
            <a:endParaRPr lang="zh-CN" altLang="en-US" b="0" i="0" u="none" strike="noStrike" dirty="0">
              <a:solidFill>
                <a:srgbClr val="000000"/>
              </a:solidFill>
              <a:effectLst/>
              <a:latin typeface="微软雅黑" panose="020B0503020204020204" charset="-122"/>
              <a:ea typeface="微软雅黑" panose="020B0503020204020204" charset="-122"/>
            </a:endParaRPr>
          </a:p>
          <a:p>
            <a:pPr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描述内容：</a:t>
            </a:r>
            <a:endParaRPr lang="zh-CN" altLang="en-US" b="0" i="0" u="none" strike="noStrike" dirty="0">
              <a:solidFill>
                <a:srgbClr val="000000"/>
              </a:solidFill>
              <a:effectLst/>
              <a:latin typeface="微软雅黑" panose="020B0503020204020204" charset="-122"/>
              <a:ea typeface="微软雅黑" panose="020B0503020204020204" charset="-122"/>
            </a:endParaRPr>
          </a:p>
          <a:p>
            <a:pPr marL="742950" lvl="1" indent="-285750"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系统的技术层次和组件，包括编程语言、框架、数据库、服务器、容器等。</a:t>
            </a:r>
            <a:endParaRPr lang="zh-CN" altLang="en-US" b="0" i="0" u="none" strike="noStrike" dirty="0">
              <a:solidFill>
                <a:srgbClr val="000000"/>
              </a:solidFill>
              <a:effectLst/>
              <a:latin typeface="微软雅黑" panose="020B0503020204020204" charset="-122"/>
              <a:ea typeface="微软雅黑" panose="020B0503020204020204" charset="-122"/>
            </a:endParaRPr>
          </a:p>
          <a:p>
            <a:pPr marL="742950" lvl="1" indent="-285750"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涵盖基础设施（如服务器、云服务、网络设备等）和技术选择（如</a:t>
            </a:r>
            <a:r>
              <a:rPr lang="en-US" altLang="zh-CN" b="0" i="0" u="none" strike="noStrike" dirty="0">
                <a:solidFill>
                  <a:srgbClr val="000000"/>
                </a:solidFill>
                <a:effectLst/>
                <a:latin typeface="微软雅黑" panose="020B0503020204020204" charset="-122"/>
                <a:ea typeface="微软雅黑" panose="020B0503020204020204" charset="-122"/>
              </a:rPr>
              <a:t>API</a:t>
            </a:r>
            <a:r>
              <a:rPr lang="zh-CN" altLang="en-US" b="0" i="0" u="none" strike="noStrike" dirty="0">
                <a:solidFill>
                  <a:srgbClr val="000000"/>
                </a:solidFill>
                <a:effectLst/>
                <a:latin typeface="微软雅黑" panose="020B0503020204020204" charset="-122"/>
                <a:ea typeface="微软雅黑" panose="020B0503020204020204" charset="-122"/>
              </a:rPr>
              <a:t>、消息队列、数据库类型）。</a:t>
            </a:r>
            <a:endParaRPr lang="zh-CN" altLang="en-US" b="0" i="0" u="none" strike="noStrike" dirty="0">
              <a:solidFill>
                <a:srgbClr val="000000"/>
              </a:solidFill>
              <a:effectLst/>
              <a:latin typeface="微软雅黑" panose="020B0503020204020204" charset="-122"/>
              <a:ea typeface="微软雅黑" panose="020B0503020204020204" charset="-122"/>
            </a:endParaRPr>
          </a:p>
          <a:p>
            <a:pPr marL="742950" lvl="1" indent="-285750"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详细展示各个技术组件是如何支撑系统的应用和功能的，包括具体的技术实现和依赖关系。</a:t>
            </a:r>
            <a:endParaRPr lang="zh-CN" altLang="en-US" b="0" i="0" u="none" strike="noStrike" dirty="0">
              <a:solidFill>
                <a:srgbClr val="000000"/>
              </a:solidFill>
              <a:effectLst/>
              <a:latin typeface="微软雅黑" panose="020B0503020204020204" charset="-122"/>
              <a:ea typeface="微软雅黑" panose="020B0503020204020204" charset="-122"/>
            </a:endParaRPr>
          </a:p>
          <a:p>
            <a:pPr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应用场景：开发和部署阶段，用于指导开发人员选择合适的技术和平台，确保系统的可行性、扩展性和可靠性。</a:t>
            </a:r>
            <a:endParaRPr lang="zh-CN" altLang="en-US" b="0" i="0" u="none" strike="noStrike" dirty="0">
              <a:solidFill>
                <a:srgbClr val="000000"/>
              </a:solidFill>
              <a:effectLst/>
              <a:latin typeface="微软雅黑" panose="020B0503020204020204" charset="-122"/>
              <a:ea typeface="微软雅黑" panose="020B0503020204020204" charset="-122"/>
            </a:endParaRPr>
          </a:p>
          <a:p>
            <a:pPr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关注点：</a:t>
            </a:r>
            <a:endParaRPr lang="zh-CN" altLang="en-US" b="0" i="0" u="none" strike="noStrike" dirty="0">
              <a:solidFill>
                <a:srgbClr val="000000"/>
              </a:solidFill>
              <a:effectLst/>
              <a:latin typeface="微软雅黑" panose="020B0503020204020204" charset="-122"/>
              <a:ea typeface="微软雅黑" panose="020B0503020204020204" charset="-122"/>
            </a:endParaRPr>
          </a:p>
          <a:p>
            <a:pPr marL="742950" lvl="1" indent="-285750" algn="l">
              <a:buFont typeface="Arial" panose="020B0604020202020204" pitchFamily="34" charset="0"/>
              <a:buChar char="•"/>
            </a:pPr>
            <a:r>
              <a:rPr lang="zh-CN" altLang="en-US" b="0" i="0" u="none" strike="noStrike" dirty="0">
                <a:solidFill>
                  <a:srgbClr val="000000"/>
                </a:solidFill>
                <a:effectLst/>
                <a:latin typeface="微软雅黑" panose="020B0503020204020204" charset="-122"/>
                <a:ea typeface="微软雅黑" panose="020B0503020204020204" charset="-122"/>
              </a:rPr>
              <a:t>无</a:t>
            </a:r>
            <a:endParaRPr lang="zh-CN" altLang="en-US" b="0" i="0" u="none" strike="noStrike" dirty="0">
              <a:solidFill>
                <a:srgbClr val="000000"/>
              </a:solidFill>
              <a:effectLst/>
              <a:latin typeface="微软雅黑" panose="020B0503020204020204" charset="-122"/>
              <a:ea typeface="微软雅黑" panose="020B0503020204020204" charset="-122"/>
            </a:endParaRPr>
          </a:p>
        </p:txBody>
      </p:sp>
      <p:sp>
        <p:nvSpPr>
          <p:cNvPr id="4" name="灯片编号占位符 3"/>
          <p:cNvSpPr>
            <a:spLocks noGrp="1"/>
          </p:cNvSpPr>
          <p:nvPr>
            <p:ph type="sldNum" sz="quarter" idx="5"/>
          </p:nvPr>
        </p:nvSpPr>
        <p:spPr/>
        <p:txBody>
          <a:bodyPr/>
          <a:lstStyle/>
          <a:p>
            <a:fld id="{8D9C3AA7-9634-439D-9086-0A4DA7BAE9A9}"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u="none" strike="noStrike" dirty="0">
                <a:solidFill>
                  <a:srgbClr val="000000"/>
                </a:solidFill>
                <a:effectLst/>
                <a:latin typeface="微软雅黑" panose="020B0503020204020204" charset="-122"/>
                <a:ea typeface="微软雅黑" panose="020B0503020204020204" charset="-122"/>
              </a:rPr>
              <a:t>招采的公开公平公正原则对交易系统的信息化安全有直接更高的要求。</a:t>
            </a:r>
            <a:endParaRPr lang="en-US" altLang="zh-CN" b="0" i="0" u="none" strike="noStrike" dirty="0">
              <a:solidFill>
                <a:srgbClr val="000000"/>
              </a:solidFill>
              <a:effectLst/>
              <a:latin typeface="微软雅黑" panose="020B0503020204020204" charset="-122"/>
              <a:ea typeface="微软雅黑" panose="020B0503020204020204" charset="-122"/>
            </a:endParaRPr>
          </a:p>
          <a:p>
            <a:pPr algn="l"/>
            <a:endParaRPr lang="en-US" altLang="zh-CN" b="0" i="0" u="none" strike="noStrike" dirty="0">
              <a:solidFill>
                <a:srgbClr val="000000"/>
              </a:solidFill>
              <a:effectLst/>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b="0" i="0" u="none" strike="noStrike" dirty="0">
                <a:solidFill>
                  <a:srgbClr val="000000"/>
                </a:solidFill>
                <a:effectLst/>
                <a:latin typeface="微软雅黑" panose="020B0503020204020204" charset="-122"/>
                <a:ea typeface="微软雅黑" panose="020B0503020204020204" charset="-122"/>
              </a:rPr>
              <a:t>我们规划建设了整个安全体系，从安全制度、到安全研发到安全运营权生命周期覆盖。并在集成开发平台、运维监控平台、低代码平台等进行实现以保障高效的安全运维。</a:t>
            </a:r>
            <a:endParaRPr lang="zh-CN" altLang="en-US" b="0" i="0" u="none" strike="noStrike" dirty="0">
              <a:solidFill>
                <a:srgbClr val="000000"/>
              </a:solidFill>
              <a:effectLst/>
              <a:latin typeface="微软雅黑" panose="020B0503020204020204" charset="-122"/>
              <a:ea typeface="微软雅黑" panose="020B0503020204020204" charset="-122"/>
            </a:endParaRPr>
          </a:p>
          <a:p>
            <a:pPr algn="l"/>
            <a:endParaRPr lang="en-US" altLang="zh-CN" b="0" i="0" u="none" strike="noStrike" dirty="0">
              <a:solidFill>
                <a:srgbClr val="000000"/>
              </a:solidFill>
              <a:effectLst/>
              <a:latin typeface="微软雅黑" panose="020B0503020204020204" charset="-122"/>
              <a:ea typeface="微软雅黑" panose="020B0503020204020204" charset="-122"/>
            </a:endParaRPr>
          </a:p>
          <a:p>
            <a:pPr algn="l"/>
            <a:r>
              <a:rPr lang="zh-CN" altLang="en-US" b="0" i="0" u="none" strike="noStrike" dirty="0">
                <a:solidFill>
                  <a:srgbClr val="000000"/>
                </a:solidFill>
                <a:effectLst/>
                <a:latin typeface="微软雅黑" panose="020B0503020204020204" charset="-122"/>
                <a:ea typeface="微软雅黑" panose="020B0503020204020204" charset="-122"/>
              </a:rPr>
              <a:t>在技术上，从应用的接入到防御到基础设施安全，都分层实现了响应的安全防御。</a:t>
            </a:r>
            <a:endParaRPr lang="en-US" altLang="zh-CN" b="0" i="0" u="none" strike="noStrike" dirty="0">
              <a:solidFill>
                <a:srgbClr val="000000"/>
              </a:solidFill>
              <a:effectLst/>
              <a:latin typeface="微软雅黑" panose="020B0503020204020204" charset="-122"/>
              <a:ea typeface="微软雅黑" panose="020B0503020204020204" charset="-122"/>
            </a:endParaRPr>
          </a:p>
          <a:p>
            <a:pPr algn="l"/>
            <a:endParaRPr lang="en-US" altLang="zh-CN" b="0" i="0" u="none" strike="noStrike" dirty="0">
              <a:solidFill>
                <a:srgbClr val="000000"/>
              </a:solidFill>
              <a:effectLst/>
              <a:latin typeface="微软雅黑" panose="020B0503020204020204" charset="-122"/>
              <a:ea typeface="微软雅黑" panose="020B0503020204020204" charset="-122"/>
            </a:endParaRPr>
          </a:p>
          <a:p>
            <a:pPr algn="l"/>
            <a:r>
              <a:rPr lang="zh-CN" altLang="en-US" b="0" i="0" u="none" strike="noStrike" dirty="0">
                <a:solidFill>
                  <a:srgbClr val="000000"/>
                </a:solidFill>
                <a:effectLst/>
                <a:latin typeface="微软雅黑" panose="020B0503020204020204" charset="-122"/>
                <a:ea typeface="微软雅黑" panose="020B0503020204020204" charset="-122"/>
              </a:rPr>
              <a:t>例如，在通用安全防御下，我们负责</a:t>
            </a:r>
            <a:r>
              <a:rPr lang="en-US" altLang="zh-CN" b="0" i="0" u="none" strike="noStrike" dirty="0" err="1">
                <a:solidFill>
                  <a:srgbClr val="000000"/>
                </a:solidFill>
                <a:effectLst/>
                <a:latin typeface="微软雅黑" panose="020B0503020204020204" charset="-122"/>
                <a:ea typeface="微软雅黑" panose="020B0503020204020204" charset="-122"/>
              </a:rPr>
              <a:t>sql</a:t>
            </a:r>
            <a:r>
              <a:rPr lang="zh-CN" altLang="en-US" b="0" i="0" u="none" strike="noStrike" dirty="0">
                <a:solidFill>
                  <a:srgbClr val="000000"/>
                </a:solidFill>
                <a:effectLst/>
                <a:latin typeface="微软雅黑" panose="020B0503020204020204" charset="-122"/>
                <a:ea typeface="微软雅黑" panose="020B0503020204020204" charset="-122"/>
              </a:rPr>
              <a:t>注入防御，自定义投防御等阻断恶意访问，</a:t>
            </a:r>
            <a:endParaRPr lang="en-US" altLang="zh-CN" b="0" i="0" u="none" strike="noStrike" dirty="0">
              <a:solidFill>
                <a:srgbClr val="000000"/>
              </a:solidFill>
              <a:effectLst/>
              <a:latin typeface="微软雅黑" panose="020B0503020204020204" charset="-122"/>
              <a:ea typeface="微软雅黑" panose="020B0503020204020204" charset="-122"/>
            </a:endParaRPr>
          </a:p>
          <a:p>
            <a:pPr algn="l"/>
            <a:endParaRPr lang="en-US" altLang="zh-CN" b="0" i="0" u="none" strike="noStrike" dirty="0">
              <a:solidFill>
                <a:srgbClr val="000000"/>
              </a:solidFill>
              <a:effectLst/>
              <a:latin typeface="微软雅黑" panose="020B0503020204020204" charset="-122"/>
              <a:ea typeface="微软雅黑" panose="020B0503020204020204" charset="-122"/>
            </a:endParaRPr>
          </a:p>
          <a:p>
            <a:pPr algn="l"/>
            <a:r>
              <a:rPr lang="zh-CN" altLang="en-US" b="0" i="0" u="none" strike="noStrike" dirty="0">
                <a:solidFill>
                  <a:srgbClr val="000000"/>
                </a:solidFill>
                <a:effectLst/>
                <a:latin typeface="微软雅黑" panose="020B0503020204020204" charset="-122"/>
                <a:ea typeface="微软雅黑" panose="020B0503020204020204" charset="-122"/>
              </a:rPr>
              <a:t>在数据安全防御体系，对已经登录用户，比如进行数据隔离，例如</a:t>
            </a:r>
            <a:r>
              <a:rPr lang="en-US" altLang="zh-CN" b="0" i="0" u="none" strike="noStrike" dirty="0">
                <a:solidFill>
                  <a:srgbClr val="000000"/>
                </a:solidFill>
                <a:effectLst/>
                <a:latin typeface="微软雅黑" panose="020B0503020204020204" charset="-122"/>
                <a:ea typeface="微软雅黑" panose="020B0503020204020204" charset="-122"/>
              </a:rPr>
              <a:t>A</a:t>
            </a:r>
            <a:r>
              <a:rPr lang="zh-CN" altLang="en-US" b="0" i="0" u="none" strike="noStrike" dirty="0">
                <a:solidFill>
                  <a:srgbClr val="000000"/>
                </a:solidFill>
                <a:effectLst/>
                <a:latin typeface="微软雅黑" panose="020B0503020204020204" charset="-122"/>
                <a:ea typeface="微软雅黑" panose="020B0503020204020204" charset="-122"/>
              </a:rPr>
              <a:t>代理不能看到</a:t>
            </a:r>
            <a:r>
              <a:rPr lang="en-US" altLang="zh-CN" b="0" i="0" u="none" strike="noStrike" dirty="0">
                <a:solidFill>
                  <a:srgbClr val="000000"/>
                </a:solidFill>
                <a:effectLst/>
                <a:latin typeface="微软雅黑" panose="020B0503020204020204" charset="-122"/>
                <a:ea typeface="微软雅黑" panose="020B0503020204020204" charset="-122"/>
              </a:rPr>
              <a:t>B</a:t>
            </a:r>
            <a:r>
              <a:rPr lang="zh-CN" altLang="en-US" b="0" i="0" u="none" strike="noStrike" dirty="0">
                <a:solidFill>
                  <a:srgbClr val="000000"/>
                </a:solidFill>
                <a:effectLst/>
                <a:latin typeface="微软雅黑" panose="020B0503020204020204" charset="-122"/>
                <a:ea typeface="微软雅黑" panose="020B0503020204020204" charset="-122"/>
              </a:rPr>
              <a:t>代理的数据。比如进行密码策略防御，防止用户尝试密码和密码过于简单。</a:t>
            </a:r>
            <a:endParaRPr lang="en-US" altLang="zh-CN" b="0" i="0" u="none" strike="noStrike" dirty="0">
              <a:solidFill>
                <a:srgbClr val="000000"/>
              </a:solidFill>
              <a:effectLst/>
              <a:latin typeface="微软雅黑" panose="020B0503020204020204" charset="-122"/>
              <a:ea typeface="微软雅黑" panose="020B0503020204020204" charset="-122"/>
            </a:endParaRPr>
          </a:p>
          <a:p>
            <a:pPr algn="l"/>
            <a:endParaRPr lang="en-US" altLang="zh-CN" b="0" i="0" u="none" strike="noStrike" dirty="0">
              <a:solidFill>
                <a:srgbClr val="000000"/>
              </a:solidFill>
              <a:effectLst/>
              <a:latin typeface="微软雅黑" panose="020B0503020204020204" charset="-122"/>
              <a:ea typeface="微软雅黑" panose="020B0503020204020204" charset="-122"/>
            </a:endParaRPr>
          </a:p>
          <a:p>
            <a:pPr algn="l"/>
            <a:r>
              <a:rPr lang="zh-CN" altLang="en-US" b="0" i="0" u="none" strike="noStrike" dirty="0">
                <a:solidFill>
                  <a:srgbClr val="000000"/>
                </a:solidFill>
                <a:effectLst/>
                <a:latin typeface="微软雅黑" panose="020B0503020204020204" charset="-122"/>
                <a:ea typeface="微软雅黑" panose="020B0503020204020204" charset="-122"/>
              </a:rPr>
              <a:t>在通用业务安全防御，这部分，我们关注更多的是业务数据脱敏、数据加密、国密算法等。低代码平台已经内置了这些能力。</a:t>
            </a:r>
            <a:endParaRPr lang="en-US" altLang="zh-CN" b="0" i="0" u="none" strike="noStrike" dirty="0">
              <a:solidFill>
                <a:srgbClr val="000000"/>
              </a:solidFill>
              <a:effectLst/>
              <a:latin typeface="微软雅黑" panose="020B0503020204020204" charset="-122"/>
              <a:ea typeface="微软雅黑" panose="020B0503020204020204" charset="-122"/>
            </a:endParaRPr>
          </a:p>
          <a:p>
            <a:pPr algn="l"/>
            <a:endParaRPr lang="en-US" altLang="zh-CN" b="0" i="0" u="none" strike="noStrike" dirty="0">
              <a:solidFill>
                <a:srgbClr val="000000"/>
              </a:solidFill>
              <a:effectLst/>
              <a:latin typeface="微软雅黑" panose="020B0503020204020204" charset="-122"/>
              <a:ea typeface="微软雅黑" panose="020B0503020204020204" charset="-122"/>
            </a:endParaRPr>
          </a:p>
          <a:p>
            <a:pPr algn="l"/>
            <a:r>
              <a:rPr lang="zh-CN" altLang="en-US" b="0" i="0" u="none" strike="noStrike" dirty="0">
                <a:solidFill>
                  <a:srgbClr val="000000"/>
                </a:solidFill>
                <a:effectLst/>
                <a:latin typeface="微软雅黑" panose="020B0503020204020204" charset="-122"/>
                <a:ea typeface="微软雅黑" panose="020B0503020204020204" charset="-122"/>
              </a:rPr>
              <a:t>最后是</a:t>
            </a:r>
            <a:r>
              <a:rPr lang="en-US" altLang="zh-CN" b="0" i="0" u="none" strike="noStrike" dirty="0">
                <a:solidFill>
                  <a:srgbClr val="000000"/>
                </a:solidFill>
                <a:effectLst/>
                <a:latin typeface="微软雅黑" panose="020B0503020204020204" charset="-122"/>
                <a:ea typeface="微软雅黑" panose="020B0503020204020204" charset="-122"/>
              </a:rPr>
              <a:t>RASP</a:t>
            </a:r>
            <a:r>
              <a:rPr lang="zh-CN" altLang="en-US" b="0" i="0" u="none" strike="noStrike" dirty="0">
                <a:solidFill>
                  <a:srgbClr val="000000"/>
                </a:solidFill>
                <a:effectLst/>
                <a:latin typeface="微软雅黑" panose="020B0503020204020204" charset="-122"/>
                <a:ea typeface="微软雅黑" panose="020B0503020204020204" charset="-122"/>
              </a:rPr>
              <a:t>，是我们跟安全公司合作的安全产品，他通过字节码注入的方式实现非侵入的安全防御，效率更高，在公司上千各项目的攻防演练中取得了非常好的效果。近</a:t>
            </a:r>
            <a:r>
              <a:rPr lang="en-US" altLang="zh-CN" b="0" i="0" u="none" strike="noStrike" dirty="0">
                <a:solidFill>
                  <a:srgbClr val="000000"/>
                </a:solidFill>
                <a:effectLst/>
                <a:latin typeface="微软雅黑" panose="020B0503020204020204" charset="-122"/>
                <a:ea typeface="微软雅黑" panose="020B0503020204020204" charset="-122"/>
              </a:rPr>
              <a:t>3</a:t>
            </a:r>
            <a:r>
              <a:rPr lang="zh-CN" altLang="en-US" b="0" i="0" u="none" strike="noStrike" dirty="0">
                <a:solidFill>
                  <a:srgbClr val="000000"/>
                </a:solidFill>
                <a:effectLst/>
                <a:latin typeface="微软雅黑" panose="020B0503020204020204" charset="-122"/>
                <a:ea typeface="微软雅黑" panose="020B0503020204020204" charset="-122"/>
              </a:rPr>
              <a:t>个月，我们交易类项目攻防演练基本是极少被攻破的。</a:t>
            </a:r>
            <a:endParaRPr lang="en-US" altLang="zh-CN" b="0" i="0" u="none" strike="noStrike" dirty="0">
              <a:solidFill>
                <a:srgbClr val="000000"/>
              </a:solidFill>
              <a:effectLst/>
              <a:latin typeface="微软雅黑" panose="020B0503020204020204" charset="-122"/>
              <a:ea typeface="微软雅黑" panose="020B0503020204020204" charset="-122"/>
            </a:endParaRPr>
          </a:p>
          <a:p>
            <a:pPr algn="l"/>
            <a:endParaRPr lang="en-US" altLang="zh-CN" b="0" i="0" u="none" strike="noStrike" dirty="0">
              <a:solidFill>
                <a:srgbClr val="000000"/>
              </a:solidFill>
              <a:effectLst/>
              <a:latin typeface="微软雅黑" panose="020B0503020204020204" charset="-122"/>
              <a:ea typeface="微软雅黑" panose="020B0503020204020204"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数据架构图</a:t>
            </a:r>
            <a:endParaRPr lang="zh-CN" altLang="en-US" dirty="0"/>
          </a:p>
        </p:txBody>
      </p:sp>
      <p:sp>
        <p:nvSpPr>
          <p:cNvPr id="4" name="灯片编号占位符 3"/>
          <p:cNvSpPr>
            <a:spLocks noGrp="1"/>
          </p:cNvSpPr>
          <p:nvPr>
            <p:ph type="sldNum" sz="quarter" idx="5"/>
          </p:nvPr>
        </p:nvSpPr>
        <p:spPr/>
        <p:txBody>
          <a:bodyPr/>
          <a:lstStyle/>
          <a:p>
            <a:fld id="{8D9C3AA7-9634-439D-9086-0A4DA7BAE9A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6" name="任意多边形: 形状 88"/>
          <p:cNvSpPr/>
          <p:nvPr userDrawn="1"/>
        </p:nvSpPr>
        <p:spPr>
          <a:xfrm rot="16200000">
            <a:off x="57721" y="161899"/>
            <a:ext cx="375890" cy="491331"/>
          </a:xfrm>
          <a:custGeom>
            <a:avLst/>
            <a:gdLst>
              <a:gd name="connsiteX0" fmla="*/ 375890 w 375890"/>
              <a:gd name="connsiteY0" fmla="*/ 491331 h 491331"/>
              <a:gd name="connsiteX1" fmla="*/ 0 w 375890"/>
              <a:gd name="connsiteY1" fmla="*/ 491331 h 491331"/>
              <a:gd name="connsiteX2" fmla="*/ 10935 w 375890"/>
              <a:gd name="connsiteY2" fmla="*/ 0 h 491331"/>
              <a:gd name="connsiteX3" fmla="*/ 364954 w 375890"/>
              <a:gd name="connsiteY3" fmla="*/ 0 h 491331"/>
            </a:gdLst>
            <a:ahLst/>
            <a:cxnLst>
              <a:cxn ang="0">
                <a:pos x="connsiteX0" y="connsiteY0"/>
              </a:cxn>
              <a:cxn ang="0">
                <a:pos x="connsiteX1" y="connsiteY1"/>
              </a:cxn>
              <a:cxn ang="0">
                <a:pos x="connsiteX2" y="connsiteY2"/>
              </a:cxn>
              <a:cxn ang="0">
                <a:pos x="connsiteX3" y="connsiteY3"/>
              </a:cxn>
            </a:cxnLst>
            <a:rect l="l" t="t" r="r" b="b"/>
            <a:pathLst>
              <a:path w="375890" h="491331">
                <a:moveTo>
                  <a:pt x="375890" y="491331"/>
                </a:moveTo>
                <a:lnTo>
                  <a:pt x="0" y="491331"/>
                </a:lnTo>
                <a:lnTo>
                  <a:pt x="10935" y="0"/>
                </a:lnTo>
                <a:lnTo>
                  <a:pt x="364954" y="0"/>
                </a:lnTo>
                <a:close/>
              </a:path>
            </a:pathLst>
          </a:custGeom>
          <a:gradFill>
            <a:gsLst>
              <a:gs pos="100000">
                <a:schemeClr val="accent1"/>
              </a:gs>
              <a:gs pos="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7" name="任意多边形: 形状 89"/>
          <p:cNvSpPr/>
          <p:nvPr userDrawn="1"/>
        </p:nvSpPr>
        <p:spPr>
          <a:xfrm rot="16200000">
            <a:off x="58059" y="321604"/>
            <a:ext cx="267255" cy="383371"/>
          </a:xfrm>
          <a:custGeom>
            <a:avLst/>
            <a:gdLst>
              <a:gd name="connsiteX0" fmla="*/ 267255 w 267255"/>
              <a:gd name="connsiteY0" fmla="*/ 383371 h 383371"/>
              <a:gd name="connsiteX1" fmla="*/ 0 w 267255"/>
              <a:gd name="connsiteY1" fmla="*/ 383371 h 383371"/>
              <a:gd name="connsiteX2" fmla="*/ 7000 w 267255"/>
              <a:gd name="connsiteY2" fmla="*/ 0 h 383371"/>
              <a:gd name="connsiteX3" fmla="*/ 260255 w 267255"/>
              <a:gd name="connsiteY3" fmla="*/ 0 h 383371"/>
            </a:gdLst>
            <a:ahLst/>
            <a:cxnLst>
              <a:cxn ang="0">
                <a:pos x="connsiteX0" y="connsiteY0"/>
              </a:cxn>
              <a:cxn ang="0">
                <a:pos x="connsiteX1" y="connsiteY1"/>
              </a:cxn>
              <a:cxn ang="0">
                <a:pos x="connsiteX2" y="connsiteY2"/>
              </a:cxn>
              <a:cxn ang="0">
                <a:pos x="connsiteX3" y="connsiteY3"/>
              </a:cxn>
            </a:cxnLst>
            <a:rect l="l" t="t" r="r" b="b"/>
            <a:pathLst>
              <a:path w="267255" h="383371">
                <a:moveTo>
                  <a:pt x="267255" y="383371"/>
                </a:moveTo>
                <a:lnTo>
                  <a:pt x="0" y="383371"/>
                </a:lnTo>
                <a:lnTo>
                  <a:pt x="7000" y="0"/>
                </a:lnTo>
                <a:lnTo>
                  <a:pt x="260255" y="0"/>
                </a:lnTo>
                <a:close/>
              </a:path>
            </a:pathLst>
          </a:custGeom>
          <a:gradFill flip="none" rotWithShape="1">
            <a:gsLst>
              <a:gs pos="100000">
                <a:schemeClr val="accent4"/>
              </a:gs>
              <a:gs pos="0">
                <a:schemeClr val="accent4">
                  <a:lumMod val="20000"/>
                  <a:lumOff val="80000"/>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6.png"/><Relationship Id="rId7" Type="http://schemas.openxmlformats.org/officeDocument/2006/relationships/tags" Target="../tags/tag2.xml"/><Relationship Id="rId6" Type="http://schemas.openxmlformats.org/officeDocument/2006/relationships/tags" Target="../tags/tag1.xml"/><Relationship Id="rId5" Type="http://schemas.openxmlformats.org/officeDocument/2006/relationships/image" Target="../media/image5.png"/><Relationship Id="rId4" Type="http://schemas.openxmlformats.org/officeDocument/2006/relationships/image" Target="../media/image4.jpeg"/><Relationship Id="rId3" Type="http://schemas.openxmlformats.org/officeDocument/2006/relationships/image" Target="../media/image3.jpeg"/><Relationship Id="rId2" Type="http://schemas.openxmlformats.org/officeDocument/2006/relationships/image" Target="../media/image2.jpeg"/><Relationship Id="rId10" Type="http://schemas.openxmlformats.org/officeDocument/2006/relationships/notesSlide" Target="../notesSlides/notesSlide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14.jpeg"/><Relationship Id="rId74" Type="http://schemas.openxmlformats.org/officeDocument/2006/relationships/notesSlide" Target="../notesSlides/notesSlide5.xml"/><Relationship Id="rId73" Type="http://schemas.openxmlformats.org/officeDocument/2006/relationships/slideLayout" Target="../slideLayouts/slideLayout2.xml"/><Relationship Id="rId72" Type="http://schemas.openxmlformats.org/officeDocument/2006/relationships/tags" Target="../tags/tag57.xml"/><Relationship Id="rId71" Type="http://schemas.openxmlformats.org/officeDocument/2006/relationships/tags" Target="../tags/tag56.xml"/><Relationship Id="rId70" Type="http://schemas.openxmlformats.org/officeDocument/2006/relationships/tags" Target="../tags/tag55.xml"/><Relationship Id="rId7" Type="http://schemas.openxmlformats.org/officeDocument/2006/relationships/image" Target="../media/image13.jpeg"/><Relationship Id="rId69" Type="http://schemas.openxmlformats.org/officeDocument/2006/relationships/tags" Target="../tags/tag54.xml"/><Relationship Id="rId68" Type="http://schemas.openxmlformats.org/officeDocument/2006/relationships/tags" Target="../tags/tag53.xml"/><Relationship Id="rId67" Type="http://schemas.openxmlformats.org/officeDocument/2006/relationships/tags" Target="../tags/tag52.xml"/><Relationship Id="rId66" Type="http://schemas.openxmlformats.org/officeDocument/2006/relationships/tags" Target="../tags/tag51.xml"/><Relationship Id="rId65" Type="http://schemas.openxmlformats.org/officeDocument/2006/relationships/tags" Target="../tags/tag50.xml"/><Relationship Id="rId64" Type="http://schemas.openxmlformats.org/officeDocument/2006/relationships/tags" Target="../tags/tag49.xml"/><Relationship Id="rId63" Type="http://schemas.openxmlformats.org/officeDocument/2006/relationships/tags" Target="../tags/tag48.xml"/><Relationship Id="rId62" Type="http://schemas.openxmlformats.org/officeDocument/2006/relationships/tags" Target="../tags/tag47.xml"/><Relationship Id="rId61" Type="http://schemas.openxmlformats.org/officeDocument/2006/relationships/tags" Target="../tags/tag46.xml"/><Relationship Id="rId60" Type="http://schemas.openxmlformats.org/officeDocument/2006/relationships/tags" Target="../tags/tag45.xml"/><Relationship Id="rId6" Type="http://schemas.openxmlformats.org/officeDocument/2006/relationships/image" Target="../media/image12.jpeg"/><Relationship Id="rId59" Type="http://schemas.openxmlformats.org/officeDocument/2006/relationships/tags" Target="../tags/tag44.xml"/><Relationship Id="rId58" Type="http://schemas.openxmlformats.org/officeDocument/2006/relationships/tags" Target="../tags/tag43.xml"/><Relationship Id="rId57" Type="http://schemas.openxmlformats.org/officeDocument/2006/relationships/tags" Target="../tags/tag42.xml"/><Relationship Id="rId56" Type="http://schemas.openxmlformats.org/officeDocument/2006/relationships/tags" Target="../tags/tag41.xml"/><Relationship Id="rId55" Type="http://schemas.openxmlformats.org/officeDocument/2006/relationships/tags" Target="../tags/tag40.xml"/><Relationship Id="rId54" Type="http://schemas.openxmlformats.org/officeDocument/2006/relationships/tags" Target="../tags/tag39.xml"/><Relationship Id="rId53" Type="http://schemas.openxmlformats.org/officeDocument/2006/relationships/tags" Target="../tags/tag38.xml"/><Relationship Id="rId52" Type="http://schemas.openxmlformats.org/officeDocument/2006/relationships/tags" Target="../tags/tag37.xml"/><Relationship Id="rId51" Type="http://schemas.openxmlformats.org/officeDocument/2006/relationships/tags" Target="../tags/tag36.xml"/><Relationship Id="rId50" Type="http://schemas.openxmlformats.org/officeDocument/2006/relationships/tags" Target="../tags/tag35.xml"/><Relationship Id="rId5" Type="http://schemas.openxmlformats.org/officeDocument/2006/relationships/image" Target="../media/image11.jpeg"/><Relationship Id="rId49" Type="http://schemas.openxmlformats.org/officeDocument/2006/relationships/tags" Target="../tags/tag34.xml"/><Relationship Id="rId48" Type="http://schemas.openxmlformats.org/officeDocument/2006/relationships/tags" Target="../tags/tag33.xml"/><Relationship Id="rId47" Type="http://schemas.openxmlformats.org/officeDocument/2006/relationships/tags" Target="../tags/tag32.xml"/><Relationship Id="rId46" Type="http://schemas.openxmlformats.org/officeDocument/2006/relationships/tags" Target="../tags/tag31.xml"/><Relationship Id="rId45" Type="http://schemas.openxmlformats.org/officeDocument/2006/relationships/tags" Target="../tags/tag30.xml"/><Relationship Id="rId44" Type="http://schemas.openxmlformats.org/officeDocument/2006/relationships/tags" Target="../tags/tag29.xml"/><Relationship Id="rId43" Type="http://schemas.openxmlformats.org/officeDocument/2006/relationships/tags" Target="../tags/tag28.xml"/><Relationship Id="rId42" Type="http://schemas.openxmlformats.org/officeDocument/2006/relationships/tags" Target="../tags/tag27.xml"/><Relationship Id="rId41" Type="http://schemas.openxmlformats.org/officeDocument/2006/relationships/tags" Target="../tags/tag26.xml"/><Relationship Id="rId40" Type="http://schemas.openxmlformats.org/officeDocument/2006/relationships/tags" Target="../tags/tag25.xml"/><Relationship Id="rId4" Type="http://schemas.openxmlformats.org/officeDocument/2006/relationships/image" Target="../media/image10.jpeg"/><Relationship Id="rId39" Type="http://schemas.openxmlformats.org/officeDocument/2006/relationships/tags" Target="../tags/tag24.xml"/><Relationship Id="rId38" Type="http://schemas.openxmlformats.org/officeDocument/2006/relationships/tags" Target="../tags/tag23.xml"/><Relationship Id="rId37" Type="http://schemas.openxmlformats.org/officeDocument/2006/relationships/tags" Target="../tags/tag22.xml"/><Relationship Id="rId36" Type="http://schemas.openxmlformats.org/officeDocument/2006/relationships/tags" Target="../tags/tag21.xml"/><Relationship Id="rId35" Type="http://schemas.openxmlformats.org/officeDocument/2006/relationships/tags" Target="../tags/tag20.xml"/><Relationship Id="rId34" Type="http://schemas.openxmlformats.org/officeDocument/2006/relationships/tags" Target="../tags/tag19.xml"/><Relationship Id="rId33" Type="http://schemas.openxmlformats.org/officeDocument/2006/relationships/tags" Target="../tags/tag18.xml"/><Relationship Id="rId32" Type="http://schemas.openxmlformats.org/officeDocument/2006/relationships/tags" Target="../tags/tag17.xml"/><Relationship Id="rId31" Type="http://schemas.openxmlformats.org/officeDocument/2006/relationships/tags" Target="../tags/tag16.xml"/><Relationship Id="rId30" Type="http://schemas.openxmlformats.org/officeDocument/2006/relationships/tags" Target="../tags/tag15.xml"/><Relationship Id="rId3" Type="http://schemas.openxmlformats.org/officeDocument/2006/relationships/image" Target="../media/image9.jpeg"/><Relationship Id="rId29" Type="http://schemas.openxmlformats.org/officeDocument/2006/relationships/tags" Target="../tags/tag14.xml"/><Relationship Id="rId28" Type="http://schemas.openxmlformats.org/officeDocument/2006/relationships/tags" Target="../tags/tag13.xml"/><Relationship Id="rId27" Type="http://schemas.openxmlformats.org/officeDocument/2006/relationships/tags" Target="../tags/tag12.xml"/><Relationship Id="rId26" Type="http://schemas.openxmlformats.org/officeDocument/2006/relationships/tags" Target="../tags/tag11.xml"/><Relationship Id="rId25" Type="http://schemas.openxmlformats.org/officeDocument/2006/relationships/tags" Target="../tags/tag10.xml"/><Relationship Id="rId24" Type="http://schemas.openxmlformats.org/officeDocument/2006/relationships/tags" Target="../tags/tag9.xml"/><Relationship Id="rId23" Type="http://schemas.openxmlformats.org/officeDocument/2006/relationships/tags" Target="../tags/tag8.xml"/><Relationship Id="rId22" Type="http://schemas.openxmlformats.org/officeDocument/2006/relationships/tags" Target="../tags/tag7.xml"/><Relationship Id="rId21" Type="http://schemas.openxmlformats.org/officeDocument/2006/relationships/tags" Target="../tags/tag6.xml"/><Relationship Id="rId20" Type="http://schemas.openxmlformats.org/officeDocument/2006/relationships/tags" Target="../tags/tag5.xml"/><Relationship Id="rId2" Type="http://schemas.openxmlformats.org/officeDocument/2006/relationships/image" Target="../media/image8.jpeg"/><Relationship Id="rId19" Type="http://schemas.openxmlformats.org/officeDocument/2006/relationships/tags" Target="../tags/tag4.xml"/><Relationship Id="rId18" Type="http://schemas.openxmlformats.org/officeDocument/2006/relationships/tags" Target="../tags/tag3.xml"/><Relationship Id="rId17" Type="http://schemas.openxmlformats.org/officeDocument/2006/relationships/image" Target="../media/image23.jpeg"/><Relationship Id="rId16" Type="http://schemas.openxmlformats.org/officeDocument/2006/relationships/image" Target="../media/image22.jpeg"/><Relationship Id="rId15" Type="http://schemas.openxmlformats.org/officeDocument/2006/relationships/image" Target="../media/image21.jpeg"/><Relationship Id="rId14" Type="http://schemas.openxmlformats.org/officeDocument/2006/relationships/image" Target="../media/image20.jpeg"/><Relationship Id="rId13" Type="http://schemas.openxmlformats.org/officeDocument/2006/relationships/image" Target="../media/image19.jpeg"/><Relationship Id="rId12" Type="http://schemas.openxmlformats.org/officeDocument/2006/relationships/image" Target="../media/image18.jpeg"/><Relationship Id="rId11" Type="http://schemas.openxmlformats.org/officeDocument/2006/relationships/image" Target="../media/image17.jpeg"/><Relationship Id="rId10" Type="http://schemas.openxmlformats.org/officeDocument/2006/relationships/image" Target="../media/image16.jpeg"/><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9" Type="http://schemas.openxmlformats.org/officeDocument/2006/relationships/image" Target="../media/image30.jpeg"/><Relationship Id="rId88" Type="http://schemas.openxmlformats.org/officeDocument/2006/relationships/notesSlide" Target="../notesSlides/notesSlide6.xml"/><Relationship Id="rId87" Type="http://schemas.openxmlformats.org/officeDocument/2006/relationships/slideLayout" Target="../slideLayouts/slideLayout2.xml"/><Relationship Id="rId86" Type="http://schemas.openxmlformats.org/officeDocument/2006/relationships/tags" Target="../tags/tag99.xml"/><Relationship Id="rId85" Type="http://schemas.openxmlformats.org/officeDocument/2006/relationships/image" Target="../media/image64.jpeg"/><Relationship Id="rId84" Type="http://schemas.openxmlformats.org/officeDocument/2006/relationships/image" Target="../media/image63.png"/><Relationship Id="rId83" Type="http://schemas.openxmlformats.org/officeDocument/2006/relationships/image" Target="../media/image62.jpeg"/><Relationship Id="rId82" Type="http://schemas.openxmlformats.org/officeDocument/2006/relationships/image" Target="../media/image61.png"/><Relationship Id="rId81" Type="http://schemas.openxmlformats.org/officeDocument/2006/relationships/image" Target="../media/image60.png"/><Relationship Id="rId80" Type="http://schemas.openxmlformats.org/officeDocument/2006/relationships/image" Target="../media/image59.png"/><Relationship Id="rId8" Type="http://schemas.openxmlformats.org/officeDocument/2006/relationships/tags" Target="../tags/tag59.xml"/><Relationship Id="rId79" Type="http://schemas.openxmlformats.org/officeDocument/2006/relationships/image" Target="../media/image58.png"/><Relationship Id="rId78" Type="http://schemas.openxmlformats.org/officeDocument/2006/relationships/image" Target="../media/image57.png"/><Relationship Id="rId77" Type="http://schemas.openxmlformats.org/officeDocument/2006/relationships/image" Target="../media/image56.png"/><Relationship Id="rId76" Type="http://schemas.openxmlformats.org/officeDocument/2006/relationships/image" Target="../media/image55.png"/><Relationship Id="rId75" Type="http://schemas.openxmlformats.org/officeDocument/2006/relationships/image" Target="../media/image54.png"/><Relationship Id="rId74" Type="http://schemas.openxmlformats.org/officeDocument/2006/relationships/image" Target="../media/image53.png"/><Relationship Id="rId73" Type="http://schemas.openxmlformats.org/officeDocument/2006/relationships/image" Target="../media/image52.png"/><Relationship Id="rId72" Type="http://schemas.openxmlformats.org/officeDocument/2006/relationships/image" Target="../media/image51.png"/><Relationship Id="rId71" Type="http://schemas.openxmlformats.org/officeDocument/2006/relationships/image" Target="../media/image50.png"/><Relationship Id="rId70" Type="http://schemas.openxmlformats.org/officeDocument/2006/relationships/image" Target="../media/image49.png"/><Relationship Id="rId7" Type="http://schemas.openxmlformats.org/officeDocument/2006/relationships/image" Target="../media/image29.jpeg"/><Relationship Id="rId69" Type="http://schemas.openxmlformats.org/officeDocument/2006/relationships/image" Target="../media/image48.jpeg"/><Relationship Id="rId68" Type="http://schemas.openxmlformats.org/officeDocument/2006/relationships/image" Target="../media/image47.png"/><Relationship Id="rId67" Type="http://schemas.openxmlformats.org/officeDocument/2006/relationships/image" Target="../media/image46.png"/><Relationship Id="rId66" Type="http://schemas.openxmlformats.org/officeDocument/2006/relationships/image" Target="../media/image45.png"/><Relationship Id="rId65" Type="http://schemas.openxmlformats.org/officeDocument/2006/relationships/image" Target="../media/image44.png"/><Relationship Id="rId64" Type="http://schemas.openxmlformats.org/officeDocument/2006/relationships/image" Target="../media/image43.png"/><Relationship Id="rId63" Type="http://schemas.openxmlformats.org/officeDocument/2006/relationships/image" Target="../media/image42.png"/><Relationship Id="rId62" Type="http://schemas.openxmlformats.org/officeDocument/2006/relationships/image" Target="../media/image41.png"/><Relationship Id="rId61" Type="http://schemas.openxmlformats.org/officeDocument/2006/relationships/image" Target="../media/image40.png"/><Relationship Id="rId60" Type="http://schemas.openxmlformats.org/officeDocument/2006/relationships/image" Target="../media/image39.png"/><Relationship Id="rId6" Type="http://schemas.openxmlformats.org/officeDocument/2006/relationships/tags" Target="../tags/tag58.xml"/><Relationship Id="rId59" Type="http://schemas.openxmlformats.org/officeDocument/2006/relationships/image" Target="../media/image38.png"/><Relationship Id="rId58" Type="http://schemas.openxmlformats.org/officeDocument/2006/relationships/image" Target="../media/image37.png"/><Relationship Id="rId57" Type="http://schemas.openxmlformats.org/officeDocument/2006/relationships/image" Target="../media/image36.png"/><Relationship Id="rId56" Type="http://schemas.openxmlformats.org/officeDocument/2006/relationships/image" Target="../media/image35.png"/><Relationship Id="rId55" Type="http://schemas.openxmlformats.org/officeDocument/2006/relationships/image" Target="../media/image1.png"/><Relationship Id="rId54" Type="http://schemas.openxmlformats.org/officeDocument/2006/relationships/image" Target="../media/image34.png"/><Relationship Id="rId53" Type="http://schemas.openxmlformats.org/officeDocument/2006/relationships/image" Target="../media/image6.png"/><Relationship Id="rId52" Type="http://schemas.openxmlformats.org/officeDocument/2006/relationships/image" Target="../media/image33.png"/><Relationship Id="rId51" Type="http://schemas.openxmlformats.org/officeDocument/2006/relationships/image" Target="../media/image32.png"/><Relationship Id="rId50" Type="http://schemas.openxmlformats.org/officeDocument/2006/relationships/image" Target="../media/image5.png"/><Relationship Id="rId5" Type="http://schemas.openxmlformats.org/officeDocument/2006/relationships/image" Target="../media/image28.jpeg"/><Relationship Id="rId49" Type="http://schemas.openxmlformats.org/officeDocument/2006/relationships/tags" Target="../tags/tag98.xml"/><Relationship Id="rId48" Type="http://schemas.openxmlformats.org/officeDocument/2006/relationships/tags" Target="../tags/tag97.xml"/><Relationship Id="rId47" Type="http://schemas.openxmlformats.org/officeDocument/2006/relationships/tags" Target="../tags/tag96.xml"/><Relationship Id="rId46" Type="http://schemas.openxmlformats.org/officeDocument/2006/relationships/tags" Target="../tags/tag95.xml"/><Relationship Id="rId45" Type="http://schemas.openxmlformats.org/officeDocument/2006/relationships/tags" Target="../tags/tag94.xml"/><Relationship Id="rId44" Type="http://schemas.openxmlformats.org/officeDocument/2006/relationships/tags" Target="../tags/tag93.xml"/><Relationship Id="rId43" Type="http://schemas.openxmlformats.org/officeDocument/2006/relationships/tags" Target="../tags/tag92.xml"/><Relationship Id="rId42" Type="http://schemas.openxmlformats.org/officeDocument/2006/relationships/tags" Target="../tags/tag91.xml"/><Relationship Id="rId41" Type="http://schemas.openxmlformats.org/officeDocument/2006/relationships/tags" Target="../tags/tag90.xml"/><Relationship Id="rId40" Type="http://schemas.openxmlformats.org/officeDocument/2006/relationships/tags" Target="../tags/tag89.xml"/><Relationship Id="rId4" Type="http://schemas.openxmlformats.org/officeDocument/2006/relationships/image" Target="../media/image27.png"/><Relationship Id="rId39" Type="http://schemas.openxmlformats.org/officeDocument/2006/relationships/tags" Target="../tags/tag88.xml"/><Relationship Id="rId38" Type="http://schemas.openxmlformats.org/officeDocument/2006/relationships/tags" Target="../tags/tag87.xml"/><Relationship Id="rId37" Type="http://schemas.openxmlformats.org/officeDocument/2006/relationships/tags" Target="../tags/tag86.xml"/><Relationship Id="rId36" Type="http://schemas.openxmlformats.org/officeDocument/2006/relationships/tags" Target="../tags/tag85.xml"/><Relationship Id="rId35" Type="http://schemas.openxmlformats.org/officeDocument/2006/relationships/tags" Target="../tags/tag84.xml"/><Relationship Id="rId34" Type="http://schemas.openxmlformats.org/officeDocument/2006/relationships/tags" Target="../tags/tag83.xml"/><Relationship Id="rId33" Type="http://schemas.openxmlformats.org/officeDocument/2006/relationships/tags" Target="../tags/tag82.xml"/><Relationship Id="rId32" Type="http://schemas.openxmlformats.org/officeDocument/2006/relationships/tags" Target="../tags/tag81.xml"/><Relationship Id="rId31" Type="http://schemas.openxmlformats.org/officeDocument/2006/relationships/tags" Target="../tags/tag80.xml"/><Relationship Id="rId30" Type="http://schemas.openxmlformats.org/officeDocument/2006/relationships/tags" Target="../tags/tag79.xml"/><Relationship Id="rId3" Type="http://schemas.openxmlformats.org/officeDocument/2006/relationships/image" Target="../media/image26.jpeg"/><Relationship Id="rId29" Type="http://schemas.openxmlformats.org/officeDocument/2006/relationships/tags" Target="../tags/tag78.xml"/><Relationship Id="rId28" Type="http://schemas.openxmlformats.org/officeDocument/2006/relationships/tags" Target="../tags/tag77.xml"/><Relationship Id="rId27" Type="http://schemas.openxmlformats.org/officeDocument/2006/relationships/tags" Target="../tags/tag76.xml"/><Relationship Id="rId26" Type="http://schemas.openxmlformats.org/officeDocument/2006/relationships/tags" Target="../tags/tag75.xml"/><Relationship Id="rId25" Type="http://schemas.openxmlformats.org/officeDocument/2006/relationships/tags" Target="../tags/tag74.xml"/><Relationship Id="rId24" Type="http://schemas.openxmlformats.org/officeDocument/2006/relationships/tags" Target="../tags/tag73.xml"/><Relationship Id="rId23" Type="http://schemas.openxmlformats.org/officeDocument/2006/relationships/tags" Target="../tags/tag72.xml"/><Relationship Id="rId22" Type="http://schemas.openxmlformats.org/officeDocument/2006/relationships/tags" Target="../tags/tag71.xml"/><Relationship Id="rId21" Type="http://schemas.openxmlformats.org/officeDocument/2006/relationships/tags" Target="../tags/tag70.xml"/><Relationship Id="rId20" Type="http://schemas.openxmlformats.org/officeDocument/2006/relationships/tags" Target="../tags/tag69.xml"/><Relationship Id="rId2" Type="http://schemas.openxmlformats.org/officeDocument/2006/relationships/image" Target="../media/image25.png"/><Relationship Id="rId19" Type="http://schemas.openxmlformats.org/officeDocument/2006/relationships/tags" Target="../tags/tag68.xml"/><Relationship Id="rId18" Type="http://schemas.openxmlformats.org/officeDocument/2006/relationships/tags" Target="../tags/tag67.xml"/><Relationship Id="rId17" Type="http://schemas.openxmlformats.org/officeDocument/2006/relationships/tags" Target="../tags/tag66.xml"/><Relationship Id="rId16" Type="http://schemas.openxmlformats.org/officeDocument/2006/relationships/tags" Target="../tags/tag65.xml"/><Relationship Id="rId15" Type="http://schemas.openxmlformats.org/officeDocument/2006/relationships/tags" Target="../tags/tag64.xml"/><Relationship Id="rId14" Type="http://schemas.openxmlformats.org/officeDocument/2006/relationships/tags" Target="../tags/tag63.xml"/><Relationship Id="rId13" Type="http://schemas.openxmlformats.org/officeDocument/2006/relationships/tags" Target="../tags/tag62.xml"/><Relationship Id="rId12" Type="http://schemas.openxmlformats.org/officeDocument/2006/relationships/tags" Target="../tags/tag61.xml"/><Relationship Id="rId11" Type="http://schemas.openxmlformats.org/officeDocument/2006/relationships/tags" Target="../tags/tag60.xml"/><Relationship Id="rId10" Type="http://schemas.openxmlformats.org/officeDocument/2006/relationships/image" Target="../media/image31.png"/><Relationship Id="rId1" Type="http://schemas.openxmlformats.org/officeDocument/2006/relationships/image" Target="../media/image24.png"/></Relationships>
</file>

<file path=ppt/slides/_rels/slide7.xml.rels><?xml version="1.0" encoding="UTF-8" standalone="yes"?>
<Relationships xmlns="http://schemas.openxmlformats.org/package/2006/relationships"><Relationship Id="rId9" Type="http://schemas.openxmlformats.org/officeDocument/2006/relationships/tags" Target="../tags/tag105.xml"/><Relationship Id="rId8" Type="http://schemas.openxmlformats.org/officeDocument/2006/relationships/tags" Target="../tags/tag104.xml"/><Relationship Id="rId7" Type="http://schemas.openxmlformats.org/officeDocument/2006/relationships/tags" Target="../tags/tag103.xml"/><Relationship Id="rId6" Type="http://schemas.openxmlformats.org/officeDocument/2006/relationships/image" Target="../media/image67.png"/><Relationship Id="rId5" Type="http://schemas.openxmlformats.org/officeDocument/2006/relationships/tags" Target="../tags/tag102.xml"/><Relationship Id="rId4" Type="http://schemas.openxmlformats.org/officeDocument/2006/relationships/image" Target="../media/image66.png"/><Relationship Id="rId3" Type="http://schemas.openxmlformats.org/officeDocument/2006/relationships/tags" Target="../tags/tag101.xml"/><Relationship Id="rId26" Type="http://schemas.openxmlformats.org/officeDocument/2006/relationships/notesSlide" Target="../notesSlides/notesSlide7.xml"/><Relationship Id="rId25" Type="http://schemas.openxmlformats.org/officeDocument/2006/relationships/slideLayout" Target="../slideLayouts/slideLayout12.xml"/><Relationship Id="rId24" Type="http://schemas.openxmlformats.org/officeDocument/2006/relationships/tags" Target="../tags/tag116.xml"/><Relationship Id="rId23" Type="http://schemas.openxmlformats.org/officeDocument/2006/relationships/image" Target="../media/image71.png"/><Relationship Id="rId22" Type="http://schemas.openxmlformats.org/officeDocument/2006/relationships/image" Target="../media/image70.png"/><Relationship Id="rId21" Type="http://schemas.openxmlformats.org/officeDocument/2006/relationships/tags" Target="../tags/tag115.xml"/><Relationship Id="rId20" Type="http://schemas.openxmlformats.org/officeDocument/2006/relationships/tags" Target="../tags/tag114.xml"/><Relationship Id="rId2" Type="http://schemas.openxmlformats.org/officeDocument/2006/relationships/image" Target="../media/image65.png"/><Relationship Id="rId19" Type="http://schemas.openxmlformats.org/officeDocument/2006/relationships/tags" Target="../tags/tag113.xml"/><Relationship Id="rId18" Type="http://schemas.openxmlformats.org/officeDocument/2006/relationships/tags" Target="../tags/tag112.xml"/><Relationship Id="rId17" Type="http://schemas.openxmlformats.org/officeDocument/2006/relationships/tags" Target="../tags/tag111.xml"/><Relationship Id="rId16" Type="http://schemas.openxmlformats.org/officeDocument/2006/relationships/tags" Target="../tags/tag110.xml"/><Relationship Id="rId15" Type="http://schemas.openxmlformats.org/officeDocument/2006/relationships/tags" Target="../tags/tag109.xml"/><Relationship Id="rId14" Type="http://schemas.openxmlformats.org/officeDocument/2006/relationships/tags" Target="../tags/tag108.xml"/><Relationship Id="rId13" Type="http://schemas.openxmlformats.org/officeDocument/2006/relationships/tags" Target="../tags/tag107.xml"/><Relationship Id="rId12" Type="http://schemas.openxmlformats.org/officeDocument/2006/relationships/tags" Target="../tags/tag106.xml"/><Relationship Id="rId11" Type="http://schemas.openxmlformats.org/officeDocument/2006/relationships/image" Target="../media/image69.png"/><Relationship Id="rId10" Type="http://schemas.openxmlformats.org/officeDocument/2006/relationships/image" Target="../media/image68.png"/><Relationship Id="rId1" Type="http://schemas.openxmlformats.org/officeDocument/2006/relationships/tags" Target="../tags/tag100.xml"/></Relationships>
</file>

<file path=ppt/slides/_rels/slide8.xml.rels><?xml version="1.0" encoding="UTF-8" standalone="yes"?>
<Relationships xmlns="http://schemas.openxmlformats.org/package/2006/relationships"><Relationship Id="rId9" Type="http://schemas.openxmlformats.org/officeDocument/2006/relationships/tags" Target="../tags/tag125.xml"/><Relationship Id="rId8" Type="http://schemas.openxmlformats.org/officeDocument/2006/relationships/tags" Target="../tags/tag124.xml"/><Relationship Id="rId73" Type="http://schemas.openxmlformats.org/officeDocument/2006/relationships/notesSlide" Target="../notesSlides/notesSlide8.xml"/><Relationship Id="rId72" Type="http://schemas.openxmlformats.org/officeDocument/2006/relationships/slideLayout" Target="../slideLayouts/slideLayout2.xml"/><Relationship Id="rId71" Type="http://schemas.openxmlformats.org/officeDocument/2006/relationships/tags" Target="../tags/tag183.xml"/><Relationship Id="rId70" Type="http://schemas.openxmlformats.org/officeDocument/2006/relationships/tags" Target="../tags/tag182.xml"/><Relationship Id="rId7" Type="http://schemas.openxmlformats.org/officeDocument/2006/relationships/tags" Target="../tags/tag123.xml"/><Relationship Id="rId69" Type="http://schemas.openxmlformats.org/officeDocument/2006/relationships/tags" Target="../tags/tag181.xml"/><Relationship Id="rId68" Type="http://schemas.openxmlformats.org/officeDocument/2006/relationships/tags" Target="../tags/tag180.xml"/><Relationship Id="rId67" Type="http://schemas.openxmlformats.org/officeDocument/2006/relationships/tags" Target="../tags/tag179.xml"/><Relationship Id="rId66" Type="http://schemas.openxmlformats.org/officeDocument/2006/relationships/tags" Target="../tags/tag178.xml"/><Relationship Id="rId65" Type="http://schemas.openxmlformats.org/officeDocument/2006/relationships/tags" Target="../tags/tag177.xml"/><Relationship Id="rId64" Type="http://schemas.openxmlformats.org/officeDocument/2006/relationships/tags" Target="../tags/tag176.xml"/><Relationship Id="rId63" Type="http://schemas.openxmlformats.org/officeDocument/2006/relationships/tags" Target="../tags/tag175.xml"/><Relationship Id="rId62" Type="http://schemas.openxmlformats.org/officeDocument/2006/relationships/tags" Target="../tags/tag174.xml"/><Relationship Id="rId61" Type="http://schemas.openxmlformats.org/officeDocument/2006/relationships/tags" Target="../tags/tag173.xml"/><Relationship Id="rId60" Type="http://schemas.openxmlformats.org/officeDocument/2006/relationships/tags" Target="../tags/tag172.xml"/><Relationship Id="rId6" Type="http://schemas.openxmlformats.org/officeDocument/2006/relationships/tags" Target="../tags/tag122.xml"/><Relationship Id="rId59" Type="http://schemas.openxmlformats.org/officeDocument/2006/relationships/tags" Target="../tags/tag171.xml"/><Relationship Id="rId58" Type="http://schemas.openxmlformats.org/officeDocument/2006/relationships/tags" Target="../tags/tag170.xml"/><Relationship Id="rId57" Type="http://schemas.openxmlformats.org/officeDocument/2006/relationships/tags" Target="../tags/tag169.xml"/><Relationship Id="rId56" Type="http://schemas.openxmlformats.org/officeDocument/2006/relationships/tags" Target="../tags/tag168.xml"/><Relationship Id="rId55" Type="http://schemas.openxmlformats.org/officeDocument/2006/relationships/tags" Target="../tags/tag167.xml"/><Relationship Id="rId54" Type="http://schemas.openxmlformats.org/officeDocument/2006/relationships/tags" Target="../tags/tag166.xml"/><Relationship Id="rId53" Type="http://schemas.openxmlformats.org/officeDocument/2006/relationships/tags" Target="../tags/tag165.xml"/><Relationship Id="rId52" Type="http://schemas.openxmlformats.org/officeDocument/2006/relationships/tags" Target="../tags/tag164.xml"/><Relationship Id="rId51" Type="http://schemas.openxmlformats.org/officeDocument/2006/relationships/tags" Target="../tags/tag163.xml"/><Relationship Id="rId50" Type="http://schemas.openxmlformats.org/officeDocument/2006/relationships/tags" Target="../tags/tag162.xml"/><Relationship Id="rId5" Type="http://schemas.openxmlformats.org/officeDocument/2006/relationships/tags" Target="../tags/tag121.xml"/><Relationship Id="rId49" Type="http://schemas.openxmlformats.org/officeDocument/2006/relationships/tags" Target="../tags/tag161.xml"/><Relationship Id="rId48" Type="http://schemas.openxmlformats.org/officeDocument/2006/relationships/tags" Target="../tags/tag160.xml"/><Relationship Id="rId47" Type="http://schemas.openxmlformats.org/officeDocument/2006/relationships/tags" Target="../tags/tag159.xml"/><Relationship Id="rId46" Type="http://schemas.openxmlformats.org/officeDocument/2006/relationships/tags" Target="../tags/tag158.xml"/><Relationship Id="rId45" Type="http://schemas.openxmlformats.org/officeDocument/2006/relationships/tags" Target="../tags/tag157.xml"/><Relationship Id="rId44" Type="http://schemas.openxmlformats.org/officeDocument/2006/relationships/tags" Target="../tags/tag156.xml"/><Relationship Id="rId43" Type="http://schemas.openxmlformats.org/officeDocument/2006/relationships/tags" Target="../tags/tag155.xml"/><Relationship Id="rId42" Type="http://schemas.openxmlformats.org/officeDocument/2006/relationships/tags" Target="../tags/tag154.xml"/><Relationship Id="rId41" Type="http://schemas.openxmlformats.org/officeDocument/2006/relationships/tags" Target="../tags/tag153.xml"/><Relationship Id="rId40" Type="http://schemas.openxmlformats.org/officeDocument/2006/relationships/tags" Target="../tags/tag152.xml"/><Relationship Id="rId4" Type="http://schemas.openxmlformats.org/officeDocument/2006/relationships/tags" Target="../tags/tag120.xml"/><Relationship Id="rId39" Type="http://schemas.openxmlformats.org/officeDocument/2006/relationships/tags" Target="../tags/tag151.xml"/><Relationship Id="rId38" Type="http://schemas.openxmlformats.org/officeDocument/2006/relationships/tags" Target="../tags/tag150.xml"/><Relationship Id="rId37" Type="http://schemas.openxmlformats.org/officeDocument/2006/relationships/tags" Target="../tags/tag149.xml"/><Relationship Id="rId36" Type="http://schemas.openxmlformats.org/officeDocument/2006/relationships/tags" Target="../tags/tag148.xml"/><Relationship Id="rId35" Type="http://schemas.openxmlformats.org/officeDocument/2006/relationships/tags" Target="../tags/tag147.xml"/><Relationship Id="rId34" Type="http://schemas.openxmlformats.org/officeDocument/2006/relationships/image" Target="../media/image75.svg"/><Relationship Id="rId33" Type="http://schemas.openxmlformats.org/officeDocument/2006/relationships/image" Target="../media/image74.png"/><Relationship Id="rId32" Type="http://schemas.openxmlformats.org/officeDocument/2006/relationships/image" Target="../media/image73.svg"/><Relationship Id="rId31" Type="http://schemas.openxmlformats.org/officeDocument/2006/relationships/image" Target="../media/image72.png"/><Relationship Id="rId30" Type="http://schemas.openxmlformats.org/officeDocument/2006/relationships/tags" Target="../tags/tag146.xml"/><Relationship Id="rId3" Type="http://schemas.openxmlformats.org/officeDocument/2006/relationships/tags" Target="../tags/tag119.xml"/><Relationship Id="rId29" Type="http://schemas.openxmlformats.org/officeDocument/2006/relationships/tags" Target="../tags/tag145.xml"/><Relationship Id="rId28" Type="http://schemas.openxmlformats.org/officeDocument/2006/relationships/tags" Target="../tags/tag144.xml"/><Relationship Id="rId27" Type="http://schemas.openxmlformats.org/officeDocument/2006/relationships/tags" Target="../tags/tag143.xml"/><Relationship Id="rId26" Type="http://schemas.openxmlformats.org/officeDocument/2006/relationships/tags" Target="../tags/tag142.xml"/><Relationship Id="rId25" Type="http://schemas.openxmlformats.org/officeDocument/2006/relationships/tags" Target="../tags/tag141.xml"/><Relationship Id="rId24" Type="http://schemas.openxmlformats.org/officeDocument/2006/relationships/tags" Target="../tags/tag140.xml"/><Relationship Id="rId23" Type="http://schemas.openxmlformats.org/officeDocument/2006/relationships/tags" Target="../tags/tag139.xml"/><Relationship Id="rId22" Type="http://schemas.openxmlformats.org/officeDocument/2006/relationships/tags" Target="../tags/tag138.xml"/><Relationship Id="rId21" Type="http://schemas.openxmlformats.org/officeDocument/2006/relationships/tags" Target="../tags/tag137.xml"/><Relationship Id="rId20" Type="http://schemas.openxmlformats.org/officeDocument/2006/relationships/tags" Target="../tags/tag136.xml"/><Relationship Id="rId2" Type="http://schemas.openxmlformats.org/officeDocument/2006/relationships/tags" Target="../tags/tag118.xml"/><Relationship Id="rId19" Type="http://schemas.openxmlformats.org/officeDocument/2006/relationships/tags" Target="../tags/tag135.xml"/><Relationship Id="rId18" Type="http://schemas.openxmlformats.org/officeDocument/2006/relationships/tags" Target="../tags/tag134.xml"/><Relationship Id="rId17" Type="http://schemas.openxmlformats.org/officeDocument/2006/relationships/tags" Target="../tags/tag133.xml"/><Relationship Id="rId16" Type="http://schemas.openxmlformats.org/officeDocument/2006/relationships/tags" Target="../tags/tag132.xml"/><Relationship Id="rId15" Type="http://schemas.openxmlformats.org/officeDocument/2006/relationships/tags" Target="../tags/tag131.xml"/><Relationship Id="rId14" Type="http://schemas.openxmlformats.org/officeDocument/2006/relationships/tags" Target="../tags/tag130.xml"/><Relationship Id="rId13" Type="http://schemas.openxmlformats.org/officeDocument/2006/relationships/tags" Target="../tags/tag129.xml"/><Relationship Id="rId12" Type="http://schemas.openxmlformats.org/officeDocument/2006/relationships/tags" Target="../tags/tag128.xml"/><Relationship Id="rId11" Type="http://schemas.openxmlformats.org/officeDocument/2006/relationships/tags" Target="../tags/tag127.xml"/><Relationship Id="rId10" Type="http://schemas.openxmlformats.org/officeDocument/2006/relationships/tags" Target="../tags/tag126.xml"/><Relationship Id="rId1" Type="http://schemas.openxmlformats.org/officeDocument/2006/relationships/tags" Target="../tags/tag1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长方形"/>
          <p:cNvSpPr/>
          <p:nvPr/>
        </p:nvSpPr>
        <p:spPr>
          <a:xfrm>
            <a:off x="1337310" y="702945"/>
            <a:ext cx="5034915" cy="720725"/>
          </a:xfrm>
          <a:prstGeom prst="roundRect">
            <a:avLst>
              <a:gd name="adj" fmla="val 10407"/>
            </a:avLst>
          </a:prstGeom>
          <a:solidFill>
            <a:schemeClr val="accent1">
              <a:lumMod val="40000"/>
              <a:lumOff val="60000"/>
            </a:schemeClr>
          </a:solidFill>
          <a:ln w="12700" cap="flat" cmpd="sng" algn="ctr">
            <a:noFill/>
            <a:prstDash val="solid"/>
            <a:miter lim="800000"/>
          </a:ln>
          <a:effectLst/>
        </p:spPr>
        <p:txBody>
          <a:bodyPr vert="eaVert" rtlCol="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endParaRPr>
          </a:p>
        </p:txBody>
      </p:sp>
      <p:sp>
        <p:nvSpPr>
          <p:cNvPr id="164" name="圆角矩形 51"/>
          <p:cNvSpPr/>
          <p:nvPr/>
        </p:nvSpPr>
        <p:spPr>
          <a:xfrm>
            <a:off x="1119505" y="6506210"/>
            <a:ext cx="10344150" cy="344805"/>
          </a:xfrm>
          <a:prstGeom prst="roundRect">
            <a:avLst/>
          </a:prstGeom>
          <a:solidFill>
            <a:srgbClr val="2179D9"/>
          </a:solidFill>
          <a:ln>
            <a:noFill/>
          </a:ln>
          <a:effectLst/>
        </p:spPr>
        <p:txBody>
          <a:bodyPr vert="horz" wrap="square" lIns="91434" tIns="45718" rIns="91434" bIns="45718" numCol="1" rtlCol="0" anchor="t" anchorCtr="0" compatLnSpc="1"/>
          <a:lstStyle/>
          <a:p>
            <a:pPr fontAlgn="base">
              <a:spcBef>
                <a:spcPct val="0"/>
              </a:spcBef>
              <a:spcAft>
                <a:spcPct val="0"/>
              </a:spcAft>
              <a:buClr>
                <a:srgbClr val="CC9900"/>
              </a:buClr>
              <a:buFont typeface="微软雅黑" panose="020B0503020204020204" charset="-122"/>
              <a:buChar char="n"/>
            </a:pPr>
            <a:endParaRPr lang="zh-CN" altLang="en-US" sz="1200" kern="0">
              <a:solidFill>
                <a:prstClr val="black"/>
              </a:solidFill>
              <a:latin typeface="微软雅黑" panose="020B0503020204020204" charset="-122"/>
              <a:ea typeface="微软雅黑" panose="020B0503020204020204" charset="-122"/>
            </a:endParaRPr>
          </a:p>
        </p:txBody>
      </p:sp>
      <p:sp>
        <p:nvSpPr>
          <p:cNvPr id="165" name="矩形: 圆角 5"/>
          <p:cNvSpPr/>
          <p:nvPr/>
        </p:nvSpPr>
        <p:spPr>
          <a:xfrm>
            <a:off x="709930" y="6505575"/>
            <a:ext cx="500380" cy="344805"/>
          </a:xfrm>
          <a:prstGeom prst="roundRect">
            <a:avLst>
              <a:gd name="adj" fmla="val 13820"/>
            </a:avLst>
          </a:prstGeom>
          <a:solidFill>
            <a:srgbClr val="2E54A1"/>
          </a:solidFill>
          <a:ln w="38100" cap="flat" cmpd="sng" algn="ctr">
            <a:noFill/>
            <a:prstDash val="solid"/>
            <a:miter lim="800000"/>
          </a:ln>
          <a:effectLst/>
        </p:spPr>
        <p:txBody>
          <a:bodyPr wrap="square" lIns="98755" tIns="49378" rIns="98755" bIns="49378"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dirty="0">
              <a:ln>
                <a:noFill/>
              </a:ln>
              <a:solidFill>
                <a:prstClr val="white"/>
              </a:solidFill>
              <a:uLnTx/>
              <a:uFillTx/>
              <a:latin typeface="微软雅黑" panose="020B0503020204020204" charset="-122"/>
              <a:ea typeface="微软雅黑" panose="020B0503020204020204" charset="-122"/>
            </a:endParaRPr>
          </a:p>
        </p:txBody>
      </p:sp>
      <p:sp>
        <p:nvSpPr>
          <p:cNvPr id="168" name="矩形: 圆角 6"/>
          <p:cNvSpPr/>
          <p:nvPr/>
        </p:nvSpPr>
        <p:spPr>
          <a:xfrm>
            <a:off x="948055" y="3134995"/>
            <a:ext cx="10515600" cy="3357245"/>
          </a:xfrm>
          <a:prstGeom prst="roundRect">
            <a:avLst>
              <a:gd name="adj" fmla="val 2041"/>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000" b="1" dirty="0">
              <a:solidFill>
                <a:prstClr val="white"/>
              </a:solidFill>
              <a:latin typeface="微软雅黑" panose="020B0503020204020204" charset="-122"/>
              <a:ea typeface="微软雅黑" panose="020B0503020204020204" charset="-122"/>
              <a:sym typeface="+mn-lt"/>
            </a:endParaRPr>
          </a:p>
        </p:txBody>
      </p:sp>
      <p:sp>
        <p:nvSpPr>
          <p:cNvPr id="178" name="矩形: 圆角 7"/>
          <p:cNvSpPr/>
          <p:nvPr/>
        </p:nvSpPr>
        <p:spPr>
          <a:xfrm>
            <a:off x="1252220" y="4610735"/>
            <a:ext cx="10153015" cy="1859915"/>
          </a:xfrm>
          <a:prstGeom prst="corner">
            <a:avLst>
              <a:gd name="adj1" fmla="val 43180"/>
              <a:gd name="adj2" fmla="val 299761"/>
            </a:avLst>
          </a:prstGeom>
          <a:solidFill>
            <a:schemeClr val="accent1">
              <a:lumMod val="40000"/>
              <a:lumOff val="60000"/>
            </a:schemeClr>
          </a:solidFill>
          <a:ln>
            <a:solidFill>
              <a:schemeClr val="accent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sym typeface="+mn-lt"/>
            </a:endParaRPr>
          </a:p>
        </p:txBody>
      </p:sp>
      <p:sp>
        <p:nvSpPr>
          <p:cNvPr id="179" name="矩形: 圆角 8"/>
          <p:cNvSpPr/>
          <p:nvPr/>
        </p:nvSpPr>
        <p:spPr>
          <a:xfrm>
            <a:off x="1521460" y="6134100"/>
            <a:ext cx="9823450" cy="292100"/>
          </a:xfrm>
          <a:prstGeom prst="roundRect">
            <a:avLst>
              <a:gd name="adj" fmla="val 8101"/>
            </a:avLst>
          </a:prstGeom>
          <a:solidFill>
            <a:srgbClr val="EDF3FA"/>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t"/>
          <a:lstStyle/>
          <a:p>
            <a:pPr algn="ctr"/>
            <a:endParaRPr lang="zh-CN" altLang="en-US" sz="1000">
              <a:solidFill>
                <a:prstClr val="black"/>
              </a:solidFill>
              <a:latin typeface="微软雅黑" panose="020B0503020204020204" charset="-122"/>
              <a:ea typeface="微软雅黑" panose="020B0503020204020204" charset="-122"/>
              <a:sym typeface="+mn-lt"/>
            </a:endParaRPr>
          </a:p>
        </p:txBody>
      </p:sp>
      <p:sp>
        <p:nvSpPr>
          <p:cNvPr id="183" name="文本框 182"/>
          <p:cNvSpPr txBox="1"/>
          <p:nvPr/>
        </p:nvSpPr>
        <p:spPr>
          <a:xfrm>
            <a:off x="3098165" y="6184900"/>
            <a:ext cx="600075" cy="213995"/>
          </a:xfrm>
          <a:prstGeom prst="rect">
            <a:avLst/>
          </a:prstGeom>
          <a:noFill/>
        </p:spPr>
        <p:txBody>
          <a:bodyPr wrap="square" rtlCol="0">
            <a:spAutoFit/>
          </a:bodyPr>
          <a:lstStyle/>
          <a:p>
            <a:pPr algn="ctr"/>
            <a:r>
              <a:rPr lang="zh-CN" altLang="en-US" sz="800" kern="0" dirty="0">
                <a:solidFill>
                  <a:srgbClr val="1D1D1A"/>
                </a:solidFill>
                <a:latin typeface="微软雅黑" panose="020B0503020204020204" charset="-122"/>
                <a:ea typeface="微软雅黑" panose="020B0503020204020204" charset="-122"/>
                <a:cs typeface="+mn-ea"/>
                <a:sym typeface="+mn-lt"/>
              </a:rPr>
              <a:t>消息队列</a:t>
            </a:r>
            <a:endParaRPr lang="zh-CN" altLang="en-US" sz="800" kern="0" dirty="0">
              <a:solidFill>
                <a:srgbClr val="1D1D1A"/>
              </a:solidFill>
              <a:latin typeface="微软雅黑" panose="020B0503020204020204" charset="-122"/>
              <a:ea typeface="微软雅黑" panose="020B0503020204020204" charset="-122"/>
              <a:cs typeface="+mn-ea"/>
              <a:sym typeface="+mn-lt"/>
            </a:endParaRPr>
          </a:p>
        </p:txBody>
      </p:sp>
      <p:sp>
        <p:nvSpPr>
          <p:cNvPr id="184" name="矩形: 圆角 131"/>
          <p:cNvSpPr/>
          <p:nvPr/>
        </p:nvSpPr>
        <p:spPr>
          <a:xfrm>
            <a:off x="699770" y="3128645"/>
            <a:ext cx="500380" cy="3357880"/>
          </a:xfrm>
          <a:prstGeom prst="roundRect">
            <a:avLst>
              <a:gd name="adj" fmla="val 13820"/>
            </a:avLst>
          </a:prstGeom>
          <a:solidFill>
            <a:srgbClr val="2E54A1"/>
          </a:solidFill>
          <a:ln w="38100" cap="flat" cmpd="sng" algn="ctr">
            <a:noFill/>
            <a:prstDash val="solid"/>
            <a:miter lim="800000"/>
          </a:ln>
          <a:effectLst/>
        </p:spPr>
        <p:txBody>
          <a:bodyPr wrap="square" lIns="98755" tIns="49378" rIns="98755" bIns="49378"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dirty="0">
              <a:ln>
                <a:noFill/>
              </a:ln>
              <a:solidFill>
                <a:prstClr val="white"/>
              </a:solidFill>
              <a:uLnTx/>
              <a:uFillTx/>
              <a:latin typeface="微软雅黑" panose="020B0503020204020204" charset="-122"/>
              <a:ea typeface="微软雅黑" panose="020B0503020204020204" charset="-122"/>
            </a:endParaRPr>
          </a:p>
        </p:txBody>
      </p:sp>
      <p:sp>
        <p:nvSpPr>
          <p:cNvPr id="185" name="文本框 184"/>
          <p:cNvSpPr txBox="1"/>
          <p:nvPr/>
        </p:nvSpPr>
        <p:spPr>
          <a:xfrm>
            <a:off x="808990" y="3980180"/>
            <a:ext cx="282575" cy="11988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prstClr val="white"/>
                </a:solidFill>
                <a:uLnTx/>
                <a:uFillTx/>
                <a:latin typeface="微软雅黑" panose="020B0503020204020204" charset="-122"/>
                <a:ea typeface="微软雅黑" panose="020B0503020204020204" charset="-122"/>
              </a:rPr>
              <a:t>招采</a:t>
            </a:r>
            <a:endParaRPr kumimoji="0" lang="en-US" altLang="zh-CN" sz="1200" b="1" i="0" u="none" strike="noStrike" kern="0" cap="none" spc="0" normalizeH="0" baseline="0" noProof="0" dirty="0">
              <a:ln>
                <a:noFill/>
              </a:ln>
              <a:solidFill>
                <a:prstClr val="white"/>
              </a:solidFill>
              <a:uLnTx/>
              <a:uFillTx/>
              <a:latin typeface="微软雅黑" panose="020B0503020204020204" charset="-122"/>
              <a:ea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b="1" kern="0" dirty="0">
                <a:solidFill>
                  <a:prstClr val="white"/>
                </a:solidFill>
                <a:latin typeface="微软雅黑" panose="020B0503020204020204" charset="-122"/>
                <a:ea typeface="微软雅黑" panose="020B0503020204020204" charset="-122"/>
              </a:rPr>
              <a:t>PaaS</a:t>
            </a:r>
            <a:endParaRPr kumimoji="0" lang="zh-CN" altLang="en-US" sz="1200" b="1" i="0" u="none" strike="noStrike" kern="0" cap="none" spc="0" normalizeH="0" baseline="0" noProof="0" dirty="0">
              <a:ln>
                <a:noFill/>
              </a:ln>
              <a:solidFill>
                <a:prstClr val="white"/>
              </a:solidFill>
              <a:uLnTx/>
              <a:uFillTx/>
              <a:latin typeface="微软雅黑" panose="020B0503020204020204" charset="-122"/>
              <a:ea typeface="微软雅黑" panose="020B0503020204020204" charset="-122"/>
            </a:endParaRPr>
          </a:p>
        </p:txBody>
      </p:sp>
      <p:sp>
        <p:nvSpPr>
          <p:cNvPr id="186" name="矩形: 圆角 170"/>
          <p:cNvSpPr/>
          <p:nvPr/>
        </p:nvSpPr>
        <p:spPr>
          <a:xfrm>
            <a:off x="1265555" y="3171190"/>
            <a:ext cx="5553710" cy="1397000"/>
          </a:xfrm>
          <a:prstGeom prst="roundRect">
            <a:avLst>
              <a:gd name="adj" fmla="val 953"/>
            </a:avLst>
          </a:prstGeom>
          <a:solidFill>
            <a:srgbClr val="00B4F8"/>
          </a:solidFill>
          <a:ln w="12700">
            <a:solidFill>
              <a:schemeClr val="accent1"/>
            </a:solidFill>
            <a:prstDash val="dash"/>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mn-ea"/>
              <a:sym typeface="+mn-lt"/>
            </a:endParaRPr>
          </a:p>
        </p:txBody>
      </p:sp>
      <p:sp>
        <p:nvSpPr>
          <p:cNvPr id="189" name="矩形: 圆角 214"/>
          <p:cNvSpPr/>
          <p:nvPr/>
        </p:nvSpPr>
        <p:spPr>
          <a:xfrm>
            <a:off x="4201160" y="3497580"/>
            <a:ext cx="2550795" cy="1043305"/>
          </a:xfrm>
          <a:prstGeom prst="roundRect">
            <a:avLst>
              <a:gd name="adj" fmla="val 8101"/>
            </a:avLst>
          </a:prstGeom>
          <a:solidFill>
            <a:srgbClr val="EDF3FA"/>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t"/>
          <a:lstStyle/>
          <a:p>
            <a:pPr algn="ctr"/>
            <a:endParaRPr lang="zh-CN" altLang="en-US" sz="1000">
              <a:solidFill>
                <a:prstClr val="black"/>
              </a:solidFill>
              <a:latin typeface="微软雅黑" panose="020B0503020204020204" charset="-122"/>
              <a:ea typeface="微软雅黑" panose="020B0503020204020204" charset="-122"/>
              <a:sym typeface="+mn-lt"/>
            </a:endParaRPr>
          </a:p>
        </p:txBody>
      </p:sp>
      <p:sp>
        <p:nvSpPr>
          <p:cNvPr id="190" name="长方形"/>
          <p:cNvSpPr/>
          <p:nvPr/>
        </p:nvSpPr>
        <p:spPr>
          <a:xfrm>
            <a:off x="4271010" y="3684905"/>
            <a:ext cx="78359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认证组件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192" name="长方形"/>
          <p:cNvSpPr/>
          <p:nvPr/>
        </p:nvSpPr>
        <p:spPr>
          <a:xfrm>
            <a:off x="4271010" y="3884295"/>
            <a:ext cx="78359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事项组件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193" name="长方形"/>
          <p:cNvSpPr/>
          <p:nvPr/>
        </p:nvSpPr>
        <p:spPr>
          <a:xfrm>
            <a:off x="4271010" y="4083050"/>
            <a:ext cx="78359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存储组件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195" name="长方形"/>
          <p:cNvSpPr/>
          <p:nvPr/>
        </p:nvSpPr>
        <p:spPr>
          <a:xfrm>
            <a:off x="5083175" y="3685540"/>
            <a:ext cx="78359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权限组件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196" name="长方形"/>
          <p:cNvSpPr/>
          <p:nvPr/>
        </p:nvSpPr>
        <p:spPr>
          <a:xfrm>
            <a:off x="4271010" y="4281805"/>
            <a:ext cx="78359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日志组件</a:t>
            </a:r>
            <a:endParaRPr lang="zh-CN" altLang="zh-CN" sz="900" kern="0" dirty="0">
              <a:solidFill>
                <a:srgbClr val="FFFFFF"/>
              </a:solidFill>
              <a:latin typeface="微软雅黑" panose="020B0503020204020204" charset="-122"/>
              <a:ea typeface="微软雅黑" panose="020B0503020204020204" charset="-122"/>
              <a:sym typeface="+mn-lt"/>
            </a:endParaRPr>
          </a:p>
        </p:txBody>
      </p:sp>
      <p:sp>
        <p:nvSpPr>
          <p:cNvPr id="197" name="长方形"/>
          <p:cNvSpPr/>
          <p:nvPr/>
        </p:nvSpPr>
        <p:spPr>
          <a:xfrm>
            <a:off x="5083175" y="3884295"/>
            <a:ext cx="78359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表单组件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198" name="长方形"/>
          <p:cNvSpPr/>
          <p:nvPr/>
        </p:nvSpPr>
        <p:spPr>
          <a:xfrm>
            <a:off x="5083175" y="4083050"/>
            <a:ext cx="78359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kern="0" dirty="0">
                <a:solidFill>
                  <a:srgbClr val="FFFFFF"/>
                </a:solidFill>
                <a:latin typeface="微软雅黑" panose="020B0503020204020204" charset="-122"/>
                <a:ea typeface="微软雅黑" panose="020B0503020204020204" charset="-122"/>
                <a:sym typeface="+mn-lt"/>
              </a:rPr>
              <a:t>CA</a:t>
            </a:r>
            <a:r>
              <a:rPr lang="zh-CN" altLang="en-US" sz="900" kern="0" dirty="0">
                <a:solidFill>
                  <a:srgbClr val="FFFFFF"/>
                </a:solidFill>
                <a:latin typeface="微软雅黑" panose="020B0503020204020204" charset="-122"/>
                <a:ea typeface="微软雅黑" panose="020B0503020204020204" charset="-122"/>
                <a:sym typeface="+mn-lt"/>
              </a:rPr>
              <a:t>签章</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199" name="长方形"/>
          <p:cNvSpPr/>
          <p:nvPr/>
        </p:nvSpPr>
        <p:spPr>
          <a:xfrm>
            <a:off x="5083175" y="4281805"/>
            <a:ext cx="78359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安全组件</a:t>
            </a:r>
            <a:endParaRPr lang="zh-CN" altLang="zh-CN" sz="900" kern="0" dirty="0">
              <a:solidFill>
                <a:srgbClr val="FFFFFF"/>
              </a:solidFill>
              <a:latin typeface="微软雅黑" panose="020B0503020204020204" charset="-122"/>
              <a:ea typeface="微软雅黑" panose="020B0503020204020204" charset="-122"/>
              <a:sym typeface="+mn-lt"/>
            </a:endParaRPr>
          </a:p>
        </p:txBody>
      </p:sp>
      <p:sp>
        <p:nvSpPr>
          <p:cNvPr id="200" name="长方形"/>
          <p:cNvSpPr/>
          <p:nvPr/>
        </p:nvSpPr>
        <p:spPr>
          <a:xfrm>
            <a:off x="5902960" y="3681730"/>
            <a:ext cx="78359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文件组件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01" name="长方形"/>
          <p:cNvSpPr/>
          <p:nvPr/>
        </p:nvSpPr>
        <p:spPr>
          <a:xfrm>
            <a:off x="5902960" y="3879850"/>
            <a:ext cx="78359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工作流组件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03" name="长方形"/>
          <p:cNvSpPr/>
          <p:nvPr/>
        </p:nvSpPr>
        <p:spPr>
          <a:xfrm>
            <a:off x="5902960" y="4078605"/>
            <a:ext cx="78359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支付组件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04" name="长方形"/>
          <p:cNvSpPr/>
          <p:nvPr/>
        </p:nvSpPr>
        <p:spPr>
          <a:xfrm>
            <a:off x="5902960" y="4277995"/>
            <a:ext cx="78359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kern="0" dirty="0">
                <a:solidFill>
                  <a:srgbClr val="FFFFFF"/>
                </a:solidFill>
                <a:latin typeface="微软雅黑" panose="020B0503020204020204" charset="-122"/>
                <a:ea typeface="微软雅黑" panose="020B0503020204020204" charset="-122"/>
                <a:sym typeface="+mn-lt"/>
              </a:rPr>
              <a:t>……</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05" name="文本框 204"/>
          <p:cNvSpPr txBox="1"/>
          <p:nvPr/>
        </p:nvSpPr>
        <p:spPr>
          <a:xfrm>
            <a:off x="4204970" y="3477895"/>
            <a:ext cx="2546350" cy="245110"/>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dirty="0">
                <a:solidFill>
                  <a:srgbClr val="4472C4">
                    <a:lumMod val="75000"/>
                  </a:srgbClr>
                </a:solidFill>
                <a:effectLst>
                  <a:outerShdw blurRad="190500" dist="38100" dir="2700000" algn="tl">
                    <a:srgbClr val="0066FF">
                      <a:alpha val="20000"/>
                    </a:srgbClr>
                  </a:outerShdw>
                </a:effectLst>
                <a:latin typeface="微软雅黑" panose="020B0503020204020204" charset="-122"/>
                <a:ea typeface="微软雅黑" panose="020B0503020204020204" charset="-122"/>
              </a:rPr>
              <a:t>支撑</a:t>
            </a:r>
            <a:r>
              <a:rPr kumimoji="0" lang="zh-CN" altLang="en-US" sz="1000" b="1" i="0" u="none" strike="noStrike" kern="1200" cap="none" spc="0" normalizeH="0" baseline="0"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组件</a:t>
            </a:r>
            <a:endParaRPr kumimoji="0" lang="zh-CN" altLang="en-US" sz="1000" b="1" i="0" u="none" strike="noStrike" kern="1200" cap="none" spc="0" normalizeH="0" baseline="0"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sp>
        <p:nvSpPr>
          <p:cNvPr id="206" name="矩形: 圆角 174"/>
          <p:cNvSpPr/>
          <p:nvPr/>
        </p:nvSpPr>
        <p:spPr>
          <a:xfrm>
            <a:off x="1536700" y="3495040"/>
            <a:ext cx="2550795" cy="1045210"/>
          </a:xfrm>
          <a:prstGeom prst="roundRect">
            <a:avLst>
              <a:gd name="adj" fmla="val 8101"/>
            </a:avLst>
          </a:prstGeom>
          <a:solidFill>
            <a:srgbClr val="EDF3FA"/>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t"/>
          <a:lstStyle/>
          <a:p>
            <a:pPr algn="ctr"/>
            <a:endParaRPr lang="zh-CN" altLang="en-US" sz="1000">
              <a:solidFill>
                <a:prstClr val="black"/>
              </a:solidFill>
              <a:latin typeface="微软雅黑" panose="020B0503020204020204" charset="-122"/>
              <a:ea typeface="微软雅黑" panose="020B0503020204020204" charset="-122"/>
              <a:sym typeface="+mn-lt"/>
            </a:endParaRPr>
          </a:p>
        </p:txBody>
      </p:sp>
      <p:sp>
        <p:nvSpPr>
          <p:cNvPr id="207" name="长方形"/>
          <p:cNvSpPr/>
          <p:nvPr/>
        </p:nvSpPr>
        <p:spPr>
          <a:xfrm>
            <a:off x="1606550" y="3670300"/>
            <a:ext cx="78359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计划组件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09" name="长方形"/>
          <p:cNvSpPr/>
          <p:nvPr/>
        </p:nvSpPr>
        <p:spPr>
          <a:xfrm>
            <a:off x="1606550" y="3869055"/>
            <a:ext cx="78359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投标上传组件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12" name="长方形"/>
          <p:cNvSpPr/>
          <p:nvPr/>
        </p:nvSpPr>
        <p:spPr>
          <a:xfrm>
            <a:off x="1606550" y="4067810"/>
            <a:ext cx="78359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文件生成组件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13" name="长方形"/>
          <p:cNvSpPr/>
          <p:nvPr/>
        </p:nvSpPr>
        <p:spPr>
          <a:xfrm>
            <a:off x="2418715" y="3670300"/>
            <a:ext cx="78359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发包组件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20" name="长方形"/>
          <p:cNvSpPr/>
          <p:nvPr/>
        </p:nvSpPr>
        <p:spPr>
          <a:xfrm>
            <a:off x="1606550" y="4266565"/>
            <a:ext cx="78359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复议组件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26" name="长方形"/>
          <p:cNvSpPr/>
          <p:nvPr/>
        </p:nvSpPr>
        <p:spPr>
          <a:xfrm>
            <a:off x="2418715" y="3869055"/>
            <a:ext cx="78359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解密组件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28" name="长方形"/>
          <p:cNvSpPr/>
          <p:nvPr/>
        </p:nvSpPr>
        <p:spPr>
          <a:xfrm>
            <a:off x="2418715" y="4067810"/>
            <a:ext cx="78359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场地组件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29" name="长方形"/>
          <p:cNvSpPr/>
          <p:nvPr/>
        </p:nvSpPr>
        <p:spPr>
          <a:xfrm>
            <a:off x="2418715" y="4266565"/>
            <a:ext cx="78359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清单组件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30" name="长方形"/>
          <p:cNvSpPr/>
          <p:nvPr/>
        </p:nvSpPr>
        <p:spPr>
          <a:xfrm>
            <a:off x="3238500" y="3666490"/>
            <a:ext cx="78359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竞价组件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31" name="长方形"/>
          <p:cNvSpPr/>
          <p:nvPr/>
        </p:nvSpPr>
        <p:spPr>
          <a:xfrm>
            <a:off x="3238500" y="3864610"/>
            <a:ext cx="78359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公告组件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32" name="长方形"/>
          <p:cNvSpPr/>
          <p:nvPr/>
        </p:nvSpPr>
        <p:spPr>
          <a:xfrm>
            <a:off x="3238500" y="4064000"/>
            <a:ext cx="78359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算分组件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33" name="长方形"/>
          <p:cNvSpPr/>
          <p:nvPr/>
        </p:nvSpPr>
        <p:spPr>
          <a:xfrm>
            <a:off x="3238500" y="4262755"/>
            <a:ext cx="78359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kern="0" dirty="0">
                <a:solidFill>
                  <a:srgbClr val="FFFFFF"/>
                </a:solidFill>
                <a:latin typeface="微软雅黑" panose="020B0503020204020204" charset="-122"/>
                <a:ea typeface="微软雅黑" panose="020B0503020204020204" charset="-122"/>
                <a:sym typeface="+mn-lt"/>
              </a:rPr>
              <a:t>……</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35" name="文本框 234"/>
          <p:cNvSpPr txBox="1"/>
          <p:nvPr/>
        </p:nvSpPr>
        <p:spPr>
          <a:xfrm>
            <a:off x="1537335" y="3477895"/>
            <a:ext cx="2549525" cy="245110"/>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业务组件</a:t>
            </a:r>
            <a:endParaRPr kumimoji="0" lang="zh-CN" altLang="en-US" sz="1000" b="1" i="0" u="none" strike="noStrike" kern="1200" cap="none" spc="0" normalizeH="0" baseline="0"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sp>
        <p:nvSpPr>
          <p:cNvPr id="236" name="文本框 235"/>
          <p:cNvSpPr txBox="1"/>
          <p:nvPr/>
        </p:nvSpPr>
        <p:spPr>
          <a:xfrm>
            <a:off x="1202055" y="3409950"/>
            <a:ext cx="368300" cy="1158240"/>
          </a:xfrm>
          <a:prstGeom prst="rect">
            <a:avLst/>
          </a:prstGeom>
          <a:noFill/>
        </p:spPr>
        <p:txBody>
          <a:bodyPr wrap="square" anchor="ctr" anchorCtr="0">
            <a:noAutofit/>
          </a:bodyPr>
          <a:lstStyle/>
          <a:p>
            <a:pPr algn="ctr"/>
            <a:r>
              <a:rPr lang="zh-CN" altLang="en-US" sz="1050" b="1" dirty="0">
                <a:solidFill>
                  <a:srgbClr val="1D1D1A"/>
                </a:solidFill>
                <a:latin typeface="微软雅黑" panose="020B0503020204020204" charset="-122"/>
                <a:ea typeface="微软雅黑" panose="020B0503020204020204" charset="-122"/>
                <a:cs typeface="+mn-ea"/>
                <a:sym typeface="+mn-lt"/>
              </a:rPr>
              <a:t>业务中台</a:t>
            </a:r>
            <a:endParaRPr lang="zh-CN" altLang="en-US" sz="1050" b="1" dirty="0">
              <a:solidFill>
                <a:srgbClr val="1D1D1A"/>
              </a:solidFill>
              <a:latin typeface="微软雅黑" panose="020B0503020204020204" charset="-122"/>
              <a:ea typeface="微软雅黑" panose="020B0503020204020204" charset="-122"/>
              <a:cs typeface="+mn-ea"/>
              <a:sym typeface="+mn-lt"/>
            </a:endParaRPr>
          </a:p>
        </p:txBody>
      </p:sp>
      <p:sp>
        <p:nvSpPr>
          <p:cNvPr id="237" name="文本框 236"/>
          <p:cNvSpPr txBox="1"/>
          <p:nvPr/>
        </p:nvSpPr>
        <p:spPr>
          <a:xfrm>
            <a:off x="1202055" y="4599940"/>
            <a:ext cx="363855" cy="1870075"/>
          </a:xfrm>
          <a:prstGeom prst="rect">
            <a:avLst/>
          </a:prstGeom>
          <a:noFill/>
        </p:spPr>
        <p:txBody>
          <a:bodyPr vert="mongolianVert" wrap="square">
            <a:noAutofit/>
          </a:bodyPr>
          <a:lstStyle/>
          <a:p>
            <a:pPr algn="ctr"/>
            <a:r>
              <a:rPr lang="zh-CN" altLang="en-US" sz="1050" b="1" dirty="0">
                <a:solidFill>
                  <a:srgbClr val="1D1D1A"/>
                </a:solidFill>
                <a:latin typeface="微软雅黑" panose="020B0503020204020204" charset="-122"/>
                <a:ea typeface="微软雅黑" panose="020B0503020204020204" charset="-122"/>
                <a:cs typeface="+mn-ea"/>
                <a:sym typeface="+mn-lt"/>
              </a:rPr>
              <a:t>技术中台</a:t>
            </a:r>
            <a:endParaRPr lang="zh-CN" altLang="en-US" sz="1050" b="1" dirty="0">
              <a:solidFill>
                <a:srgbClr val="1D1D1A"/>
              </a:solidFill>
              <a:latin typeface="微软雅黑" panose="020B0503020204020204" charset="-122"/>
              <a:ea typeface="微软雅黑" panose="020B0503020204020204" charset="-122"/>
              <a:cs typeface="+mn-ea"/>
              <a:sym typeface="+mn-lt"/>
            </a:endParaRPr>
          </a:p>
        </p:txBody>
      </p:sp>
      <p:sp>
        <p:nvSpPr>
          <p:cNvPr id="238" name="矩形 154"/>
          <p:cNvSpPr/>
          <p:nvPr/>
        </p:nvSpPr>
        <p:spPr>
          <a:xfrm>
            <a:off x="709930" y="6540500"/>
            <a:ext cx="507365" cy="280035"/>
          </a:xfrm>
          <a:prstGeom prst="rect">
            <a:avLst/>
          </a:prstGeom>
          <a:noFill/>
          <a:ln w="25400" cap="flat" cmpd="sng" algn="ctr">
            <a:noFill/>
            <a:prstDash val="solid"/>
          </a:ln>
          <a:effectLst/>
        </p:spPr>
        <p:txBody>
          <a:bodyPr rtlCol="0" anchor="ctr">
            <a:noAutofit/>
          </a:bodyPr>
          <a:lstStyle/>
          <a:p>
            <a:pPr lvl="0">
              <a:buClrTx/>
              <a:buSzTx/>
              <a:buFontTx/>
              <a:defRPr/>
            </a:pPr>
            <a:r>
              <a:rPr lang="en-US" altLang="zh-CN" sz="1200" b="1" kern="0" dirty="0">
                <a:solidFill>
                  <a:schemeClr val="bg1"/>
                </a:solidFill>
                <a:latin typeface="微软雅黑" panose="020B0503020204020204" charset="-122"/>
                <a:ea typeface="微软雅黑" panose="020B0503020204020204" charset="-122"/>
                <a:cs typeface="+mn-ea"/>
                <a:sym typeface="+mn-lt"/>
              </a:rPr>
              <a:t>IaaS</a:t>
            </a:r>
            <a:endParaRPr lang="en-US" altLang="zh-CN" sz="1200" b="1" kern="0" dirty="0">
              <a:solidFill>
                <a:schemeClr val="bg1"/>
              </a:solidFill>
              <a:latin typeface="微软雅黑" panose="020B0503020204020204" charset="-122"/>
              <a:ea typeface="微软雅黑" panose="020B0503020204020204" charset="-122"/>
              <a:cs typeface="+mn-ea"/>
              <a:sym typeface="+mn-lt"/>
            </a:endParaRPr>
          </a:p>
        </p:txBody>
      </p:sp>
      <p:sp>
        <p:nvSpPr>
          <p:cNvPr id="239" name="TextBox 74"/>
          <p:cNvSpPr txBox="1"/>
          <p:nvPr/>
        </p:nvSpPr>
        <p:spPr>
          <a:xfrm>
            <a:off x="1751965" y="6590030"/>
            <a:ext cx="1129665" cy="19558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defPPr>
              <a:defRPr lang="zh-CN"/>
            </a:defPPr>
            <a:lvl1pPr marR="0" lvl="0" indent="0" fontAlgn="auto">
              <a:lnSpc>
                <a:spcPct val="100000"/>
              </a:lnSpc>
              <a:spcBef>
                <a:spcPts val="0"/>
              </a:spcBef>
              <a:spcAft>
                <a:spcPts val="0"/>
              </a:spcAft>
              <a:buClrTx/>
              <a:buSzTx/>
              <a:buFontTx/>
              <a:buNone/>
              <a:defRPr kumimoji="0" sz="1000" b="1" i="0" u="none" strike="noStrike" cap="none" spc="0" normalizeH="0" baseline="0">
                <a:ln>
                  <a:noFill/>
                </a:ln>
                <a:solidFill>
                  <a:prstClr val="white"/>
                </a:solidFill>
                <a:effectLst/>
                <a:uLnTx/>
                <a:uFillTx/>
                <a:latin typeface="微软雅黑" panose="020B0503020204020204" charset="-122"/>
                <a:ea typeface="微软雅黑" panose="020B0503020204020204" charset="-122"/>
                <a:cs typeface="微软雅黑" panose="020B050302020402020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zh-CN" altLang="en-US" dirty="0">
                <a:latin typeface="微软雅黑" panose="020B0503020204020204" charset="-122"/>
                <a:ea typeface="微软雅黑" panose="020B0503020204020204" charset="-122"/>
                <a:sym typeface="+mn-lt"/>
              </a:rPr>
              <a:t>裸金属服务</a:t>
            </a:r>
            <a:endParaRPr lang="zh-CN" altLang="en-US" dirty="0">
              <a:latin typeface="微软雅黑" panose="020B0503020204020204" charset="-122"/>
              <a:ea typeface="微软雅黑" panose="020B0503020204020204" charset="-122"/>
              <a:sym typeface="+mn-lt"/>
            </a:endParaRPr>
          </a:p>
        </p:txBody>
      </p:sp>
      <p:sp>
        <p:nvSpPr>
          <p:cNvPr id="240" name="TextBox 74"/>
          <p:cNvSpPr txBox="1"/>
          <p:nvPr/>
        </p:nvSpPr>
        <p:spPr>
          <a:xfrm>
            <a:off x="4337050" y="6587490"/>
            <a:ext cx="1129665" cy="19558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defPPr>
              <a:defRPr lang="zh-CN"/>
            </a:defPPr>
            <a:lvl1pPr marR="0" lvl="0" indent="0" fontAlgn="auto">
              <a:lnSpc>
                <a:spcPct val="100000"/>
              </a:lnSpc>
              <a:spcBef>
                <a:spcPts val="0"/>
              </a:spcBef>
              <a:spcAft>
                <a:spcPts val="0"/>
              </a:spcAft>
              <a:buClrTx/>
              <a:buSzTx/>
              <a:buFontTx/>
              <a:buNone/>
              <a:defRPr kumimoji="0" sz="1000" b="1" i="0" u="none" strike="noStrike" cap="none" spc="0" normalizeH="0" baseline="0">
                <a:ln>
                  <a:noFill/>
                </a:ln>
                <a:solidFill>
                  <a:prstClr val="white"/>
                </a:solidFill>
                <a:effectLst/>
                <a:uLnTx/>
                <a:uFillTx/>
                <a:latin typeface="微软雅黑" panose="020B0503020204020204" charset="-122"/>
                <a:ea typeface="微软雅黑" panose="020B0503020204020204" charset="-122"/>
                <a:cs typeface="微软雅黑" panose="020B050302020402020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zh-CN" altLang="en-US" dirty="0">
                <a:latin typeface="微软雅黑" panose="020B0503020204020204" charset="-122"/>
                <a:ea typeface="微软雅黑" panose="020B0503020204020204" charset="-122"/>
                <a:sym typeface="+mn-lt"/>
              </a:rPr>
              <a:t>虚拟机服务</a:t>
            </a:r>
            <a:endParaRPr lang="zh-CN" altLang="en-US" dirty="0">
              <a:latin typeface="微软雅黑" panose="020B0503020204020204" charset="-122"/>
              <a:ea typeface="微软雅黑" panose="020B0503020204020204" charset="-122"/>
              <a:sym typeface="+mn-lt"/>
            </a:endParaRPr>
          </a:p>
        </p:txBody>
      </p:sp>
      <p:sp>
        <p:nvSpPr>
          <p:cNvPr id="241" name="TextBox 74"/>
          <p:cNvSpPr txBox="1"/>
          <p:nvPr/>
        </p:nvSpPr>
        <p:spPr>
          <a:xfrm>
            <a:off x="6922135" y="6590030"/>
            <a:ext cx="1129665" cy="19558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defPPr>
              <a:defRPr lang="zh-CN"/>
            </a:defPPr>
            <a:lvl1pPr marR="0" lvl="0" indent="0" fontAlgn="auto">
              <a:lnSpc>
                <a:spcPct val="100000"/>
              </a:lnSpc>
              <a:spcBef>
                <a:spcPts val="0"/>
              </a:spcBef>
              <a:spcAft>
                <a:spcPts val="0"/>
              </a:spcAft>
              <a:buClrTx/>
              <a:buSzTx/>
              <a:buFontTx/>
              <a:buNone/>
              <a:defRPr kumimoji="0" sz="1000" b="1" i="0" u="none" strike="noStrike" cap="none" spc="0" normalizeH="0" baseline="0">
                <a:ln>
                  <a:noFill/>
                </a:ln>
                <a:solidFill>
                  <a:prstClr val="white"/>
                </a:solidFill>
                <a:effectLst/>
                <a:uLnTx/>
                <a:uFillTx/>
                <a:latin typeface="微软雅黑" panose="020B0503020204020204" charset="-122"/>
                <a:ea typeface="微软雅黑" panose="020B0503020204020204" charset="-122"/>
                <a:cs typeface="微软雅黑" panose="020B050302020402020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zh-CN" altLang="en-US" dirty="0">
                <a:latin typeface="微软雅黑" panose="020B0503020204020204" charset="-122"/>
                <a:ea typeface="微软雅黑" panose="020B0503020204020204" charset="-122"/>
                <a:sym typeface="+mn-lt"/>
              </a:rPr>
              <a:t>文件存储</a:t>
            </a:r>
            <a:endParaRPr lang="zh-CN" altLang="en-US" dirty="0">
              <a:latin typeface="微软雅黑" panose="020B0503020204020204" charset="-122"/>
              <a:ea typeface="微软雅黑" panose="020B0503020204020204" charset="-122"/>
              <a:sym typeface="+mn-lt"/>
            </a:endParaRPr>
          </a:p>
        </p:txBody>
      </p:sp>
      <p:sp>
        <p:nvSpPr>
          <p:cNvPr id="242" name="TextBox 74"/>
          <p:cNvSpPr txBox="1"/>
          <p:nvPr/>
        </p:nvSpPr>
        <p:spPr>
          <a:xfrm>
            <a:off x="9507220" y="6587490"/>
            <a:ext cx="1129665" cy="19558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defPPr>
              <a:defRPr lang="zh-CN"/>
            </a:defPPr>
            <a:lvl1pPr marR="0" lvl="0" indent="0" fontAlgn="auto">
              <a:lnSpc>
                <a:spcPct val="100000"/>
              </a:lnSpc>
              <a:spcBef>
                <a:spcPts val="0"/>
              </a:spcBef>
              <a:spcAft>
                <a:spcPts val="0"/>
              </a:spcAft>
              <a:buClrTx/>
              <a:buSzTx/>
              <a:buFontTx/>
              <a:buNone/>
              <a:defRPr kumimoji="0" sz="1000" b="1" i="0" u="none" strike="noStrike" cap="none" spc="0" normalizeH="0" baseline="0">
                <a:ln>
                  <a:noFill/>
                </a:ln>
                <a:solidFill>
                  <a:prstClr val="white"/>
                </a:solidFill>
                <a:effectLst/>
                <a:uLnTx/>
                <a:uFillTx/>
                <a:latin typeface="微软雅黑" panose="020B0503020204020204" charset="-122"/>
                <a:ea typeface="微软雅黑" panose="020B0503020204020204" charset="-122"/>
                <a:cs typeface="微软雅黑" panose="020B050302020402020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zh-CN" altLang="en-US" dirty="0">
                <a:latin typeface="微软雅黑" panose="020B0503020204020204" charset="-122"/>
                <a:ea typeface="微软雅黑" panose="020B0503020204020204" charset="-122"/>
                <a:sym typeface="+mn-lt"/>
              </a:rPr>
              <a:t>基础网络</a:t>
            </a:r>
            <a:endParaRPr lang="zh-CN" altLang="en-US" dirty="0">
              <a:latin typeface="微软雅黑" panose="020B0503020204020204" charset="-122"/>
              <a:ea typeface="微软雅黑" panose="020B0503020204020204" charset="-122"/>
              <a:sym typeface="+mn-lt"/>
            </a:endParaRPr>
          </a:p>
        </p:txBody>
      </p:sp>
      <p:sp>
        <p:nvSpPr>
          <p:cNvPr id="243" name="矩形: 圆角 291"/>
          <p:cNvSpPr/>
          <p:nvPr/>
        </p:nvSpPr>
        <p:spPr>
          <a:xfrm>
            <a:off x="817880" y="1554480"/>
            <a:ext cx="10646410" cy="1551940"/>
          </a:xfrm>
          <a:prstGeom prst="roundRect">
            <a:avLst>
              <a:gd name="adj" fmla="val 4429"/>
            </a:avLst>
          </a:prstGeom>
          <a:solidFill>
            <a:srgbClr val="898CFF"/>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mn-ea"/>
              <a:sym typeface="+mn-lt"/>
            </a:endParaRPr>
          </a:p>
        </p:txBody>
      </p:sp>
      <p:sp>
        <p:nvSpPr>
          <p:cNvPr id="244" name="矩形: 圆角 408"/>
          <p:cNvSpPr/>
          <p:nvPr/>
        </p:nvSpPr>
        <p:spPr>
          <a:xfrm>
            <a:off x="701675" y="1554480"/>
            <a:ext cx="500380" cy="1551940"/>
          </a:xfrm>
          <a:prstGeom prst="roundRect">
            <a:avLst>
              <a:gd name="adj" fmla="val 13820"/>
            </a:avLst>
          </a:prstGeom>
          <a:solidFill>
            <a:srgbClr val="2E54A1"/>
          </a:solidFill>
          <a:ln w="38100" cap="flat" cmpd="sng" algn="ctr">
            <a:noFill/>
            <a:prstDash val="solid"/>
            <a:miter lim="800000"/>
          </a:ln>
          <a:effectLst/>
        </p:spPr>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prstClr val="white"/>
                </a:solidFill>
                <a:uLnTx/>
                <a:uFillTx/>
                <a:latin typeface="微软雅黑" panose="020B0503020204020204" charset="-122"/>
                <a:ea typeface="微软雅黑" panose="020B0503020204020204" charset="-122"/>
              </a:rPr>
              <a:t>领域服务</a:t>
            </a:r>
            <a:endParaRPr kumimoji="0" lang="zh-CN" altLang="en-US" sz="1200" b="1" i="0" u="none" strike="noStrike" kern="0" cap="none" spc="0" normalizeH="0" baseline="0" noProof="0" dirty="0">
              <a:ln>
                <a:noFill/>
              </a:ln>
              <a:solidFill>
                <a:prstClr val="white"/>
              </a:solidFill>
              <a:uLnTx/>
              <a:uFillTx/>
              <a:latin typeface="微软雅黑" panose="020B0503020204020204" charset="-122"/>
              <a:ea typeface="微软雅黑" panose="020B0503020204020204" charset="-122"/>
            </a:endParaRPr>
          </a:p>
        </p:txBody>
      </p:sp>
      <p:sp>
        <p:nvSpPr>
          <p:cNvPr id="245" name="文本框 244"/>
          <p:cNvSpPr txBox="1"/>
          <p:nvPr/>
        </p:nvSpPr>
        <p:spPr>
          <a:xfrm>
            <a:off x="1763395" y="6169660"/>
            <a:ext cx="530860" cy="229870"/>
          </a:xfrm>
          <a:prstGeom prst="rect">
            <a:avLst/>
          </a:prstGeom>
          <a:noFill/>
        </p:spPr>
        <p:txBody>
          <a:bodyPr wrap="square">
            <a:spAutoFit/>
          </a:bodyPr>
          <a:lstStyle/>
          <a:p>
            <a:pPr algn="ctr"/>
            <a:r>
              <a:rPr lang="zh-CN" altLang="en-US" sz="900" b="1" dirty="0">
                <a:solidFill>
                  <a:srgbClr val="1D1D1A"/>
                </a:solidFill>
                <a:latin typeface="微软雅黑" panose="020B0503020204020204" charset="-122"/>
                <a:ea typeface="微软雅黑" panose="020B0503020204020204" charset="-122"/>
                <a:cs typeface="+mn-ea"/>
                <a:sym typeface="+mn-lt"/>
              </a:rPr>
              <a:t>中间件</a:t>
            </a:r>
            <a:endParaRPr lang="zh-CN" altLang="en-US" sz="900" b="1" dirty="0">
              <a:solidFill>
                <a:srgbClr val="1D1D1A"/>
              </a:solidFill>
              <a:latin typeface="微软雅黑" panose="020B0503020204020204" charset="-122"/>
              <a:ea typeface="微软雅黑" panose="020B0503020204020204" charset="-122"/>
              <a:cs typeface="+mn-ea"/>
              <a:sym typeface="+mn-lt"/>
            </a:endParaRPr>
          </a:p>
        </p:txBody>
      </p:sp>
      <p:sp>
        <p:nvSpPr>
          <p:cNvPr id="246" name="文本框 245"/>
          <p:cNvSpPr txBox="1"/>
          <p:nvPr/>
        </p:nvSpPr>
        <p:spPr>
          <a:xfrm>
            <a:off x="10268585" y="6184900"/>
            <a:ext cx="600075" cy="213995"/>
          </a:xfrm>
          <a:prstGeom prst="rect">
            <a:avLst/>
          </a:prstGeom>
          <a:noFill/>
        </p:spPr>
        <p:txBody>
          <a:bodyPr wrap="square" rtlCol="0">
            <a:spAutoFit/>
          </a:bodyPr>
          <a:lstStyle/>
          <a:p>
            <a:r>
              <a:rPr lang="zh-CN" altLang="en-US" sz="800" kern="0" dirty="0">
                <a:solidFill>
                  <a:srgbClr val="1D1D1A"/>
                </a:solidFill>
                <a:latin typeface="微软雅黑" panose="020B0503020204020204" charset="-122"/>
                <a:ea typeface="微软雅黑" panose="020B0503020204020204" charset="-122"/>
                <a:cs typeface="+mn-ea"/>
                <a:sym typeface="+mn-lt"/>
              </a:rPr>
              <a:t>缓存服务</a:t>
            </a:r>
            <a:endParaRPr lang="zh-CN" altLang="en-US" sz="800" kern="0" dirty="0">
              <a:solidFill>
                <a:srgbClr val="1D1D1A"/>
              </a:solidFill>
              <a:latin typeface="微软雅黑" panose="020B0503020204020204" charset="-122"/>
              <a:ea typeface="微软雅黑" panose="020B0503020204020204" charset="-122"/>
              <a:cs typeface="+mn-ea"/>
              <a:sym typeface="+mn-lt"/>
            </a:endParaRPr>
          </a:p>
        </p:txBody>
      </p:sp>
      <p:sp>
        <p:nvSpPr>
          <p:cNvPr id="247" name="文本框 246"/>
          <p:cNvSpPr txBox="1"/>
          <p:nvPr/>
        </p:nvSpPr>
        <p:spPr>
          <a:xfrm>
            <a:off x="5991860" y="6184265"/>
            <a:ext cx="605155" cy="213995"/>
          </a:xfrm>
          <a:prstGeom prst="rect">
            <a:avLst/>
          </a:prstGeom>
          <a:noFill/>
        </p:spPr>
        <p:txBody>
          <a:bodyPr wrap="square" rtlCol="0">
            <a:spAutoFit/>
          </a:bodyPr>
          <a:lstStyle/>
          <a:p>
            <a:r>
              <a:rPr lang="zh-CN" altLang="en-US" sz="800" dirty="0">
                <a:solidFill>
                  <a:srgbClr val="1D1D1A"/>
                </a:solidFill>
                <a:latin typeface="微软雅黑" panose="020B0503020204020204" charset="-122"/>
                <a:ea typeface="微软雅黑" panose="020B0503020204020204" charset="-122"/>
                <a:cs typeface="+mn-ea"/>
                <a:sym typeface="+mn-lt"/>
              </a:rPr>
              <a:t>负载均衡</a:t>
            </a:r>
            <a:endParaRPr lang="zh-CN" altLang="en-US" sz="800" dirty="0">
              <a:solidFill>
                <a:srgbClr val="1D1D1A"/>
              </a:solidFill>
              <a:latin typeface="微软雅黑" panose="020B0503020204020204" charset="-122"/>
              <a:ea typeface="微软雅黑" panose="020B0503020204020204" charset="-122"/>
              <a:cs typeface="+mn-ea"/>
              <a:sym typeface="+mn-lt"/>
            </a:endParaRPr>
          </a:p>
        </p:txBody>
      </p:sp>
      <p:sp>
        <p:nvSpPr>
          <p:cNvPr id="248" name="文本框 247"/>
          <p:cNvSpPr txBox="1"/>
          <p:nvPr/>
        </p:nvSpPr>
        <p:spPr>
          <a:xfrm>
            <a:off x="7275195" y="6184265"/>
            <a:ext cx="605155" cy="213995"/>
          </a:xfrm>
          <a:prstGeom prst="rect">
            <a:avLst/>
          </a:prstGeom>
          <a:noFill/>
        </p:spPr>
        <p:txBody>
          <a:bodyPr wrap="square" rtlCol="0">
            <a:spAutoFit/>
          </a:bodyPr>
          <a:lstStyle/>
          <a:p>
            <a:r>
              <a:rPr lang="en-US" altLang="zh-CN" sz="800" dirty="0">
                <a:solidFill>
                  <a:srgbClr val="1D1D1A"/>
                </a:solidFill>
                <a:latin typeface="微软雅黑" panose="020B0503020204020204" charset="-122"/>
                <a:ea typeface="微软雅黑" panose="020B0503020204020204" charset="-122"/>
                <a:cs typeface="+mn-ea"/>
                <a:sym typeface="+mn-lt"/>
              </a:rPr>
              <a:t>NFS</a:t>
            </a:r>
            <a:endParaRPr lang="en-US" altLang="zh-CN" sz="800" dirty="0">
              <a:solidFill>
                <a:srgbClr val="1D1D1A"/>
              </a:solidFill>
              <a:latin typeface="微软雅黑" panose="020B0503020204020204" charset="-122"/>
              <a:ea typeface="微软雅黑" panose="020B0503020204020204" charset="-122"/>
              <a:cs typeface="+mn-ea"/>
              <a:sym typeface="+mn-lt"/>
            </a:endParaRPr>
          </a:p>
        </p:txBody>
      </p:sp>
      <p:sp>
        <p:nvSpPr>
          <p:cNvPr id="249" name="文本框 248"/>
          <p:cNvSpPr txBox="1"/>
          <p:nvPr/>
        </p:nvSpPr>
        <p:spPr>
          <a:xfrm>
            <a:off x="8649970" y="6184265"/>
            <a:ext cx="805815" cy="213995"/>
          </a:xfrm>
          <a:prstGeom prst="rect">
            <a:avLst/>
          </a:prstGeom>
          <a:noFill/>
        </p:spPr>
        <p:txBody>
          <a:bodyPr wrap="square" rtlCol="0">
            <a:spAutoFit/>
          </a:bodyPr>
          <a:lstStyle/>
          <a:p>
            <a:r>
              <a:rPr lang="zh-CN" altLang="en-US" sz="800" dirty="0">
                <a:solidFill>
                  <a:srgbClr val="1D1D1A"/>
                </a:solidFill>
                <a:latin typeface="微软雅黑" panose="020B0503020204020204" charset="-122"/>
                <a:ea typeface="微软雅黑" panose="020B0503020204020204" charset="-122"/>
                <a:cs typeface="+mn-ea"/>
                <a:sym typeface="+mn-lt"/>
              </a:rPr>
              <a:t>关系型数据库</a:t>
            </a:r>
            <a:endParaRPr lang="zh-CN" altLang="en-US" sz="800" dirty="0">
              <a:solidFill>
                <a:srgbClr val="1D1D1A"/>
              </a:solidFill>
              <a:latin typeface="微软雅黑" panose="020B0503020204020204" charset="-122"/>
              <a:ea typeface="微软雅黑" panose="020B0503020204020204" charset="-122"/>
              <a:cs typeface="+mn-ea"/>
              <a:sym typeface="+mn-lt"/>
            </a:endParaRPr>
          </a:p>
        </p:txBody>
      </p:sp>
      <p:sp>
        <p:nvSpPr>
          <p:cNvPr id="250" name="文本框 249"/>
          <p:cNvSpPr txBox="1"/>
          <p:nvPr/>
        </p:nvSpPr>
        <p:spPr>
          <a:xfrm>
            <a:off x="4497070" y="6184265"/>
            <a:ext cx="625475" cy="213995"/>
          </a:xfrm>
          <a:prstGeom prst="rect">
            <a:avLst/>
          </a:prstGeom>
          <a:noFill/>
        </p:spPr>
        <p:txBody>
          <a:bodyPr wrap="square" rtlCol="0">
            <a:spAutoFit/>
          </a:bodyPr>
          <a:lstStyle/>
          <a:p>
            <a:r>
              <a:rPr lang="en-US" altLang="zh-CN" sz="800" dirty="0">
                <a:solidFill>
                  <a:srgbClr val="1D1D1A"/>
                </a:solidFill>
                <a:latin typeface="微软雅黑" panose="020B0503020204020204" charset="-122"/>
                <a:ea typeface="微软雅黑" panose="020B0503020204020204" charset="-122"/>
                <a:cs typeface="微软雅黑" panose="020B0503020204020204" charset="-122"/>
                <a:sym typeface="+mn-lt"/>
              </a:rPr>
              <a:t>WEB</a:t>
            </a:r>
            <a:r>
              <a:rPr lang="zh-CN" altLang="en-US" sz="800" dirty="0">
                <a:solidFill>
                  <a:srgbClr val="1D1D1A"/>
                </a:solidFill>
                <a:latin typeface="微软雅黑" panose="020B0503020204020204" charset="-122"/>
                <a:ea typeface="微软雅黑" panose="020B0503020204020204" charset="-122"/>
                <a:cs typeface="微软雅黑" panose="020B0503020204020204" charset="-122"/>
                <a:sym typeface="+mn-lt"/>
              </a:rPr>
              <a:t>容器</a:t>
            </a:r>
            <a:endParaRPr lang="zh-CN" altLang="en-US" sz="800" dirty="0">
              <a:solidFill>
                <a:srgbClr val="1D1D1A"/>
              </a:solidFill>
              <a:latin typeface="微软雅黑" panose="020B0503020204020204" charset="-122"/>
              <a:ea typeface="微软雅黑" panose="020B0503020204020204" charset="-122"/>
              <a:cs typeface="微软雅黑" panose="020B0503020204020204" charset="-122"/>
              <a:sym typeface="+mn-lt"/>
            </a:endParaRPr>
          </a:p>
        </p:txBody>
      </p:sp>
      <p:sp>
        <p:nvSpPr>
          <p:cNvPr id="251" name="矩形: 圆角 11"/>
          <p:cNvSpPr/>
          <p:nvPr/>
        </p:nvSpPr>
        <p:spPr>
          <a:xfrm>
            <a:off x="6885305" y="3171190"/>
            <a:ext cx="4519930" cy="2449830"/>
          </a:xfrm>
          <a:prstGeom prst="roundRect">
            <a:avLst>
              <a:gd name="adj" fmla="val 953"/>
            </a:avLst>
          </a:prstGeom>
          <a:solidFill>
            <a:srgbClr val="DEF4F8"/>
          </a:solidFill>
          <a:ln w="12700">
            <a:solidFill>
              <a:schemeClr val="accent1"/>
            </a:solidFill>
            <a:prstDash val="dash"/>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a:latin typeface="微软雅黑" panose="020B0503020204020204" charset="-122"/>
              <a:ea typeface="微软雅黑" panose="020B0503020204020204" charset="-122"/>
              <a:cs typeface="+mn-ea"/>
              <a:sym typeface="+mn-lt"/>
            </a:endParaRPr>
          </a:p>
        </p:txBody>
      </p:sp>
      <p:sp>
        <p:nvSpPr>
          <p:cNvPr id="252" name="矩形: 圆角 37"/>
          <p:cNvSpPr/>
          <p:nvPr/>
        </p:nvSpPr>
        <p:spPr>
          <a:xfrm>
            <a:off x="7212330" y="3855720"/>
            <a:ext cx="1123315" cy="768350"/>
          </a:xfrm>
          <a:prstGeom prst="roundRect">
            <a:avLst>
              <a:gd name="adj" fmla="val 8101"/>
            </a:avLst>
          </a:prstGeom>
          <a:solidFill>
            <a:srgbClr val="EDF3FA"/>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sym typeface="+mn-lt"/>
            </a:endParaRPr>
          </a:p>
        </p:txBody>
      </p:sp>
      <p:sp>
        <p:nvSpPr>
          <p:cNvPr id="253" name="流程图: 磁盘 252"/>
          <p:cNvSpPr/>
          <p:nvPr/>
        </p:nvSpPr>
        <p:spPr>
          <a:xfrm>
            <a:off x="7574280" y="4380230"/>
            <a:ext cx="651510" cy="177165"/>
          </a:xfrm>
          <a:prstGeom prst="flowChartMagneticDisk">
            <a:avLst/>
          </a:prstGeom>
          <a:gradFill flip="none" rotWithShape="1">
            <a:gsLst>
              <a:gs pos="40000">
                <a:schemeClr val="accent1">
                  <a:lumMod val="20000"/>
                  <a:lumOff val="80000"/>
                </a:schemeClr>
              </a:gs>
              <a:gs pos="100000">
                <a:schemeClr val="accent1">
                  <a:lumMod val="20000"/>
                  <a:lumOff val="80000"/>
                </a:schemeClr>
              </a:gs>
            </a:gsLst>
            <a:path path="circle">
              <a:fillToRect l="50000" t="50000" r="50000" b="50000"/>
            </a:path>
            <a:tileRect/>
          </a:gradFill>
          <a:ln w="3175">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wrap="none"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a:t>
            </a:r>
            <a:endParaRPr kumimoji="0" lang="zh-CN" altLang="en-US" sz="5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p:txBody>
      </p:sp>
      <p:sp>
        <p:nvSpPr>
          <p:cNvPr id="254" name="流程图: 磁盘 253"/>
          <p:cNvSpPr/>
          <p:nvPr/>
        </p:nvSpPr>
        <p:spPr>
          <a:xfrm>
            <a:off x="7574280" y="4207510"/>
            <a:ext cx="651510" cy="177165"/>
          </a:xfrm>
          <a:prstGeom prst="flowChartMagneticDisk">
            <a:avLst/>
          </a:prstGeom>
          <a:gradFill flip="none" rotWithShape="1">
            <a:gsLst>
              <a:gs pos="40000">
                <a:schemeClr val="accent1">
                  <a:lumMod val="20000"/>
                  <a:lumOff val="80000"/>
                </a:schemeClr>
              </a:gs>
              <a:gs pos="100000">
                <a:schemeClr val="accent1">
                  <a:lumMod val="20000"/>
                  <a:lumOff val="80000"/>
                </a:schemeClr>
              </a:gs>
            </a:gsLst>
            <a:path path="circle">
              <a:fillToRect l="50000" t="50000" r="50000" b="50000"/>
            </a:path>
            <a:tileRect/>
          </a:gradFill>
          <a:ln w="3175">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wrap="none"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700" kern="0" dirty="0">
                <a:solidFill>
                  <a:schemeClr val="tx1"/>
                </a:solidFill>
                <a:latin typeface="微软雅黑" panose="020B0503020204020204" charset="-122"/>
                <a:ea typeface="微软雅黑" panose="020B0503020204020204" charset="-122"/>
              </a:rPr>
              <a:t>主体</a:t>
            </a:r>
            <a:r>
              <a:rPr kumimoji="0" lang="zh-CN" altLang="en-US" sz="7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库</a:t>
            </a:r>
            <a:endParaRPr kumimoji="0" lang="zh-CN" altLang="en-US" sz="7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p:txBody>
      </p:sp>
      <p:sp>
        <p:nvSpPr>
          <p:cNvPr id="255" name="流程图: 磁盘 254"/>
          <p:cNvSpPr/>
          <p:nvPr/>
        </p:nvSpPr>
        <p:spPr>
          <a:xfrm>
            <a:off x="7574280" y="4034790"/>
            <a:ext cx="651510" cy="177165"/>
          </a:xfrm>
          <a:prstGeom prst="flowChartMagneticDisk">
            <a:avLst/>
          </a:prstGeom>
          <a:gradFill flip="none" rotWithShape="1">
            <a:gsLst>
              <a:gs pos="40000">
                <a:schemeClr val="accent1">
                  <a:lumMod val="20000"/>
                  <a:lumOff val="80000"/>
                </a:schemeClr>
              </a:gs>
              <a:gs pos="100000">
                <a:schemeClr val="accent1">
                  <a:lumMod val="20000"/>
                  <a:lumOff val="80000"/>
                </a:schemeClr>
              </a:gs>
            </a:gsLst>
            <a:path path="circle">
              <a:fillToRect l="50000" t="50000" r="50000" b="50000"/>
            </a:path>
            <a:tileRect/>
          </a:gradFill>
          <a:ln w="3175">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wrap="none"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700" kern="0" dirty="0">
                <a:solidFill>
                  <a:schemeClr val="tx1"/>
                </a:solidFill>
                <a:latin typeface="微软雅黑" panose="020B0503020204020204" charset="-122"/>
                <a:ea typeface="微软雅黑" panose="020B0503020204020204" charset="-122"/>
              </a:rPr>
              <a:t>评标</a:t>
            </a:r>
            <a:r>
              <a:rPr kumimoji="0" lang="zh-CN" altLang="en-US" sz="7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库</a:t>
            </a:r>
            <a:endParaRPr kumimoji="0" lang="zh-CN" altLang="en-US" sz="7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p:txBody>
      </p:sp>
      <p:sp>
        <p:nvSpPr>
          <p:cNvPr id="256" name="流程图: 磁盘 255"/>
          <p:cNvSpPr/>
          <p:nvPr/>
        </p:nvSpPr>
        <p:spPr>
          <a:xfrm>
            <a:off x="7574280" y="3862705"/>
            <a:ext cx="651510" cy="177165"/>
          </a:xfrm>
          <a:prstGeom prst="flowChartMagneticDisk">
            <a:avLst/>
          </a:prstGeom>
          <a:gradFill flip="none" rotWithShape="1">
            <a:gsLst>
              <a:gs pos="40000">
                <a:schemeClr val="accent1">
                  <a:lumMod val="20000"/>
                  <a:lumOff val="80000"/>
                </a:schemeClr>
              </a:gs>
              <a:gs pos="100000">
                <a:schemeClr val="accent1">
                  <a:lumMod val="20000"/>
                  <a:lumOff val="80000"/>
                </a:schemeClr>
              </a:gs>
            </a:gsLst>
            <a:path path="circle">
              <a:fillToRect l="50000" t="50000" r="50000" b="50000"/>
            </a:path>
            <a:tileRect/>
          </a:gradFill>
          <a:ln w="3175">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wrap="none"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700" kern="0" dirty="0">
                <a:solidFill>
                  <a:schemeClr val="tx1"/>
                </a:solidFill>
                <a:latin typeface="微软雅黑" panose="020B0503020204020204" charset="-122"/>
                <a:ea typeface="微软雅黑" panose="020B0503020204020204" charset="-122"/>
              </a:rPr>
              <a:t>招采</a:t>
            </a:r>
            <a:r>
              <a:rPr kumimoji="0" lang="zh-CN" altLang="en-US" sz="7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库</a:t>
            </a:r>
            <a:endParaRPr kumimoji="0" lang="zh-CN" altLang="en-US" sz="7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p:txBody>
      </p:sp>
      <p:sp>
        <p:nvSpPr>
          <p:cNvPr id="257" name="圆柱体 45"/>
          <p:cNvSpPr/>
          <p:nvPr/>
        </p:nvSpPr>
        <p:spPr>
          <a:xfrm>
            <a:off x="8782685" y="3860165"/>
            <a:ext cx="1069340" cy="1680845"/>
          </a:xfrm>
          <a:prstGeom prst="can">
            <a:avLst/>
          </a:prstGeom>
          <a:gradFill flip="none" rotWithShape="1">
            <a:gsLst>
              <a:gs pos="40000">
                <a:schemeClr val="accent1">
                  <a:lumMod val="20000"/>
                  <a:lumOff val="80000"/>
                  <a:alpha val="0"/>
                </a:schemeClr>
              </a:gs>
              <a:gs pos="100000">
                <a:schemeClr val="accent1">
                  <a:lumMod val="20000"/>
                  <a:lumOff val="80000"/>
                  <a:alpha val="37000"/>
                </a:schemeClr>
              </a:gs>
            </a:gsLst>
            <a:path path="circle">
              <a:fillToRect l="50000" t="50000" r="50000" b="50000"/>
            </a:path>
            <a:tileRect/>
          </a:gradFill>
          <a:ln w="635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wrap="none" lIns="98755" tIns="49378" rIns="98755" bIns="49378" rtlCol="0" anchor="ctr"/>
          <a:lstStyle/>
          <a:p>
            <a:pPr algn="ctr"/>
            <a:endParaRPr lang="zh-CN" altLang="en-US" sz="1000" kern="0">
              <a:solidFill>
                <a:srgbClr val="0070C0"/>
              </a:solidFill>
              <a:latin typeface="微软雅黑" panose="020B0503020204020204" charset="-122"/>
              <a:ea typeface="微软雅黑" panose="020B0503020204020204" charset="-122"/>
            </a:endParaRPr>
          </a:p>
        </p:txBody>
      </p:sp>
      <p:sp>
        <p:nvSpPr>
          <p:cNvPr id="258" name="文本框 257"/>
          <p:cNvSpPr txBox="1"/>
          <p:nvPr/>
        </p:nvSpPr>
        <p:spPr>
          <a:xfrm>
            <a:off x="9055100" y="3888740"/>
            <a:ext cx="535305" cy="21399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800" b="1" kern="0" dirty="0">
                <a:solidFill>
                  <a:srgbClr val="0070C0"/>
                </a:solidFill>
                <a:latin typeface="微软雅黑" panose="020B0503020204020204" charset="-122"/>
                <a:ea typeface="微软雅黑" panose="020B0503020204020204" charset="-122"/>
              </a:rPr>
              <a:t>领域</a:t>
            </a:r>
            <a:r>
              <a:rPr kumimoji="0" lang="zh-CN" altLang="en-US" sz="800" b="1"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rPr>
              <a:t>库</a:t>
            </a:r>
            <a:endParaRPr kumimoji="0" lang="zh-CN" altLang="en-US" sz="800" b="1"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endParaRPr>
          </a:p>
        </p:txBody>
      </p:sp>
      <p:sp>
        <p:nvSpPr>
          <p:cNvPr id="259" name="长方形"/>
          <p:cNvSpPr/>
          <p:nvPr/>
        </p:nvSpPr>
        <p:spPr>
          <a:xfrm>
            <a:off x="8991600" y="4173220"/>
            <a:ext cx="674370" cy="164465"/>
          </a:xfrm>
          <a:prstGeom prst="roundRect">
            <a:avLst/>
          </a:prstGeom>
          <a:solidFill>
            <a:srgbClr val="EDF3FA"/>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00" kern="0" dirty="0">
                <a:latin typeface="微软雅黑" panose="020B0503020204020204" charset="-122"/>
                <a:ea typeface="微软雅黑" panose="020B0503020204020204" charset="-122"/>
              </a:rPr>
              <a:t>交易领域数据</a:t>
            </a:r>
            <a:endParaRPr lang="zh-CN" altLang="en-US" sz="700" kern="0" dirty="0">
              <a:latin typeface="微软雅黑" panose="020B0503020204020204" charset="-122"/>
              <a:ea typeface="微软雅黑" panose="020B0503020204020204" charset="-122"/>
            </a:endParaRPr>
          </a:p>
        </p:txBody>
      </p:sp>
      <p:sp>
        <p:nvSpPr>
          <p:cNvPr id="260" name="长方形"/>
          <p:cNvSpPr/>
          <p:nvPr/>
        </p:nvSpPr>
        <p:spPr>
          <a:xfrm>
            <a:off x="8991600" y="4400550"/>
            <a:ext cx="674370" cy="164465"/>
          </a:xfrm>
          <a:prstGeom prst="roundRect">
            <a:avLst/>
          </a:prstGeom>
          <a:solidFill>
            <a:srgbClr val="EDF3FA"/>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00" kern="0" dirty="0">
                <a:latin typeface="微软雅黑" panose="020B0503020204020204" charset="-122"/>
                <a:ea typeface="微软雅黑" panose="020B0503020204020204" charset="-122"/>
              </a:rPr>
              <a:t>主体领域数据</a:t>
            </a:r>
            <a:endParaRPr lang="zh-CN" altLang="en-US" sz="700" kern="0" dirty="0">
              <a:latin typeface="微软雅黑" panose="020B0503020204020204" charset="-122"/>
              <a:ea typeface="微软雅黑" panose="020B0503020204020204" charset="-122"/>
            </a:endParaRPr>
          </a:p>
        </p:txBody>
      </p:sp>
      <p:sp>
        <p:nvSpPr>
          <p:cNvPr id="261" name="长方形"/>
          <p:cNvSpPr/>
          <p:nvPr/>
        </p:nvSpPr>
        <p:spPr>
          <a:xfrm>
            <a:off x="8991600" y="4627245"/>
            <a:ext cx="674370" cy="164465"/>
          </a:xfrm>
          <a:prstGeom prst="roundRect">
            <a:avLst/>
          </a:prstGeom>
          <a:solidFill>
            <a:srgbClr val="EDF3FA"/>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00" kern="0" dirty="0">
                <a:latin typeface="微软雅黑" panose="020B0503020204020204" charset="-122"/>
                <a:ea typeface="微软雅黑" panose="020B0503020204020204" charset="-122"/>
              </a:rPr>
              <a:t>信用领域数据</a:t>
            </a:r>
            <a:endParaRPr lang="zh-CN" altLang="en-US" sz="700" kern="0" dirty="0">
              <a:latin typeface="微软雅黑" panose="020B0503020204020204" charset="-122"/>
              <a:ea typeface="微软雅黑" panose="020B0503020204020204" charset="-122"/>
            </a:endParaRPr>
          </a:p>
        </p:txBody>
      </p:sp>
      <p:sp>
        <p:nvSpPr>
          <p:cNvPr id="262" name="圆柱体 52"/>
          <p:cNvSpPr/>
          <p:nvPr/>
        </p:nvSpPr>
        <p:spPr>
          <a:xfrm>
            <a:off x="10245090" y="3899535"/>
            <a:ext cx="1069340" cy="814705"/>
          </a:xfrm>
          <a:prstGeom prst="can">
            <a:avLst>
              <a:gd name="adj" fmla="val 18806"/>
            </a:avLst>
          </a:prstGeom>
          <a:gradFill flip="none" rotWithShape="1">
            <a:gsLst>
              <a:gs pos="40000">
                <a:schemeClr val="accent1">
                  <a:lumMod val="20000"/>
                  <a:lumOff val="80000"/>
                  <a:alpha val="0"/>
                </a:schemeClr>
              </a:gs>
              <a:gs pos="100000">
                <a:schemeClr val="accent1">
                  <a:lumMod val="20000"/>
                  <a:lumOff val="80000"/>
                  <a:alpha val="37000"/>
                </a:schemeClr>
              </a:gs>
            </a:gsLst>
            <a:path path="circle">
              <a:fillToRect l="50000" t="50000" r="50000" b="50000"/>
            </a:path>
            <a:tileRect/>
          </a:gradFill>
          <a:ln w="635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wrap="none" lIns="98755" tIns="49378" rIns="98755" bIns="49378" rtlCol="0" anchor="ctr"/>
          <a:lstStyle/>
          <a:p>
            <a:pPr algn="ctr"/>
            <a:endParaRPr lang="zh-CN" altLang="en-US" sz="1000" kern="0">
              <a:solidFill>
                <a:srgbClr val="0070C0"/>
              </a:solidFill>
              <a:latin typeface="微软雅黑" panose="020B0503020204020204" charset="-122"/>
              <a:ea typeface="微软雅黑" panose="020B0503020204020204" charset="-122"/>
            </a:endParaRPr>
          </a:p>
        </p:txBody>
      </p:sp>
      <p:sp>
        <p:nvSpPr>
          <p:cNvPr id="263" name="文本框 262"/>
          <p:cNvSpPr txBox="1"/>
          <p:nvPr/>
        </p:nvSpPr>
        <p:spPr>
          <a:xfrm>
            <a:off x="10504170" y="3878580"/>
            <a:ext cx="535305" cy="21399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800" b="1" kern="0" dirty="0">
                <a:solidFill>
                  <a:srgbClr val="0070C0"/>
                </a:solidFill>
                <a:latin typeface="微软雅黑" panose="020B0503020204020204" charset="-122"/>
                <a:ea typeface="微软雅黑" panose="020B0503020204020204" charset="-122"/>
              </a:rPr>
              <a:t>报表</a:t>
            </a:r>
            <a:r>
              <a:rPr kumimoji="0" lang="zh-CN" altLang="en-US" sz="800" b="1"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rPr>
              <a:t>库</a:t>
            </a:r>
            <a:endParaRPr kumimoji="0" lang="zh-CN" altLang="en-US" sz="800" b="1"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endParaRPr>
          </a:p>
        </p:txBody>
      </p:sp>
      <p:sp>
        <p:nvSpPr>
          <p:cNvPr id="264" name="长方形"/>
          <p:cNvSpPr/>
          <p:nvPr/>
        </p:nvSpPr>
        <p:spPr>
          <a:xfrm>
            <a:off x="10440670" y="4100830"/>
            <a:ext cx="674370" cy="164465"/>
          </a:xfrm>
          <a:prstGeom prst="roundRect">
            <a:avLst/>
          </a:prstGeom>
          <a:solidFill>
            <a:srgbClr val="EDF3FA"/>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00" kern="0" dirty="0">
                <a:latin typeface="微软雅黑" panose="020B0503020204020204" charset="-122"/>
                <a:ea typeface="微软雅黑" panose="020B0503020204020204" charset="-122"/>
              </a:rPr>
              <a:t>统计报表</a:t>
            </a:r>
            <a:endParaRPr lang="zh-CN" altLang="en-US" sz="700" kern="0" dirty="0">
              <a:latin typeface="微软雅黑" panose="020B0503020204020204" charset="-122"/>
              <a:ea typeface="微软雅黑" panose="020B0503020204020204" charset="-122"/>
            </a:endParaRPr>
          </a:p>
        </p:txBody>
      </p:sp>
      <p:sp>
        <p:nvSpPr>
          <p:cNvPr id="265" name="长方形"/>
          <p:cNvSpPr/>
          <p:nvPr/>
        </p:nvSpPr>
        <p:spPr>
          <a:xfrm>
            <a:off x="10440670" y="4297680"/>
            <a:ext cx="674370" cy="164465"/>
          </a:xfrm>
          <a:prstGeom prst="roundRect">
            <a:avLst/>
          </a:prstGeom>
          <a:solidFill>
            <a:srgbClr val="EDF3FA"/>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00" kern="0" dirty="0">
                <a:latin typeface="微软雅黑" panose="020B0503020204020204" charset="-122"/>
                <a:ea typeface="微软雅黑" panose="020B0503020204020204" charset="-122"/>
              </a:rPr>
              <a:t>明细报表</a:t>
            </a:r>
            <a:endParaRPr lang="zh-CN" altLang="en-US" sz="700" kern="0" dirty="0">
              <a:latin typeface="微软雅黑" panose="020B0503020204020204" charset="-122"/>
              <a:ea typeface="微软雅黑" panose="020B0503020204020204" charset="-122"/>
            </a:endParaRPr>
          </a:p>
        </p:txBody>
      </p:sp>
      <p:sp>
        <p:nvSpPr>
          <p:cNvPr id="266" name="长方形"/>
          <p:cNvSpPr/>
          <p:nvPr/>
        </p:nvSpPr>
        <p:spPr>
          <a:xfrm>
            <a:off x="10440670" y="4493895"/>
            <a:ext cx="674370" cy="164465"/>
          </a:xfrm>
          <a:prstGeom prst="roundRect">
            <a:avLst/>
          </a:prstGeom>
          <a:solidFill>
            <a:srgbClr val="EDF3FA"/>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700" kern="0" dirty="0">
                <a:latin typeface="微软雅黑" panose="020B0503020204020204" charset="-122"/>
                <a:ea typeface="微软雅黑" panose="020B0503020204020204" charset="-122"/>
              </a:rPr>
              <a:t>……</a:t>
            </a:r>
            <a:endParaRPr lang="zh-CN" altLang="en-US" sz="700" kern="0" dirty="0">
              <a:latin typeface="微软雅黑" panose="020B0503020204020204" charset="-122"/>
              <a:ea typeface="微软雅黑" panose="020B0503020204020204" charset="-122"/>
            </a:endParaRPr>
          </a:p>
        </p:txBody>
      </p:sp>
      <p:sp>
        <p:nvSpPr>
          <p:cNvPr id="267" name="圆柱体 72"/>
          <p:cNvSpPr/>
          <p:nvPr/>
        </p:nvSpPr>
        <p:spPr>
          <a:xfrm>
            <a:off x="10241280" y="4792980"/>
            <a:ext cx="1069340" cy="786130"/>
          </a:xfrm>
          <a:prstGeom prst="can">
            <a:avLst>
              <a:gd name="adj" fmla="val 20094"/>
            </a:avLst>
          </a:prstGeom>
          <a:gradFill flip="none" rotWithShape="1">
            <a:gsLst>
              <a:gs pos="40000">
                <a:schemeClr val="accent1">
                  <a:lumMod val="20000"/>
                  <a:lumOff val="80000"/>
                  <a:alpha val="0"/>
                </a:schemeClr>
              </a:gs>
              <a:gs pos="100000">
                <a:schemeClr val="accent1">
                  <a:lumMod val="20000"/>
                  <a:lumOff val="80000"/>
                  <a:alpha val="37000"/>
                </a:schemeClr>
              </a:gs>
            </a:gsLst>
            <a:path path="circle">
              <a:fillToRect l="50000" t="50000" r="50000" b="50000"/>
            </a:path>
            <a:tileRect/>
          </a:gradFill>
          <a:ln w="635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wrap="none" lIns="98755" tIns="49378" rIns="98755" bIns="49378" rtlCol="0" anchor="ctr"/>
          <a:lstStyle/>
          <a:p>
            <a:pPr algn="ctr"/>
            <a:endParaRPr lang="zh-CN" altLang="en-US" sz="1000" kern="0">
              <a:solidFill>
                <a:srgbClr val="0070C0"/>
              </a:solidFill>
              <a:latin typeface="微软雅黑" panose="020B0503020204020204" charset="-122"/>
              <a:ea typeface="微软雅黑" panose="020B0503020204020204" charset="-122"/>
            </a:endParaRPr>
          </a:p>
        </p:txBody>
      </p:sp>
      <p:sp>
        <p:nvSpPr>
          <p:cNvPr id="268" name="文本框 267"/>
          <p:cNvSpPr txBox="1"/>
          <p:nvPr/>
        </p:nvSpPr>
        <p:spPr>
          <a:xfrm>
            <a:off x="10417810" y="4771390"/>
            <a:ext cx="699135" cy="213995"/>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sz="800" b="1" kern="0">
                <a:solidFill>
                  <a:srgbClr val="0070C0"/>
                </a:solidFill>
                <a:latin typeface="微软雅黑" panose="020B0503020204020204" charset="-122"/>
                <a:ea typeface="微软雅黑" panose="020B0503020204020204"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a:latin typeface="微软雅黑" panose="020B0503020204020204" charset="-122"/>
                <a:ea typeface="微软雅黑" panose="020B0503020204020204" charset="-122"/>
              </a:rPr>
              <a:t>主</a:t>
            </a:r>
            <a:r>
              <a:rPr lang="en-US" alt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专题库</a:t>
            </a:r>
            <a:endParaRPr lang="zh-CN" altLang="en-US" dirty="0">
              <a:latin typeface="微软雅黑" panose="020B0503020204020204" charset="-122"/>
              <a:ea typeface="微软雅黑" panose="020B0503020204020204" charset="-122"/>
            </a:endParaRPr>
          </a:p>
        </p:txBody>
      </p:sp>
      <p:sp>
        <p:nvSpPr>
          <p:cNvPr id="269" name="长方形"/>
          <p:cNvSpPr/>
          <p:nvPr/>
        </p:nvSpPr>
        <p:spPr>
          <a:xfrm>
            <a:off x="10436860" y="4994275"/>
            <a:ext cx="674370" cy="164465"/>
          </a:xfrm>
          <a:prstGeom prst="roundRect">
            <a:avLst/>
          </a:prstGeom>
          <a:solidFill>
            <a:srgbClr val="EDF3FA"/>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00" kern="0" dirty="0">
                <a:latin typeface="微软雅黑" panose="020B0503020204020204" charset="-122"/>
                <a:ea typeface="微软雅黑" panose="020B0503020204020204" charset="-122"/>
              </a:rPr>
              <a:t>指标库</a:t>
            </a:r>
            <a:endParaRPr lang="zh-CN" altLang="en-US" sz="700" kern="0" dirty="0">
              <a:latin typeface="微软雅黑" panose="020B0503020204020204" charset="-122"/>
              <a:ea typeface="微软雅黑" panose="020B0503020204020204" charset="-122"/>
            </a:endParaRPr>
          </a:p>
        </p:txBody>
      </p:sp>
      <p:sp>
        <p:nvSpPr>
          <p:cNvPr id="270" name="长方形"/>
          <p:cNvSpPr/>
          <p:nvPr/>
        </p:nvSpPr>
        <p:spPr>
          <a:xfrm>
            <a:off x="10436860" y="5183505"/>
            <a:ext cx="674370" cy="164465"/>
          </a:xfrm>
          <a:prstGeom prst="roundRect">
            <a:avLst/>
          </a:prstGeom>
          <a:solidFill>
            <a:srgbClr val="EDF3FA"/>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00" kern="0" dirty="0">
                <a:latin typeface="微软雅黑" panose="020B0503020204020204" charset="-122"/>
                <a:ea typeface="微软雅黑" panose="020B0503020204020204" charset="-122"/>
              </a:rPr>
              <a:t>效能库</a:t>
            </a:r>
            <a:endParaRPr lang="zh-CN" altLang="en-US" sz="700" kern="0" dirty="0">
              <a:latin typeface="微软雅黑" panose="020B0503020204020204" charset="-122"/>
              <a:ea typeface="微软雅黑" panose="020B0503020204020204" charset="-122"/>
            </a:endParaRPr>
          </a:p>
        </p:txBody>
      </p:sp>
      <p:sp>
        <p:nvSpPr>
          <p:cNvPr id="271" name="长方形"/>
          <p:cNvSpPr/>
          <p:nvPr/>
        </p:nvSpPr>
        <p:spPr>
          <a:xfrm>
            <a:off x="10436860" y="5374005"/>
            <a:ext cx="674370" cy="164465"/>
          </a:xfrm>
          <a:prstGeom prst="roundRect">
            <a:avLst/>
          </a:prstGeom>
          <a:solidFill>
            <a:srgbClr val="EDF3FA"/>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700" kern="0" dirty="0">
                <a:latin typeface="微软雅黑" panose="020B0503020204020204" charset="-122"/>
                <a:ea typeface="微软雅黑" panose="020B0503020204020204" charset="-122"/>
              </a:rPr>
              <a:t>……</a:t>
            </a:r>
            <a:endParaRPr lang="zh-CN" altLang="en-US" sz="700" kern="0" dirty="0">
              <a:latin typeface="微软雅黑" panose="020B0503020204020204" charset="-122"/>
              <a:ea typeface="微软雅黑" panose="020B0503020204020204" charset="-122"/>
            </a:endParaRPr>
          </a:p>
        </p:txBody>
      </p:sp>
      <p:sp>
        <p:nvSpPr>
          <p:cNvPr id="273" name="任意多边形: 形状 78"/>
          <p:cNvSpPr/>
          <p:nvPr/>
        </p:nvSpPr>
        <p:spPr>
          <a:xfrm rot="16200000">
            <a:off x="8542020" y="5162550"/>
            <a:ext cx="84455" cy="77470"/>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274" name="任意多边形: 形状 79"/>
          <p:cNvSpPr/>
          <p:nvPr/>
        </p:nvSpPr>
        <p:spPr>
          <a:xfrm rot="16200000">
            <a:off x="8459470" y="5162550"/>
            <a:ext cx="84455" cy="77470"/>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275" name="任意多边形: 形状 80"/>
          <p:cNvSpPr/>
          <p:nvPr/>
        </p:nvSpPr>
        <p:spPr>
          <a:xfrm rot="16200000">
            <a:off x="8376285" y="5162550"/>
            <a:ext cx="84455" cy="77470"/>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276" name="长方形"/>
          <p:cNvSpPr/>
          <p:nvPr/>
        </p:nvSpPr>
        <p:spPr>
          <a:xfrm>
            <a:off x="8997950" y="4853940"/>
            <a:ext cx="674370" cy="164465"/>
          </a:xfrm>
          <a:prstGeom prst="roundRect">
            <a:avLst/>
          </a:prstGeom>
          <a:solidFill>
            <a:srgbClr val="EDF3FA"/>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00" kern="0" dirty="0">
                <a:latin typeface="微软雅黑" panose="020B0503020204020204" charset="-122"/>
                <a:ea typeface="微软雅黑" panose="020B0503020204020204" charset="-122"/>
              </a:rPr>
              <a:t>监督领域数据</a:t>
            </a:r>
            <a:endParaRPr lang="zh-CN" altLang="en-US" sz="700" kern="0" dirty="0">
              <a:latin typeface="微软雅黑" panose="020B0503020204020204" charset="-122"/>
              <a:ea typeface="微软雅黑" panose="020B0503020204020204" charset="-122"/>
            </a:endParaRPr>
          </a:p>
        </p:txBody>
      </p:sp>
      <p:sp>
        <p:nvSpPr>
          <p:cNvPr id="277" name="长方形"/>
          <p:cNvSpPr/>
          <p:nvPr/>
        </p:nvSpPr>
        <p:spPr>
          <a:xfrm>
            <a:off x="8997950" y="5080635"/>
            <a:ext cx="674370" cy="164465"/>
          </a:xfrm>
          <a:prstGeom prst="roundRect">
            <a:avLst/>
          </a:prstGeom>
          <a:solidFill>
            <a:srgbClr val="EDF3FA"/>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00" kern="0" dirty="0">
                <a:latin typeface="微软雅黑" panose="020B0503020204020204" charset="-122"/>
                <a:ea typeface="微软雅黑" panose="020B0503020204020204" charset="-122"/>
              </a:rPr>
              <a:t>标书领域数据</a:t>
            </a:r>
            <a:endParaRPr lang="zh-CN" altLang="en-US" sz="700" kern="0" dirty="0">
              <a:latin typeface="微软雅黑" panose="020B0503020204020204" charset="-122"/>
              <a:ea typeface="微软雅黑" panose="020B0503020204020204" charset="-122"/>
            </a:endParaRPr>
          </a:p>
        </p:txBody>
      </p:sp>
      <p:sp>
        <p:nvSpPr>
          <p:cNvPr id="278" name="长方形"/>
          <p:cNvSpPr/>
          <p:nvPr/>
        </p:nvSpPr>
        <p:spPr>
          <a:xfrm>
            <a:off x="8997950" y="5307330"/>
            <a:ext cx="674370" cy="164465"/>
          </a:xfrm>
          <a:prstGeom prst="roundRect">
            <a:avLst/>
          </a:prstGeom>
          <a:solidFill>
            <a:srgbClr val="EDF3FA"/>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700" kern="0" dirty="0">
                <a:latin typeface="微软雅黑" panose="020B0503020204020204" charset="-122"/>
                <a:ea typeface="微软雅黑" panose="020B0503020204020204" charset="-122"/>
              </a:rPr>
              <a:t>……</a:t>
            </a:r>
            <a:endParaRPr lang="zh-CN" altLang="en-US" sz="700" kern="0" dirty="0">
              <a:latin typeface="微软雅黑" panose="020B0503020204020204" charset="-122"/>
              <a:ea typeface="微软雅黑" panose="020B0503020204020204" charset="-122"/>
            </a:endParaRPr>
          </a:p>
        </p:txBody>
      </p:sp>
      <p:sp>
        <p:nvSpPr>
          <p:cNvPr id="279" name="文本框 278"/>
          <p:cNvSpPr txBox="1"/>
          <p:nvPr/>
        </p:nvSpPr>
        <p:spPr>
          <a:xfrm>
            <a:off x="7170420" y="4018915"/>
            <a:ext cx="376555"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rPr>
              <a:t>运行库</a:t>
            </a:r>
            <a:endParaRPr kumimoji="0" lang="zh-CN" altLang="en-US" sz="800" b="1"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endParaRPr>
          </a:p>
        </p:txBody>
      </p:sp>
      <p:sp>
        <p:nvSpPr>
          <p:cNvPr id="280" name="圆柱体 85"/>
          <p:cNvSpPr/>
          <p:nvPr/>
        </p:nvSpPr>
        <p:spPr>
          <a:xfrm>
            <a:off x="7236460" y="4769485"/>
            <a:ext cx="1069340" cy="786130"/>
          </a:xfrm>
          <a:prstGeom prst="can">
            <a:avLst>
              <a:gd name="adj" fmla="val 20094"/>
            </a:avLst>
          </a:prstGeom>
          <a:gradFill flip="none" rotWithShape="1">
            <a:gsLst>
              <a:gs pos="40000">
                <a:schemeClr val="accent1">
                  <a:lumMod val="20000"/>
                  <a:lumOff val="80000"/>
                  <a:alpha val="0"/>
                </a:schemeClr>
              </a:gs>
              <a:gs pos="100000">
                <a:schemeClr val="accent1">
                  <a:lumMod val="20000"/>
                  <a:lumOff val="80000"/>
                  <a:alpha val="37000"/>
                </a:schemeClr>
              </a:gs>
            </a:gsLst>
            <a:path path="circle">
              <a:fillToRect l="50000" t="50000" r="50000" b="50000"/>
            </a:path>
            <a:tileRect/>
          </a:gradFill>
          <a:ln w="635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wrap="none" lIns="98755" tIns="49378" rIns="98755" bIns="49378" rtlCol="0" anchor="ctr"/>
          <a:lstStyle/>
          <a:p>
            <a:pPr algn="ctr"/>
            <a:endParaRPr lang="zh-CN" altLang="en-US" sz="1000" kern="0">
              <a:solidFill>
                <a:srgbClr val="0070C0"/>
              </a:solidFill>
              <a:latin typeface="微软雅黑" panose="020B0503020204020204" charset="-122"/>
              <a:ea typeface="微软雅黑" panose="020B0503020204020204" charset="-122"/>
            </a:endParaRPr>
          </a:p>
        </p:txBody>
      </p:sp>
      <p:sp>
        <p:nvSpPr>
          <p:cNvPr id="281" name="文本框 280"/>
          <p:cNvSpPr txBox="1"/>
          <p:nvPr/>
        </p:nvSpPr>
        <p:spPr>
          <a:xfrm>
            <a:off x="7413625" y="4749800"/>
            <a:ext cx="699135" cy="21399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rPr>
              <a:t>主</a:t>
            </a:r>
            <a:r>
              <a:rPr kumimoji="0" lang="en-US" altLang="zh-CN" sz="800" b="1"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rPr>
              <a:t>/</a:t>
            </a:r>
            <a:r>
              <a:rPr kumimoji="0" lang="zh-CN" altLang="en-US" sz="800" b="1"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rPr>
              <a:t>专题库</a:t>
            </a:r>
            <a:endParaRPr kumimoji="0" lang="zh-CN" altLang="en-US" sz="800" b="1"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endParaRPr>
          </a:p>
        </p:txBody>
      </p:sp>
      <p:sp>
        <p:nvSpPr>
          <p:cNvPr id="282" name="长方形"/>
          <p:cNvSpPr/>
          <p:nvPr/>
        </p:nvSpPr>
        <p:spPr>
          <a:xfrm>
            <a:off x="7432040" y="4971415"/>
            <a:ext cx="674370" cy="164465"/>
          </a:xfrm>
          <a:prstGeom prst="roundRect">
            <a:avLst/>
          </a:prstGeom>
          <a:solidFill>
            <a:srgbClr val="EDF3FA"/>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00" kern="0" dirty="0">
                <a:latin typeface="微软雅黑" panose="020B0503020204020204" charset="-122"/>
                <a:ea typeface="微软雅黑" panose="020B0503020204020204" charset="-122"/>
              </a:rPr>
              <a:t>日批数</a:t>
            </a:r>
            <a:r>
              <a:rPr lang="zh-CN" altLang="en-US" sz="700" dirty="0">
                <a:solidFill>
                  <a:prstClr val="black"/>
                </a:solidFill>
                <a:latin typeface="微软雅黑" panose="020B0503020204020204" charset="-122"/>
                <a:ea typeface="微软雅黑" panose="020B0503020204020204" charset="-122"/>
              </a:rPr>
              <a:t>据</a:t>
            </a:r>
            <a:endParaRPr lang="zh-CN" altLang="en-US" sz="700" dirty="0">
              <a:solidFill>
                <a:prstClr val="black"/>
              </a:solidFill>
              <a:latin typeface="微软雅黑" panose="020B0503020204020204" charset="-122"/>
              <a:ea typeface="微软雅黑" panose="020B0503020204020204" charset="-122"/>
            </a:endParaRPr>
          </a:p>
        </p:txBody>
      </p:sp>
      <p:sp>
        <p:nvSpPr>
          <p:cNvPr id="283" name="长方形"/>
          <p:cNvSpPr/>
          <p:nvPr/>
        </p:nvSpPr>
        <p:spPr>
          <a:xfrm>
            <a:off x="7432040" y="5161280"/>
            <a:ext cx="674370" cy="164465"/>
          </a:xfrm>
          <a:prstGeom prst="roundRect">
            <a:avLst/>
          </a:prstGeom>
          <a:solidFill>
            <a:srgbClr val="EDF3FA"/>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00" kern="0" dirty="0">
                <a:latin typeface="微软雅黑" panose="020B0503020204020204" charset="-122"/>
                <a:ea typeface="微软雅黑" panose="020B0503020204020204" charset="-122"/>
              </a:rPr>
              <a:t>历史数据</a:t>
            </a:r>
            <a:endParaRPr lang="zh-CN" altLang="en-US" sz="700" kern="0" dirty="0">
              <a:latin typeface="微软雅黑" panose="020B0503020204020204" charset="-122"/>
              <a:ea typeface="微软雅黑" panose="020B0503020204020204" charset="-122"/>
            </a:endParaRPr>
          </a:p>
        </p:txBody>
      </p:sp>
      <p:sp>
        <p:nvSpPr>
          <p:cNvPr id="284" name="长方形"/>
          <p:cNvSpPr/>
          <p:nvPr/>
        </p:nvSpPr>
        <p:spPr>
          <a:xfrm>
            <a:off x="7432040" y="5350510"/>
            <a:ext cx="674370" cy="164465"/>
          </a:xfrm>
          <a:prstGeom prst="roundRect">
            <a:avLst/>
          </a:prstGeom>
          <a:solidFill>
            <a:srgbClr val="EDF3FA"/>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00" kern="0" dirty="0">
                <a:latin typeface="微软雅黑" panose="020B0503020204020204" charset="-122"/>
                <a:ea typeface="微软雅黑" panose="020B0503020204020204" charset="-122"/>
              </a:rPr>
              <a:t>归档数据</a:t>
            </a:r>
            <a:endParaRPr lang="zh-CN" altLang="en-US" sz="700" kern="0" dirty="0">
              <a:latin typeface="微软雅黑" panose="020B0503020204020204" charset="-122"/>
              <a:ea typeface="微软雅黑" panose="020B0503020204020204" charset="-122"/>
            </a:endParaRPr>
          </a:p>
        </p:txBody>
      </p:sp>
      <p:sp>
        <p:nvSpPr>
          <p:cNvPr id="286" name="任意多边形: 形状 91"/>
          <p:cNvSpPr/>
          <p:nvPr/>
        </p:nvSpPr>
        <p:spPr>
          <a:xfrm rot="16200000">
            <a:off x="10108565" y="4337050"/>
            <a:ext cx="84455" cy="77470"/>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288" name="任意多边形: 形状 92"/>
          <p:cNvSpPr/>
          <p:nvPr/>
        </p:nvSpPr>
        <p:spPr>
          <a:xfrm rot="16200000">
            <a:off x="10026015" y="4337050"/>
            <a:ext cx="84455" cy="77470"/>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289" name="任意多边形: 形状 93"/>
          <p:cNvSpPr/>
          <p:nvPr/>
        </p:nvSpPr>
        <p:spPr>
          <a:xfrm rot="16200000">
            <a:off x="9942830" y="4337050"/>
            <a:ext cx="84455" cy="77470"/>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292" name="任意多边形: 形状 95"/>
          <p:cNvSpPr/>
          <p:nvPr/>
        </p:nvSpPr>
        <p:spPr>
          <a:xfrm rot="16200000">
            <a:off x="10084435" y="5163820"/>
            <a:ext cx="84455" cy="77470"/>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293" name="任意多边形: 形状 96"/>
          <p:cNvSpPr/>
          <p:nvPr/>
        </p:nvSpPr>
        <p:spPr>
          <a:xfrm rot="16200000">
            <a:off x="10001885" y="5163820"/>
            <a:ext cx="84455" cy="77470"/>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294" name="任意多边形: 形状 97"/>
          <p:cNvSpPr/>
          <p:nvPr/>
        </p:nvSpPr>
        <p:spPr>
          <a:xfrm rot="16200000">
            <a:off x="9918700" y="5163820"/>
            <a:ext cx="84455" cy="77470"/>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295" name="文本框 294"/>
          <p:cNvSpPr txBox="1"/>
          <p:nvPr/>
        </p:nvSpPr>
        <p:spPr>
          <a:xfrm>
            <a:off x="7877175" y="4611370"/>
            <a:ext cx="535305" cy="183515"/>
          </a:xfrm>
          <a:prstGeom prst="rect">
            <a:avLst/>
          </a:prstGeom>
          <a:noFill/>
        </p:spPr>
        <p:txBody>
          <a:bodyPr wrap="square" rtlCol="0">
            <a:spAutoFit/>
          </a:bodyPr>
          <a:lstStyle/>
          <a:p>
            <a:r>
              <a:rPr lang="zh-CN" altLang="en-US" sz="600" dirty="0">
                <a:solidFill>
                  <a:srgbClr val="1D1D1A"/>
                </a:solidFill>
                <a:latin typeface="微软雅黑" panose="020B0503020204020204" charset="-122"/>
                <a:ea typeface="微软雅黑" panose="020B0503020204020204" charset="-122"/>
                <a:cs typeface="+mn-ea"/>
                <a:sym typeface="+mn-lt"/>
              </a:rPr>
              <a:t>数据汇聚</a:t>
            </a:r>
            <a:endParaRPr lang="zh-CN" altLang="en-US" sz="600" dirty="0">
              <a:solidFill>
                <a:srgbClr val="1D1D1A"/>
              </a:solidFill>
              <a:latin typeface="微软雅黑" panose="020B0503020204020204" charset="-122"/>
              <a:ea typeface="微软雅黑" panose="020B0503020204020204" charset="-122"/>
              <a:cs typeface="+mn-ea"/>
              <a:sym typeface="+mn-lt"/>
            </a:endParaRPr>
          </a:p>
        </p:txBody>
      </p:sp>
      <p:sp>
        <p:nvSpPr>
          <p:cNvPr id="296" name="文本框 295"/>
          <p:cNvSpPr txBox="1"/>
          <p:nvPr/>
        </p:nvSpPr>
        <p:spPr>
          <a:xfrm>
            <a:off x="8235950" y="4992370"/>
            <a:ext cx="535305" cy="183515"/>
          </a:xfrm>
          <a:prstGeom prst="rect">
            <a:avLst/>
          </a:prstGeom>
          <a:noFill/>
        </p:spPr>
        <p:txBody>
          <a:bodyPr wrap="square" rtlCol="0">
            <a:spAutoFit/>
          </a:bodyPr>
          <a:lstStyle/>
          <a:p>
            <a:r>
              <a:rPr lang="zh-CN" altLang="en-US" sz="600" dirty="0">
                <a:solidFill>
                  <a:srgbClr val="1D1D1A"/>
                </a:solidFill>
                <a:latin typeface="微软雅黑" panose="020B0503020204020204" charset="-122"/>
                <a:ea typeface="微软雅黑" panose="020B0503020204020204" charset="-122"/>
                <a:cs typeface="+mn-ea"/>
                <a:sym typeface="+mn-lt"/>
              </a:rPr>
              <a:t>数据清洗</a:t>
            </a:r>
            <a:endParaRPr lang="zh-CN" altLang="en-US" sz="600" dirty="0">
              <a:solidFill>
                <a:srgbClr val="1D1D1A"/>
              </a:solidFill>
              <a:latin typeface="微软雅黑" panose="020B0503020204020204" charset="-122"/>
              <a:ea typeface="微软雅黑" panose="020B0503020204020204" charset="-122"/>
              <a:cs typeface="+mn-ea"/>
              <a:sym typeface="+mn-lt"/>
            </a:endParaRPr>
          </a:p>
        </p:txBody>
      </p:sp>
      <p:sp>
        <p:nvSpPr>
          <p:cNvPr id="297" name="文本框 296"/>
          <p:cNvSpPr txBox="1"/>
          <p:nvPr/>
        </p:nvSpPr>
        <p:spPr>
          <a:xfrm>
            <a:off x="8243570" y="5264150"/>
            <a:ext cx="535305" cy="183515"/>
          </a:xfrm>
          <a:prstGeom prst="rect">
            <a:avLst/>
          </a:prstGeom>
          <a:noFill/>
        </p:spPr>
        <p:txBody>
          <a:bodyPr wrap="square" rtlCol="0">
            <a:spAutoFit/>
          </a:bodyPr>
          <a:lstStyle/>
          <a:p>
            <a:r>
              <a:rPr lang="zh-CN" altLang="en-US" sz="600" dirty="0">
                <a:solidFill>
                  <a:srgbClr val="1D1D1A"/>
                </a:solidFill>
                <a:latin typeface="微软雅黑" panose="020B0503020204020204" charset="-122"/>
                <a:ea typeface="微软雅黑" panose="020B0503020204020204" charset="-122"/>
                <a:cs typeface="+mn-ea"/>
                <a:sym typeface="+mn-lt"/>
              </a:rPr>
              <a:t>数据治理</a:t>
            </a:r>
            <a:endParaRPr lang="zh-CN" altLang="en-US" sz="600" dirty="0">
              <a:solidFill>
                <a:srgbClr val="1D1D1A"/>
              </a:solidFill>
              <a:latin typeface="微软雅黑" panose="020B0503020204020204" charset="-122"/>
              <a:ea typeface="微软雅黑" panose="020B0503020204020204" charset="-122"/>
              <a:cs typeface="+mn-ea"/>
              <a:sym typeface="+mn-lt"/>
            </a:endParaRPr>
          </a:p>
        </p:txBody>
      </p:sp>
      <p:sp>
        <p:nvSpPr>
          <p:cNvPr id="298" name="文本框 297"/>
          <p:cNvSpPr txBox="1"/>
          <p:nvPr/>
        </p:nvSpPr>
        <p:spPr>
          <a:xfrm>
            <a:off x="9792970" y="4178935"/>
            <a:ext cx="535305" cy="183515"/>
          </a:xfrm>
          <a:prstGeom prst="rect">
            <a:avLst/>
          </a:prstGeom>
          <a:noFill/>
        </p:spPr>
        <p:txBody>
          <a:bodyPr wrap="square" rtlCol="0">
            <a:spAutoFit/>
          </a:bodyPr>
          <a:lstStyle/>
          <a:p>
            <a:r>
              <a:rPr lang="zh-CN" altLang="en-US" sz="600" dirty="0">
                <a:solidFill>
                  <a:srgbClr val="1D1D1A"/>
                </a:solidFill>
                <a:latin typeface="微软雅黑" panose="020B0503020204020204" charset="-122"/>
                <a:ea typeface="微软雅黑" panose="020B0503020204020204" charset="-122"/>
                <a:cs typeface="+mn-ea"/>
                <a:sym typeface="+mn-lt"/>
              </a:rPr>
              <a:t>统计维度</a:t>
            </a:r>
            <a:endParaRPr lang="zh-CN" altLang="en-US" sz="600" dirty="0">
              <a:solidFill>
                <a:srgbClr val="1D1D1A"/>
              </a:solidFill>
              <a:latin typeface="微软雅黑" panose="020B0503020204020204" charset="-122"/>
              <a:ea typeface="微软雅黑" panose="020B0503020204020204" charset="-122"/>
              <a:cs typeface="+mn-ea"/>
              <a:sym typeface="+mn-lt"/>
            </a:endParaRPr>
          </a:p>
        </p:txBody>
      </p:sp>
      <p:sp>
        <p:nvSpPr>
          <p:cNvPr id="299" name="文本框 298"/>
          <p:cNvSpPr txBox="1"/>
          <p:nvPr/>
        </p:nvSpPr>
        <p:spPr>
          <a:xfrm>
            <a:off x="9773285" y="4985385"/>
            <a:ext cx="535305" cy="183515"/>
          </a:xfrm>
          <a:prstGeom prst="rect">
            <a:avLst/>
          </a:prstGeom>
          <a:noFill/>
        </p:spPr>
        <p:txBody>
          <a:bodyPr wrap="square" rtlCol="0">
            <a:spAutoFit/>
          </a:bodyPr>
          <a:lstStyle/>
          <a:p>
            <a:r>
              <a:rPr lang="zh-CN" altLang="en-US" sz="600" dirty="0">
                <a:solidFill>
                  <a:srgbClr val="1D1D1A"/>
                </a:solidFill>
                <a:latin typeface="微软雅黑" panose="020B0503020204020204" charset="-122"/>
                <a:ea typeface="微软雅黑" panose="020B0503020204020204" charset="-122"/>
                <a:cs typeface="+mn-ea"/>
                <a:sym typeface="+mn-lt"/>
              </a:rPr>
              <a:t>分析模型</a:t>
            </a:r>
            <a:endParaRPr lang="zh-CN" altLang="en-US" sz="600" dirty="0">
              <a:solidFill>
                <a:srgbClr val="1D1D1A"/>
              </a:solidFill>
              <a:latin typeface="微软雅黑" panose="020B0503020204020204" charset="-122"/>
              <a:ea typeface="微软雅黑" panose="020B0503020204020204" charset="-122"/>
              <a:cs typeface="+mn-ea"/>
              <a:sym typeface="+mn-lt"/>
            </a:endParaRPr>
          </a:p>
        </p:txBody>
      </p:sp>
      <p:sp>
        <p:nvSpPr>
          <p:cNvPr id="300" name="矩形: 圆角 110"/>
          <p:cNvSpPr/>
          <p:nvPr/>
        </p:nvSpPr>
        <p:spPr>
          <a:xfrm>
            <a:off x="7275195" y="3197225"/>
            <a:ext cx="4034155" cy="278765"/>
          </a:xfrm>
          <a:prstGeom prst="roundRect">
            <a:avLst>
              <a:gd name="adj" fmla="val 8101"/>
            </a:avLst>
          </a:prstGeom>
          <a:solidFill>
            <a:schemeClr val="bg1">
              <a:lumMod val="9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sym typeface="+mn-lt"/>
            </a:endParaRPr>
          </a:p>
        </p:txBody>
      </p:sp>
      <p:sp>
        <p:nvSpPr>
          <p:cNvPr id="301" name="矩形: 圆角 111"/>
          <p:cNvSpPr/>
          <p:nvPr/>
        </p:nvSpPr>
        <p:spPr>
          <a:xfrm>
            <a:off x="7023100" y="3197860"/>
            <a:ext cx="1590675" cy="279400"/>
          </a:xfrm>
          <a:prstGeom prst="roundRect">
            <a:avLst/>
          </a:prstGeom>
          <a:gradFill flip="none" rotWithShape="1">
            <a:gsLst>
              <a:gs pos="52000">
                <a:srgbClr val="0F6FC6"/>
              </a:gs>
              <a:gs pos="47000">
                <a:srgbClr val="0F6FC6">
                  <a:alpha val="0"/>
                  <a:lumMod val="89000"/>
                  <a:lumOff val="11000"/>
                </a:srgbClr>
              </a:gs>
            </a:gsLst>
            <a:path path="circle">
              <a:fillToRect l="100000" t="100000"/>
            </a:path>
            <a:tileRect r="-100000" b="-100000"/>
          </a:gradFill>
          <a:ln w="38100" cap="flat" cmpd="sng" algn="ctr">
            <a:noFill/>
            <a:prstDash val="solid"/>
            <a:miter lim="800000"/>
          </a:ln>
          <a:effectLst/>
        </p:spPr>
        <p:txBody>
          <a:bodyPr wrap="none"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p:nvSpPr>
          <p:cNvPr id="302" name="文本框 301"/>
          <p:cNvSpPr txBox="1"/>
          <p:nvPr/>
        </p:nvSpPr>
        <p:spPr>
          <a:xfrm>
            <a:off x="7006590" y="3228340"/>
            <a:ext cx="895985" cy="213995"/>
          </a:xfrm>
          <a:prstGeom prst="rect">
            <a:avLst/>
          </a:prstGeom>
          <a:noFill/>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智能风控预警</a:t>
            </a:r>
            <a:endParaRPr kumimoji="0" lang="zh-CN" altLang="en-US" sz="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303" name="长方形"/>
          <p:cNvSpPr/>
          <p:nvPr/>
        </p:nvSpPr>
        <p:spPr>
          <a:xfrm>
            <a:off x="8021320" y="3247390"/>
            <a:ext cx="654050" cy="17780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00" kern="0" dirty="0">
                <a:solidFill>
                  <a:srgbClr val="FFFFFF"/>
                </a:solidFill>
                <a:latin typeface="微软雅黑" panose="020B0503020204020204" charset="-122"/>
                <a:ea typeface="微软雅黑" panose="020B0503020204020204" charset="-122"/>
                <a:sym typeface="微软雅黑" panose="020B0503020204020204" charset="-122"/>
              </a:rPr>
              <a:t>投诉处理</a:t>
            </a:r>
            <a:endParaRPr lang="zh-CN" altLang="en-US" sz="7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04" name="长方形"/>
          <p:cNvSpPr/>
          <p:nvPr/>
        </p:nvSpPr>
        <p:spPr>
          <a:xfrm>
            <a:off x="8869045" y="3247390"/>
            <a:ext cx="654050" cy="17780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00" kern="0" dirty="0">
                <a:solidFill>
                  <a:srgbClr val="FFFFFF"/>
                </a:solidFill>
                <a:latin typeface="微软雅黑" panose="020B0503020204020204" charset="-122"/>
                <a:ea typeface="微软雅黑" panose="020B0503020204020204" charset="-122"/>
                <a:sym typeface="微软雅黑" panose="020B0503020204020204" charset="-122"/>
              </a:rPr>
              <a:t>风控设置</a:t>
            </a:r>
            <a:endParaRPr lang="zh-CN" altLang="en-US" sz="7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05" name="长方形"/>
          <p:cNvSpPr/>
          <p:nvPr/>
        </p:nvSpPr>
        <p:spPr>
          <a:xfrm>
            <a:off x="9716770" y="3247390"/>
            <a:ext cx="654050" cy="17780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00" kern="0" dirty="0">
                <a:solidFill>
                  <a:srgbClr val="FFFFFF"/>
                </a:solidFill>
                <a:latin typeface="微软雅黑" panose="020B0503020204020204" charset="-122"/>
                <a:ea typeface="微软雅黑" panose="020B0503020204020204" charset="-122"/>
                <a:sym typeface="微软雅黑" panose="020B0503020204020204" charset="-122"/>
              </a:rPr>
              <a:t>实时监控</a:t>
            </a:r>
            <a:endParaRPr lang="zh-CN" altLang="en-US" sz="7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06" name="长方形"/>
          <p:cNvSpPr/>
          <p:nvPr/>
        </p:nvSpPr>
        <p:spPr>
          <a:xfrm>
            <a:off x="10565130" y="3247390"/>
            <a:ext cx="654050" cy="17780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00" kern="0" dirty="0">
                <a:solidFill>
                  <a:srgbClr val="FFFFFF"/>
                </a:solidFill>
                <a:latin typeface="微软雅黑" panose="020B0503020204020204" charset="-122"/>
                <a:ea typeface="微软雅黑" panose="020B0503020204020204" charset="-122"/>
                <a:sym typeface="微软雅黑" panose="020B0503020204020204" charset="-122"/>
              </a:rPr>
              <a:t>自动预警</a:t>
            </a:r>
            <a:endParaRPr lang="zh-CN" altLang="en-US" sz="7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07" name="矩形: 圆角 118"/>
          <p:cNvSpPr/>
          <p:nvPr/>
        </p:nvSpPr>
        <p:spPr>
          <a:xfrm>
            <a:off x="7275195" y="3503295"/>
            <a:ext cx="4034155" cy="278765"/>
          </a:xfrm>
          <a:prstGeom prst="roundRect">
            <a:avLst>
              <a:gd name="adj" fmla="val 8101"/>
            </a:avLst>
          </a:prstGeom>
          <a:solidFill>
            <a:schemeClr val="bg1">
              <a:lumMod val="9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sym typeface="+mn-lt"/>
            </a:endParaRPr>
          </a:p>
        </p:txBody>
      </p:sp>
      <p:sp>
        <p:nvSpPr>
          <p:cNvPr id="308" name="矩形: 圆角 119"/>
          <p:cNvSpPr/>
          <p:nvPr/>
        </p:nvSpPr>
        <p:spPr>
          <a:xfrm>
            <a:off x="7023100" y="3503930"/>
            <a:ext cx="1590675" cy="279400"/>
          </a:xfrm>
          <a:prstGeom prst="roundRect">
            <a:avLst/>
          </a:prstGeom>
          <a:gradFill flip="none" rotWithShape="1">
            <a:gsLst>
              <a:gs pos="52000">
                <a:srgbClr val="0F6FC6"/>
              </a:gs>
              <a:gs pos="47000">
                <a:srgbClr val="0F6FC6">
                  <a:alpha val="0"/>
                  <a:lumMod val="89000"/>
                  <a:lumOff val="11000"/>
                </a:srgbClr>
              </a:gs>
            </a:gsLst>
            <a:path path="circle">
              <a:fillToRect l="100000" t="100000"/>
            </a:path>
            <a:tileRect r="-100000" b="-100000"/>
          </a:gradFill>
          <a:ln w="38100" cap="flat" cmpd="sng" algn="ctr">
            <a:noFill/>
            <a:prstDash val="solid"/>
            <a:miter lim="800000"/>
          </a:ln>
          <a:effectLst/>
        </p:spPr>
        <p:txBody>
          <a:bodyPr wrap="none"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p:nvSpPr>
          <p:cNvPr id="309" name="文本框 308"/>
          <p:cNvSpPr txBox="1"/>
          <p:nvPr/>
        </p:nvSpPr>
        <p:spPr>
          <a:xfrm>
            <a:off x="7004685" y="3533140"/>
            <a:ext cx="897890" cy="213995"/>
          </a:xfrm>
          <a:prstGeom prst="rect">
            <a:avLst/>
          </a:prstGeom>
          <a:noFill/>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数据分析决策</a:t>
            </a:r>
            <a:endParaRPr kumimoji="0" lang="zh-CN" altLang="en-US" sz="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310" name="长方形"/>
          <p:cNvSpPr/>
          <p:nvPr/>
        </p:nvSpPr>
        <p:spPr>
          <a:xfrm>
            <a:off x="8021320" y="3553460"/>
            <a:ext cx="654050" cy="17780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00" kern="0" dirty="0">
                <a:solidFill>
                  <a:srgbClr val="FFFFFF"/>
                </a:solidFill>
                <a:latin typeface="微软雅黑" panose="020B0503020204020204" charset="-122"/>
                <a:ea typeface="微软雅黑" panose="020B0503020204020204" charset="-122"/>
                <a:sym typeface="微软雅黑" panose="020B0503020204020204" charset="-122"/>
              </a:rPr>
              <a:t>领导驾驶舱</a:t>
            </a:r>
            <a:endParaRPr lang="zh-CN" altLang="en-US" sz="7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11" name="长方形"/>
          <p:cNvSpPr/>
          <p:nvPr/>
        </p:nvSpPr>
        <p:spPr>
          <a:xfrm>
            <a:off x="8869045" y="3553460"/>
            <a:ext cx="654050" cy="17780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00" kern="0" dirty="0">
                <a:solidFill>
                  <a:srgbClr val="FFFFFF"/>
                </a:solidFill>
                <a:latin typeface="微软雅黑" panose="020B0503020204020204" charset="-122"/>
                <a:ea typeface="微软雅黑" panose="020B0503020204020204" charset="-122"/>
                <a:sym typeface="微软雅黑" panose="020B0503020204020204" charset="-122"/>
              </a:rPr>
              <a:t>专题画像</a:t>
            </a:r>
            <a:endParaRPr lang="zh-CN" altLang="en-US" sz="7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12" name="长方形"/>
          <p:cNvSpPr/>
          <p:nvPr/>
        </p:nvSpPr>
        <p:spPr>
          <a:xfrm>
            <a:off x="9716770" y="3553460"/>
            <a:ext cx="654050" cy="17780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00" kern="0" dirty="0">
                <a:solidFill>
                  <a:srgbClr val="FFFFFF"/>
                </a:solidFill>
                <a:latin typeface="微软雅黑" panose="020B0503020204020204" charset="-122"/>
                <a:ea typeface="微软雅黑" panose="020B0503020204020204" charset="-122"/>
                <a:sym typeface="微软雅黑" panose="020B0503020204020204" charset="-122"/>
              </a:rPr>
              <a:t>智能挖掘</a:t>
            </a:r>
            <a:endParaRPr lang="zh-CN" altLang="en-US" sz="7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13" name="长方形"/>
          <p:cNvSpPr/>
          <p:nvPr/>
        </p:nvSpPr>
        <p:spPr>
          <a:xfrm>
            <a:off x="10565130" y="3553460"/>
            <a:ext cx="654050" cy="17780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00" kern="0" dirty="0">
                <a:solidFill>
                  <a:srgbClr val="FFFFFF"/>
                </a:solidFill>
                <a:latin typeface="微软雅黑" panose="020B0503020204020204" charset="-122"/>
                <a:ea typeface="微软雅黑" panose="020B0503020204020204" charset="-122"/>
                <a:sym typeface="微软雅黑" panose="020B0503020204020204" charset="-122"/>
              </a:rPr>
              <a:t>效能分析</a:t>
            </a:r>
            <a:endParaRPr lang="zh-CN" altLang="en-US" sz="7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14" name="文本框 313"/>
          <p:cNvSpPr txBox="1"/>
          <p:nvPr/>
        </p:nvSpPr>
        <p:spPr>
          <a:xfrm>
            <a:off x="6849110" y="4095750"/>
            <a:ext cx="324485" cy="737235"/>
          </a:xfrm>
          <a:prstGeom prst="rect">
            <a:avLst/>
          </a:prstGeom>
          <a:noFill/>
        </p:spPr>
        <p:txBody>
          <a:bodyPr wrap="square">
            <a:spAutoFit/>
          </a:bodyPr>
          <a:lstStyle/>
          <a:p>
            <a:r>
              <a:rPr lang="zh-CN" altLang="en-US" sz="1050" b="1" dirty="0">
                <a:solidFill>
                  <a:srgbClr val="1D1D1A"/>
                </a:solidFill>
                <a:latin typeface="微软雅黑" panose="020B0503020204020204" charset="-122"/>
                <a:ea typeface="微软雅黑" panose="020B0503020204020204" charset="-122"/>
                <a:cs typeface="+mn-ea"/>
                <a:sym typeface="+mn-lt"/>
              </a:rPr>
              <a:t>数据中台</a:t>
            </a:r>
            <a:endParaRPr lang="zh-CN" altLang="en-US" sz="1050" b="1" dirty="0">
              <a:solidFill>
                <a:srgbClr val="1D1D1A"/>
              </a:solidFill>
              <a:latin typeface="微软雅黑" panose="020B0503020204020204" charset="-122"/>
              <a:ea typeface="微软雅黑" panose="020B0503020204020204" charset="-122"/>
              <a:cs typeface="+mn-ea"/>
              <a:sym typeface="+mn-lt"/>
            </a:endParaRPr>
          </a:p>
        </p:txBody>
      </p:sp>
      <p:sp>
        <p:nvSpPr>
          <p:cNvPr id="318" name="任意多边形: 形状 493"/>
          <p:cNvSpPr/>
          <p:nvPr/>
        </p:nvSpPr>
        <p:spPr>
          <a:xfrm>
            <a:off x="7742555" y="4669155"/>
            <a:ext cx="100330" cy="6540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319" name="任意多边形: 形状 494"/>
          <p:cNvSpPr/>
          <p:nvPr/>
        </p:nvSpPr>
        <p:spPr>
          <a:xfrm>
            <a:off x="7742555" y="4599940"/>
            <a:ext cx="100330" cy="6540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320" name="任意多边形: 形状 495"/>
          <p:cNvSpPr/>
          <p:nvPr/>
        </p:nvSpPr>
        <p:spPr>
          <a:xfrm>
            <a:off x="7742555" y="4530090"/>
            <a:ext cx="100330" cy="6540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pic>
        <p:nvPicPr>
          <p:cNvPr id="321" name="Picture 1093"/>
          <p:cNvPicPr/>
          <p:nvPr/>
        </p:nvPicPr>
        <p:blipFill>
          <a:blip r:embed="rId1"/>
          <a:srcRect b="32835"/>
          <a:stretch>
            <a:fillRect/>
          </a:stretch>
        </p:blipFill>
        <p:spPr>
          <a:xfrm>
            <a:off x="4017010" y="6162675"/>
            <a:ext cx="550545" cy="235585"/>
          </a:xfrm>
          <a:prstGeom prst="rect">
            <a:avLst/>
          </a:prstGeom>
        </p:spPr>
      </p:pic>
      <p:pic>
        <p:nvPicPr>
          <p:cNvPr id="322" name="Picture 790"/>
          <p:cNvPicPr/>
          <p:nvPr/>
        </p:nvPicPr>
        <p:blipFill>
          <a:blip r:embed="rId2"/>
          <a:stretch>
            <a:fillRect/>
          </a:stretch>
        </p:blipFill>
        <p:spPr>
          <a:xfrm>
            <a:off x="5541010" y="6186170"/>
            <a:ext cx="455295" cy="188595"/>
          </a:xfrm>
          <a:prstGeom prst="rect">
            <a:avLst/>
          </a:prstGeom>
        </p:spPr>
      </p:pic>
      <p:pic>
        <p:nvPicPr>
          <p:cNvPr id="323" name="Picture 969"/>
          <p:cNvPicPr/>
          <p:nvPr/>
        </p:nvPicPr>
        <p:blipFill>
          <a:blip r:embed="rId3"/>
          <a:stretch>
            <a:fillRect/>
          </a:stretch>
        </p:blipFill>
        <p:spPr>
          <a:xfrm>
            <a:off x="9735185" y="6189345"/>
            <a:ext cx="568960" cy="182245"/>
          </a:xfrm>
          <a:prstGeom prst="rect">
            <a:avLst/>
          </a:prstGeom>
        </p:spPr>
      </p:pic>
      <p:pic>
        <p:nvPicPr>
          <p:cNvPr id="324" name="Picture 1015"/>
          <p:cNvPicPr/>
          <p:nvPr/>
        </p:nvPicPr>
        <p:blipFill>
          <a:blip r:embed="rId4"/>
          <a:stretch>
            <a:fillRect/>
          </a:stretch>
        </p:blipFill>
        <p:spPr>
          <a:xfrm>
            <a:off x="2651125" y="6178550"/>
            <a:ext cx="445135" cy="203200"/>
          </a:xfrm>
          <a:prstGeom prst="rect">
            <a:avLst/>
          </a:prstGeom>
        </p:spPr>
      </p:pic>
      <p:pic>
        <p:nvPicPr>
          <p:cNvPr id="325" name="图片 324"/>
          <p:cNvPicPr>
            <a:picLocks noChangeAspect="1"/>
          </p:cNvPicPr>
          <p:nvPr/>
        </p:nvPicPr>
        <p:blipFill>
          <a:blip r:embed="rId5"/>
          <a:stretch>
            <a:fillRect/>
          </a:stretch>
        </p:blipFill>
        <p:spPr>
          <a:xfrm>
            <a:off x="8352790" y="6184265"/>
            <a:ext cx="313690" cy="192405"/>
          </a:xfrm>
          <a:prstGeom prst="rect">
            <a:avLst/>
          </a:prstGeom>
        </p:spPr>
      </p:pic>
      <p:sp>
        <p:nvSpPr>
          <p:cNvPr id="336" name="矩形: 圆角 126"/>
          <p:cNvSpPr/>
          <p:nvPr/>
        </p:nvSpPr>
        <p:spPr>
          <a:xfrm>
            <a:off x="182245" y="702310"/>
            <a:ext cx="480060" cy="6156325"/>
          </a:xfrm>
          <a:prstGeom prst="roundRect">
            <a:avLst/>
          </a:prstGeom>
          <a:solidFill>
            <a:srgbClr val="2E54A1"/>
          </a:solidFill>
          <a:ln w="38100" cap="flat" cmpd="sng" algn="ctr">
            <a:noFill/>
            <a:prstDash val="solid"/>
            <a:miter lim="800000"/>
          </a:ln>
          <a:effectLst/>
        </p:spPr>
        <p:txBody>
          <a:bodyPr wrap="square" lIns="98755" tIns="49378" rIns="98755" bIns="49378" rtlCol="0" anchor="ctr">
            <a:noAutofit/>
          </a:bodyPr>
          <a:lstStyle/>
          <a:p>
            <a:pPr lvl="0" algn="ctr">
              <a:spcBef>
                <a:spcPts val="0"/>
              </a:spcBef>
              <a:spcAft>
                <a:spcPts val="0"/>
              </a:spcAft>
              <a:buClrTx/>
              <a:buSzTx/>
              <a:buFontTx/>
              <a:defRPr/>
            </a:pPr>
            <a:endParaRPr lang="zh-CN" altLang="en-US" sz="1200" b="1" kern="0" noProof="0" dirty="0">
              <a:ln>
                <a:noFill/>
              </a:ln>
              <a:solidFill>
                <a:prstClr val="white"/>
              </a:solidFill>
              <a:uLnTx/>
              <a:uFillTx/>
              <a:latin typeface="微软雅黑" panose="020B0503020204020204" charset="-122"/>
              <a:ea typeface="微软雅黑" panose="020B0503020204020204" charset="-122"/>
              <a:sym typeface="+mn-lt"/>
            </a:endParaRPr>
          </a:p>
        </p:txBody>
      </p:sp>
      <p:sp>
        <p:nvSpPr>
          <p:cNvPr id="337" name="TextBox 84"/>
          <p:cNvSpPr txBox="1"/>
          <p:nvPr/>
        </p:nvSpPr>
        <p:spPr>
          <a:xfrm>
            <a:off x="269240" y="1522730"/>
            <a:ext cx="306070" cy="845185"/>
          </a:xfrm>
          <a:prstGeom prst="rect">
            <a:avLst/>
          </a:prstGeom>
          <a:solidFill>
            <a:schemeClr val="accent1">
              <a:lumMod val="20000"/>
              <a:lumOff val="80000"/>
            </a:schemeClr>
          </a:solidFill>
        </p:spPr>
        <p:txBody>
          <a:bodyPr wrap="square" rtlCol="0" anchor="ctr">
            <a:noAutofit/>
          </a:bodyPr>
          <a:lstStyle/>
          <a:p>
            <a:pPr algn="ctr" fontAlgn="base">
              <a:spcBef>
                <a:spcPct val="0"/>
              </a:spcBef>
              <a:spcAft>
                <a:spcPct val="0"/>
              </a:spcAft>
            </a:pPr>
            <a:r>
              <a:rPr lang="zh-CN" altLang="en-US" sz="1100" dirty="0">
                <a:solidFill>
                  <a:srgbClr val="000000"/>
                </a:solidFill>
                <a:latin typeface="微软雅黑" panose="020B0503020204020204" charset="-122"/>
                <a:ea typeface="微软雅黑" panose="020B0503020204020204" charset="-122"/>
                <a:cs typeface="+mn-ea"/>
                <a:sym typeface="+mn-lt"/>
              </a:rPr>
              <a:t>质量标准</a:t>
            </a:r>
            <a:endParaRPr lang="zh-CN" altLang="en-US" sz="1100" dirty="0">
              <a:solidFill>
                <a:srgbClr val="000000"/>
              </a:solidFill>
              <a:latin typeface="微软雅黑" panose="020B0503020204020204" charset="-122"/>
              <a:ea typeface="微软雅黑" panose="020B0503020204020204" charset="-122"/>
              <a:cs typeface="+mn-ea"/>
              <a:sym typeface="+mn-lt"/>
            </a:endParaRPr>
          </a:p>
        </p:txBody>
      </p:sp>
      <p:sp>
        <p:nvSpPr>
          <p:cNvPr id="338" name="TextBox 84"/>
          <p:cNvSpPr txBox="1"/>
          <p:nvPr/>
        </p:nvSpPr>
        <p:spPr>
          <a:xfrm>
            <a:off x="269240" y="2992755"/>
            <a:ext cx="306070" cy="846455"/>
          </a:xfrm>
          <a:prstGeom prst="rect">
            <a:avLst/>
          </a:prstGeom>
          <a:solidFill>
            <a:schemeClr val="accent1">
              <a:lumMod val="20000"/>
              <a:lumOff val="80000"/>
            </a:schemeClr>
          </a:solidFill>
        </p:spPr>
        <p:txBody>
          <a:bodyPr wrap="square" rtlCol="0" anchor="ctr">
            <a:noAutofit/>
          </a:bodyPr>
          <a:lstStyle/>
          <a:p>
            <a:pPr lvl="0" algn="ctr" fontAlgn="base">
              <a:buClrTx/>
              <a:buSzTx/>
              <a:buFontTx/>
            </a:pPr>
            <a:r>
              <a:rPr lang="zh-CN" altLang="en-US" sz="1100" dirty="0">
                <a:solidFill>
                  <a:srgbClr val="000000"/>
                </a:solidFill>
                <a:latin typeface="微软雅黑" panose="020B0503020204020204" charset="-122"/>
                <a:ea typeface="微软雅黑" panose="020B0503020204020204" charset="-122"/>
                <a:cs typeface="+mn-ea"/>
                <a:sym typeface="+mn-lt"/>
              </a:rPr>
              <a:t>架构规范</a:t>
            </a:r>
            <a:endParaRPr lang="zh-CN" altLang="en-US" sz="1100" dirty="0">
              <a:solidFill>
                <a:srgbClr val="000000"/>
              </a:solidFill>
              <a:latin typeface="微软雅黑" panose="020B0503020204020204" charset="-122"/>
              <a:ea typeface="微软雅黑" panose="020B0503020204020204" charset="-122"/>
              <a:cs typeface="+mn-ea"/>
              <a:sym typeface="+mn-lt"/>
            </a:endParaRPr>
          </a:p>
        </p:txBody>
      </p:sp>
      <p:sp>
        <p:nvSpPr>
          <p:cNvPr id="339" name="TextBox 84"/>
          <p:cNvSpPr txBox="1"/>
          <p:nvPr/>
        </p:nvSpPr>
        <p:spPr>
          <a:xfrm>
            <a:off x="269240" y="5935345"/>
            <a:ext cx="306070" cy="846455"/>
          </a:xfrm>
          <a:prstGeom prst="rect">
            <a:avLst/>
          </a:prstGeom>
          <a:solidFill>
            <a:schemeClr val="accent1">
              <a:lumMod val="20000"/>
              <a:lumOff val="80000"/>
            </a:schemeClr>
          </a:solidFill>
        </p:spPr>
        <p:txBody>
          <a:bodyPr wrap="square" rtlCol="0" anchor="ctr">
            <a:noAutofit/>
          </a:bodyPr>
          <a:lstStyle/>
          <a:p>
            <a:pPr lvl="0" algn="ctr" fontAlgn="base">
              <a:buClrTx/>
              <a:buSzTx/>
              <a:buFontTx/>
            </a:pPr>
            <a:r>
              <a:rPr lang="zh-CN" altLang="en-US" sz="1100" dirty="0">
                <a:solidFill>
                  <a:srgbClr val="000000"/>
                </a:solidFill>
                <a:latin typeface="微软雅黑" panose="020B0503020204020204" charset="-122"/>
                <a:ea typeface="微软雅黑" panose="020B0503020204020204" charset="-122"/>
                <a:cs typeface="+mn-ea"/>
                <a:sym typeface="+mn-lt"/>
              </a:rPr>
              <a:t>安全规范</a:t>
            </a:r>
            <a:endParaRPr lang="zh-CN" altLang="en-US" sz="1100" dirty="0">
              <a:solidFill>
                <a:srgbClr val="000000"/>
              </a:solidFill>
              <a:latin typeface="微软雅黑" panose="020B0503020204020204" charset="-122"/>
              <a:ea typeface="微软雅黑" panose="020B0503020204020204" charset="-122"/>
              <a:cs typeface="+mn-ea"/>
              <a:sym typeface="+mn-lt"/>
            </a:endParaRPr>
          </a:p>
        </p:txBody>
      </p:sp>
      <p:sp>
        <p:nvSpPr>
          <p:cNvPr id="340" name="TextBox 69"/>
          <p:cNvSpPr txBox="1"/>
          <p:nvPr/>
        </p:nvSpPr>
        <p:spPr>
          <a:xfrm>
            <a:off x="114935" y="760730"/>
            <a:ext cx="614680" cy="460375"/>
          </a:xfrm>
          <a:prstGeom prst="rect">
            <a:avLst/>
          </a:prstGeom>
          <a:noFill/>
        </p:spPr>
        <p:txBody>
          <a:bodyPr wrap="square" rtlCol="0">
            <a:spAutoFit/>
          </a:bodyPr>
          <a:lstStyle/>
          <a:p>
            <a:pPr algn="ctr" defTabSz="914400" fontAlgn="base">
              <a:spcBef>
                <a:spcPct val="0"/>
              </a:spcBef>
              <a:spcAft>
                <a:spcPct val="0"/>
              </a:spcAft>
            </a:pPr>
            <a:r>
              <a:rPr lang="zh-CN" altLang="en-US" sz="1200" b="1" dirty="0">
                <a:solidFill>
                  <a:schemeClr val="bg1"/>
                </a:solidFill>
                <a:latin typeface="微软雅黑" panose="020B0503020204020204" charset="-122"/>
                <a:ea typeface="微软雅黑" panose="020B0503020204020204" charset="-122"/>
                <a:cs typeface="+mn-ea"/>
                <a:sym typeface="+mn-lt"/>
              </a:rPr>
              <a:t>统一标准</a:t>
            </a:r>
            <a:endParaRPr lang="zh-CN" altLang="en-US" sz="1200" b="1" dirty="0">
              <a:solidFill>
                <a:schemeClr val="bg1"/>
              </a:solidFill>
              <a:latin typeface="微软雅黑" panose="020B0503020204020204" charset="-122"/>
              <a:ea typeface="微软雅黑" panose="020B0503020204020204" charset="-122"/>
              <a:cs typeface="+mn-ea"/>
              <a:sym typeface="+mn-lt"/>
            </a:endParaRPr>
          </a:p>
        </p:txBody>
      </p:sp>
      <p:sp>
        <p:nvSpPr>
          <p:cNvPr id="341" name="矩形: 圆角 101"/>
          <p:cNvSpPr/>
          <p:nvPr/>
        </p:nvSpPr>
        <p:spPr>
          <a:xfrm>
            <a:off x="11515090" y="703580"/>
            <a:ext cx="479425" cy="6155055"/>
          </a:xfrm>
          <a:prstGeom prst="roundRect">
            <a:avLst/>
          </a:prstGeom>
          <a:solidFill>
            <a:srgbClr val="2E54A1"/>
          </a:solidFill>
          <a:ln w="38100" cap="flat" cmpd="sng" algn="ctr">
            <a:noFill/>
            <a:prstDash val="solid"/>
            <a:miter lim="800000"/>
          </a:ln>
          <a:effectLst/>
        </p:spPr>
        <p:txBody>
          <a:bodyPr wrap="square" lIns="98755" tIns="49378" rIns="98755" bIns="49378" rtlCol="0" anchor="ctr">
            <a:noAutofit/>
          </a:bodyPr>
          <a:lstStyle/>
          <a:p>
            <a:pPr lvl="0" algn="ctr">
              <a:spcBef>
                <a:spcPts val="0"/>
              </a:spcBef>
              <a:spcAft>
                <a:spcPts val="0"/>
              </a:spcAft>
              <a:buClrTx/>
              <a:buSzTx/>
              <a:buFontTx/>
              <a:defRPr/>
            </a:pPr>
            <a:endParaRPr lang="zh-CN" altLang="en-US" sz="1200" b="1" kern="0" noProof="0" dirty="0">
              <a:ln>
                <a:noFill/>
              </a:ln>
              <a:solidFill>
                <a:prstClr val="white"/>
              </a:solidFill>
              <a:uLnTx/>
              <a:uFillTx/>
              <a:latin typeface="微软雅黑" panose="020B0503020204020204" charset="-122"/>
              <a:ea typeface="微软雅黑" panose="020B0503020204020204" charset="-122"/>
              <a:sym typeface="+mn-lt"/>
            </a:endParaRPr>
          </a:p>
        </p:txBody>
      </p:sp>
      <p:sp>
        <p:nvSpPr>
          <p:cNvPr id="342" name="TextBox 69"/>
          <p:cNvSpPr txBox="1"/>
          <p:nvPr/>
        </p:nvSpPr>
        <p:spPr>
          <a:xfrm>
            <a:off x="11473815" y="764540"/>
            <a:ext cx="561975" cy="508635"/>
          </a:xfrm>
          <a:prstGeom prst="roundRect">
            <a:avLst/>
          </a:prstGeom>
          <a:noFill/>
        </p:spPr>
        <p:txBody>
          <a:bodyPr wrap="square" rtlCol="0">
            <a:spAutoFit/>
          </a:bodyPr>
          <a:lstStyle/>
          <a:p>
            <a:pPr algn="ctr" defTabSz="914400" fontAlgn="base">
              <a:spcBef>
                <a:spcPct val="0"/>
              </a:spcBef>
              <a:spcAft>
                <a:spcPct val="0"/>
              </a:spcAft>
            </a:pPr>
            <a:r>
              <a:rPr lang="zh-CN" altLang="en-US" sz="1200" b="1" dirty="0">
                <a:solidFill>
                  <a:schemeClr val="bg1"/>
                </a:solidFill>
                <a:latin typeface="微软雅黑" panose="020B0503020204020204" charset="-122"/>
                <a:ea typeface="微软雅黑" panose="020B0503020204020204" charset="-122"/>
                <a:cs typeface="+mn-ea"/>
                <a:sym typeface="+mn-lt"/>
              </a:rPr>
              <a:t>安全保障</a:t>
            </a:r>
            <a:endParaRPr lang="zh-CN" altLang="en-US" sz="1200" b="1" dirty="0">
              <a:solidFill>
                <a:schemeClr val="bg1"/>
              </a:solidFill>
              <a:latin typeface="微软雅黑" panose="020B0503020204020204" charset="-122"/>
              <a:ea typeface="微软雅黑" panose="020B0503020204020204" charset="-122"/>
              <a:cs typeface="+mn-ea"/>
              <a:sym typeface="+mn-lt"/>
            </a:endParaRPr>
          </a:p>
        </p:txBody>
      </p:sp>
      <p:sp>
        <p:nvSpPr>
          <p:cNvPr id="343" name="TextBox 84"/>
          <p:cNvSpPr txBox="1"/>
          <p:nvPr/>
        </p:nvSpPr>
        <p:spPr>
          <a:xfrm>
            <a:off x="11580495" y="1423670"/>
            <a:ext cx="306070" cy="847090"/>
          </a:xfrm>
          <a:prstGeom prst="rect">
            <a:avLst/>
          </a:prstGeom>
          <a:solidFill>
            <a:schemeClr val="accent1">
              <a:lumMod val="20000"/>
              <a:lumOff val="80000"/>
            </a:schemeClr>
          </a:solidFill>
        </p:spPr>
        <p:txBody>
          <a:bodyPr wrap="square" rtlCol="0" anchor="ctr">
            <a:noAutofit/>
          </a:bodyPr>
          <a:lstStyle/>
          <a:p>
            <a:pPr lvl="0" algn="ctr" fontAlgn="base">
              <a:buClrTx/>
              <a:buSzTx/>
              <a:buFontTx/>
            </a:pPr>
            <a:r>
              <a:rPr lang="zh-CN" altLang="en-US" sz="1100" dirty="0">
                <a:solidFill>
                  <a:srgbClr val="000000"/>
                </a:solidFill>
                <a:latin typeface="微软雅黑" panose="020B0503020204020204" charset="-122"/>
                <a:ea typeface="微软雅黑" panose="020B0503020204020204" charset="-122"/>
                <a:cs typeface="+mn-ea"/>
                <a:sym typeface="+mn-lt"/>
              </a:rPr>
              <a:t>应用安全</a:t>
            </a:r>
            <a:endParaRPr lang="zh-CN" altLang="en-US" sz="1100" dirty="0">
              <a:solidFill>
                <a:srgbClr val="000000"/>
              </a:solidFill>
              <a:latin typeface="微软雅黑" panose="020B0503020204020204" charset="-122"/>
              <a:ea typeface="微软雅黑" panose="020B0503020204020204" charset="-122"/>
              <a:cs typeface="+mn-ea"/>
              <a:sym typeface="+mn-lt"/>
            </a:endParaRPr>
          </a:p>
        </p:txBody>
      </p:sp>
      <p:sp>
        <p:nvSpPr>
          <p:cNvPr id="344" name="TextBox 84"/>
          <p:cNvSpPr txBox="1"/>
          <p:nvPr/>
        </p:nvSpPr>
        <p:spPr>
          <a:xfrm>
            <a:off x="11602085" y="2626995"/>
            <a:ext cx="306070" cy="846455"/>
          </a:xfrm>
          <a:prstGeom prst="rect">
            <a:avLst/>
          </a:prstGeom>
          <a:solidFill>
            <a:schemeClr val="accent1">
              <a:lumMod val="20000"/>
              <a:lumOff val="80000"/>
            </a:schemeClr>
          </a:solidFill>
        </p:spPr>
        <p:txBody>
          <a:bodyPr wrap="square" rtlCol="0" anchor="ctr">
            <a:noAutofit/>
          </a:bodyPr>
          <a:lstStyle/>
          <a:p>
            <a:pPr lvl="0" algn="ctr" fontAlgn="base">
              <a:buClrTx/>
              <a:buSzTx/>
              <a:buFontTx/>
            </a:pPr>
            <a:r>
              <a:rPr lang="zh-CN" altLang="en-US" sz="1100" dirty="0">
                <a:solidFill>
                  <a:srgbClr val="000000"/>
                </a:solidFill>
                <a:latin typeface="微软雅黑" panose="020B0503020204020204" charset="-122"/>
                <a:ea typeface="微软雅黑" panose="020B0503020204020204" charset="-122"/>
                <a:cs typeface="+mn-ea"/>
                <a:sym typeface="+mn-lt"/>
              </a:rPr>
              <a:t>数据安全</a:t>
            </a:r>
            <a:endParaRPr lang="zh-CN" altLang="en-US" sz="1100" dirty="0">
              <a:solidFill>
                <a:srgbClr val="000000"/>
              </a:solidFill>
              <a:latin typeface="微软雅黑" panose="020B0503020204020204" charset="-122"/>
              <a:ea typeface="微软雅黑" panose="020B0503020204020204" charset="-122"/>
              <a:cs typeface="+mn-ea"/>
              <a:sym typeface="+mn-lt"/>
            </a:endParaRPr>
          </a:p>
        </p:txBody>
      </p:sp>
      <p:sp>
        <p:nvSpPr>
          <p:cNvPr id="345" name="TextBox 84"/>
          <p:cNvSpPr txBox="1"/>
          <p:nvPr/>
        </p:nvSpPr>
        <p:spPr>
          <a:xfrm>
            <a:off x="11602085" y="3732530"/>
            <a:ext cx="306070" cy="846455"/>
          </a:xfrm>
          <a:prstGeom prst="rect">
            <a:avLst/>
          </a:prstGeom>
          <a:solidFill>
            <a:schemeClr val="accent1">
              <a:lumMod val="20000"/>
              <a:lumOff val="80000"/>
            </a:schemeClr>
          </a:solidFill>
        </p:spPr>
        <p:txBody>
          <a:bodyPr wrap="square" rtlCol="0" anchor="ctr">
            <a:noAutofit/>
          </a:bodyPr>
          <a:lstStyle/>
          <a:p>
            <a:pPr lvl="0" algn="ctr" fontAlgn="base">
              <a:buClrTx/>
              <a:buSzTx/>
              <a:buFontTx/>
            </a:pPr>
            <a:r>
              <a:rPr lang="zh-CN" altLang="en-US" sz="1100" dirty="0">
                <a:solidFill>
                  <a:srgbClr val="000000"/>
                </a:solidFill>
                <a:latin typeface="微软雅黑" panose="020B0503020204020204" charset="-122"/>
                <a:ea typeface="微软雅黑" panose="020B0503020204020204" charset="-122"/>
                <a:cs typeface="+mn-ea"/>
                <a:sym typeface="+mn-lt"/>
              </a:rPr>
              <a:t>主机安全</a:t>
            </a:r>
            <a:endParaRPr lang="zh-CN" altLang="en-US" sz="1100" dirty="0">
              <a:solidFill>
                <a:srgbClr val="000000"/>
              </a:solidFill>
              <a:latin typeface="微软雅黑" panose="020B0503020204020204" charset="-122"/>
              <a:ea typeface="微软雅黑" panose="020B0503020204020204" charset="-122"/>
              <a:cs typeface="+mn-ea"/>
              <a:sym typeface="+mn-lt"/>
            </a:endParaRPr>
          </a:p>
        </p:txBody>
      </p:sp>
      <p:sp>
        <p:nvSpPr>
          <p:cNvPr id="346" name="TextBox 84"/>
          <p:cNvSpPr txBox="1"/>
          <p:nvPr/>
        </p:nvSpPr>
        <p:spPr>
          <a:xfrm>
            <a:off x="11602085" y="4838065"/>
            <a:ext cx="306070" cy="846455"/>
          </a:xfrm>
          <a:prstGeom prst="rect">
            <a:avLst/>
          </a:prstGeom>
          <a:solidFill>
            <a:schemeClr val="accent1">
              <a:lumMod val="20000"/>
              <a:lumOff val="80000"/>
            </a:schemeClr>
          </a:solidFill>
        </p:spPr>
        <p:txBody>
          <a:bodyPr wrap="square" rtlCol="0" anchor="ctr">
            <a:noAutofit/>
          </a:bodyPr>
          <a:lstStyle/>
          <a:p>
            <a:pPr lvl="0" algn="ctr" fontAlgn="base">
              <a:buClrTx/>
              <a:buSzTx/>
              <a:buFontTx/>
            </a:pPr>
            <a:r>
              <a:rPr lang="zh-CN" altLang="en-US" sz="1100" dirty="0">
                <a:solidFill>
                  <a:srgbClr val="000000"/>
                </a:solidFill>
                <a:latin typeface="微软雅黑" panose="020B0503020204020204" charset="-122"/>
                <a:ea typeface="微软雅黑" panose="020B0503020204020204" charset="-122"/>
                <a:cs typeface="+mn-ea"/>
                <a:sym typeface="+mn-lt"/>
              </a:rPr>
              <a:t>网络安全</a:t>
            </a:r>
            <a:endParaRPr lang="zh-CN" altLang="en-US" sz="1100" dirty="0">
              <a:solidFill>
                <a:srgbClr val="000000"/>
              </a:solidFill>
              <a:latin typeface="微软雅黑" panose="020B0503020204020204" charset="-122"/>
              <a:ea typeface="微软雅黑" panose="020B0503020204020204" charset="-122"/>
              <a:cs typeface="+mn-ea"/>
              <a:sym typeface="+mn-lt"/>
            </a:endParaRPr>
          </a:p>
        </p:txBody>
      </p:sp>
      <p:sp>
        <p:nvSpPr>
          <p:cNvPr id="347" name="TextBox 84"/>
          <p:cNvSpPr txBox="1"/>
          <p:nvPr/>
        </p:nvSpPr>
        <p:spPr>
          <a:xfrm>
            <a:off x="11602085" y="5943600"/>
            <a:ext cx="306070" cy="846455"/>
          </a:xfrm>
          <a:prstGeom prst="rect">
            <a:avLst/>
          </a:prstGeom>
          <a:solidFill>
            <a:schemeClr val="accent1">
              <a:lumMod val="20000"/>
              <a:lumOff val="80000"/>
            </a:schemeClr>
          </a:solidFill>
        </p:spPr>
        <p:txBody>
          <a:bodyPr wrap="square" rtlCol="0" anchor="ctr">
            <a:noAutofit/>
          </a:bodyPr>
          <a:lstStyle/>
          <a:p>
            <a:pPr lvl="0" algn="ctr" fontAlgn="base">
              <a:buClrTx/>
              <a:buSzTx/>
              <a:buFontTx/>
            </a:pPr>
            <a:r>
              <a:rPr lang="zh-CN" altLang="en-US" sz="1100" dirty="0">
                <a:solidFill>
                  <a:srgbClr val="000000"/>
                </a:solidFill>
                <a:latin typeface="微软雅黑" panose="020B0503020204020204" charset="-122"/>
                <a:ea typeface="微软雅黑" panose="020B0503020204020204" charset="-122"/>
                <a:cs typeface="+mn-ea"/>
                <a:sym typeface="+mn-lt"/>
              </a:rPr>
              <a:t>设备安全</a:t>
            </a:r>
            <a:endParaRPr lang="zh-CN" altLang="en-US" sz="1100" dirty="0">
              <a:solidFill>
                <a:srgbClr val="000000"/>
              </a:solidFill>
              <a:latin typeface="微软雅黑" panose="020B0503020204020204" charset="-122"/>
              <a:ea typeface="微软雅黑" panose="020B0503020204020204" charset="-122"/>
              <a:cs typeface="+mn-ea"/>
              <a:sym typeface="+mn-lt"/>
            </a:endParaRPr>
          </a:p>
        </p:txBody>
      </p:sp>
      <p:sp>
        <p:nvSpPr>
          <p:cNvPr id="375" name="矩形: 圆角 18"/>
          <p:cNvSpPr/>
          <p:nvPr/>
        </p:nvSpPr>
        <p:spPr>
          <a:xfrm>
            <a:off x="1278890" y="1584960"/>
            <a:ext cx="8573135" cy="1492885"/>
          </a:xfrm>
          <a:prstGeom prst="roundRect">
            <a:avLst>
              <a:gd name="adj" fmla="val 4681"/>
            </a:avLst>
          </a:prstGeom>
          <a:solidFill>
            <a:srgbClr val="DEEBF7"/>
          </a:solidFill>
          <a:ln w="12700">
            <a:noFill/>
            <a:prstDash val="dash"/>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a:latin typeface="微软雅黑" panose="020B0503020204020204" charset="-122"/>
              <a:ea typeface="微软雅黑" panose="020B0503020204020204" charset="-122"/>
              <a:cs typeface="+mn-ea"/>
              <a:sym typeface="+mn-lt"/>
            </a:endParaRPr>
          </a:p>
        </p:txBody>
      </p:sp>
      <p:grpSp>
        <p:nvGrpSpPr>
          <p:cNvPr id="49" name="组合 48"/>
          <p:cNvGrpSpPr/>
          <p:nvPr/>
        </p:nvGrpSpPr>
        <p:grpSpPr>
          <a:xfrm>
            <a:off x="1376678" y="1713070"/>
            <a:ext cx="810175" cy="1316356"/>
            <a:chOff x="1352713" y="1716405"/>
            <a:chExt cx="854932" cy="1316356"/>
          </a:xfrm>
        </p:grpSpPr>
        <p:sp>
          <p:nvSpPr>
            <p:cNvPr id="378" name="矩形: 圆角 19"/>
            <p:cNvSpPr/>
            <p:nvPr/>
          </p:nvSpPr>
          <p:spPr>
            <a:xfrm>
              <a:off x="1380490" y="1747521"/>
              <a:ext cx="796290" cy="1285240"/>
            </a:xfrm>
            <a:prstGeom prst="roundRect">
              <a:avLst>
                <a:gd name="adj" fmla="val 8101"/>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sym typeface="+mn-lt"/>
              </a:endParaRPr>
            </a:p>
          </p:txBody>
        </p:sp>
        <p:sp>
          <p:nvSpPr>
            <p:cNvPr id="379" name="文本框 378"/>
            <p:cNvSpPr txBox="1"/>
            <p:nvPr/>
          </p:nvSpPr>
          <p:spPr>
            <a:xfrm>
              <a:off x="1352713" y="1716405"/>
              <a:ext cx="854932" cy="245110"/>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需求计划</a:t>
              </a:r>
              <a:endParaRPr kumimoji="0" lang="zh-CN" altLang="en-US" sz="1000" b="1" i="0" u="none" strike="noStrike" kern="1200" cap="none" spc="0" normalizeH="0" baseline="0"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sp>
          <p:nvSpPr>
            <p:cNvPr id="380" name="长方形"/>
            <p:cNvSpPr/>
            <p:nvPr/>
          </p:nvSpPr>
          <p:spPr>
            <a:xfrm>
              <a:off x="1454150" y="196151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采购预算</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81" name="长方形"/>
            <p:cNvSpPr/>
            <p:nvPr/>
          </p:nvSpPr>
          <p:spPr>
            <a:xfrm>
              <a:off x="1454150" y="2329180"/>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采购需求</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82" name="长方形"/>
            <p:cNvSpPr/>
            <p:nvPr/>
          </p:nvSpPr>
          <p:spPr>
            <a:xfrm>
              <a:off x="1454150" y="269684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需求池</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grpSp>
      <p:sp>
        <p:nvSpPr>
          <p:cNvPr id="414" name="文本框 413"/>
          <p:cNvSpPr txBox="1"/>
          <p:nvPr/>
        </p:nvSpPr>
        <p:spPr>
          <a:xfrm>
            <a:off x="4857432" y="1522730"/>
            <a:ext cx="1785302" cy="260350"/>
          </a:xfrm>
          <a:prstGeom prst="rect">
            <a:avLst/>
          </a:prstGeom>
          <a:noFill/>
        </p:spPr>
        <p:txBody>
          <a:bodyPr wrap="square">
            <a:spAutoFit/>
          </a:bodyPr>
          <a:lstStyle/>
          <a:p>
            <a:pPr algn="ctr"/>
            <a:r>
              <a:rPr lang="zh-CN" altLang="en-US" sz="1100" b="1" dirty="0">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智慧交易</a:t>
            </a:r>
            <a:endParaRPr lang="zh-CN" altLang="en-US" sz="1100" b="1" dirty="0">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49" name="矩形 448"/>
          <p:cNvSpPr/>
          <p:nvPr/>
        </p:nvSpPr>
        <p:spPr>
          <a:xfrm>
            <a:off x="1540510" y="3211830"/>
            <a:ext cx="5212080" cy="259715"/>
          </a:xfrm>
          <a:prstGeom prst="rect">
            <a:avLst/>
          </a:prstGeom>
          <a:solidFill>
            <a:srgbClr val="EDF3FA"/>
          </a:solidFill>
          <a:ln>
            <a:noFill/>
          </a:ln>
        </p:spPr>
        <p:style>
          <a:lnRef idx="2">
            <a:schemeClr val="accent3">
              <a:shade val="50000"/>
            </a:schemeClr>
          </a:lnRef>
          <a:fillRef idx="1">
            <a:schemeClr val="accent3"/>
          </a:fillRef>
          <a:effectRef idx="0">
            <a:schemeClr val="accent3"/>
          </a:effectRef>
          <a:fontRef idx="minor">
            <a:schemeClr val="lt1"/>
          </a:fontRef>
        </p:style>
        <p:txBody>
          <a:bodyPr vertOverflow="overflow" horzOverflow="overflow" vert="horz" wrap="none" numCol="1" spcCol="0" rtlCol="0" fromWordArt="0" anchor="t" anchorCtr="0" forceAA="0" compatLnSpc="1">
            <a:noAutofit/>
          </a:bodyPr>
          <a:lstStyle/>
          <a:p>
            <a:pPr lvl="0" algn="ctr">
              <a:spcBef>
                <a:spcPts val="0"/>
              </a:spcBef>
              <a:spcAft>
                <a:spcPts val="0"/>
              </a:spcAft>
              <a:buClrTx/>
              <a:buSzTx/>
              <a:buFontTx/>
              <a:defRPr/>
            </a:pPr>
            <a:r>
              <a:rPr lang="zh-CN" altLang="en-US" sz="12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sym typeface="+mn-ea"/>
              </a:rPr>
              <a:t>统一低码开发平台</a:t>
            </a:r>
            <a:endParaRPr lang="zh-CN" altLang="en-US" sz="12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sym typeface="+mn-ea"/>
            </a:endParaRPr>
          </a:p>
        </p:txBody>
      </p:sp>
      <p:sp>
        <p:nvSpPr>
          <p:cNvPr id="450" name="矩形: 圆角 1013"/>
          <p:cNvSpPr/>
          <p:nvPr/>
        </p:nvSpPr>
        <p:spPr>
          <a:xfrm>
            <a:off x="6449060" y="1094105"/>
            <a:ext cx="5023485" cy="329565"/>
          </a:xfrm>
          <a:prstGeom prst="roundRect">
            <a:avLst>
              <a:gd name="adj" fmla="val 8101"/>
            </a:avLst>
          </a:prstGeom>
          <a:solidFill>
            <a:srgbClr val="EDF3FA"/>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solidFill>
                <a:prstClr val="black"/>
              </a:solidFill>
              <a:effectLst/>
              <a:uLnTx/>
              <a:uFillTx/>
              <a:latin typeface="微软雅黑" panose="020B0503020204020204" charset="-122"/>
              <a:ea typeface="微软雅黑" panose="020B0503020204020204" charset="-122"/>
              <a:sym typeface="+mn-lt"/>
            </a:endParaRPr>
          </a:p>
        </p:txBody>
      </p:sp>
      <p:sp>
        <p:nvSpPr>
          <p:cNvPr id="452" name="矩形: 圆角 30"/>
          <p:cNvSpPr/>
          <p:nvPr/>
        </p:nvSpPr>
        <p:spPr>
          <a:xfrm>
            <a:off x="6449060" y="1094105"/>
            <a:ext cx="474345" cy="333375"/>
          </a:xfrm>
          <a:prstGeom prst="roundRect">
            <a:avLst>
              <a:gd name="adj" fmla="val 13820"/>
            </a:avLst>
          </a:prstGeom>
          <a:solidFill>
            <a:srgbClr val="2E54A1"/>
          </a:solidFill>
          <a:ln w="38100" cap="flat" cmpd="sng" algn="ctr">
            <a:noFill/>
            <a:prstDash val="solid"/>
            <a:miter lim="800000"/>
          </a:ln>
          <a:effectLst/>
        </p:spPr>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prstClr val="white"/>
                </a:solidFill>
                <a:uLnTx/>
                <a:uFillTx/>
                <a:latin typeface="微软雅黑" panose="020B0503020204020204" charset="-122"/>
                <a:ea typeface="微软雅黑" panose="020B0503020204020204" charset="-122"/>
              </a:rPr>
              <a:t>外部系统</a:t>
            </a:r>
            <a:endParaRPr kumimoji="0" lang="zh-CN" altLang="en-US" sz="900" b="1" i="0" u="none" strike="noStrike" kern="0" cap="none" spc="0" normalizeH="0" baseline="0" noProof="0" dirty="0">
              <a:ln>
                <a:noFill/>
              </a:ln>
              <a:solidFill>
                <a:prstClr val="white"/>
              </a:solidFill>
              <a:uLnTx/>
              <a:uFillTx/>
              <a:latin typeface="微软雅黑" panose="020B0503020204020204" charset="-122"/>
              <a:ea typeface="微软雅黑" panose="020B0503020204020204" charset="-122"/>
            </a:endParaRPr>
          </a:p>
        </p:txBody>
      </p:sp>
      <p:grpSp>
        <p:nvGrpSpPr>
          <p:cNvPr id="58" name="组合 57"/>
          <p:cNvGrpSpPr/>
          <p:nvPr/>
        </p:nvGrpSpPr>
        <p:grpSpPr>
          <a:xfrm>
            <a:off x="8991593" y="1713546"/>
            <a:ext cx="837963" cy="1316356"/>
            <a:chOff x="9507559" y="1716405"/>
            <a:chExt cx="884255" cy="1316356"/>
          </a:xfrm>
        </p:grpSpPr>
        <p:sp>
          <p:nvSpPr>
            <p:cNvPr id="459" name="矩形: 圆角 66"/>
            <p:cNvSpPr/>
            <p:nvPr/>
          </p:nvSpPr>
          <p:spPr>
            <a:xfrm>
              <a:off x="9539605" y="1746251"/>
              <a:ext cx="798195" cy="1286510"/>
            </a:xfrm>
            <a:prstGeom prst="roundRect">
              <a:avLst>
                <a:gd name="adj" fmla="val 8101"/>
              </a:avLst>
            </a:prstGeom>
            <a:solidFill>
              <a:schemeClr val="accent1">
                <a:lumMod val="40000"/>
                <a:lumOff val="60000"/>
              </a:schemeClr>
            </a:solidFill>
            <a:ln w="38100" cap="flat" cmpd="sng" algn="ctr">
              <a:noFill/>
              <a:prstDash val="solid"/>
              <a:miter lim="800000"/>
            </a:ln>
            <a:effectLst/>
          </p:spPr>
          <p:txBody>
            <a:bodyPr wrap="none" lIns="98755" tIns="49378" rIns="98755" bIns="49378" rtlCol="0" anchor="ctr">
              <a:noAutofit/>
            </a:bodyPr>
            <a:lstStyle/>
            <a:p>
              <a:pPr lvl="0" algn="ctr">
                <a:buClrTx/>
                <a:buSzTx/>
                <a:buFontTx/>
              </a:pPr>
              <a:endParaRPr lang="zh-CN" altLang="en-US" sz="1000" b="1">
                <a:latin typeface="微软雅黑" panose="020B0503020204020204" charset="-122"/>
                <a:ea typeface="微软雅黑" panose="020B0503020204020204" charset="-122"/>
                <a:cs typeface="+mn-ea"/>
                <a:sym typeface="+mn-lt"/>
              </a:endParaRPr>
            </a:p>
          </p:txBody>
        </p:sp>
        <p:sp>
          <p:nvSpPr>
            <p:cNvPr id="460" name="文本框 459"/>
            <p:cNvSpPr txBox="1"/>
            <p:nvPr/>
          </p:nvSpPr>
          <p:spPr>
            <a:xfrm>
              <a:off x="9507559" y="1716405"/>
              <a:ext cx="884255" cy="246221"/>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lvl="0" algn="l">
                <a:lnSpc>
                  <a:spcPct val="100000"/>
                </a:lnSpc>
                <a:spcBef>
                  <a:spcPts val="0"/>
                </a:spcBef>
                <a:spcAft>
                  <a:spcPts val="0"/>
                </a:spcAft>
                <a:buClrTx/>
                <a:buSzTx/>
                <a:buFontTx/>
                <a:defRPr/>
              </a:pPr>
              <a:r>
                <a:rPr lang="zh-CN" altLang="en-US" sz="10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智能物料</a:t>
              </a:r>
              <a:endParaRPr lang="zh-CN" altLang="en-US" sz="10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sp>
          <p:nvSpPr>
            <p:cNvPr id="461" name="长方形"/>
            <p:cNvSpPr/>
            <p:nvPr/>
          </p:nvSpPr>
          <p:spPr>
            <a:xfrm>
              <a:off x="9620885" y="2015490"/>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物料类别</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462" name="长方形"/>
            <p:cNvSpPr/>
            <p:nvPr/>
          </p:nvSpPr>
          <p:spPr>
            <a:xfrm>
              <a:off x="9620885" y="2251710"/>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物料信息</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463" name="长方形"/>
            <p:cNvSpPr/>
            <p:nvPr/>
          </p:nvSpPr>
          <p:spPr>
            <a:xfrm>
              <a:off x="9620885" y="251650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物料查询</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465" name="长方形"/>
            <p:cNvSpPr/>
            <p:nvPr/>
          </p:nvSpPr>
          <p:spPr>
            <a:xfrm>
              <a:off x="9620885" y="275780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00" kern="0" dirty="0">
                  <a:solidFill>
                    <a:srgbClr val="FFFFFF"/>
                  </a:solidFill>
                  <a:latin typeface="微软雅黑" panose="020B0503020204020204" charset="-122"/>
                  <a:ea typeface="微软雅黑" panose="020B0503020204020204" charset="-122"/>
                  <a:sym typeface="微软雅黑" panose="020B0503020204020204" charset="-122"/>
                </a:rPr>
                <a:t>采购负责人设置</a:t>
              </a:r>
              <a:endParaRPr lang="zh-CN" altLang="en-US" sz="700" kern="0" dirty="0">
                <a:solidFill>
                  <a:srgbClr val="FFFFFF"/>
                </a:solidFill>
                <a:latin typeface="微软雅黑" panose="020B0503020204020204" charset="-122"/>
                <a:ea typeface="微软雅黑" panose="020B0503020204020204" charset="-122"/>
                <a:sym typeface="微软雅黑" panose="020B0503020204020204" charset="-122"/>
              </a:endParaRPr>
            </a:p>
          </p:txBody>
        </p:sp>
      </p:grpSp>
      <p:sp>
        <p:nvSpPr>
          <p:cNvPr id="466" name="矩形: 圆角 171"/>
          <p:cNvSpPr/>
          <p:nvPr/>
        </p:nvSpPr>
        <p:spPr>
          <a:xfrm>
            <a:off x="1521460" y="4653915"/>
            <a:ext cx="5248910" cy="1014095"/>
          </a:xfrm>
          <a:prstGeom prst="roundRect">
            <a:avLst>
              <a:gd name="adj" fmla="val 8358"/>
            </a:avLst>
          </a:prstGeom>
          <a:solidFill>
            <a:srgbClr val="0F6FC6"/>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endParaRPr lang="zh-CN" altLang="en-US" sz="800">
              <a:solidFill>
                <a:prstClr val="white"/>
              </a:solidFill>
              <a:latin typeface="微软雅黑" panose="020B0503020204020204" charset="-122"/>
              <a:ea typeface="微软雅黑" panose="020B0503020204020204" charset="-122"/>
              <a:sym typeface="+mn-lt"/>
            </a:endParaRPr>
          </a:p>
        </p:txBody>
      </p:sp>
      <p:sp>
        <p:nvSpPr>
          <p:cNvPr id="467" name="矩形: 圆角 172"/>
          <p:cNvSpPr/>
          <p:nvPr>
            <p:custDataLst>
              <p:tags r:id="rId6"/>
            </p:custDataLst>
          </p:nvPr>
        </p:nvSpPr>
        <p:spPr>
          <a:xfrm>
            <a:off x="4006850" y="4672965"/>
            <a:ext cx="2729865" cy="964565"/>
          </a:xfrm>
          <a:prstGeom prst="roundRect">
            <a:avLst>
              <a:gd name="adj" fmla="val 9166"/>
            </a:avLst>
          </a:prstGeom>
          <a:solidFill>
            <a:srgbClr val="EDF3FA"/>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mn-ea"/>
              <a:sym typeface="+mn-ea"/>
            </a:endParaRPr>
          </a:p>
        </p:txBody>
      </p:sp>
      <p:sp>
        <p:nvSpPr>
          <p:cNvPr id="468" name="矩形: 圆角 173"/>
          <p:cNvSpPr/>
          <p:nvPr>
            <p:custDataLst>
              <p:tags r:id="rId7"/>
            </p:custDataLst>
          </p:nvPr>
        </p:nvSpPr>
        <p:spPr>
          <a:xfrm>
            <a:off x="1778635" y="4672965"/>
            <a:ext cx="2192655" cy="973455"/>
          </a:xfrm>
          <a:prstGeom prst="roundRect">
            <a:avLst>
              <a:gd name="adj" fmla="val 9166"/>
            </a:avLst>
          </a:prstGeom>
          <a:solidFill>
            <a:srgbClr val="EDF3FA"/>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mn-ea"/>
              <a:sym typeface="+mn-ea"/>
            </a:endParaRPr>
          </a:p>
        </p:txBody>
      </p:sp>
      <p:sp>
        <p:nvSpPr>
          <p:cNvPr id="469" name="长方形"/>
          <p:cNvSpPr/>
          <p:nvPr/>
        </p:nvSpPr>
        <p:spPr>
          <a:xfrm>
            <a:off x="1949450" y="4808220"/>
            <a:ext cx="106362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公平</a:t>
            </a:r>
            <a:r>
              <a:rPr lang="zh-CN" altLang="en-US" sz="900" kern="0">
                <a:solidFill>
                  <a:srgbClr val="FFFFFF"/>
                </a:solidFill>
                <a:latin typeface="微软雅黑" panose="020B0503020204020204" charset="-122"/>
                <a:ea typeface="微软雅黑" panose="020B0503020204020204" charset="-122"/>
                <a:sym typeface="+mn-lt"/>
              </a:rPr>
              <a:t>竞争审查</a:t>
            </a:r>
            <a:r>
              <a:rPr lang="en-US" altLang="zh-CN" sz="900" kern="0" dirty="0">
                <a:solidFill>
                  <a:srgbClr val="FFFFFF"/>
                </a:solidFill>
                <a:latin typeface="微软雅黑" panose="020B0503020204020204" charset="-122"/>
                <a:ea typeface="微软雅黑" panose="020B0503020204020204" charset="-122"/>
                <a:sym typeface="+mn-lt"/>
              </a:rPr>
              <a:t>Agent</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470" name="长方形"/>
          <p:cNvSpPr/>
          <p:nvPr/>
        </p:nvSpPr>
        <p:spPr>
          <a:xfrm>
            <a:off x="3034665" y="4808220"/>
            <a:ext cx="91376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a:solidFill>
                  <a:srgbClr val="FFFFFF"/>
                </a:solidFill>
                <a:latin typeface="微软雅黑" panose="020B0503020204020204" charset="-122"/>
                <a:ea typeface="微软雅黑" panose="020B0503020204020204" charset="-122"/>
                <a:sym typeface="+mn-lt"/>
              </a:rPr>
              <a:t>智能评审</a:t>
            </a:r>
            <a:r>
              <a:rPr lang="en-US" altLang="zh-CN" sz="900" kern="0" dirty="0">
                <a:solidFill>
                  <a:srgbClr val="FFFFFF"/>
                </a:solidFill>
                <a:latin typeface="微软雅黑" panose="020B0503020204020204" charset="-122"/>
                <a:ea typeface="微软雅黑" panose="020B0503020204020204" charset="-122"/>
                <a:sym typeface="+mn-lt"/>
              </a:rPr>
              <a:t>Agent</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471" name="长方形"/>
          <p:cNvSpPr/>
          <p:nvPr/>
        </p:nvSpPr>
        <p:spPr>
          <a:xfrm>
            <a:off x="1949450" y="5081905"/>
            <a:ext cx="106362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a:solidFill>
                  <a:srgbClr val="FFFFFF"/>
                </a:solidFill>
                <a:latin typeface="微软雅黑" panose="020B0503020204020204" charset="-122"/>
                <a:ea typeface="微软雅黑" panose="020B0503020204020204" charset="-122"/>
                <a:sym typeface="+mn-lt"/>
              </a:rPr>
              <a:t>法规咨询</a:t>
            </a:r>
            <a:r>
              <a:rPr lang="en-US" altLang="zh-CN" sz="900" kern="0" dirty="0">
                <a:solidFill>
                  <a:srgbClr val="FFFFFF"/>
                </a:solidFill>
                <a:latin typeface="微软雅黑" panose="020B0503020204020204" charset="-122"/>
                <a:ea typeface="微软雅黑" panose="020B0503020204020204" charset="-122"/>
                <a:sym typeface="+mn-lt"/>
              </a:rPr>
              <a:t>Agent</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472" name="长方形"/>
          <p:cNvSpPr/>
          <p:nvPr/>
        </p:nvSpPr>
        <p:spPr>
          <a:xfrm>
            <a:off x="3034665" y="5081905"/>
            <a:ext cx="91376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a:solidFill>
                  <a:srgbClr val="FFFFFF"/>
                </a:solidFill>
                <a:latin typeface="微软雅黑" panose="020B0503020204020204" charset="-122"/>
                <a:ea typeface="微软雅黑" panose="020B0503020204020204" charset="-122"/>
                <a:sym typeface="+mn-lt"/>
              </a:rPr>
              <a:t>文件解读</a:t>
            </a:r>
            <a:r>
              <a:rPr lang="en-US" altLang="zh-CN" sz="900" kern="0" dirty="0">
                <a:solidFill>
                  <a:srgbClr val="FFFFFF"/>
                </a:solidFill>
                <a:latin typeface="微软雅黑" panose="020B0503020204020204" charset="-122"/>
                <a:ea typeface="微软雅黑" panose="020B0503020204020204" charset="-122"/>
                <a:sym typeface="+mn-lt"/>
              </a:rPr>
              <a:t>Agent</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473" name="长方形"/>
          <p:cNvSpPr/>
          <p:nvPr/>
        </p:nvSpPr>
        <p:spPr>
          <a:xfrm>
            <a:off x="1949450" y="5355590"/>
            <a:ext cx="106362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a:solidFill>
                  <a:srgbClr val="FFFFFF"/>
                </a:solidFill>
                <a:latin typeface="微软雅黑" panose="020B0503020204020204" charset="-122"/>
                <a:ea typeface="微软雅黑" panose="020B0503020204020204" charset="-122"/>
                <a:sym typeface="+mn-lt"/>
              </a:rPr>
              <a:t>文件编制</a:t>
            </a:r>
            <a:r>
              <a:rPr lang="en-US" altLang="zh-CN" sz="900" kern="0" dirty="0">
                <a:solidFill>
                  <a:srgbClr val="FFFFFF"/>
                </a:solidFill>
                <a:latin typeface="微软雅黑" panose="020B0503020204020204" charset="-122"/>
                <a:ea typeface="微软雅黑" panose="020B0503020204020204" charset="-122"/>
                <a:sym typeface="+mn-lt"/>
              </a:rPr>
              <a:t>Agent</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474" name="长方形"/>
          <p:cNvSpPr/>
          <p:nvPr/>
        </p:nvSpPr>
        <p:spPr>
          <a:xfrm>
            <a:off x="3034665" y="5355590"/>
            <a:ext cx="91376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智能</a:t>
            </a:r>
            <a:r>
              <a:rPr lang="zh-CN" altLang="en-US" sz="900" kern="0">
                <a:solidFill>
                  <a:srgbClr val="FFFFFF"/>
                </a:solidFill>
                <a:latin typeface="微软雅黑" panose="020B0503020204020204" charset="-122"/>
                <a:ea typeface="微软雅黑" panose="020B0503020204020204" charset="-122"/>
                <a:sym typeface="+mn-lt"/>
              </a:rPr>
              <a:t>客服</a:t>
            </a:r>
            <a:r>
              <a:rPr lang="en-US" altLang="zh-CN" sz="900" kern="0" dirty="0">
                <a:solidFill>
                  <a:srgbClr val="FFFFFF"/>
                </a:solidFill>
                <a:latin typeface="微软雅黑" panose="020B0503020204020204" charset="-122"/>
                <a:ea typeface="微软雅黑" panose="020B0503020204020204" charset="-122"/>
                <a:sym typeface="+mn-lt"/>
              </a:rPr>
              <a:t>Agent</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475" name="长方形"/>
          <p:cNvSpPr/>
          <p:nvPr/>
        </p:nvSpPr>
        <p:spPr>
          <a:xfrm>
            <a:off x="4225925" y="4928235"/>
            <a:ext cx="74295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rPr>
              <a:t>证照识别</a:t>
            </a:r>
            <a:endParaRPr lang="zh-CN" altLang="en-US" sz="900" kern="0" dirty="0">
              <a:solidFill>
                <a:srgbClr val="FFFFFF"/>
              </a:solidFill>
              <a:latin typeface="微软雅黑" panose="020B0503020204020204" charset="-122"/>
              <a:ea typeface="微软雅黑" panose="020B0503020204020204" charset="-122"/>
            </a:endParaRPr>
          </a:p>
        </p:txBody>
      </p:sp>
      <p:sp>
        <p:nvSpPr>
          <p:cNvPr id="476" name="长方形"/>
          <p:cNvSpPr/>
          <p:nvPr/>
        </p:nvSpPr>
        <p:spPr>
          <a:xfrm>
            <a:off x="4996180" y="4712970"/>
            <a:ext cx="82867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rPr>
              <a:t>负面清单检测</a:t>
            </a:r>
            <a:endParaRPr lang="zh-CN" altLang="en-US" sz="900" kern="0" dirty="0">
              <a:solidFill>
                <a:srgbClr val="FFFFFF"/>
              </a:solidFill>
              <a:latin typeface="微软雅黑" panose="020B0503020204020204" charset="-122"/>
              <a:ea typeface="微软雅黑" panose="020B0503020204020204" charset="-122"/>
            </a:endParaRPr>
          </a:p>
        </p:txBody>
      </p:sp>
      <p:sp>
        <p:nvSpPr>
          <p:cNvPr id="477" name="长方形"/>
          <p:cNvSpPr/>
          <p:nvPr/>
        </p:nvSpPr>
        <p:spPr>
          <a:xfrm>
            <a:off x="5852160" y="4710430"/>
            <a:ext cx="82867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a:solidFill>
                  <a:srgbClr val="FFFFFF"/>
                </a:solidFill>
                <a:latin typeface="微软雅黑" panose="020B0503020204020204" charset="-122"/>
                <a:ea typeface="微软雅黑" panose="020B0503020204020204" charset="-122"/>
              </a:rPr>
              <a:t>黄敏反错检测</a:t>
            </a:r>
            <a:endParaRPr lang="zh-CN" altLang="en-US" sz="900" kern="0" dirty="0">
              <a:solidFill>
                <a:srgbClr val="FFFFFF"/>
              </a:solidFill>
              <a:latin typeface="微软雅黑" panose="020B0503020204020204" charset="-122"/>
              <a:ea typeface="微软雅黑" panose="020B0503020204020204" charset="-122"/>
            </a:endParaRPr>
          </a:p>
        </p:txBody>
      </p:sp>
      <p:sp>
        <p:nvSpPr>
          <p:cNvPr id="478" name="长方形"/>
          <p:cNvSpPr/>
          <p:nvPr/>
        </p:nvSpPr>
        <p:spPr>
          <a:xfrm>
            <a:off x="4225925" y="4710430"/>
            <a:ext cx="74295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a:solidFill>
                  <a:srgbClr val="FFFFFF"/>
                </a:solidFill>
                <a:latin typeface="微软雅黑" panose="020B0503020204020204" charset="-122"/>
                <a:ea typeface="微软雅黑" panose="020B0503020204020204" charset="-122"/>
              </a:rPr>
              <a:t>相似度分析</a:t>
            </a:r>
            <a:endParaRPr lang="zh-CN" altLang="en-US" sz="900" kern="0" dirty="0">
              <a:solidFill>
                <a:srgbClr val="FFFFFF"/>
              </a:solidFill>
              <a:latin typeface="微软雅黑" panose="020B0503020204020204" charset="-122"/>
              <a:ea typeface="微软雅黑" panose="020B0503020204020204" charset="-122"/>
            </a:endParaRPr>
          </a:p>
        </p:txBody>
      </p:sp>
      <p:sp>
        <p:nvSpPr>
          <p:cNvPr id="479" name="长方形"/>
          <p:cNvSpPr/>
          <p:nvPr/>
        </p:nvSpPr>
        <p:spPr>
          <a:xfrm>
            <a:off x="4996815" y="4928235"/>
            <a:ext cx="82804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a:solidFill>
                  <a:srgbClr val="FFFFFF"/>
                </a:solidFill>
                <a:latin typeface="微软雅黑" panose="020B0503020204020204" charset="-122"/>
                <a:ea typeface="微软雅黑" panose="020B0503020204020204" charset="-122"/>
              </a:rPr>
              <a:t>人脸识别</a:t>
            </a:r>
            <a:endParaRPr lang="zh-CN" altLang="en-US" sz="900" kern="0" dirty="0">
              <a:solidFill>
                <a:srgbClr val="FFFFFF"/>
              </a:solidFill>
              <a:latin typeface="微软雅黑" panose="020B0503020204020204" charset="-122"/>
              <a:ea typeface="微软雅黑" panose="020B0503020204020204" charset="-122"/>
            </a:endParaRPr>
          </a:p>
        </p:txBody>
      </p:sp>
      <p:sp>
        <p:nvSpPr>
          <p:cNvPr id="480" name="长方形"/>
          <p:cNvSpPr/>
          <p:nvPr/>
        </p:nvSpPr>
        <p:spPr>
          <a:xfrm>
            <a:off x="5852795" y="4928235"/>
            <a:ext cx="82804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a:solidFill>
                  <a:srgbClr val="FFFFFF"/>
                </a:solidFill>
                <a:latin typeface="微软雅黑" panose="020B0503020204020204" charset="-122"/>
                <a:ea typeface="微软雅黑" panose="020B0503020204020204" charset="-122"/>
                <a:sym typeface="+mn-lt"/>
              </a:rPr>
              <a:t>区块链</a:t>
            </a:r>
            <a:endParaRPr lang="en-US" altLang="zh-CN" sz="900" kern="0" dirty="0">
              <a:solidFill>
                <a:srgbClr val="FFFFFF"/>
              </a:solidFill>
              <a:latin typeface="微软雅黑" panose="020B0503020204020204" charset="-122"/>
              <a:ea typeface="微软雅黑" panose="020B0503020204020204" charset="-122"/>
              <a:sym typeface="+mn-lt"/>
            </a:endParaRPr>
          </a:p>
        </p:txBody>
      </p:sp>
      <p:sp>
        <p:nvSpPr>
          <p:cNvPr id="497" name="文本框 496"/>
          <p:cNvSpPr txBox="1"/>
          <p:nvPr/>
        </p:nvSpPr>
        <p:spPr>
          <a:xfrm>
            <a:off x="1469390" y="4653915"/>
            <a:ext cx="309880" cy="1014095"/>
          </a:xfrm>
          <a:prstGeom prst="rect">
            <a:avLst/>
          </a:prstGeom>
          <a:noFill/>
          <a:effectLst/>
        </p:spPr>
        <p:txBody>
          <a:bodyPr vert="mongolianVert" wrap="none" rtlCol="0">
            <a:no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bg1"/>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能力</a:t>
            </a:r>
            <a:r>
              <a:rPr kumimoji="0" lang="en-US" altLang="zh-CN" sz="1000" b="1" i="0" u="none" strike="noStrike" kern="1200" cap="none" spc="0" normalizeH="0" baseline="0" noProof="0" dirty="0">
                <a:ln>
                  <a:noFill/>
                </a:ln>
                <a:solidFill>
                  <a:schemeClr val="bg1"/>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a:t>
            </a:r>
            <a:r>
              <a:rPr kumimoji="0" lang="zh-CN" altLang="en-US" sz="1000" b="1" i="0" u="none" strike="noStrike" kern="1200" cap="none" spc="0" normalizeH="0" baseline="0" noProof="0" dirty="0">
                <a:ln>
                  <a:noFill/>
                </a:ln>
                <a:solidFill>
                  <a:schemeClr val="bg1"/>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应用</a:t>
            </a:r>
            <a:endParaRPr kumimoji="0" lang="zh-CN" altLang="en-US" sz="1000" b="1" i="0" u="none" strike="noStrike" kern="1200" cap="none" spc="0" normalizeH="0" baseline="0" noProof="0" dirty="0">
              <a:ln>
                <a:noFill/>
              </a:ln>
              <a:solidFill>
                <a:schemeClr val="bg1"/>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sp>
        <p:nvSpPr>
          <p:cNvPr id="498" name="文本框 497"/>
          <p:cNvSpPr txBox="1"/>
          <p:nvPr/>
        </p:nvSpPr>
        <p:spPr>
          <a:xfrm>
            <a:off x="1736725" y="4846320"/>
            <a:ext cx="242570" cy="645160"/>
          </a:xfrm>
          <a:prstGeom prst="rect">
            <a:avLst/>
          </a:prstGeom>
          <a:noFill/>
        </p:spPr>
        <p:txBody>
          <a:bodyPr wrap="square">
            <a:spAutoFit/>
          </a:bodyPr>
          <a:lstStyle/>
          <a:p>
            <a:pPr algn="ctr" defTabSz="914400" fontAlgn="base">
              <a:spcBef>
                <a:spcPct val="0"/>
              </a:spcBef>
              <a:spcAft>
                <a:spcPct val="0"/>
              </a:spcAft>
            </a:pPr>
            <a:r>
              <a:rPr lang="zh-CN" altLang="en-US" sz="900" b="1" dirty="0">
                <a:solidFill>
                  <a:schemeClr val="accent1"/>
                </a:solidFill>
                <a:latin typeface="微软雅黑" panose="020B0503020204020204" charset="-122"/>
                <a:ea typeface="微软雅黑" panose="020B0503020204020204" charset="-122"/>
              </a:rPr>
              <a:t>能力应用</a:t>
            </a:r>
            <a:endParaRPr lang="zh-CN" altLang="en-US" sz="900" b="1" dirty="0">
              <a:solidFill>
                <a:schemeClr val="accent1"/>
              </a:solidFill>
              <a:latin typeface="微软雅黑" panose="020B0503020204020204" charset="-122"/>
              <a:ea typeface="微软雅黑" panose="020B0503020204020204" charset="-122"/>
            </a:endParaRPr>
          </a:p>
        </p:txBody>
      </p:sp>
      <p:sp>
        <p:nvSpPr>
          <p:cNvPr id="499" name="文本框 498"/>
          <p:cNvSpPr txBox="1"/>
          <p:nvPr/>
        </p:nvSpPr>
        <p:spPr>
          <a:xfrm>
            <a:off x="3949065" y="4846320"/>
            <a:ext cx="273050" cy="645160"/>
          </a:xfrm>
          <a:prstGeom prst="rect">
            <a:avLst/>
          </a:prstGeom>
          <a:noFill/>
        </p:spPr>
        <p:txBody>
          <a:bodyPr wrap="square">
            <a:spAutoFit/>
          </a:bodyPr>
          <a:lstStyle/>
          <a:p>
            <a:pPr algn="ctr" defTabSz="914400" fontAlgn="base">
              <a:spcBef>
                <a:spcPct val="0"/>
              </a:spcBef>
              <a:spcAft>
                <a:spcPct val="0"/>
              </a:spcAft>
            </a:pPr>
            <a:r>
              <a:rPr lang="zh-CN" altLang="en-US" sz="900" b="1" dirty="0">
                <a:solidFill>
                  <a:schemeClr val="accent1"/>
                </a:solidFill>
                <a:latin typeface="微软雅黑" panose="020B0503020204020204" charset="-122"/>
                <a:ea typeface="微软雅黑" panose="020B0503020204020204" charset="-122"/>
              </a:rPr>
              <a:t>基础</a:t>
            </a:r>
            <a:endParaRPr lang="en-US" altLang="zh-CN" sz="900" b="1" dirty="0">
              <a:solidFill>
                <a:schemeClr val="accent1"/>
              </a:solidFill>
              <a:latin typeface="微软雅黑" panose="020B0503020204020204" charset="-122"/>
              <a:ea typeface="微软雅黑" panose="020B0503020204020204" charset="-122"/>
            </a:endParaRPr>
          </a:p>
          <a:p>
            <a:pPr algn="ctr" defTabSz="914400" fontAlgn="base">
              <a:spcBef>
                <a:spcPct val="0"/>
              </a:spcBef>
              <a:spcAft>
                <a:spcPct val="0"/>
              </a:spcAft>
            </a:pPr>
            <a:r>
              <a:rPr lang="zh-CN" altLang="en-US" sz="900" b="1" dirty="0">
                <a:solidFill>
                  <a:schemeClr val="accent1"/>
                </a:solidFill>
                <a:latin typeface="微软雅黑" panose="020B0503020204020204" charset="-122"/>
                <a:ea typeface="微软雅黑" panose="020B0503020204020204" charset="-122"/>
              </a:rPr>
              <a:t>能力</a:t>
            </a:r>
            <a:endParaRPr lang="zh-CN" altLang="en-US" sz="900" b="1" dirty="0">
              <a:solidFill>
                <a:schemeClr val="accent1"/>
              </a:solidFill>
              <a:latin typeface="微软雅黑" panose="020B0503020204020204" charset="-122"/>
              <a:ea typeface="微软雅黑" panose="020B0503020204020204" charset="-122"/>
            </a:endParaRPr>
          </a:p>
        </p:txBody>
      </p:sp>
      <p:sp>
        <p:nvSpPr>
          <p:cNvPr id="500" name="TextBox 84"/>
          <p:cNvSpPr txBox="1"/>
          <p:nvPr/>
        </p:nvSpPr>
        <p:spPr>
          <a:xfrm>
            <a:off x="269240" y="4464050"/>
            <a:ext cx="306070" cy="846455"/>
          </a:xfrm>
          <a:prstGeom prst="rect">
            <a:avLst/>
          </a:prstGeom>
          <a:solidFill>
            <a:schemeClr val="accent1">
              <a:lumMod val="20000"/>
              <a:lumOff val="80000"/>
            </a:schemeClr>
          </a:solidFill>
        </p:spPr>
        <p:txBody>
          <a:bodyPr wrap="square" rtlCol="0" anchor="ctr">
            <a:noAutofit/>
          </a:bodyPr>
          <a:lstStyle/>
          <a:p>
            <a:pPr lvl="0" algn="ctr" fontAlgn="base">
              <a:buClrTx/>
              <a:buSzTx/>
              <a:buFontTx/>
            </a:pPr>
            <a:r>
              <a:rPr lang="zh-CN" altLang="en-US" sz="1100" dirty="0">
                <a:solidFill>
                  <a:srgbClr val="000000"/>
                </a:solidFill>
                <a:latin typeface="微软雅黑" panose="020B0503020204020204" charset="-122"/>
                <a:ea typeface="微软雅黑" panose="020B0503020204020204" charset="-122"/>
                <a:cs typeface="+mn-ea"/>
                <a:sym typeface="+mn-lt"/>
              </a:rPr>
              <a:t>运维规范</a:t>
            </a:r>
            <a:endParaRPr lang="zh-CN" altLang="en-US" sz="1100" dirty="0">
              <a:solidFill>
                <a:srgbClr val="000000"/>
              </a:solidFill>
              <a:latin typeface="微软雅黑" panose="020B0503020204020204" charset="-122"/>
              <a:ea typeface="微软雅黑" panose="020B0503020204020204" charset="-122"/>
              <a:cs typeface="+mn-ea"/>
              <a:sym typeface="+mn-lt"/>
            </a:endParaRPr>
          </a:p>
        </p:txBody>
      </p:sp>
      <p:sp>
        <p:nvSpPr>
          <p:cNvPr id="501" name="矩形: 圆角 66"/>
          <p:cNvSpPr/>
          <p:nvPr/>
        </p:nvSpPr>
        <p:spPr>
          <a:xfrm>
            <a:off x="4232275" y="5132070"/>
            <a:ext cx="2447290" cy="488315"/>
          </a:xfrm>
          <a:prstGeom prst="roundRect">
            <a:avLst>
              <a:gd name="adj" fmla="val 8101"/>
            </a:avLst>
          </a:prstGeom>
          <a:solidFill>
            <a:schemeClr val="accent1">
              <a:lumMod val="40000"/>
              <a:lumOff val="60000"/>
            </a:schemeClr>
          </a:solidFill>
          <a:ln w="38100" cap="flat" cmpd="sng" algn="ctr">
            <a:noFill/>
            <a:prstDash val="solid"/>
            <a:miter lim="800000"/>
          </a:ln>
          <a:effectLst/>
        </p:spPr>
        <p:txBody>
          <a:bodyPr wrap="none" lIns="98755" tIns="49378" rIns="98755" bIns="49378" rtlCol="0" anchor="ctr"/>
          <a:lstStyle/>
          <a:p>
            <a:pPr algn="l"/>
            <a:r>
              <a:rPr lang="en-US" altLang="zh-CN" sz="1000" b="1">
                <a:solidFill>
                  <a:schemeClr val="bg1">
                    <a:lumMod val="50000"/>
                  </a:schemeClr>
                </a:solidFill>
                <a:latin typeface="微软雅黑" panose="020B0503020204020204" charset="-122"/>
                <a:ea typeface="微软雅黑" panose="020B0503020204020204" charset="-122"/>
                <a:cs typeface="+mn-ea"/>
                <a:sym typeface="+mn-lt"/>
              </a:rPr>
              <a:t>Mlops</a:t>
            </a:r>
            <a:endParaRPr lang="en-US" altLang="zh-CN" sz="1000" b="1">
              <a:solidFill>
                <a:schemeClr val="bg1">
                  <a:lumMod val="50000"/>
                </a:schemeClr>
              </a:solidFill>
              <a:latin typeface="微软雅黑" panose="020B0503020204020204" charset="-122"/>
              <a:ea typeface="微软雅黑" panose="020B0503020204020204" charset="-122"/>
              <a:cs typeface="+mn-ea"/>
              <a:sym typeface="+mn-lt"/>
            </a:endParaRPr>
          </a:p>
        </p:txBody>
      </p:sp>
      <p:sp>
        <p:nvSpPr>
          <p:cNvPr id="502" name="长方形"/>
          <p:cNvSpPr/>
          <p:nvPr/>
        </p:nvSpPr>
        <p:spPr>
          <a:xfrm>
            <a:off x="4852670" y="5168900"/>
            <a:ext cx="82867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rPr>
              <a:t>模型推理</a:t>
            </a:r>
            <a:endParaRPr lang="zh-CN" altLang="en-US" sz="900" kern="0" dirty="0">
              <a:solidFill>
                <a:srgbClr val="FFFFFF"/>
              </a:solidFill>
              <a:latin typeface="微软雅黑" panose="020B0503020204020204" charset="-122"/>
              <a:ea typeface="微软雅黑" panose="020B0503020204020204" charset="-122"/>
            </a:endParaRPr>
          </a:p>
        </p:txBody>
      </p:sp>
      <p:sp>
        <p:nvSpPr>
          <p:cNvPr id="503" name="矩形: 圆角 308"/>
          <p:cNvSpPr/>
          <p:nvPr/>
        </p:nvSpPr>
        <p:spPr>
          <a:xfrm>
            <a:off x="5791200" y="5411470"/>
            <a:ext cx="828040" cy="182880"/>
          </a:xfrm>
          <a:prstGeom prst="rect">
            <a:avLst/>
          </a:pr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p>
            <a:pPr algn="ctr"/>
            <a:r>
              <a:rPr lang="zh-CN" altLang="en-US" sz="900" kern="0" dirty="0">
                <a:solidFill>
                  <a:srgbClr val="FFFFFF"/>
                </a:solidFill>
                <a:latin typeface="微软雅黑" panose="020B0503020204020204" charset="-122"/>
                <a:ea typeface="微软雅黑" panose="020B0503020204020204" charset="-122"/>
                <a:sym typeface="+mn-lt"/>
              </a:rPr>
              <a:t>向量库</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504" name="矩形: 圆角 310"/>
          <p:cNvSpPr/>
          <p:nvPr/>
        </p:nvSpPr>
        <p:spPr>
          <a:xfrm>
            <a:off x="4855845" y="5411470"/>
            <a:ext cx="828040" cy="182880"/>
          </a:xfrm>
          <a:prstGeom prst="rect">
            <a:avLst/>
          </a:pr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p>
            <a:pPr algn="ctr"/>
            <a:r>
              <a:rPr lang="en-US" altLang="zh-CN" sz="900" kern="0" dirty="0">
                <a:solidFill>
                  <a:srgbClr val="FFFFFF"/>
                </a:solidFill>
                <a:latin typeface="微软雅黑" panose="020B0503020204020204" charset="-122"/>
                <a:ea typeface="微软雅黑" panose="020B0503020204020204" charset="-122"/>
                <a:sym typeface="+mn-lt"/>
              </a:rPr>
              <a:t>RAG</a:t>
            </a:r>
            <a:endParaRPr lang="en-US" altLang="zh-CN" sz="900" kern="0" dirty="0">
              <a:solidFill>
                <a:srgbClr val="FFFFFF"/>
              </a:solidFill>
              <a:latin typeface="微软雅黑" panose="020B0503020204020204" charset="-122"/>
              <a:ea typeface="微软雅黑" panose="020B0503020204020204" charset="-122"/>
              <a:sym typeface="+mn-lt"/>
            </a:endParaRPr>
          </a:p>
        </p:txBody>
      </p:sp>
      <p:sp>
        <p:nvSpPr>
          <p:cNvPr id="505" name="矩形: 圆角 312"/>
          <p:cNvSpPr/>
          <p:nvPr/>
        </p:nvSpPr>
        <p:spPr>
          <a:xfrm>
            <a:off x="5791200" y="5168900"/>
            <a:ext cx="828040" cy="182880"/>
          </a:xfrm>
          <a:prstGeom prst="rect">
            <a:avLst/>
          </a:pr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p>
            <a:pPr algn="ctr"/>
            <a:r>
              <a:rPr lang="en-US" altLang="zh-CN" sz="900" kern="0" dirty="0">
                <a:solidFill>
                  <a:srgbClr val="FFFFFF"/>
                </a:solidFill>
                <a:latin typeface="微软雅黑" panose="020B0503020204020204" charset="-122"/>
                <a:ea typeface="微软雅黑" panose="020B0503020204020204" charset="-122"/>
                <a:sym typeface="+mn-lt"/>
              </a:rPr>
              <a:t>Agent</a:t>
            </a:r>
            <a:r>
              <a:rPr lang="zh-CN" altLang="en-US" sz="900" kern="0" dirty="0">
                <a:solidFill>
                  <a:srgbClr val="FFFFFF"/>
                </a:solidFill>
                <a:latin typeface="微软雅黑" panose="020B0503020204020204" charset="-122"/>
                <a:ea typeface="微软雅黑" panose="020B0503020204020204" charset="-122"/>
                <a:sym typeface="+mn-lt"/>
              </a:rPr>
              <a:t>编排调度</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506" name="矩形: 圆角 148"/>
          <p:cNvSpPr/>
          <p:nvPr/>
        </p:nvSpPr>
        <p:spPr>
          <a:xfrm>
            <a:off x="9250045" y="5731510"/>
            <a:ext cx="2096135" cy="360045"/>
          </a:xfrm>
          <a:prstGeom prst="roundRect">
            <a:avLst>
              <a:gd name="adj" fmla="val 8101"/>
            </a:avLst>
          </a:prstGeom>
          <a:solidFill>
            <a:srgbClr val="EDF3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zh-CN" altLang="en-US">
              <a:latin typeface="微软雅黑" panose="020B0503020204020204" charset="-122"/>
              <a:ea typeface="微软雅黑" panose="020B0503020204020204" charset="-122"/>
              <a:cs typeface="+mn-ea"/>
              <a:sym typeface="+mn-lt"/>
            </a:endParaRPr>
          </a:p>
        </p:txBody>
      </p:sp>
      <p:sp>
        <p:nvSpPr>
          <p:cNvPr id="507" name="文本框 506"/>
          <p:cNvSpPr txBox="1"/>
          <p:nvPr/>
        </p:nvSpPr>
        <p:spPr>
          <a:xfrm>
            <a:off x="9250045" y="5701665"/>
            <a:ext cx="2095500" cy="243840"/>
          </a:xfrm>
          <a:prstGeom prst="rect">
            <a:avLst/>
          </a:prstGeom>
          <a:noFill/>
          <a:ln w="38100" cap="flat" cmpd="sng" algn="ctr">
            <a:noFill/>
            <a:prstDash val="solid"/>
            <a:miter lim="800000"/>
          </a:ln>
          <a:effectLst/>
        </p:spPr>
        <p:txBody>
          <a:bodyPr wrap="none" lIns="98755" tIns="49378" rIns="98755" bIns="49378" rtlCol="0" anchor="ctr">
            <a:noAutofit/>
          </a:bodyPr>
          <a:lstStyle>
            <a:defPPr>
              <a:defRPr lang="zh-CN"/>
            </a:defPPr>
            <a:lvl1pPr algn="ctr">
              <a:defRPr sz="900" kern="0">
                <a:solidFill>
                  <a:srgbClr val="FFFFFF"/>
                </a:solidFill>
                <a:latin typeface="微软雅黑" panose="020B0503020204020204" charset="-122"/>
                <a:ea typeface="微软雅黑" panose="020B0503020204020204" charset="-122"/>
              </a:defRPr>
            </a:lvl1pPr>
          </a:lstStyle>
          <a:p>
            <a:pPr algn="ctr" fontAlgn="base">
              <a:buClrTx/>
              <a:buSzTx/>
              <a:buNone/>
            </a:pPr>
            <a:r>
              <a:rPr lang="zh-CN" altLang="en-US" b="1" kern="1200" dirty="0">
                <a:solidFill>
                  <a:schemeClr val="accent1"/>
                </a:solidFill>
                <a:latin typeface="微软雅黑" panose="020B0503020204020204" charset="-122"/>
                <a:ea typeface="微软雅黑" panose="020B0503020204020204" charset="-122"/>
                <a:sym typeface="+mn-lt"/>
              </a:rPr>
              <a:t>大数据平台</a:t>
            </a:r>
            <a:endParaRPr lang="zh-CN" altLang="en-US" b="1" kern="1200" dirty="0">
              <a:solidFill>
                <a:schemeClr val="accent1"/>
              </a:solidFill>
              <a:latin typeface="微软雅黑" panose="020B0503020204020204" charset="-122"/>
              <a:ea typeface="微软雅黑" panose="020B0503020204020204" charset="-122"/>
              <a:sym typeface="+mn-lt"/>
            </a:endParaRPr>
          </a:p>
        </p:txBody>
      </p:sp>
      <p:sp>
        <p:nvSpPr>
          <p:cNvPr id="508" name="矩形: 圆角 308"/>
          <p:cNvSpPr/>
          <p:nvPr/>
        </p:nvSpPr>
        <p:spPr>
          <a:xfrm>
            <a:off x="9306560" y="5916295"/>
            <a:ext cx="643890" cy="147955"/>
          </a:xfrm>
          <a:prstGeom prst="rect">
            <a:avLst/>
          </a:pr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p>
            <a:pPr algn="ctr"/>
            <a:r>
              <a:rPr lang="zh-CN" altLang="en-US" sz="900" kern="0" dirty="0">
                <a:solidFill>
                  <a:srgbClr val="FFFFFF"/>
                </a:solidFill>
                <a:latin typeface="微软雅黑" panose="020B0503020204020204" charset="-122"/>
                <a:ea typeface="微软雅黑" panose="020B0503020204020204" charset="-122"/>
              </a:rPr>
              <a:t>数据仓储</a:t>
            </a:r>
            <a:endParaRPr lang="zh-CN" altLang="en-US" sz="900" kern="0" dirty="0">
              <a:solidFill>
                <a:srgbClr val="FFFFFF"/>
              </a:solidFill>
              <a:latin typeface="微软雅黑" panose="020B0503020204020204" charset="-122"/>
              <a:ea typeface="微软雅黑" panose="020B0503020204020204" charset="-122"/>
            </a:endParaRPr>
          </a:p>
        </p:txBody>
      </p:sp>
      <p:sp>
        <p:nvSpPr>
          <p:cNvPr id="509" name="矩形: 圆角 310"/>
          <p:cNvSpPr/>
          <p:nvPr/>
        </p:nvSpPr>
        <p:spPr>
          <a:xfrm>
            <a:off x="9980930" y="5916295"/>
            <a:ext cx="643890" cy="147955"/>
          </a:xfrm>
          <a:prstGeom prst="rect">
            <a:avLst/>
          </a:pr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p>
            <a:pPr algn="ctr"/>
            <a:r>
              <a:rPr lang="zh-CN" altLang="en-US" sz="900" kern="0" dirty="0">
                <a:solidFill>
                  <a:srgbClr val="FFFFFF"/>
                </a:solidFill>
                <a:latin typeface="微软雅黑" panose="020B0503020204020204" charset="-122"/>
                <a:ea typeface="微软雅黑" panose="020B0503020204020204" charset="-122"/>
              </a:rPr>
              <a:t>数据分析</a:t>
            </a:r>
            <a:endParaRPr lang="zh-CN" altLang="en-US" sz="900" kern="0" dirty="0">
              <a:solidFill>
                <a:srgbClr val="FFFFFF"/>
              </a:solidFill>
              <a:latin typeface="微软雅黑" panose="020B0503020204020204" charset="-122"/>
              <a:ea typeface="微软雅黑" panose="020B0503020204020204" charset="-122"/>
            </a:endParaRPr>
          </a:p>
        </p:txBody>
      </p:sp>
      <p:sp>
        <p:nvSpPr>
          <p:cNvPr id="510" name="矩形: 圆角 312"/>
          <p:cNvSpPr/>
          <p:nvPr/>
        </p:nvSpPr>
        <p:spPr>
          <a:xfrm>
            <a:off x="10654665" y="5916295"/>
            <a:ext cx="643255" cy="147955"/>
          </a:xfrm>
          <a:prstGeom prst="rect">
            <a:avLst/>
          </a:pr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p>
            <a:pPr algn="ctr"/>
            <a:r>
              <a:rPr lang="zh-CN" altLang="en-US" sz="900" kern="0" dirty="0">
                <a:solidFill>
                  <a:srgbClr val="FFFFFF"/>
                </a:solidFill>
                <a:latin typeface="微软雅黑" panose="020B0503020204020204" charset="-122"/>
                <a:ea typeface="微软雅黑" panose="020B0503020204020204" charset="-122"/>
              </a:rPr>
              <a:t>流式计算</a:t>
            </a:r>
            <a:endParaRPr lang="zh-CN" altLang="en-US" sz="900" kern="0" dirty="0">
              <a:solidFill>
                <a:srgbClr val="FFFFFF"/>
              </a:solidFill>
              <a:latin typeface="微软雅黑" panose="020B0503020204020204" charset="-122"/>
              <a:ea typeface="微软雅黑" panose="020B0503020204020204" charset="-122"/>
            </a:endParaRPr>
          </a:p>
        </p:txBody>
      </p:sp>
      <p:sp>
        <p:nvSpPr>
          <p:cNvPr id="511" name="矩形: 圆角 148"/>
          <p:cNvSpPr/>
          <p:nvPr/>
        </p:nvSpPr>
        <p:spPr>
          <a:xfrm>
            <a:off x="6673850" y="5731510"/>
            <a:ext cx="2548255" cy="360045"/>
          </a:xfrm>
          <a:prstGeom prst="roundRect">
            <a:avLst>
              <a:gd name="adj" fmla="val 8101"/>
            </a:avLst>
          </a:prstGeom>
          <a:solidFill>
            <a:srgbClr val="EDF3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zh-CN" altLang="en-US">
              <a:latin typeface="微软雅黑" panose="020B0503020204020204" charset="-122"/>
              <a:ea typeface="微软雅黑" panose="020B0503020204020204" charset="-122"/>
              <a:cs typeface="+mn-ea"/>
              <a:sym typeface="+mn-lt"/>
            </a:endParaRPr>
          </a:p>
        </p:txBody>
      </p:sp>
      <p:sp>
        <p:nvSpPr>
          <p:cNvPr id="512" name="文本框 511"/>
          <p:cNvSpPr txBox="1"/>
          <p:nvPr/>
        </p:nvSpPr>
        <p:spPr>
          <a:xfrm>
            <a:off x="6673850" y="5701665"/>
            <a:ext cx="2548255" cy="243840"/>
          </a:xfrm>
          <a:prstGeom prst="rect">
            <a:avLst/>
          </a:prstGeom>
          <a:noFill/>
          <a:ln w="38100" cap="flat" cmpd="sng" algn="ctr">
            <a:noFill/>
            <a:prstDash val="solid"/>
            <a:miter lim="800000"/>
          </a:ln>
          <a:effectLst/>
        </p:spPr>
        <p:txBody>
          <a:bodyPr wrap="none" lIns="98755" tIns="49378" rIns="98755" bIns="49378" rtlCol="0" anchor="ctr">
            <a:noAutofit/>
          </a:bodyPr>
          <a:lstStyle>
            <a:defPPr>
              <a:defRPr lang="zh-CN"/>
            </a:defPPr>
            <a:lvl1pPr algn="ctr">
              <a:defRPr sz="900" kern="0">
                <a:solidFill>
                  <a:srgbClr val="FFFFFF"/>
                </a:solidFill>
                <a:latin typeface="微软雅黑" panose="020B0503020204020204" charset="-122"/>
                <a:ea typeface="微软雅黑" panose="020B0503020204020204" charset="-122"/>
              </a:defRPr>
            </a:lvl1pPr>
          </a:lstStyle>
          <a:p>
            <a:pPr algn="ctr" fontAlgn="base">
              <a:buClrTx/>
              <a:buSzTx/>
              <a:buNone/>
            </a:pPr>
            <a:r>
              <a:rPr lang="zh-CN" altLang="en-US" b="1" kern="1200" dirty="0">
                <a:solidFill>
                  <a:schemeClr val="accent1"/>
                </a:solidFill>
                <a:latin typeface="微软雅黑" panose="020B0503020204020204" charset="-122"/>
                <a:ea typeface="微软雅黑" panose="020B0503020204020204" charset="-122"/>
                <a:sym typeface="+mn-lt"/>
              </a:rPr>
              <a:t>运维监控平台</a:t>
            </a:r>
            <a:endParaRPr lang="zh-CN" altLang="en-US" b="1" kern="1200" dirty="0">
              <a:solidFill>
                <a:schemeClr val="accent1"/>
              </a:solidFill>
              <a:latin typeface="微软雅黑" panose="020B0503020204020204" charset="-122"/>
              <a:ea typeface="微软雅黑" panose="020B0503020204020204" charset="-122"/>
              <a:sym typeface="+mn-lt"/>
            </a:endParaRPr>
          </a:p>
        </p:txBody>
      </p:sp>
      <p:sp>
        <p:nvSpPr>
          <p:cNvPr id="535" name="矩形: 圆角 308"/>
          <p:cNvSpPr/>
          <p:nvPr/>
        </p:nvSpPr>
        <p:spPr>
          <a:xfrm>
            <a:off x="6692900" y="5916930"/>
            <a:ext cx="609600" cy="150495"/>
          </a:xfrm>
          <a:prstGeom prst="rect">
            <a:avLst/>
          </a:pr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p>
            <a:pPr algn="ctr"/>
            <a:r>
              <a:rPr lang="zh-CN" altLang="en-US" sz="900" kern="0" dirty="0">
                <a:solidFill>
                  <a:srgbClr val="FFFFFF"/>
                </a:solidFill>
                <a:latin typeface="微软雅黑" panose="020B0503020204020204" charset="-122"/>
                <a:ea typeface="微软雅黑" panose="020B0503020204020204" charset="-122"/>
              </a:rPr>
              <a:t>部署编排</a:t>
            </a:r>
            <a:endParaRPr lang="zh-CN" altLang="en-US" sz="900" kern="0" dirty="0">
              <a:solidFill>
                <a:srgbClr val="FFFFFF"/>
              </a:solidFill>
              <a:latin typeface="微软雅黑" panose="020B0503020204020204" charset="-122"/>
              <a:ea typeface="微软雅黑" panose="020B0503020204020204" charset="-122"/>
            </a:endParaRPr>
          </a:p>
        </p:txBody>
      </p:sp>
      <p:sp>
        <p:nvSpPr>
          <p:cNvPr id="545" name="矩形: 圆角 310"/>
          <p:cNvSpPr/>
          <p:nvPr/>
        </p:nvSpPr>
        <p:spPr>
          <a:xfrm>
            <a:off x="7324725" y="5916930"/>
            <a:ext cx="609600" cy="150495"/>
          </a:xfrm>
          <a:prstGeom prst="rect">
            <a:avLst/>
          </a:pr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p>
            <a:pPr algn="ctr"/>
            <a:r>
              <a:rPr lang="zh-CN" altLang="en-US" sz="900" kern="0" dirty="0">
                <a:solidFill>
                  <a:srgbClr val="FFFFFF"/>
                </a:solidFill>
                <a:latin typeface="微软雅黑" panose="020B0503020204020204" charset="-122"/>
                <a:ea typeface="微软雅黑" panose="020B0503020204020204" charset="-122"/>
              </a:rPr>
              <a:t>资源管理</a:t>
            </a:r>
            <a:endParaRPr lang="zh-CN" altLang="en-US" sz="900" kern="0" dirty="0">
              <a:solidFill>
                <a:srgbClr val="FFFFFF"/>
              </a:solidFill>
              <a:latin typeface="微软雅黑" panose="020B0503020204020204" charset="-122"/>
              <a:ea typeface="微软雅黑" panose="020B0503020204020204" charset="-122"/>
            </a:endParaRPr>
          </a:p>
        </p:txBody>
      </p:sp>
      <p:sp>
        <p:nvSpPr>
          <p:cNvPr id="546" name="矩形: 圆角 311"/>
          <p:cNvSpPr/>
          <p:nvPr/>
        </p:nvSpPr>
        <p:spPr>
          <a:xfrm>
            <a:off x="7956550" y="5915660"/>
            <a:ext cx="610235" cy="150495"/>
          </a:xfrm>
          <a:prstGeom prst="rect">
            <a:avLst/>
          </a:pr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p>
            <a:pPr algn="ctr"/>
            <a:r>
              <a:rPr lang="zh-CN" altLang="en-US" sz="900" kern="0" dirty="0">
                <a:solidFill>
                  <a:srgbClr val="FFFFFF"/>
                </a:solidFill>
                <a:latin typeface="微软雅黑" panose="020B0503020204020204" charset="-122"/>
                <a:ea typeface="微软雅黑" panose="020B0503020204020204" charset="-122"/>
              </a:rPr>
              <a:t>综合监控</a:t>
            </a:r>
            <a:endParaRPr lang="zh-CN" altLang="en-US" sz="900" kern="0" dirty="0">
              <a:solidFill>
                <a:srgbClr val="FFFFFF"/>
              </a:solidFill>
              <a:latin typeface="微软雅黑" panose="020B0503020204020204" charset="-122"/>
              <a:ea typeface="微软雅黑" panose="020B0503020204020204" charset="-122"/>
            </a:endParaRPr>
          </a:p>
        </p:txBody>
      </p:sp>
      <p:sp>
        <p:nvSpPr>
          <p:cNvPr id="547" name="矩形: 圆角 312"/>
          <p:cNvSpPr/>
          <p:nvPr/>
        </p:nvSpPr>
        <p:spPr>
          <a:xfrm>
            <a:off x="8589010" y="5915660"/>
            <a:ext cx="610235" cy="150495"/>
          </a:xfrm>
          <a:prstGeom prst="rect">
            <a:avLst/>
          </a:pr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p>
            <a:pPr algn="ctr"/>
            <a:r>
              <a:rPr lang="zh-CN" altLang="en-US" sz="900" kern="0" dirty="0">
                <a:solidFill>
                  <a:srgbClr val="FFFFFF"/>
                </a:solidFill>
                <a:latin typeface="微软雅黑" panose="020B0503020204020204" charset="-122"/>
                <a:ea typeface="微软雅黑" panose="020B0503020204020204" charset="-122"/>
              </a:rPr>
              <a:t>告警中心</a:t>
            </a:r>
            <a:endParaRPr lang="zh-CN" altLang="en-US" sz="900" kern="0" dirty="0">
              <a:solidFill>
                <a:srgbClr val="FFFFFF"/>
              </a:solidFill>
              <a:latin typeface="微软雅黑" panose="020B0503020204020204" charset="-122"/>
              <a:ea typeface="微软雅黑" panose="020B0503020204020204" charset="-122"/>
            </a:endParaRPr>
          </a:p>
        </p:txBody>
      </p:sp>
      <p:sp>
        <p:nvSpPr>
          <p:cNvPr id="548" name="矩形: 圆角 148"/>
          <p:cNvSpPr/>
          <p:nvPr/>
        </p:nvSpPr>
        <p:spPr>
          <a:xfrm>
            <a:off x="4097655" y="5731510"/>
            <a:ext cx="2548255" cy="360045"/>
          </a:xfrm>
          <a:prstGeom prst="roundRect">
            <a:avLst>
              <a:gd name="adj" fmla="val 8101"/>
            </a:avLst>
          </a:prstGeom>
          <a:solidFill>
            <a:srgbClr val="EDF3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zh-CN" altLang="en-US">
              <a:latin typeface="微软雅黑" panose="020B0503020204020204" charset="-122"/>
              <a:ea typeface="微软雅黑" panose="020B0503020204020204" charset="-122"/>
              <a:cs typeface="+mn-ea"/>
              <a:sym typeface="+mn-lt"/>
            </a:endParaRPr>
          </a:p>
        </p:txBody>
      </p:sp>
      <p:sp>
        <p:nvSpPr>
          <p:cNvPr id="549" name="文本框 548"/>
          <p:cNvSpPr txBox="1"/>
          <p:nvPr/>
        </p:nvSpPr>
        <p:spPr>
          <a:xfrm>
            <a:off x="4097655" y="5701665"/>
            <a:ext cx="2548255" cy="243840"/>
          </a:xfrm>
          <a:prstGeom prst="rect">
            <a:avLst/>
          </a:prstGeom>
          <a:noFill/>
          <a:ln w="38100" cap="flat" cmpd="sng" algn="ctr">
            <a:noFill/>
            <a:prstDash val="solid"/>
            <a:miter lim="800000"/>
          </a:ln>
          <a:effectLst/>
        </p:spPr>
        <p:txBody>
          <a:bodyPr wrap="none" lIns="98755" tIns="49378" rIns="98755" bIns="49378" rtlCol="0" anchor="ctr">
            <a:noAutofit/>
          </a:bodyPr>
          <a:lstStyle>
            <a:defPPr>
              <a:defRPr lang="zh-CN"/>
            </a:defPPr>
            <a:lvl1pPr algn="ctr">
              <a:defRPr sz="900" kern="0">
                <a:solidFill>
                  <a:srgbClr val="FFFFFF"/>
                </a:solidFill>
                <a:latin typeface="微软雅黑" panose="020B0503020204020204" charset="-122"/>
                <a:ea typeface="微软雅黑" panose="020B0503020204020204" charset="-122"/>
              </a:defRPr>
            </a:lvl1pPr>
          </a:lstStyle>
          <a:p>
            <a:pPr algn="ctr" fontAlgn="base">
              <a:buClrTx/>
              <a:buSzTx/>
              <a:buNone/>
            </a:pPr>
            <a:r>
              <a:rPr lang="zh-CN" altLang="en-US" b="1" kern="1200" dirty="0">
                <a:solidFill>
                  <a:schemeClr val="accent1"/>
                </a:solidFill>
                <a:latin typeface="微软雅黑" panose="020B0503020204020204" charset="-122"/>
                <a:ea typeface="微软雅黑" panose="020B0503020204020204" charset="-122"/>
                <a:sym typeface="+mn-lt"/>
              </a:rPr>
              <a:t>服务管理平台</a:t>
            </a:r>
            <a:endParaRPr lang="zh-CN" altLang="en-US" b="1" kern="1200" dirty="0">
              <a:solidFill>
                <a:schemeClr val="accent1"/>
              </a:solidFill>
              <a:latin typeface="微软雅黑" panose="020B0503020204020204" charset="-122"/>
              <a:ea typeface="微软雅黑" panose="020B0503020204020204" charset="-122"/>
              <a:sym typeface="+mn-lt"/>
            </a:endParaRPr>
          </a:p>
        </p:txBody>
      </p:sp>
      <p:sp>
        <p:nvSpPr>
          <p:cNvPr id="550" name="矩形: 圆角 308"/>
          <p:cNvSpPr/>
          <p:nvPr/>
        </p:nvSpPr>
        <p:spPr>
          <a:xfrm>
            <a:off x="4116705" y="5916930"/>
            <a:ext cx="609600" cy="150495"/>
          </a:xfrm>
          <a:prstGeom prst="rect">
            <a:avLst/>
          </a:pr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p>
            <a:pPr algn="ctr"/>
            <a:r>
              <a:rPr lang="zh-CN" altLang="en-US" sz="900" kern="0" dirty="0">
                <a:solidFill>
                  <a:srgbClr val="FFFFFF"/>
                </a:solidFill>
                <a:latin typeface="微软雅黑" panose="020B0503020204020204" charset="-122"/>
                <a:ea typeface="微软雅黑" panose="020B0503020204020204" charset="-122"/>
              </a:rPr>
              <a:t>服务注册</a:t>
            </a:r>
            <a:endParaRPr lang="zh-CN" altLang="en-US" sz="900" kern="0" dirty="0">
              <a:solidFill>
                <a:srgbClr val="FFFFFF"/>
              </a:solidFill>
              <a:latin typeface="微软雅黑" panose="020B0503020204020204" charset="-122"/>
              <a:ea typeface="微软雅黑" panose="020B0503020204020204" charset="-122"/>
            </a:endParaRPr>
          </a:p>
        </p:txBody>
      </p:sp>
      <p:sp>
        <p:nvSpPr>
          <p:cNvPr id="551" name="矩形: 圆角 310"/>
          <p:cNvSpPr/>
          <p:nvPr/>
        </p:nvSpPr>
        <p:spPr>
          <a:xfrm>
            <a:off x="4748530" y="5916930"/>
            <a:ext cx="609600" cy="150495"/>
          </a:xfrm>
          <a:prstGeom prst="rect">
            <a:avLst/>
          </a:pr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p>
            <a:pPr algn="ctr"/>
            <a:r>
              <a:rPr lang="zh-CN" altLang="en-US" sz="900" kern="0" dirty="0">
                <a:solidFill>
                  <a:srgbClr val="FFFFFF"/>
                </a:solidFill>
                <a:latin typeface="微软雅黑" panose="020B0503020204020204" charset="-122"/>
                <a:ea typeface="微软雅黑" panose="020B0503020204020204" charset="-122"/>
              </a:rPr>
              <a:t>链路追踪</a:t>
            </a:r>
            <a:endParaRPr lang="zh-CN" altLang="en-US" sz="900" kern="0" dirty="0">
              <a:solidFill>
                <a:srgbClr val="FFFFFF"/>
              </a:solidFill>
              <a:latin typeface="微软雅黑" panose="020B0503020204020204" charset="-122"/>
              <a:ea typeface="微软雅黑" panose="020B0503020204020204" charset="-122"/>
            </a:endParaRPr>
          </a:p>
        </p:txBody>
      </p:sp>
      <p:sp>
        <p:nvSpPr>
          <p:cNvPr id="552" name="矩形: 圆角 311"/>
          <p:cNvSpPr/>
          <p:nvPr/>
        </p:nvSpPr>
        <p:spPr>
          <a:xfrm>
            <a:off x="5380355" y="5915660"/>
            <a:ext cx="610235" cy="150495"/>
          </a:xfrm>
          <a:prstGeom prst="rect">
            <a:avLst/>
          </a:pr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p>
            <a:pPr algn="ctr"/>
            <a:r>
              <a:rPr lang="zh-CN" altLang="en-US" sz="900" kern="0" dirty="0">
                <a:solidFill>
                  <a:srgbClr val="FFFFFF"/>
                </a:solidFill>
                <a:latin typeface="微软雅黑" panose="020B0503020204020204" charset="-122"/>
                <a:ea typeface="微软雅黑" panose="020B0503020204020204" charset="-122"/>
              </a:rPr>
              <a:t>熔断限流</a:t>
            </a:r>
            <a:endParaRPr lang="zh-CN" altLang="en-US" sz="900" kern="0" dirty="0">
              <a:solidFill>
                <a:srgbClr val="FFFFFF"/>
              </a:solidFill>
              <a:latin typeface="微软雅黑" panose="020B0503020204020204" charset="-122"/>
              <a:ea typeface="微软雅黑" panose="020B0503020204020204" charset="-122"/>
            </a:endParaRPr>
          </a:p>
        </p:txBody>
      </p:sp>
      <p:sp>
        <p:nvSpPr>
          <p:cNvPr id="553" name="矩形: 圆角 312"/>
          <p:cNvSpPr/>
          <p:nvPr/>
        </p:nvSpPr>
        <p:spPr>
          <a:xfrm>
            <a:off x="6012815" y="5915660"/>
            <a:ext cx="610235" cy="150495"/>
          </a:xfrm>
          <a:prstGeom prst="rect">
            <a:avLst/>
          </a:pr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p>
            <a:pPr algn="ctr"/>
            <a:r>
              <a:rPr lang="zh-CN" altLang="en-US" sz="900" kern="0" dirty="0">
                <a:solidFill>
                  <a:srgbClr val="FFFFFF"/>
                </a:solidFill>
                <a:latin typeface="微软雅黑" panose="020B0503020204020204" charset="-122"/>
                <a:ea typeface="微软雅黑" panose="020B0503020204020204" charset="-122"/>
              </a:rPr>
              <a:t>配置中心</a:t>
            </a:r>
            <a:endParaRPr lang="zh-CN" altLang="en-US" sz="900" kern="0" dirty="0">
              <a:solidFill>
                <a:srgbClr val="FFFFFF"/>
              </a:solidFill>
              <a:latin typeface="微软雅黑" panose="020B0503020204020204" charset="-122"/>
              <a:ea typeface="微软雅黑" panose="020B0503020204020204" charset="-122"/>
            </a:endParaRPr>
          </a:p>
        </p:txBody>
      </p:sp>
      <p:sp>
        <p:nvSpPr>
          <p:cNvPr id="554" name="矩形: 圆角 148"/>
          <p:cNvSpPr/>
          <p:nvPr/>
        </p:nvSpPr>
        <p:spPr>
          <a:xfrm>
            <a:off x="1521460" y="5731510"/>
            <a:ext cx="2548255" cy="360045"/>
          </a:xfrm>
          <a:prstGeom prst="roundRect">
            <a:avLst>
              <a:gd name="adj" fmla="val 8101"/>
            </a:avLst>
          </a:prstGeom>
          <a:solidFill>
            <a:srgbClr val="EDF3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zh-CN" altLang="en-US">
              <a:latin typeface="微软雅黑" panose="020B0503020204020204" charset="-122"/>
              <a:ea typeface="微软雅黑" panose="020B0503020204020204" charset="-122"/>
              <a:cs typeface="+mn-ea"/>
              <a:sym typeface="+mn-lt"/>
            </a:endParaRPr>
          </a:p>
        </p:txBody>
      </p:sp>
      <p:sp>
        <p:nvSpPr>
          <p:cNvPr id="555" name="文本框 554"/>
          <p:cNvSpPr txBox="1"/>
          <p:nvPr/>
        </p:nvSpPr>
        <p:spPr>
          <a:xfrm>
            <a:off x="1521460" y="5701665"/>
            <a:ext cx="2548255" cy="243840"/>
          </a:xfrm>
          <a:prstGeom prst="rect">
            <a:avLst/>
          </a:prstGeom>
          <a:noFill/>
          <a:ln w="38100" cap="flat" cmpd="sng" algn="ctr">
            <a:noFill/>
            <a:prstDash val="solid"/>
            <a:miter lim="800000"/>
          </a:ln>
          <a:effectLst/>
        </p:spPr>
        <p:txBody>
          <a:bodyPr wrap="none" lIns="98755" tIns="49378" rIns="98755" bIns="49378" rtlCol="0" anchor="ctr">
            <a:noAutofit/>
          </a:bodyPr>
          <a:lstStyle>
            <a:defPPr>
              <a:defRPr lang="zh-CN"/>
            </a:defPPr>
            <a:lvl1pPr algn="ctr">
              <a:defRPr sz="900" kern="0">
                <a:solidFill>
                  <a:srgbClr val="FFFFFF"/>
                </a:solidFill>
                <a:latin typeface="微软雅黑" panose="020B0503020204020204" charset="-122"/>
                <a:ea typeface="微软雅黑" panose="020B0503020204020204" charset="-122"/>
              </a:defRPr>
            </a:lvl1pPr>
          </a:lstStyle>
          <a:p>
            <a:pPr algn="ctr" fontAlgn="base">
              <a:buClrTx/>
              <a:buSzTx/>
              <a:buNone/>
            </a:pPr>
            <a:r>
              <a:rPr lang="zh-CN" altLang="en-US" b="1" kern="1200" dirty="0">
                <a:solidFill>
                  <a:schemeClr val="accent1"/>
                </a:solidFill>
                <a:latin typeface="微软雅黑" panose="020B0503020204020204" charset="-122"/>
                <a:ea typeface="微软雅黑" panose="020B0503020204020204" charset="-122"/>
                <a:sym typeface="+mn-lt"/>
              </a:rPr>
              <a:t>集成开发平台</a:t>
            </a:r>
            <a:endParaRPr lang="zh-CN" altLang="en-US" b="1" kern="1200" dirty="0">
              <a:solidFill>
                <a:schemeClr val="accent1"/>
              </a:solidFill>
              <a:latin typeface="微软雅黑" panose="020B0503020204020204" charset="-122"/>
              <a:ea typeface="微软雅黑" panose="020B0503020204020204" charset="-122"/>
              <a:sym typeface="+mn-lt"/>
            </a:endParaRPr>
          </a:p>
        </p:txBody>
      </p:sp>
      <p:sp>
        <p:nvSpPr>
          <p:cNvPr id="556" name="矩形: 圆角 308"/>
          <p:cNvSpPr/>
          <p:nvPr/>
        </p:nvSpPr>
        <p:spPr>
          <a:xfrm>
            <a:off x="1540510" y="5916930"/>
            <a:ext cx="609600" cy="150495"/>
          </a:xfrm>
          <a:prstGeom prst="rect">
            <a:avLst/>
          </a:pr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p>
            <a:pPr algn="ctr"/>
            <a:r>
              <a:rPr lang="zh-CN" altLang="en-US" sz="900" kern="0" dirty="0">
                <a:solidFill>
                  <a:srgbClr val="FFFFFF"/>
                </a:solidFill>
                <a:latin typeface="微软雅黑" panose="020B0503020204020204" charset="-122"/>
                <a:ea typeface="微软雅黑" panose="020B0503020204020204" charset="-122"/>
              </a:rPr>
              <a:t>持续集成</a:t>
            </a:r>
            <a:endParaRPr lang="zh-CN" altLang="en-US" sz="900" kern="0" dirty="0">
              <a:solidFill>
                <a:srgbClr val="FFFFFF"/>
              </a:solidFill>
              <a:latin typeface="微软雅黑" panose="020B0503020204020204" charset="-122"/>
              <a:ea typeface="微软雅黑" panose="020B0503020204020204" charset="-122"/>
            </a:endParaRPr>
          </a:p>
        </p:txBody>
      </p:sp>
      <p:sp>
        <p:nvSpPr>
          <p:cNvPr id="557" name="矩形: 圆角 310"/>
          <p:cNvSpPr/>
          <p:nvPr/>
        </p:nvSpPr>
        <p:spPr>
          <a:xfrm>
            <a:off x="2172335" y="5916930"/>
            <a:ext cx="609600" cy="150495"/>
          </a:xfrm>
          <a:prstGeom prst="rect">
            <a:avLst/>
          </a:pr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p>
            <a:pPr algn="ctr"/>
            <a:r>
              <a:rPr lang="zh-CN" altLang="en-US" sz="900" kern="0" dirty="0">
                <a:solidFill>
                  <a:srgbClr val="FFFFFF"/>
                </a:solidFill>
                <a:latin typeface="微软雅黑" panose="020B0503020204020204" charset="-122"/>
                <a:ea typeface="微软雅黑" panose="020B0503020204020204" charset="-122"/>
              </a:rPr>
              <a:t>安全管理</a:t>
            </a:r>
            <a:endParaRPr lang="zh-CN" altLang="en-US" sz="900" kern="0" dirty="0">
              <a:solidFill>
                <a:srgbClr val="FFFFFF"/>
              </a:solidFill>
              <a:latin typeface="微软雅黑" panose="020B0503020204020204" charset="-122"/>
              <a:ea typeface="微软雅黑" panose="020B0503020204020204" charset="-122"/>
            </a:endParaRPr>
          </a:p>
        </p:txBody>
      </p:sp>
      <p:sp>
        <p:nvSpPr>
          <p:cNvPr id="558" name="矩形: 圆角 311"/>
          <p:cNvSpPr/>
          <p:nvPr/>
        </p:nvSpPr>
        <p:spPr>
          <a:xfrm>
            <a:off x="2804160" y="5915660"/>
            <a:ext cx="610235" cy="150495"/>
          </a:xfrm>
          <a:prstGeom prst="rect">
            <a:avLst/>
          </a:pr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p>
            <a:pPr algn="ctr"/>
            <a:r>
              <a:rPr lang="zh-CN" altLang="en-US" sz="900" kern="0" dirty="0">
                <a:solidFill>
                  <a:srgbClr val="FFFFFF"/>
                </a:solidFill>
                <a:latin typeface="微软雅黑" panose="020B0503020204020204" charset="-122"/>
                <a:ea typeface="微软雅黑" panose="020B0503020204020204" charset="-122"/>
              </a:rPr>
              <a:t>持续交付</a:t>
            </a:r>
            <a:endParaRPr lang="zh-CN" altLang="en-US" sz="900" kern="0" dirty="0">
              <a:solidFill>
                <a:srgbClr val="FFFFFF"/>
              </a:solidFill>
              <a:latin typeface="微软雅黑" panose="020B0503020204020204" charset="-122"/>
              <a:ea typeface="微软雅黑" panose="020B0503020204020204" charset="-122"/>
            </a:endParaRPr>
          </a:p>
        </p:txBody>
      </p:sp>
      <p:sp>
        <p:nvSpPr>
          <p:cNvPr id="559" name="矩形: 圆角 312"/>
          <p:cNvSpPr/>
          <p:nvPr/>
        </p:nvSpPr>
        <p:spPr>
          <a:xfrm>
            <a:off x="3436620" y="5915660"/>
            <a:ext cx="610235" cy="150495"/>
          </a:xfrm>
          <a:prstGeom prst="rect">
            <a:avLst/>
          </a:pr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p>
            <a:pPr algn="ctr"/>
            <a:r>
              <a:rPr lang="zh-CN" altLang="en-US" sz="900" kern="0" dirty="0">
                <a:solidFill>
                  <a:srgbClr val="FFFFFF"/>
                </a:solidFill>
                <a:latin typeface="微软雅黑" panose="020B0503020204020204" charset="-122"/>
                <a:ea typeface="微软雅黑" panose="020B0503020204020204" charset="-122"/>
              </a:rPr>
              <a:t>云测平台</a:t>
            </a:r>
            <a:endParaRPr lang="zh-CN" altLang="en-US" sz="900" kern="0" dirty="0">
              <a:solidFill>
                <a:srgbClr val="FFFFFF"/>
              </a:solidFill>
              <a:latin typeface="微软雅黑" panose="020B0503020204020204" charset="-122"/>
              <a:ea typeface="微软雅黑" panose="020B0503020204020204" charset="-122"/>
            </a:endParaRPr>
          </a:p>
        </p:txBody>
      </p:sp>
      <p:sp>
        <p:nvSpPr>
          <p:cNvPr id="560" name="文本框 559"/>
          <p:cNvSpPr txBox="1"/>
          <p:nvPr/>
        </p:nvSpPr>
        <p:spPr>
          <a:xfrm>
            <a:off x="9087485" y="1350645"/>
            <a:ext cx="743585" cy="229870"/>
          </a:xfrm>
          <a:prstGeom prst="rect">
            <a:avLst/>
          </a:prstGeom>
          <a:noFill/>
        </p:spPr>
        <p:txBody>
          <a:bodyPr wrap="square" rtlCol="0">
            <a:spAutoFit/>
          </a:bodyPr>
          <a:lstStyle/>
          <a:p>
            <a:r>
              <a:rPr lang="zh-CN" altLang="en-US" sz="900">
                <a:latin typeface="微软雅黑" panose="020B0503020204020204" charset="-122"/>
                <a:ea typeface="微软雅黑" panose="020B0503020204020204" charset="-122"/>
              </a:rPr>
              <a:t>服务网关</a:t>
            </a:r>
            <a:endParaRPr lang="zh-CN" altLang="en-US" sz="900">
              <a:latin typeface="微软雅黑" panose="020B0503020204020204" charset="-122"/>
              <a:ea typeface="微软雅黑" panose="020B0503020204020204" charset="-122"/>
            </a:endParaRPr>
          </a:p>
        </p:txBody>
      </p:sp>
      <p:grpSp>
        <p:nvGrpSpPr>
          <p:cNvPr id="56" name="组合 55"/>
          <p:cNvGrpSpPr/>
          <p:nvPr/>
        </p:nvGrpSpPr>
        <p:grpSpPr>
          <a:xfrm>
            <a:off x="8957310" y="1382394"/>
            <a:ext cx="101600" cy="233045"/>
            <a:chOff x="8957310" y="1369060"/>
            <a:chExt cx="101600" cy="233045"/>
          </a:xfrm>
        </p:grpSpPr>
        <p:sp>
          <p:nvSpPr>
            <p:cNvPr id="563" name="任意多边形: 形状 522"/>
            <p:cNvSpPr/>
            <p:nvPr/>
          </p:nvSpPr>
          <p:spPr>
            <a:xfrm>
              <a:off x="8957310" y="1527810"/>
              <a:ext cx="101600" cy="7429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rgbClr val="4472C4"/>
            </a:solidFill>
            <a:ln w="12700" cap="flat" cmpd="sng" algn="ctr">
              <a:noFill/>
              <a:prstDash val="solid"/>
              <a:miter lim="800000"/>
            </a:ln>
            <a:effectLst/>
          </p:spPr>
          <p:txBody>
            <a:bodyPr wrap="square" lIns="84125" tIns="42062" rIns="84125" bIns="4206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55"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564" name="任意多边形: 形状 523"/>
            <p:cNvSpPr/>
            <p:nvPr/>
          </p:nvSpPr>
          <p:spPr>
            <a:xfrm>
              <a:off x="8957310" y="1448435"/>
              <a:ext cx="101600" cy="7429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rgbClr val="4472C4">
                <a:lumMod val="60000"/>
                <a:lumOff val="40000"/>
              </a:srgbClr>
            </a:solidFill>
            <a:ln w="12700" cap="flat" cmpd="sng" algn="ctr">
              <a:noFill/>
              <a:prstDash val="solid"/>
              <a:miter lim="800000"/>
            </a:ln>
            <a:effectLst/>
          </p:spPr>
          <p:txBody>
            <a:bodyPr wrap="square" lIns="84125" tIns="42062" rIns="84125" bIns="4206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55"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565" name="任意多边形: 形状 524"/>
            <p:cNvSpPr/>
            <p:nvPr/>
          </p:nvSpPr>
          <p:spPr>
            <a:xfrm>
              <a:off x="8957310" y="1369060"/>
              <a:ext cx="101600" cy="7429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rgbClr val="4472C4">
                <a:lumMod val="40000"/>
                <a:lumOff val="60000"/>
              </a:srgbClr>
            </a:solidFill>
            <a:ln w="12700" cap="flat" cmpd="sng" algn="ctr">
              <a:noFill/>
              <a:prstDash val="solid"/>
              <a:miter lim="800000"/>
            </a:ln>
            <a:effectLst/>
          </p:spPr>
          <p:txBody>
            <a:bodyPr wrap="square" lIns="84125" tIns="42062" rIns="84125" bIns="4206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55"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grpSp>
      <p:sp>
        <p:nvSpPr>
          <p:cNvPr id="572" name="文本框 571"/>
          <p:cNvSpPr txBox="1"/>
          <p:nvPr/>
        </p:nvSpPr>
        <p:spPr>
          <a:xfrm>
            <a:off x="9098655" y="251635"/>
            <a:ext cx="1384935" cy="306705"/>
          </a:xfrm>
          <a:prstGeom prst="rect">
            <a:avLst/>
          </a:prstGeom>
          <a:noFill/>
        </p:spPr>
        <p:txBody>
          <a:bodyPr wrap="none" rtlCol="0">
            <a:spAutoFit/>
          </a:bodyPr>
          <a:lstStyle/>
          <a:p>
            <a:pPr algn="l">
              <a:buClrTx/>
              <a:buSzTx/>
              <a:buFontTx/>
            </a:pPr>
            <a:r>
              <a:rPr lang="zh-CN" altLang="en-US" sz="1400" b="1" dirty="0">
                <a:solidFill>
                  <a:srgbClr val="0C6DFF"/>
                </a:solidFill>
                <a:latin typeface="微软雅黑" panose="020B0503020204020204" charset="-122"/>
                <a:ea typeface="微软雅黑" panose="020B0503020204020204" charset="-122"/>
                <a:cs typeface="+mn-ea"/>
              </a:rPr>
              <a:t>微服务+中台化</a:t>
            </a:r>
            <a:endParaRPr lang="zh-CN" altLang="en-US" sz="1400" b="1" dirty="0">
              <a:solidFill>
                <a:srgbClr val="0C6DFF"/>
              </a:solidFill>
              <a:latin typeface="微软雅黑" panose="020B0503020204020204" charset="-122"/>
              <a:ea typeface="微软雅黑" panose="020B0503020204020204" charset="-122"/>
              <a:cs typeface="+mn-ea"/>
            </a:endParaRPr>
          </a:p>
        </p:txBody>
      </p:sp>
      <p:sp>
        <p:nvSpPr>
          <p:cNvPr id="3" name="文本框 2"/>
          <p:cNvSpPr txBox="1"/>
          <p:nvPr/>
        </p:nvSpPr>
        <p:spPr>
          <a:xfrm>
            <a:off x="555251" y="235214"/>
            <a:ext cx="1481496" cy="369332"/>
          </a:xfrm>
          <a:prstGeom prst="rect">
            <a:avLst/>
          </a:prstGeom>
          <a:noFill/>
        </p:spPr>
        <p:txBody>
          <a:bodyPr wrap="none" rtlCol="0">
            <a:spAutoFit/>
          </a:bodyPr>
          <a:lstStyle>
            <a:defPPr>
              <a:defRPr lang="zh-CN"/>
            </a:defPPr>
            <a:lvl1pPr>
              <a:defRPr b="1">
                <a:solidFill>
                  <a:schemeClr val="accent1">
                    <a:lumMod val="75000"/>
                  </a:schemeClr>
                </a:solidFill>
                <a:latin typeface="微软雅黑" panose="020B0503020204020204" charset="-122"/>
                <a:ea typeface="微软雅黑" panose="020B0503020204020204" charset="-122"/>
              </a:defRPr>
            </a:lvl1pPr>
          </a:lstStyle>
          <a:p>
            <a:r>
              <a:rPr lang="en-US" altLang="zh-CN" dirty="0">
                <a:latin typeface="微软雅黑" panose="020B0503020204020204" charset="-122"/>
                <a:ea typeface="微软雅黑" panose="020B0503020204020204" charset="-122"/>
              </a:rPr>
              <a:t>1</a:t>
            </a:r>
            <a:r>
              <a:rPr lang="zh-CN" altLang="en-US" dirty="0">
                <a:latin typeface="微软雅黑" panose="020B0503020204020204" charset="-122"/>
                <a:ea typeface="微软雅黑" panose="020B0503020204020204" charset="-122"/>
              </a:rPr>
              <a:t>、总体架构</a:t>
            </a:r>
            <a:endParaRPr lang="zh-CN" altLang="en-US" dirty="0">
              <a:latin typeface="微软雅黑" panose="020B0503020204020204" charset="-122"/>
              <a:ea typeface="微软雅黑" panose="020B0503020204020204" charset="-122"/>
            </a:endParaRPr>
          </a:p>
        </p:txBody>
      </p:sp>
      <p:sp>
        <p:nvSpPr>
          <p:cNvPr id="19" name="矩形: 圆角 18"/>
          <p:cNvSpPr/>
          <p:nvPr/>
        </p:nvSpPr>
        <p:spPr>
          <a:xfrm>
            <a:off x="717073" y="722766"/>
            <a:ext cx="500222" cy="743475"/>
          </a:xfrm>
          <a:prstGeom prst="roundRect">
            <a:avLst>
              <a:gd name="adj" fmla="val 13820"/>
            </a:avLst>
          </a:prstGeom>
          <a:solidFill>
            <a:srgbClr val="2E54A1"/>
          </a:solidFill>
          <a:ln w="38100" cap="flat" cmpd="sng" algn="ctr">
            <a:noFill/>
            <a:prstDash val="solid"/>
            <a:miter lim="800000"/>
          </a:ln>
          <a:effectLst/>
        </p:spPr>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prstClr val="white"/>
                </a:solidFill>
                <a:uLnTx/>
                <a:uFillTx/>
                <a:latin typeface="微软雅黑" panose="020B0503020204020204" charset="-122"/>
                <a:ea typeface="微软雅黑" panose="020B0503020204020204" charset="-122"/>
              </a:rPr>
              <a:t>系统应用</a:t>
            </a:r>
            <a:endParaRPr kumimoji="0" lang="zh-CN" altLang="en-US" sz="1200" b="1" i="0" u="none" strike="noStrike" kern="0" cap="none" spc="0" normalizeH="0" baseline="0" noProof="0" dirty="0">
              <a:ln>
                <a:noFill/>
              </a:ln>
              <a:solidFill>
                <a:prstClr val="white"/>
              </a:solidFill>
              <a:uLnTx/>
              <a:uFillTx/>
              <a:latin typeface="微软雅黑" panose="020B0503020204020204" charset="-122"/>
              <a:ea typeface="微软雅黑" panose="020B0503020204020204" charset="-122"/>
            </a:endParaRPr>
          </a:p>
        </p:txBody>
      </p:sp>
      <p:sp>
        <p:nvSpPr>
          <p:cNvPr id="20" name="长方形"/>
          <p:cNvSpPr/>
          <p:nvPr/>
        </p:nvSpPr>
        <p:spPr>
          <a:xfrm>
            <a:off x="1358368" y="913540"/>
            <a:ext cx="1210297" cy="27398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solidFill>
                  <a:prstClr val="white"/>
                </a:solidFill>
                <a:latin typeface="微软雅黑" panose="020B0503020204020204" charset="-122"/>
                <a:ea typeface="微软雅黑" panose="020B0503020204020204" charset="-122"/>
              </a:rPr>
              <a:t>招标采购</a:t>
            </a:r>
            <a:endParaRPr lang="zh-CN" altLang="en-US" sz="900" dirty="0">
              <a:solidFill>
                <a:prstClr val="white"/>
              </a:solidFill>
              <a:latin typeface="微软雅黑" panose="020B0503020204020204" charset="-122"/>
              <a:ea typeface="微软雅黑" panose="020B0503020204020204" charset="-122"/>
            </a:endParaRPr>
          </a:p>
        </p:txBody>
      </p:sp>
      <p:sp>
        <p:nvSpPr>
          <p:cNvPr id="21" name="长方形"/>
          <p:cNvSpPr/>
          <p:nvPr/>
        </p:nvSpPr>
        <p:spPr>
          <a:xfrm>
            <a:off x="3896017" y="913088"/>
            <a:ext cx="1210297" cy="27467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solidFill>
                  <a:prstClr val="white"/>
                </a:solidFill>
                <a:latin typeface="微软雅黑" panose="020B0503020204020204" charset="-122"/>
                <a:ea typeface="微软雅黑" panose="020B0503020204020204" charset="-122"/>
              </a:rPr>
              <a:t>投标响应</a:t>
            </a:r>
            <a:endParaRPr lang="zh-CN" altLang="en-US" sz="900" dirty="0">
              <a:solidFill>
                <a:prstClr val="white"/>
              </a:solidFill>
              <a:latin typeface="微软雅黑" panose="020B0503020204020204" charset="-122"/>
              <a:ea typeface="微软雅黑" panose="020B0503020204020204" charset="-122"/>
            </a:endParaRPr>
          </a:p>
        </p:txBody>
      </p:sp>
      <p:sp>
        <p:nvSpPr>
          <p:cNvPr id="22" name="长方形"/>
          <p:cNvSpPr/>
          <p:nvPr/>
        </p:nvSpPr>
        <p:spPr>
          <a:xfrm>
            <a:off x="5138265" y="913814"/>
            <a:ext cx="1211346" cy="27329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solidFill>
                  <a:prstClr val="white"/>
                </a:solidFill>
                <a:latin typeface="微软雅黑" panose="020B0503020204020204" charset="-122"/>
                <a:ea typeface="微软雅黑" panose="020B0503020204020204" charset="-122"/>
              </a:rPr>
              <a:t>评标评审</a:t>
            </a:r>
            <a:endParaRPr lang="zh-CN" altLang="en-US" sz="900" dirty="0">
              <a:solidFill>
                <a:prstClr val="white"/>
              </a:solidFill>
              <a:latin typeface="微软雅黑" panose="020B0503020204020204" charset="-122"/>
              <a:ea typeface="微软雅黑" panose="020B0503020204020204" charset="-122"/>
            </a:endParaRPr>
          </a:p>
        </p:txBody>
      </p:sp>
      <p:sp>
        <p:nvSpPr>
          <p:cNvPr id="4" name="长方形"/>
          <p:cNvSpPr/>
          <p:nvPr/>
        </p:nvSpPr>
        <p:spPr>
          <a:xfrm>
            <a:off x="2628368" y="914810"/>
            <a:ext cx="1210297" cy="27398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solidFill>
                  <a:prstClr val="white"/>
                </a:solidFill>
                <a:latin typeface="微软雅黑" panose="020B0503020204020204" charset="-122"/>
                <a:ea typeface="微软雅黑" panose="020B0503020204020204" charset="-122"/>
              </a:rPr>
              <a:t>非招标采购</a:t>
            </a:r>
            <a:endParaRPr lang="zh-CN" altLang="en-US" sz="900" dirty="0">
              <a:solidFill>
                <a:prstClr val="white"/>
              </a:solidFill>
              <a:latin typeface="微软雅黑" panose="020B0503020204020204" charset="-122"/>
              <a:ea typeface="微软雅黑" panose="020B0503020204020204" charset="-122"/>
            </a:endParaRPr>
          </a:p>
        </p:txBody>
      </p:sp>
      <p:sp>
        <p:nvSpPr>
          <p:cNvPr id="5" name="矩形: 圆角 1013"/>
          <p:cNvSpPr/>
          <p:nvPr/>
        </p:nvSpPr>
        <p:spPr>
          <a:xfrm>
            <a:off x="6461760" y="703580"/>
            <a:ext cx="5023485" cy="321310"/>
          </a:xfrm>
          <a:prstGeom prst="roundRect">
            <a:avLst>
              <a:gd name="adj" fmla="val 8101"/>
            </a:avLst>
          </a:prstGeom>
          <a:solidFill>
            <a:srgbClr val="EDF3FA"/>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solidFill>
                <a:prstClr val="black"/>
              </a:solidFill>
              <a:effectLst/>
              <a:uLnTx/>
              <a:uFillTx/>
              <a:latin typeface="微软雅黑" panose="020B0503020204020204" charset="-122"/>
              <a:ea typeface="微软雅黑" panose="020B0503020204020204" charset="-122"/>
              <a:sym typeface="+mn-lt"/>
            </a:endParaRPr>
          </a:p>
        </p:txBody>
      </p:sp>
      <p:sp>
        <p:nvSpPr>
          <p:cNvPr id="6" name="矩形: 圆角 30"/>
          <p:cNvSpPr/>
          <p:nvPr/>
        </p:nvSpPr>
        <p:spPr>
          <a:xfrm>
            <a:off x="6460490" y="714375"/>
            <a:ext cx="474345" cy="333375"/>
          </a:xfrm>
          <a:prstGeom prst="roundRect">
            <a:avLst>
              <a:gd name="adj" fmla="val 13820"/>
            </a:avLst>
          </a:prstGeom>
          <a:solidFill>
            <a:srgbClr val="2E54A1"/>
          </a:solidFill>
          <a:ln w="38100" cap="flat" cmpd="sng" algn="ctr">
            <a:noFill/>
            <a:prstDash val="solid"/>
            <a:miter lim="800000"/>
          </a:ln>
          <a:effectLst/>
        </p:spPr>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prstClr val="white"/>
                </a:solidFill>
                <a:uLnTx/>
                <a:uFillTx/>
                <a:latin typeface="微软雅黑" panose="020B0503020204020204" charset="-122"/>
                <a:ea typeface="微软雅黑" panose="020B0503020204020204" charset="-122"/>
              </a:rPr>
              <a:t>内部系统</a:t>
            </a:r>
            <a:endParaRPr kumimoji="0" lang="zh-CN" altLang="en-US" sz="900" b="1" i="0" u="none" strike="noStrike" kern="0" cap="none" spc="0" normalizeH="0" baseline="0" noProof="0" dirty="0">
              <a:ln>
                <a:noFill/>
              </a:ln>
              <a:solidFill>
                <a:prstClr val="white"/>
              </a:solidFill>
              <a:uLnTx/>
              <a:uFillTx/>
              <a:latin typeface="微软雅黑" panose="020B0503020204020204" charset="-122"/>
              <a:ea typeface="微软雅黑" panose="020B0503020204020204" charset="-122"/>
            </a:endParaRPr>
          </a:p>
        </p:txBody>
      </p:sp>
      <p:pic>
        <p:nvPicPr>
          <p:cNvPr id="287" name="图片 286"/>
          <p:cNvPicPr>
            <a:picLocks noChangeAspect="1"/>
          </p:cNvPicPr>
          <p:nvPr/>
        </p:nvPicPr>
        <p:blipFill>
          <a:blip r:embed="rId8"/>
          <a:stretch>
            <a:fillRect/>
          </a:stretch>
        </p:blipFill>
        <p:spPr>
          <a:xfrm>
            <a:off x="7005003" y="6145847"/>
            <a:ext cx="292100" cy="268605"/>
          </a:xfrm>
          <a:prstGeom prst="rect">
            <a:avLst/>
          </a:prstGeom>
        </p:spPr>
      </p:pic>
      <p:grpSp>
        <p:nvGrpSpPr>
          <p:cNvPr id="50" name="组合 49"/>
          <p:cNvGrpSpPr/>
          <p:nvPr/>
        </p:nvGrpSpPr>
        <p:grpSpPr>
          <a:xfrm>
            <a:off x="2914496" y="1714022"/>
            <a:ext cx="862296" cy="1316356"/>
            <a:chOff x="2291717" y="1716405"/>
            <a:chExt cx="909931" cy="1316356"/>
          </a:xfrm>
        </p:grpSpPr>
        <p:sp>
          <p:nvSpPr>
            <p:cNvPr id="38" name="矩形: 圆角 19"/>
            <p:cNvSpPr/>
            <p:nvPr/>
          </p:nvSpPr>
          <p:spPr>
            <a:xfrm>
              <a:off x="2342197" y="1747521"/>
              <a:ext cx="796290" cy="1285240"/>
            </a:xfrm>
            <a:prstGeom prst="roundRect">
              <a:avLst>
                <a:gd name="adj" fmla="val 8101"/>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sym typeface="+mn-lt"/>
              </a:endParaRPr>
            </a:p>
          </p:txBody>
        </p:sp>
        <p:sp>
          <p:nvSpPr>
            <p:cNvPr id="2" name="长方形"/>
            <p:cNvSpPr/>
            <p:nvPr/>
          </p:nvSpPr>
          <p:spPr>
            <a:xfrm>
              <a:off x="2418715" y="1961515"/>
              <a:ext cx="647700" cy="18171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招标采购</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5" name="长方形"/>
            <p:cNvSpPr/>
            <p:nvPr/>
          </p:nvSpPr>
          <p:spPr>
            <a:xfrm>
              <a:off x="2418715" y="2176118"/>
              <a:ext cx="647700" cy="18171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谈判采购</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6" name="长方形"/>
            <p:cNvSpPr/>
            <p:nvPr/>
          </p:nvSpPr>
          <p:spPr>
            <a:xfrm>
              <a:off x="2418715" y="2390721"/>
              <a:ext cx="647700" cy="18171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询比采购</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7" name="长方形"/>
            <p:cNvSpPr/>
            <p:nvPr/>
          </p:nvSpPr>
          <p:spPr>
            <a:xfrm>
              <a:off x="2418715" y="2605324"/>
              <a:ext cx="647700" cy="18171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竞价采购</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8" name="长方形"/>
            <p:cNvSpPr/>
            <p:nvPr/>
          </p:nvSpPr>
          <p:spPr>
            <a:xfrm>
              <a:off x="2418715" y="2819926"/>
              <a:ext cx="647700" cy="18171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直接采购</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4" name="文本框 23"/>
            <p:cNvSpPr txBox="1"/>
            <p:nvPr/>
          </p:nvSpPr>
          <p:spPr>
            <a:xfrm>
              <a:off x="2291717" y="1716405"/>
              <a:ext cx="909931" cy="245110"/>
            </a:xfrm>
            <a:prstGeom prst="rect">
              <a:avLst/>
            </a:prstGeom>
            <a:noFill/>
            <a:effectLst/>
          </p:spPr>
          <p:txBody>
            <a:bodyPr wrap="square" rtlCol="0">
              <a:spAutoFit/>
            </a:bodyPr>
            <a:lstStyle>
              <a:defPPr>
                <a:defRPr lang="zh-CN"/>
              </a:defPPr>
              <a:lvl1pPr marR="0" lvl="0" indent="0" fontAlgn="auto">
                <a:lnSpc>
                  <a:spcPct val="100000"/>
                </a:lnSpc>
                <a:spcBef>
                  <a:spcPts val="0"/>
                </a:spcBef>
                <a:spcAft>
                  <a:spcPts val="0"/>
                </a:spcAft>
                <a:buClrTx/>
                <a:buSzTx/>
                <a:buFontTx/>
                <a:buNone/>
                <a:defRPr kumimoji="0" sz="1000" b="1" i="0" u="none" strike="noStrike" cap="none" spc="0" normalizeH="0" baseline="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defRPr/>
              </a:pPr>
              <a:r>
                <a:rPr lang="zh-CN" altLang="en-US" noProof="0" dirty="0">
                  <a:latin typeface="微软雅黑" panose="020B0503020204020204" charset="-122"/>
                  <a:ea typeface="微软雅黑" panose="020B0503020204020204" charset="-122"/>
                </a:rPr>
                <a:t>采购服务</a:t>
              </a:r>
              <a:endParaRPr lang="zh-CN" altLang="en-US" noProof="0" dirty="0">
                <a:latin typeface="微软雅黑" panose="020B0503020204020204" charset="-122"/>
                <a:ea typeface="微软雅黑" panose="020B0503020204020204" charset="-122"/>
              </a:endParaRPr>
            </a:p>
          </p:txBody>
        </p:sp>
      </p:grpSp>
      <p:grpSp>
        <p:nvGrpSpPr>
          <p:cNvPr id="51" name="组合 50"/>
          <p:cNvGrpSpPr/>
          <p:nvPr/>
        </p:nvGrpSpPr>
        <p:grpSpPr>
          <a:xfrm>
            <a:off x="3657056" y="1714498"/>
            <a:ext cx="944717" cy="1316356"/>
            <a:chOff x="3196706" y="1716405"/>
            <a:chExt cx="996905" cy="1316356"/>
          </a:xfrm>
        </p:grpSpPr>
        <p:sp>
          <p:nvSpPr>
            <p:cNvPr id="39" name="矩形: 圆角 19"/>
            <p:cNvSpPr/>
            <p:nvPr/>
          </p:nvSpPr>
          <p:spPr>
            <a:xfrm>
              <a:off x="3290570" y="1747521"/>
              <a:ext cx="796290" cy="1285240"/>
            </a:xfrm>
            <a:prstGeom prst="roundRect">
              <a:avLst>
                <a:gd name="adj" fmla="val 8101"/>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sym typeface="+mn-lt"/>
              </a:endParaRPr>
            </a:p>
          </p:txBody>
        </p:sp>
        <p:sp>
          <p:nvSpPr>
            <p:cNvPr id="399" name="文本框 398"/>
            <p:cNvSpPr txBox="1"/>
            <p:nvPr/>
          </p:nvSpPr>
          <p:spPr>
            <a:xfrm>
              <a:off x="3196706" y="1716405"/>
              <a:ext cx="996905" cy="245110"/>
            </a:xfrm>
            <a:prstGeom prst="rect">
              <a:avLst/>
            </a:prstGeom>
            <a:noFill/>
            <a:effectLst/>
          </p:spPr>
          <p:txBody>
            <a:bodyPr wrap="square" rtlCol="0">
              <a:spAutoFit/>
            </a:bodyPr>
            <a:lstStyle>
              <a:defPPr>
                <a:defRPr lang="zh-CN"/>
              </a:defPPr>
              <a:lvl1pPr marR="0" lvl="0" indent="0" fontAlgn="auto">
                <a:lnSpc>
                  <a:spcPct val="100000"/>
                </a:lnSpc>
                <a:spcBef>
                  <a:spcPts val="0"/>
                </a:spcBef>
                <a:spcAft>
                  <a:spcPts val="0"/>
                </a:spcAft>
                <a:buClrTx/>
                <a:buSzTx/>
                <a:buFontTx/>
                <a:buNone/>
                <a:defRPr kumimoji="0" sz="1000" b="1" i="0" u="none" strike="noStrike" cap="none" spc="0" normalizeH="0" baseline="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defRPr/>
              </a:pPr>
              <a:r>
                <a:rPr lang="zh-CN" altLang="en-US" noProof="0" dirty="0">
                  <a:latin typeface="微软雅黑" panose="020B0503020204020204" charset="-122"/>
                  <a:ea typeface="微软雅黑" panose="020B0503020204020204" charset="-122"/>
                </a:rPr>
                <a:t>投标服务</a:t>
              </a:r>
              <a:endParaRPr lang="zh-CN" altLang="en-US" noProof="0" dirty="0">
                <a:latin typeface="微软雅黑" panose="020B0503020204020204" charset="-122"/>
                <a:ea typeface="微软雅黑" panose="020B0503020204020204" charset="-122"/>
              </a:endParaRPr>
            </a:p>
          </p:txBody>
        </p:sp>
        <p:sp>
          <p:nvSpPr>
            <p:cNvPr id="400" name="长方形"/>
            <p:cNvSpPr/>
            <p:nvPr/>
          </p:nvSpPr>
          <p:spPr>
            <a:xfrm>
              <a:off x="3368675" y="196151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文件领取</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401" name="长方形"/>
            <p:cNvSpPr/>
            <p:nvPr/>
          </p:nvSpPr>
          <p:spPr>
            <a:xfrm>
              <a:off x="3368675" y="217614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投标文件上传</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402" name="长方形"/>
            <p:cNvSpPr/>
            <p:nvPr/>
          </p:nvSpPr>
          <p:spPr>
            <a:xfrm>
              <a:off x="3368675" y="239077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异议投诉</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403" name="长方形"/>
            <p:cNvSpPr/>
            <p:nvPr/>
          </p:nvSpPr>
          <p:spPr>
            <a:xfrm>
              <a:off x="3368675" y="282003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服务费缴纳</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404" name="长方形"/>
            <p:cNvSpPr/>
            <p:nvPr/>
          </p:nvSpPr>
          <p:spPr>
            <a:xfrm>
              <a:off x="3368675" y="260540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通知书打印</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grpSp>
      <p:grpSp>
        <p:nvGrpSpPr>
          <p:cNvPr id="7" name="组合 6"/>
          <p:cNvGrpSpPr/>
          <p:nvPr/>
        </p:nvGrpSpPr>
        <p:grpSpPr>
          <a:xfrm>
            <a:off x="4512517" y="1714974"/>
            <a:ext cx="833574" cy="1316356"/>
            <a:chOff x="4129188" y="1714974"/>
            <a:chExt cx="879623" cy="1316356"/>
          </a:xfrm>
        </p:grpSpPr>
        <p:sp>
          <p:nvSpPr>
            <p:cNvPr id="40" name="矩形: 圆角 19"/>
            <p:cNvSpPr/>
            <p:nvPr/>
          </p:nvSpPr>
          <p:spPr>
            <a:xfrm>
              <a:off x="4155521" y="1746090"/>
              <a:ext cx="796290" cy="1285240"/>
            </a:xfrm>
            <a:prstGeom prst="roundRect">
              <a:avLst>
                <a:gd name="adj" fmla="val 8101"/>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sym typeface="+mn-lt"/>
              </a:endParaRPr>
            </a:p>
          </p:txBody>
        </p:sp>
        <p:sp>
          <p:nvSpPr>
            <p:cNvPr id="407" name="文本框 406"/>
            <p:cNvSpPr txBox="1"/>
            <p:nvPr/>
          </p:nvSpPr>
          <p:spPr>
            <a:xfrm>
              <a:off x="4129188" y="1714974"/>
              <a:ext cx="879623" cy="246221"/>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lvl="0" algn="l">
                <a:lnSpc>
                  <a:spcPct val="100000"/>
                </a:lnSpc>
                <a:spcBef>
                  <a:spcPts val="0"/>
                </a:spcBef>
                <a:spcAft>
                  <a:spcPts val="0"/>
                </a:spcAft>
                <a:buClrTx/>
                <a:buSzTx/>
                <a:buFontTx/>
                <a:defRPr/>
              </a:pPr>
              <a:r>
                <a:rPr lang="zh-CN" altLang="en-US" sz="10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开标询标</a:t>
              </a:r>
              <a:endParaRPr lang="zh-CN" altLang="en-US" sz="10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sp>
          <p:nvSpPr>
            <p:cNvPr id="408" name="长方形"/>
            <p:cNvSpPr/>
            <p:nvPr/>
          </p:nvSpPr>
          <p:spPr>
            <a:xfrm>
              <a:off x="4238071" y="1960084"/>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文件解密</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410" name="长方形"/>
            <p:cNvSpPr/>
            <p:nvPr/>
          </p:nvSpPr>
          <p:spPr>
            <a:xfrm>
              <a:off x="4238071" y="2174714"/>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公布名单</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411" name="长方形"/>
            <p:cNvSpPr/>
            <p:nvPr/>
          </p:nvSpPr>
          <p:spPr>
            <a:xfrm>
              <a:off x="4238071" y="2389344"/>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导入文件</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412" name="长方形"/>
            <p:cNvSpPr/>
            <p:nvPr/>
          </p:nvSpPr>
          <p:spPr>
            <a:xfrm>
              <a:off x="4238071" y="2818604"/>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项目询标</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413" name="长方形"/>
            <p:cNvSpPr/>
            <p:nvPr/>
          </p:nvSpPr>
          <p:spPr>
            <a:xfrm>
              <a:off x="4238071" y="2603974"/>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唱标</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grpSp>
      <p:grpSp>
        <p:nvGrpSpPr>
          <p:cNvPr id="53" name="组合 52"/>
          <p:cNvGrpSpPr/>
          <p:nvPr/>
        </p:nvGrpSpPr>
        <p:grpSpPr>
          <a:xfrm>
            <a:off x="5317795" y="1715450"/>
            <a:ext cx="793721" cy="1316356"/>
            <a:chOff x="5026660" y="1716405"/>
            <a:chExt cx="837569" cy="1316356"/>
          </a:xfrm>
        </p:grpSpPr>
        <p:sp>
          <p:nvSpPr>
            <p:cNvPr id="41" name="矩形: 圆角 19"/>
            <p:cNvSpPr/>
            <p:nvPr/>
          </p:nvSpPr>
          <p:spPr>
            <a:xfrm>
              <a:off x="5026660" y="1747521"/>
              <a:ext cx="796290" cy="1285240"/>
            </a:xfrm>
            <a:prstGeom prst="roundRect">
              <a:avLst>
                <a:gd name="adj" fmla="val 8101"/>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sym typeface="+mn-lt"/>
              </a:endParaRPr>
            </a:p>
          </p:txBody>
        </p:sp>
        <p:sp>
          <p:nvSpPr>
            <p:cNvPr id="417" name="文本框 416"/>
            <p:cNvSpPr txBox="1"/>
            <p:nvPr/>
          </p:nvSpPr>
          <p:spPr>
            <a:xfrm>
              <a:off x="5185222" y="1716405"/>
              <a:ext cx="679007" cy="246221"/>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lvl="0" algn="l">
                <a:lnSpc>
                  <a:spcPct val="100000"/>
                </a:lnSpc>
                <a:spcBef>
                  <a:spcPts val="0"/>
                </a:spcBef>
                <a:spcAft>
                  <a:spcPts val="0"/>
                </a:spcAft>
                <a:buClrTx/>
                <a:buSzTx/>
                <a:buFontTx/>
                <a:defRPr/>
              </a:pPr>
              <a:r>
                <a:rPr lang="zh-CN" altLang="en-US" sz="10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评标</a:t>
              </a:r>
              <a:endParaRPr lang="zh-CN" altLang="en-US" sz="10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sp>
          <p:nvSpPr>
            <p:cNvPr id="418" name="长方形"/>
            <p:cNvSpPr/>
            <p:nvPr/>
          </p:nvSpPr>
          <p:spPr>
            <a:xfrm>
              <a:off x="5118735" y="196151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评标准备</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419" name="长方形"/>
            <p:cNvSpPr/>
            <p:nvPr/>
          </p:nvSpPr>
          <p:spPr>
            <a:xfrm>
              <a:off x="5118735" y="217614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清标</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420" name="长方形"/>
            <p:cNvSpPr/>
            <p:nvPr/>
          </p:nvSpPr>
          <p:spPr>
            <a:xfrm>
              <a:off x="5118735" y="239077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符合性评审</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421" name="长方形"/>
            <p:cNvSpPr/>
            <p:nvPr/>
          </p:nvSpPr>
          <p:spPr>
            <a:xfrm>
              <a:off x="5118735" y="282003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评标结果</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422" name="长方形"/>
            <p:cNvSpPr/>
            <p:nvPr/>
          </p:nvSpPr>
          <p:spPr>
            <a:xfrm>
              <a:off x="5118735" y="260540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打分评审</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grpSp>
      <p:grpSp>
        <p:nvGrpSpPr>
          <p:cNvPr id="54" name="组合 53"/>
          <p:cNvGrpSpPr/>
          <p:nvPr/>
        </p:nvGrpSpPr>
        <p:grpSpPr>
          <a:xfrm>
            <a:off x="6083220" y="1715926"/>
            <a:ext cx="816623" cy="1316356"/>
            <a:chOff x="5933661" y="1716405"/>
            <a:chExt cx="861735" cy="1316356"/>
          </a:xfrm>
        </p:grpSpPr>
        <p:sp>
          <p:nvSpPr>
            <p:cNvPr id="42" name="矩形: 圆角 19"/>
            <p:cNvSpPr/>
            <p:nvPr/>
          </p:nvSpPr>
          <p:spPr>
            <a:xfrm>
              <a:off x="5955030" y="1747521"/>
              <a:ext cx="796290" cy="1285240"/>
            </a:xfrm>
            <a:prstGeom prst="roundRect">
              <a:avLst>
                <a:gd name="adj" fmla="val 8101"/>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sym typeface="+mn-lt"/>
              </a:endParaRPr>
            </a:p>
          </p:txBody>
        </p:sp>
        <p:sp>
          <p:nvSpPr>
            <p:cNvPr id="432" name="文本框 431"/>
            <p:cNvSpPr txBox="1"/>
            <p:nvPr/>
          </p:nvSpPr>
          <p:spPr>
            <a:xfrm>
              <a:off x="5933661" y="1716405"/>
              <a:ext cx="861735" cy="245110"/>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lvl="0" algn="l">
                <a:lnSpc>
                  <a:spcPct val="100000"/>
                </a:lnSpc>
                <a:spcBef>
                  <a:spcPts val="0"/>
                </a:spcBef>
                <a:spcAft>
                  <a:spcPts val="0"/>
                </a:spcAft>
                <a:buClrTx/>
                <a:buSzTx/>
                <a:buFontTx/>
                <a:defRPr/>
              </a:pPr>
              <a:r>
                <a:rPr lang="zh-CN" altLang="en-US" sz="10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电子合同</a:t>
              </a:r>
              <a:endParaRPr lang="zh-CN" altLang="en-US" sz="10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sp>
          <p:nvSpPr>
            <p:cNvPr id="433" name="长方形"/>
            <p:cNvSpPr/>
            <p:nvPr/>
          </p:nvSpPr>
          <p:spPr>
            <a:xfrm>
              <a:off x="6029325" y="196151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合同签署</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434" name="长方形"/>
            <p:cNvSpPr/>
            <p:nvPr/>
          </p:nvSpPr>
          <p:spPr>
            <a:xfrm>
              <a:off x="6029325" y="2248323"/>
              <a:ext cx="647700" cy="18097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合同变更</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435" name="长方形"/>
            <p:cNvSpPr/>
            <p:nvPr/>
          </p:nvSpPr>
          <p:spPr>
            <a:xfrm>
              <a:off x="6029325" y="2534496"/>
              <a:ext cx="647700" cy="18097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合同履约</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436" name="长方形"/>
            <p:cNvSpPr/>
            <p:nvPr/>
          </p:nvSpPr>
          <p:spPr>
            <a:xfrm>
              <a:off x="6029325" y="2820670"/>
              <a:ext cx="647700" cy="18097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合同终止</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grpSp>
      <p:grpSp>
        <p:nvGrpSpPr>
          <p:cNvPr id="55" name="组合 54"/>
          <p:cNvGrpSpPr/>
          <p:nvPr/>
        </p:nvGrpSpPr>
        <p:grpSpPr>
          <a:xfrm>
            <a:off x="6818207" y="1716405"/>
            <a:ext cx="799843" cy="1316356"/>
            <a:chOff x="6863936" y="1716405"/>
            <a:chExt cx="844028" cy="1316356"/>
          </a:xfrm>
        </p:grpSpPr>
        <p:sp>
          <p:nvSpPr>
            <p:cNvPr id="43" name="矩形: 圆角 19"/>
            <p:cNvSpPr/>
            <p:nvPr/>
          </p:nvSpPr>
          <p:spPr>
            <a:xfrm>
              <a:off x="6934674" y="1747521"/>
              <a:ext cx="731045" cy="1285240"/>
            </a:xfrm>
            <a:prstGeom prst="roundRect">
              <a:avLst>
                <a:gd name="adj" fmla="val 8101"/>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sym typeface="+mn-lt"/>
              </a:endParaRPr>
            </a:p>
          </p:txBody>
        </p:sp>
        <p:sp>
          <p:nvSpPr>
            <p:cNvPr id="18" name="文本框 17"/>
            <p:cNvSpPr txBox="1"/>
            <p:nvPr/>
          </p:nvSpPr>
          <p:spPr>
            <a:xfrm>
              <a:off x="6863936" y="1716405"/>
              <a:ext cx="844028" cy="245110"/>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lvl="0" algn="l">
                <a:lnSpc>
                  <a:spcPct val="100000"/>
                </a:lnSpc>
                <a:spcBef>
                  <a:spcPts val="0"/>
                </a:spcBef>
                <a:spcAft>
                  <a:spcPts val="0"/>
                </a:spcAft>
                <a:buClrTx/>
                <a:buSzTx/>
                <a:buFontTx/>
                <a:defRPr/>
              </a:pPr>
              <a:r>
                <a:rPr lang="zh-CN" altLang="en-US" sz="10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订单管理</a:t>
              </a:r>
              <a:endParaRPr lang="zh-CN" altLang="en-US" sz="10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sp>
          <p:nvSpPr>
            <p:cNvPr id="29" name="长方形"/>
            <p:cNvSpPr/>
            <p:nvPr/>
          </p:nvSpPr>
          <p:spPr>
            <a:xfrm>
              <a:off x="6983730" y="2142492"/>
              <a:ext cx="647700" cy="1817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订单下单</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0" name="长方形"/>
            <p:cNvSpPr/>
            <p:nvPr/>
          </p:nvSpPr>
          <p:spPr>
            <a:xfrm>
              <a:off x="6983730" y="2565402"/>
              <a:ext cx="647700" cy="1817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订单收货</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grpSp>
      <p:grpSp>
        <p:nvGrpSpPr>
          <p:cNvPr id="57" name="组合 56"/>
          <p:cNvGrpSpPr/>
          <p:nvPr/>
        </p:nvGrpSpPr>
        <p:grpSpPr>
          <a:xfrm>
            <a:off x="7604994" y="1716405"/>
            <a:ext cx="1384419" cy="1312545"/>
            <a:chOff x="7959327" y="1716405"/>
            <a:chExt cx="1460898" cy="1312545"/>
          </a:xfrm>
        </p:grpSpPr>
        <p:sp>
          <p:nvSpPr>
            <p:cNvPr id="438" name="矩形: 圆角 66"/>
            <p:cNvSpPr/>
            <p:nvPr/>
          </p:nvSpPr>
          <p:spPr>
            <a:xfrm>
              <a:off x="7959327" y="1746250"/>
              <a:ext cx="1460898" cy="1282700"/>
            </a:xfrm>
            <a:prstGeom prst="roundRect">
              <a:avLst>
                <a:gd name="adj" fmla="val 8101"/>
              </a:avLst>
            </a:prstGeom>
            <a:solidFill>
              <a:schemeClr val="accent1">
                <a:lumMod val="40000"/>
                <a:lumOff val="60000"/>
              </a:schemeClr>
            </a:solidFill>
            <a:ln w="38100" cap="flat" cmpd="sng" algn="ctr">
              <a:noFill/>
              <a:prstDash val="solid"/>
              <a:miter lim="800000"/>
            </a:ln>
            <a:effectLst/>
          </p:spPr>
          <p:txBody>
            <a:bodyPr wrap="none" lIns="98755" tIns="49378" rIns="98755" bIns="49378" rtlCol="0" anchor="ctr"/>
            <a:lstStyle/>
            <a:p>
              <a:pPr algn="ctr"/>
              <a:endParaRPr lang="zh-CN" altLang="en-US" sz="1000" b="1">
                <a:latin typeface="微软雅黑" panose="020B0503020204020204" charset="-122"/>
                <a:ea typeface="微软雅黑" panose="020B0503020204020204" charset="-122"/>
                <a:cs typeface="+mn-ea"/>
                <a:sym typeface="+mn-lt"/>
              </a:endParaRPr>
            </a:p>
          </p:txBody>
        </p:sp>
        <p:sp>
          <p:nvSpPr>
            <p:cNvPr id="11" name="文本框 10"/>
            <p:cNvSpPr txBox="1"/>
            <p:nvPr/>
          </p:nvSpPr>
          <p:spPr>
            <a:xfrm>
              <a:off x="8300720" y="1716405"/>
              <a:ext cx="908375" cy="245148"/>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lvl="0" algn="l">
                <a:lnSpc>
                  <a:spcPct val="100000"/>
                </a:lnSpc>
                <a:spcBef>
                  <a:spcPts val="0"/>
                </a:spcBef>
                <a:spcAft>
                  <a:spcPts val="0"/>
                </a:spcAft>
                <a:buClrTx/>
                <a:buSzTx/>
                <a:buFontTx/>
                <a:defRPr/>
              </a:pPr>
              <a:r>
                <a:rPr lang="zh-CN" altLang="en-US" sz="10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智能主体</a:t>
              </a:r>
              <a:endParaRPr lang="zh-CN" altLang="en-US" sz="10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sp>
          <p:nvSpPr>
            <p:cNvPr id="12" name="长方形"/>
            <p:cNvSpPr/>
            <p:nvPr/>
          </p:nvSpPr>
          <p:spPr>
            <a:xfrm>
              <a:off x="8021955" y="1990727"/>
              <a:ext cx="647700" cy="1817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供应商准入</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长方形"/>
            <p:cNvSpPr/>
            <p:nvPr/>
          </p:nvSpPr>
          <p:spPr>
            <a:xfrm>
              <a:off x="8021955" y="2189681"/>
              <a:ext cx="647700" cy="1817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邀请注册</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长方形"/>
            <p:cNvSpPr/>
            <p:nvPr/>
          </p:nvSpPr>
          <p:spPr>
            <a:xfrm>
              <a:off x="8021955" y="2388635"/>
              <a:ext cx="647700" cy="1817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供应商评价</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5" name="长方形"/>
            <p:cNvSpPr/>
            <p:nvPr/>
          </p:nvSpPr>
          <p:spPr>
            <a:xfrm>
              <a:off x="8021955" y="2786543"/>
              <a:ext cx="647700" cy="1817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供应商分级</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6" name="长方形"/>
            <p:cNvSpPr/>
            <p:nvPr/>
          </p:nvSpPr>
          <p:spPr>
            <a:xfrm>
              <a:off x="8021955" y="2587589"/>
              <a:ext cx="647700" cy="1817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供应商考核</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2" name="长方形"/>
            <p:cNvSpPr/>
            <p:nvPr/>
          </p:nvSpPr>
          <p:spPr>
            <a:xfrm>
              <a:off x="8719820" y="1985647"/>
              <a:ext cx="647700" cy="1817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黑名单</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3" name="长方形"/>
            <p:cNvSpPr/>
            <p:nvPr/>
          </p:nvSpPr>
          <p:spPr>
            <a:xfrm>
              <a:off x="8728710" y="2185628"/>
              <a:ext cx="647700" cy="1817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供应商退出</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4" name="长方形"/>
            <p:cNvSpPr/>
            <p:nvPr/>
          </p:nvSpPr>
          <p:spPr>
            <a:xfrm>
              <a:off x="8728710" y="2385609"/>
              <a:ext cx="647700" cy="1817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资质预警</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5" name="长方形"/>
            <p:cNvSpPr/>
            <p:nvPr/>
          </p:nvSpPr>
          <p:spPr>
            <a:xfrm>
              <a:off x="8728710" y="2585590"/>
              <a:ext cx="647700" cy="1817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智能寻源</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48" name="长方形"/>
            <p:cNvSpPr/>
            <p:nvPr/>
          </p:nvSpPr>
          <p:spPr>
            <a:xfrm>
              <a:off x="8728710" y="2785570"/>
              <a:ext cx="647700" cy="1817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00" kern="0" dirty="0">
                  <a:solidFill>
                    <a:srgbClr val="FFFFFF"/>
                  </a:solidFill>
                  <a:latin typeface="微软雅黑" panose="020B0503020204020204" charset="-122"/>
                  <a:ea typeface="微软雅黑" panose="020B0503020204020204" charset="-122"/>
                  <a:sym typeface="微软雅黑" panose="020B0503020204020204" charset="-122"/>
                </a:rPr>
                <a:t>……</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grpSp>
      <p:grpSp>
        <p:nvGrpSpPr>
          <p:cNvPr id="59" name="组合 58"/>
          <p:cNvGrpSpPr/>
          <p:nvPr/>
        </p:nvGrpSpPr>
        <p:grpSpPr>
          <a:xfrm>
            <a:off x="3722687" y="1382394"/>
            <a:ext cx="101600" cy="233045"/>
            <a:chOff x="8957310" y="1369060"/>
            <a:chExt cx="101600" cy="233045"/>
          </a:xfrm>
        </p:grpSpPr>
        <p:sp>
          <p:nvSpPr>
            <p:cNvPr id="60" name="任意多边形: 形状 522"/>
            <p:cNvSpPr/>
            <p:nvPr/>
          </p:nvSpPr>
          <p:spPr>
            <a:xfrm>
              <a:off x="8957310" y="1527810"/>
              <a:ext cx="101600" cy="7429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rgbClr val="4472C4"/>
            </a:solidFill>
            <a:ln w="12700" cap="flat" cmpd="sng" algn="ctr">
              <a:noFill/>
              <a:prstDash val="solid"/>
              <a:miter lim="800000"/>
            </a:ln>
            <a:effectLst/>
          </p:spPr>
          <p:txBody>
            <a:bodyPr wrap="square" lIns="84125" tIns="42062" rIns="84125" bIns="4206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55"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61" name="任意多边形: 形状 523"/>
            <p:cNvSpPr/>
            <p:nvPr/>
          </p:nvSpPr>
          <p:spPr>
            <a:xfrm>
              <a:off x="8957310" y="1448435"/>
              <a:ext cx="101600" cy="7429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rgbClr val="4472C4">
                <a:lumMod val="60000"/>
                <a:lumOff val="40000"/>
              </a:srgbClr>
            </a:solidFill>
            <a:ln w="12700" cap="flat" cmpd="sng" algn="ctr">
              <a:noFill/>
              <a:prstDash val="solid"/>
              <a:miter lim="800000"/>
            </a:ln>
            <a:effectLst/>
          </p:spPr>
          <p:txBody>
            <a:bodyPr wrap="square" lIns="84125" tIns="42062" rIns="84125" bIns="4206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55"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62" name="任意多边形: 形状 524"/>
            <p:cNvSpPr/>
            <p:nvPr/>
          </p:nvSpPr>
          <p:spPr>
            <a:xfrm>
              <a:off x="8957310" y="1369060"/>
              <a:ext cx="101600" cy="7429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rgbClr val="4472C4">
                <a:lumMod val="40000"/>
                <a:lumOff val="60000"/>
              </a:srgbClr>
            </a:solidFill>
            <a:ln w="12700" cap="flat" cmpd="sng" algn="ctr">
              <a:noFill/>
              <a:prstDash val="solid"/>
              <a:miter lim="800000"/>
            </a:ln>
            <a:effectLst/>
          </p:spPr>
          <p:txBody>
            <a:bodyPr wrap="square" lIns="84125" tIns="42062" rIns="84125" bIns="4206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55"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grpSp>
      <p:sp>
        <p:nvSpPr>
          <p:cNvPr id="23" name="长方形"/>
          <p:cNvSpPr/>
          <p:nvPr/>
        </p:nvSpPr>
        <p:spPr>
          <a:xfrm>
            <a:off x="7067550" y="779145"/>
            <a:ext cx="437515" cy="20383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A2C7B6"/>
          </a:solidFill>
          <a:ln w="38100" cap="flat" cmpd="sng" algn="ctr">
            <a:noFill/>
            <a:prstDash val="solid"/>
            <a:miter lim="800000"/>
          </a:ln>
          <a:effectLst/>
        </p:spPr>
        <p:txBody>
          <a:bodyPr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b="1" dirty="0">
                <a:solidFill>
                  <a:schemeClr val="bg1"/>
                </a:solidFill>
                <a:latin typeface="微软雅黑" panose="020B0503020204020204" charset="-122"/>
              </a:rPr>
              <a:t>OA</a:t>
            </a:r>
            <a:endParaRPr lang="en-US" altLang="zh-CN" sz="900" b="1" dirty="0">
              <a:solidFill>
                <a:schemeClr val="bg1"/>
              </a:solidFill>
              <a:latin typeface="微软雅黑" panose="020B0503020204020204" charset="-122"/>
            </a:endParaRPr>
          </a:p>
        </p:txBody>
      </p:sp>
      <p:sp>
        <p:nvSpPr>
          <p:cNvPr id="37" name="长方形"/>
          <p:cNvSpPr/>
          <p:nvPr/>
        </p:nvSpPr>
        <p:spPr>
          <a:xfrm>
            <a:off x="8178800" y="779145"/>
            <a:ext cx="549910" cy="20383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A2C7B6"/>
          </a:solidFill>
          <a:ln w="38100" cap="flat" cmpd="sng" algn="ctr">
            <a:noFill/>
            <a:prstDash val="solid"/>
            <a:miter lim="800000"/>
          </a:ln>
          <a:effectLst/>
        </p:spPr>
        <p:txBody>
          <a:bodyPr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b="1" dirty="0">
                <a:solidFill>
                  <a:schemeClr val="bg1"/>
                </a:solidFill>
                <a:latin typeface="微软雅黑" panose="020B0503020204020204" charset="-122"/>
              </a:rPr>
              <a:t>MDM</a:t>
            </a:r>
            <a:endParaRPr lang="en-US" altLang="zh-CN" sz="900" b="1" dirty="0">
              <a:solidFill>
                <a:schemeClr val="bg1"/>
              </a:solidFill>
              <a:latin typeface="微软雅黑" panose="020B0503020204020204" charset="-122"/>
            </a:endParaRPr>
          </a:p>
        </p:txBody>
      </p:sp>
      <p:sp>
        <p:nvSpPr>
          <p:cNvPr id="44" name="长方形"/>
          <p:cNvSpPr/>
          <p:nvPr/>
        </p:nvSpPr>
        <p:spPr>
          <a:xfrm>
            <a:off x="8910955" y="779145"/>
            <a:ext cx="920115" cy="20383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A2C7B6"/>
          </a:solidFill>
          <a:ln w="38100" cap="flat" cmpd="sng" algn="ctr">
            <a:noFill/>
            <a:prstDash val="solid"/>
            <a:miter lim="800000"/>
          </a:ln>
          <a:effectLst/>
        </p:spPr>
        <p:txBody>
          <a:bodyPr lIns="98755" tIns="49378" rIns="98755" bIns="49378" rtlCol="0" anchor="ctr"/>
          <a:lstStyle/>
          <a:p>
            <a:pPr algn="ctr"/>
            <a:r>
              <a:rPr lang="zh-CN" altLang="en-US" sz="900" b="1" dirty="0">
                <a:solidFill>
                  <a:schemeClr val="bg1"/>
                </a:solidFill>
                <a:latin typeface="微软雅黑" panose="020B0503020204020204" charset="-122"/>
              </a:rPr>
              <a:t>财务系统</a:t>
            </a:r>
            <a:endParaRPr lang="zh-CN" altLang="en-US" sz="900" b="1" dirty="0">
              <a:solidFill>
                <a:schemeClr val="bg1"/>
              </a:solidFill>
              <a:latin typeface="微软雅黑" panose="020B0503020204020204" charset="-122"/>
            </a:endParaRPr>
          </a:p>
        </p:txBody>
      </p:sp>
      <p:sp>
        <p:nvSpPr>
          <p:cNvPr id="45" name="长方形"/>
          <p:cNvSpPr/>
          <p:nvPr/>
        </p:nvSpPr>
        <p:spPr>
          <a:xfrm>
            <a:off x="10024110" y="779145"/>
            <a:ext cx="920115" cy="20383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A2C7B6"/>
          </a:solidFill>
          <a:ln w="38100" cap="flat" cmpd="sng" algn="ctr">
            <a:noFill/>
            <a:prstDash val="solid"/>
            <a:miter lim="800000"/>
          </a:ln>
          <a:effectLst/>
        </p:spPr>
        <p:txBody>
          <a:bodyPr lIns="98755" tIns="49378" rIns="98755" bIns="49378" rtlCol="0" anchor="ctr"/>
          <a:lstStyle/>
          <a:p>
            <a:pPr algn="ctr"/>
            <a:r>
              <a:rPr lang="zh-CN" altLang="en-US" sz="900" b="1" dirty="0">
                <a:solidFill>
                  <a:schemeClr val="bg1"/>
                </a:solidFill>
                <a:latin typeface="微软雅黑" panose="020B0503020204020204" charset="-122"/>
              </a:rPr>
              <a:t>物料共享系统</a:t>
            </a:r>
            <a:endParaRPr lang="zh-CN" altLang="en-US" sz="900" b="1" dirty="0">
              <a:solidFill>
                <a:schemeClr val="bg1"/>
              </a:solidFill>
              <a:latin typeface="微软雅黑" panose="020B0503020204020204" charset="-122"/>
            </a:endParaRPr>
          </a:p>
        </p:txBody>
      </p:sp>
      <p:sp>
        <p:nvSpPr>
          <p:cNvPr id="46" name="长方形"/>
          <p:cNvSpPr/>
          <p:nvPr/>
        </p:nvSpPr>
        <p:spPr>
          <a:xfrm>
            <a:off x="7632065" y="779145"/>
            <a:ext cx="437515" cy="20383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A2C7B6"/>
          </a:solidFill>
          <a:ln w="38100" cap="flat" cmpd="sng" algn="ctr">
            <a:noFill/>
            <a:prstDash val="solid"/>
            <a:miter lim="800000"/>
          </a:ln>
          <a:effectLst/>
        </p:spPr>
        <p:txBody>
          <a:bodyPr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b="1" dirty="0">
                <a:solidFill>
                  <a:schemeClr val="bg1"/>
                </a:solidFill>
                <a:latin typeface="微软雅黑" panose="020B0503020204020204" charset="-122"/>
              </a:rPr>
              <a:t>ERP</a:t>
            </a:r>
            <a:endParaRPr lang="en-US" altLang="zh-CN" sz="900" b="1" dirty="0">
              <a:solidFill>
                <a:schemeClr val="bg1"/>
              </a:solidFill>
              <a:latin typeface="微软雅黑" panose="020B0503020204020204" charset="-122"/>
            </a:endParaRPr>
          </a:p>
        </p:txBody>
      </p:sp>
      <p:sp>
        <p:nvSpPr>
          <p:cNvPr id="52" name="长方形"/>
          <p:cNvSpPr/>
          <p:nvPr/>
        </p:nvSpPr>
        <p:spPr>
          <a:xfrm>
            <a:off x="11059160" y="779145"/>
            <a:ext cx="413385" cy="20383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A2C7B6"/>
          </a:solidFill>
          <a:ln w="38100" cap="flat" cmpd="sng" algn="ctr">
            <a:noFill/>
            <a:prstDash val="solid"/>
            <a:miter lim="800000"/>
          </a:ln>
          <a:effectLst/>
        </p:spPr>
        <p:txBody>
          <a:bodyPr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b="1" dirty="0">
                <a:solidFill>
                  <a:schemeClr val="bg1"/>
                </a:solidFill>
                <a:latin typeface="微软雅黑" panose="020B0503020204020204" charset="-122"/>
              </a:rPr>
              <a:t>…</a:t>
            </a:r>
            <a:endParaRPr lang="en-US" altLang="zh-CN" sz="900" b="1" dirty="0">
              <a:solidFill>
                <a:schemeClr val="bg1"/>
              </a:solidFill>
              <a:latin typeface="微软雅黑" panose="020B0503020204020204" charset="-122"/>
            </a:endParaRPr>
          </a:p>
        </p:txBody>
      </p:sp>
      <p:sp>
        <p:nvSpPr>
          <p:cNvPr id="63" name="长方形"/>
          <p:cNvSpPr/>
          <p:nvPr/>
        </p:nvSpPr>
        <p:spPr>
          <a:xfrm>
            <a:off x="8486775" y="1146810"/>
            <a:ext cx="1179195" cy="20383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A2C7B6"/>
          </a:solidFill>
          <a:ln w="38100" cap="flat" cmpd="sng" algn="ctr">
            <a:noFill/>
            <a:prstDash val="solid"/>
            <a:miter lim="800000"/>
          </a:ln>
          <a:effectLst/>
        </p:spPr>
        <p:txBody>
          <a:bodyPr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b="1" dirty="0">
                <a:solidFill>
                  <a:schemeClr val="bg1"/>
                </a:solidFill>
                <a:latin typeface="微软雅黑" panose="020B0503020204020204" charset="-122"/>
              </a:rPr>
              <a:t>地区信用管理平台</a:t>
            </a:r>
            <a:endParaRPr lang="zh-CN" altLang="en-US" sz="900" b="1" dirty="0">
              <a:solidFill>
                <a:schemeClr val="bg1"/>
              </a:solidFill>
              <a:latin typeface="微软雅黑" panose="020B0503020204020204" charset="-122"/>
            </a:endParaRPr>
          </a:p>
        </p:txBody>
      </p:sp>
      <p:sp>
        <p:nvSpPr>
          <p:cNvPr id="455" name="长方形"/>
          <p:cNvSpPr/>
          <p:nvPr/>
        </p:nvSpPr>
        <p:spPr>
          <a:xfrm>
            <a:off x="11050270" y="1146810"/>
            <a:ext cx="413385" cy="20383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A2C7B6"/>
          </a:solidFill>
          <a:ln w="38100" cap="flat" cmpd="sng" algn="ctr">
            <a:noFill/>
            <a:prstDash val="solid"/>
            <a:miter lim="800000"/>
          </a:ln>
          <a:effectLst/>
        </p:spPr>
        <p:txBody>
          <a:bodyPr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b="1" dirty="0">
                <a:solidFill>
                  <a:schemeClr val="bg1"/>
                </a:solidFill>
                <a:latin typeface="微软雅黑" panose="020B0503020204020204" charset="-122"/>
              </a:rPr>
              <a:t>…</a:t>
            </a:r>
            <a:endParaRPr lang="en-US" altLang="zh-CN" sz="900" b="1" dirty="0">
              <a:solidFill>
                <a:schemeClr val="bg1"/>
              </a:solidFill>
              <a:latin typeface="微软雅黑" panose="020B0503020204020204" charset="-122"/>
            </a:endParaRPr>
          </a:p>
        </p:txBody>
      </p:sp>
      <p:sp>
        <p:nvSpPr>
          <p:cNvPr id="457" name="长方形"/>
          <p:cNvSpPr/>
          <p:nvPr/>
        </p:nvSpPr>
        <p:spPr>
          <a:xfrm>
            <a:off x="7084695" y="1146810"/>
            <a:ext cx="1268095" cy="20383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A2C7B6"/>
          </a:solidFill>
          <a:ln w="38100" cap="flat" cmpd="sng" algn="ctr">
            <a:noFill/>
            <a:prstDash val="solid"/>
            <a:miter lim="800000"/>
          </a:ln>
          <a:effectLst/>
        </p:spPr>
        <p:txBody>
          <a:bodyPr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b="1" dirty="0">
                <a:solidFill>
                  <a:schemeClr val="bg1"/>
                </a:solidFill>
                <a:latin typeface="微软雅黑" panose="020B0503020204020204" charset="-122"/>
              </a:rPr>
              <a:t>国家公共服务平台</a:t>
            </a:r>
            <a:endParaRPr lang="zh-CN" altLang="en-US" sz="900" b="1" dirty="0">
              <a:solidFill>
                <a:schemeClr val="bg1"/>
              </a:solidFill>
              <a:latin typeface="微软雅黑" panose="020B0503020204020204" charset="-122"/>
            </a:endParaRPr>
          </a:p>
        </p:txBody>
      </p:sp>
      <p:sp>
        <p:nvSpPr>
          <p:cNvPr id="64" name="长方形"/>
          <p:cNvSpPr/>
          <p:nvPr/>
        </p:nvSpPr>
        <p:spPr>
          <a:xfrm>
            <a:off x="9852025" y="1146810"/>
            <a:ext cx="1028700" cy="20383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A2C7B6"/>
          </a:solidFill>
          <a:ln w="38100" cap="flat" cmpd="sng" algn="ctr">
            <a:noFill/>
            <a:prstDash val="solid"/>
            <a:miter lim="800000"/>
          </a:ln>
          <a:effectLst/>
        </p:spPr>
        <p:txBody>
          <a:bodyPr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b="1" dirty="0">
                <a:solidFill>
                  <a:schemeClr val="bg1"/>
                </a:solidFill>
                <a:latin typeface="微软雅黑" panose="020B0503020204020204" charset="-122"/>
              </a:rPr>
              <a:t>工商信息系统</a:t>
            </a:r>
            <a:endParaRPr lang="zh-CN" altLang="en-US" sz="900" b="1" dirty="0">
              <a:solidFill>
                <a:schemeClr val="bg1"/>
              </a:solidFill>
              <a:latin typeface="微软雅黑" panose="020B0503020204020204" charset="-122"/>
            </a:endParaRPr>
          </a:p>
        </p:txBody>
      </p:sp>
      <p:grpSp>
        <p:nvGrpSpPr>
          <p:cNvPr id="8" name="组合 7"/>
          <p:cNvGrpSpPr/>
          <p:nvPr/>
        </p:nvGrpSpPr>
        <p:grpSpPr>
          <a:xfrm>
            <a:off x="2105217" y="1713070"/>
            <a:ext cx="883295" cy="1316356"/>
            <a:chOff x="1297156" y="1716405"/>
            <a:chExt cx="932090" cy="1316356"/>
          </a:xfrm>
        </p:grpSpPr>
        <p:sp>
          <p:nvSpPr>
            <p:cNvPr id="9" name="矩形: 圆角 19"/>
            <p:cNvSpPr/>
            <p:nvPr/>
          </p:nvSpPr>
          <p:spPr>
            <a:xfrm>
              <a:off x="1380490" y="1747521"/>
              <a:ext cx="796290" cy="1285240"/>
            </a:xfrm>
            <a:prstGeom prst="roundRect">
              <a:avLst>
                <a:gd name="adj" fmla="val 8101"/>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sym typeface="+mn-lt"/>
              </a:endParaRPr>
            </a:p>
          </p:txBody>
        </p:sp>
        <p:sp>
          <p:nvSpPr>
            <p:cNvPr id="10" name="文本框 9"/>
            <p:cNvSpPr txBox="1"/>
            <p:nvPr/>
          </p:nvSpPr>
          <p:spPr>
            <a:xfrm>
              <a:off x="1297156" y="1716405"/>
              <a:ext cx="932090" cy="246221"/>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dirty="0">
                  <a:solidFill>
                    <a:srgbClr val="4472C4">
                      <a:lumMod val="75000"/>
                    </a:srgbClr>
                  </a:solidFill>
                  <a:effectLst>
                    <a:outerShdw blurRad="190500" dist="38100" dir="2700000" algn="tl">
                      <a:srgbClr val="0066FF">
                        <a:alpha val="20000"/>
                      </a:srgbClr>
                    </a:outerShdw>
                  </a:effectLst>
                  <a:latin typeface="微软雅黑" panose="020B0503020204020204" charset="-122"/>
                  <a:ea typeface="微软雅黑" panose="020B0503020204020204" charset="-122"/>
                </a:rPr>
                <a:t>采购立项</a:t>
              </a:r>
              <a:endParaRPr kumimoji="0" lang="zh-CN" altLang="en-US" sz="1000" b="1" i="0" u="none" strike="noStrike" kern="1200" cap="none" spc="0" normalizeH="0" baseline="0"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sp>
          <p:nvSpPr>
            <p:cNvPr id="17" name="长方形"/>
            <p:cNvSpPr/>
            <p:nvPr/>
          </p:nvSpPr>
          <p:spPr>
            <a:xfrm>
              <a:off x="1454150" y="196151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采购立项</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1" name="长方形"/>
            <p:cNvSpPr/>
            <p:nvPr/>
          </p:nvSpPr>
          <p:spPr>
            <a:xfrm>
              <a:off x="1438738" y="217741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采购委托合同</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6" name="长方形"/>
            <p:cNvSpPr/>
            <p:nvPr/>
          </p:nvSpPr>
          <p:spPr>
            <a:xfrm>
              <a:off x="1438738" y="2392680"/>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标段移交</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grpSp>
      <p:grpSp>
        <p:nvGrpSpPr>
          <p:cNvPr id="451" name="组合 450"/>
          <p:cNvGrpSpPr/>
          <p:nvPr/>
        </p:nvGrpSpPr>
        <p:grpSpPr>
          <a:xfrm>
            <a:off x="10665497" y="1576705"/>
            <a:ext cx="758789" cy="1501775"/>
            <a:chOff x="10716053" y="1576705"/>
            <a:chExt cx="689181" cy="1501775"/>
          </a:xfrm>
        </p:grpSpPr>
        <p:sp>
          <p:nvSpPr>
            <p:cNvPr id="366" name="矩形: 圆角 982"/>
            <p:cNvSpPr/>
            <p:nvPr/>
          </p:nvSpPr>
          <p:spPr>
            <a:xfrm>
              <a:off x="10716053" y="1586230"/>
              <a:ext cx="680927" cy="1492250"/>
            </a:xfrm>
            <a:prstGeom prst="roundRect">
              <a:avLst>
                <a:gd name="adj" fmla="val 4681"/>
              </a:avLst>
            </a:prstGeom>
            <a:solidFill>
              <a:srgbClr val="DEEBF7"/>
            </a:solidFill>
            <a:ln w="12700">
              <a:noFill/>
              <a:prstDash val="dash"/>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dirty="0">
                <a:latin typeface="微软雅黑" panose="020B0503020204020204" charset="-122"/>
                <a:ea typeface="微软雅黑" panose="020B0503020204020204" charset="-122"/>
                <a:cs typeface="+mn-ea"/>
                <a:sym typeface="+mn-lt"/>
              </a:endParaRPr>
            </a:p>
          </p:txBody>
        </p:sp>
        <p:sp>
          <p:nvSpPr>
            <p:cNvPr id="368" name="长方形"/>
            <p:cNvSpPr/>
            <p:nvPr/>
          </p:nvSpPr>
          <p:spPr>
            <a:xfrm>
              <a:off x="10760475" y="1824355"/>
              <a:ext cx="586339"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800" kern="0" dirty="0">
                  <a:solidFill>
                    <a:srgbClr val="FFFFFF"/>
                  </a:solidFill>
                  <a:latin typeface="微软雅黑" panose="020B0503020204020204" charset="-122"/>
                  <a:ea typeface="微软雅黑" panose="020B0503020204020204" charset="-122"/>
                  <a:sym typeface="+mn-lt"/>
                </a:rPr>
                <a:t>交易过程监管</a:t>
              </a:r>
              <a:endParaRPr lang="zh-CN" altLang="en-US" sz="800" kern="0" dirty="0">
                <a:solidFill>
                  <a:srgbClr val="FFFFFF"/>
                </a:solidFill>
                <a:latin typeface="微软雅黑" panose="020B0503020204020204" charset="-122"/>
                <a:ea typeface="微软雅黑" panose="020B0503020204020204" charset="-122"/>
                <a:sym typeface="+mn-lt"/>
              </a:endParaRPr>
            </a:p>
          </p:txBody>
        </p:sp>
        <p:sp>
          <p:nvSpPr>
            <p:cNvPr id="369" name="长方形"/>
            <p:cNvSpPr/>
            <p:nvPr/>
          </p:nvSpPr>
          <p:spPr>
            <a:xfrm>
              <a:off x="10760475" y="2075180"/>
              <a:ext cx="586339"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800" kern="0" dirty="0">
                  <a:solidFill>
                    <a:srgbClr val="FFFFFF"/>
                  </a:solidFill>
                  <a:latin typeface="微软雅黑" panose="020B0503020204020204" charset="-122"/>
                  <a:ea typeface="微软雅黑" panose="020B0503020204020204" charset="-122"/>
                  <a:sym typeface="+mn-lt"/>
                </a:rPr>
                <a:t>服务效能分析</a:t>
              </a:r>
              <a:endParaRPr lang="zh-CN" altLang="en-US" sz="800" kern="0" dirty="0">
                <a:solidFill>
                  <a:srgbClr val="FFFFFF"/>
                </a:solidFill>
                <a:latin typeface="微软雅黑" panose="020B0503020204020204" charset="-122"/>
                <a:ea typeface="微软雅黑" panose="020B0503020204020204" charset="-122"/>
                <a:sym typeface="+mn-lt"/>
              </a:endParaRPr>
            </a:p>
          </p:txBody>
        </p:sp>
        <p:sp>
          <p:nvSpPr>
            <p:cNvPr id="371" name="长方形"/>
            <p:cNvSpPr/>
            <p:nvPr/>
          </p:nvSpPr>
          <p:spPr>
            <a:xfrm>
              <a:off x="10760475" y="2325370"/>
              <a:ext cx="586339"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800" kern="0" dirty="0">
                  <a:solidFill>
                    <a:srgbClr val="FFFFFF"/>
                  </a:solidFill>
                  <a:latin typeface="微软雅黑" panose="020B0503020204020204" charset="-122"/>
                  <a:ea typeface="微软雅黑" panose="020B0503020204020204" charset="-122"/>
                  <a:sym typeface="+mn-lt"/>
                </a:rPr>
                <a:t>行政执法监管</a:t>
              </a:r>
              <a:endParaRPr lang="zh-CN" altLang="en-US" sz="800" kern="0" dirty="0">
                <a:solidFill>
                  <a:srgbClr val="FFFFFF"/>
                </a:solidFill>
                <a:latin typeface="微软雅黑" panose="020B0503020204020204" charset="-122"/>
                <a:ea typeface="微软雅黑" panose="020B0503020204020204" charset="-122"/>
                <a:sym typeface="+mn-lt"/>
              </a:endParaRPr>
            </a:p>
          </p:txBody>
        </p:sp>
        <p:sp>
          <p:nvSpPr>
            <p:cNvPr id="373" name="长方形"/>
            <p:cNvSpPr/>
            <p:nvPr/>
          </p:nvSpPr>
          <p:spPr>
            <a:xfrm>
              <a:off x="10760475" y="2826385"/>
              <a:ext cx="586339"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800" kern="0" dirty="0">
                  <a:solidFill>
                    <a:srgbClr val="FFFFFF"/>
                  </a:solidFill>
                  <a:latin typeface="微软雅黑" panose="020B0503020204020204" charset="-122"/>
                  <a:ea typeface="微软雅黑" panose="020B0503020204020204" charset="-122"/>
                  <a:sym typeface="+mn-lt"/>
                </a:rPr>
                <a:t>公平性审查</a:t>
              </a:r>
              <a:endParaRPr lang="zh-CN" altLang="en-US" sz="800" kern="0" dirty="0">
                <a:solidFill>
                  <a:srgbClr val="FFFFFF"/>
                </a:solidFill>
                <a:latin typeface="微软雅黑" panose="020B0503020204020204" charset="-122"/>
                <a:ea typeface="微软雅黑" panose="020B0503020204020204" charset="-122"/>
                <a:sym typeface="+mn-lt"/>
              </a:endParaRPr>
            </a:p>
          </p:txBody>
        </p:sp>
        <p:sp>
          <p:nvSpPr>
            <p:cNvPr id="374" name="长方形"/>
            <p:cNvSpPr/>
            <p:nvPr/>
          </p:nvSpPr>
          <p:spPr>
            <a:xfrm>
              <a:off x="10760475" y="2576195"/>
              <a:ext cx="586339"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800" kern="0" dirty="0">
                  <a:solidFill>
                    <a:srgbClr val="FFFFFF"/>
                  </a:solidFill>
                  <a:latin typeface="微软雅黑" panose="020B0503020204020204" charset="-122"/>
                  <a:ea typeface="微软雅黑" panose="020B0503020204020204" charset="-122"/>
                  <a:sym typeface="+mn-lt"/>
                </a:rPr>
                <a:t>串通投标分析</a:t>
              </a:r>
              <a:endParaRPr lang="zh-CN" altLang="en-US" sz="800" kern="0" dirty="0">
                <a:solidFill>
                  <a:srgbClr val="FFFFFF"/>
                </a:solidFill>
                <a:latin typeface="微软雅黑" panose="020B0503020204020204" charset="-122"/>
                <a:ea typeface="微软雅黑" panose="020B0503020204020204" charset="-122"/>
                <a:sym typeface="+mn-lt"/>
              </a:endParaRPr>
            </a:p>
          </p:txBody>
        </p:sp>
        <p:sp>
          <p:nvSpPr>
            <p:cNvPr id="367" name="文本框 366"/>
            <p:cNvSpPr txBox="1"/>
            <p:nvPr/>
          </p:nvSpPr>
          <p:spPr>
            <a:xfrm>
              <a:off x="10755815" y="1576705"/>
              <a:ext cx="649419" cy="245110"/>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智慧监管</a:t>
              </a:r>
              <a:endParaRPr kumimoji="0" lang="zh-CN" altLang="en-US" sz="1000" b="1" i="0" u="none" strike="noStrike" kern="1200" cap="none" spc="0" normalizeH="0" baseline="0"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grpSp>
      <p:grpSp>
        <p:nvGrpSpPr>
          <p:cNvPr id="453" name="组合 452"/>
          <p:cNvGrpSpPr/>
          <p:nvPr/>
        </p:nvGrpSpPr>
        <p:grpSpPr>
          <a:xfrm>
            <a:off x="9901606" y="1576705"/>
            <a:ext cx="735274" cy="1501775"/>
            <a:chOff x="10716053" y="1576705"/>
            <a:chExt cx="689182" cy="1501775"/>
          </a:xfrm>
        </p:grpSpPr>
        <p:sp>
          <p:nvSpPr>
            <p:cNvPr id="454" name="矩形: 圆角 982"/>
            <p:cNvSpPr/>
            <p:nvPr/>
          </p:nvSpPr>
          <p:spPr>
            <a:xfrm>
              <a:off x="10716053" y="1586230"/>
              <a:ext cx="680927" cy="1492250"/>
            </a:xfrm>
            <a:prstGeom prst="roundRect">
              <a:avLst>
                <a:gd name="adj" fmla="val 4681"/>
              </a:avLst>
            </a:prstGeom>
            <a:solidFill>
              <a:srgbClr val="DEEBF7"/>
            </a:solidFill>
            <a:ln w="12700">
              <a:noFill/>
              <a:prstDash val="dash"/>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dirty="0">
                <a:latin typeface="微软雅黑" panose="020B0503020204020204" charset="-122"/>
                <a:ea typeface="微软雅黑" panose="020B0503020204020204" charset="-122"/>
                <a:cs typeface="+mn-ea"/>
                <a:sym typeface="+mn-lt"/>
              </a:endParaRPr>
            </a:p>
          </p:txBody>
        </p:sp>
        <p:sp>
          <p:nvSpPr>
            <p:cNvPr id="456" name="长方形"/>
            <p:cNvSpPr/>
            <p:nvPr/>
          </p:nvSpPr>
          <p:spPr>
            <a:xfrm>
              <a:off x="10760475" y="1824355"/>
              <a:ext cx="586339"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800" kern="0" dirty="0">
                  <a:solidFill>
                    <a:srgbClr val="FFFFFF"/>
                  </a:solidFill>
                  <a:latin typeface="微软雅黑" panose="020B0503020204020204" charset="-122"/>
                  <a:ea typeface="微软雅黑" panose="020B0503020204020204" charset="-122"/>
                  <a:sym typeface="+mn-lt"/>
                </a:rPr>
                <a:t>数据大屏</a:t>
              </a:r>
              <a:endParaRPr lang="zh-CN" altLang="en-US" sz="800" kern="0" dirty="0">
                <a:solidFill>
                  <a:srgbClr val="FFFFFF"/>
                </a:solidFill>
                <a:latin typeface="微软雅黑" panose="020B0503020204020204" charset="-122"/>
                <a:ea typeface="微软雅黑" panose="020B0503020204020204" charset="-122"/>
                <a:sym typeface="+mn-lt"/>
              </a:endParaRPr>
            </a:p>
          </p:txBody>
        </p:sp>
        <p:sp>
          <p:nvSpPr>
            <p:cNvPr id="458" name="长方形"/>
            <p:cNvSpPr/>
            <p:nvPr/>
          </p:nvSpPr>
          <p:spPr>
            <a:xfrm>
              <a:off x="10760475" y="2075180"/>
              <a:ext cx="586339"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800" kern="0" dirty="0">
                  <a:solidFill>
                    <a:srgbClr val="FFFFFF"/>
                  </a:solidFill>
                  <a:latin typeface="微软雅黑" panose="020B0503020204020204" charset="-122"/>
                  <a:ea typeface="微软雅黑" panose="020B0503020204020204" charset="-122"/>
                  <a:sym typeface="+mn-lt"/>
                </a:rPr>
                <a:t>采购大脑</a:t>
              </a:r>
              <a:endParaRPr lang="zh-CN" altLang="en-US" sz="800" kern="0" dirty="0">
                <a:solidFill>
                  <a:srgbClr val="FFFFFF"/>
                </a:solidFill>
                <a:latin typeface="微软雅黑" panose="020B0503020204020204" charset="-122"/>
                <a:ea typeface="微软雅黑" panose="020B0503020204020204" charset="-122"/>
                <a:sym typeface="+mn-lt"/>
              </a:endParaRPr>
            </a:p>
          </p:txBody>
        </p:sp>
        <p:sp>
          <p:nvSpPr>
            <p:cNvPr id="464" name="长方形"/>
            <p:cNvSpPr/>
            <p:nvPr/>
          </p:nvSpPr>
          <p:spPr>
            <a:xfrm>
              <a:off x="10760475" y="2325370"/>
              <a:ext cx="586339"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800" kern="0" dirty="0">
                  <a:solidFill>
                    <a:srgbClr val="FFFFFF"/>
                  </a:solidFill>
                  <a:latin typeface="微软雅黑" panose="020B0503020204020204" charset="-122"/>
                  <a:ea typeface="微软雅黑" panose="020B0503020204020204" charset="-122"/>
                  <a:sym typeface="+mn-lt"/>
                </a:rPr>
                <a:t>采购风控</a:t>
              </a:r>
              <a:endParaRPr lang="zh-CN" altLang="en-US" sz="800" kern="0" dirty="0">
                <a:solidFill>
                  <a:srgbClr val="FFFFFF"/>
                </a:solidFill>
                <a:latin typeface="微软雅黑" panose="020B0503020204020204" charset="-122"/>
                <a:ea typeface="微软雅黑" panose="020B0503020204020204" charset="-122"/>
                <a:sym typeface="+mn-lt"/>
              </a:endParaRPr>
            </a:p>
          </p:txBody>
        </p:sp>
        <p:sp>
          <p:nvSpPr>
            <p:cNvPr id="481" name="长方形"/>
            <p:cNvSpPr/>
            <p:nvPr/>
          </p:nvSpPr>
          <p:spPr>
            <a:xfrm>
              <a:off x="10760475" y="2826385"/>
              <a:ext cx="586339"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800" kern="0" dirty="0">
                  <a:solidFill>
                    <a:srgbClr val="FFFFFF"/>
                  </a:solidFill>
                  <a:latin typeface="微软雅黑" panose="020B0503020204020204" charset="-122"/>
                  <a:ea typeface="微软雅黑" panose="020B0503020204020204" charset="-122"/>
                  <a:sym typeface="+mn-lt"/>
                </a:rPr>
                <a:t>智能报表</a:t>
              </a:r>
              <a:endParaRPr lang="zh-CN" altLang="en-US" sz="800" kern="0" dirty="0">
                <a:solidFill>
                  <a:srgbClr val="FFFFFF"/>
                </a:solidFill>
                <a:latin typeface="微软雅黑" panose="020B0503020204020204" charset="-122"/>
                <a:ea typeface="微软雅黑" panose="020B0503020204020204" charset="-122"/>
                <a:sym typeface="+mn-lt"/>
              </a:endParaRPr>
            </a:p>
          </p:txBody>
        </p:sp>
        <p:sp>
          <p:nvSpPr>
            <p:cNvPr id="482" name="长方形"/>
            <p:cNvSpPr/>
            <p:nvPr/>
          </p:nvSpPr>
          <p:spPr>
            <a:xfrm>
              <a:off x="10760475" y="2576195"/>
              <a:ext cx="586339"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800" kern="0" dirty="0">
                  <a:solidFill>
                    <a:srgbClr val="FFFFFF"/>
                  </a:solidFill>
                  <a:latin typeface="微软雅黑" panose="020B0503020204020204" charset="-122"/>
                  <a:ea typeface="微软雅黑" panose="020B0503020204020204" charset="-122"/>
                  <a:sym typeface="+mn-lt"/>
                </a:rPr>
                <a:t>主题画像</a:t>
              </a:r>
              <a:endParaRPr lang="zh-CN" altLang="en-US" sz="800" kern="0" dirty="0">
                <a:solidFill>
                  <a:srgbClr val="FFFFFF"/>
                </a:solidFill>
                <a:latin typeface="微软雅黑" panose="020B0503020204020204" charset="-122"/>
                <a:ea typeface="微软雅黑" panose="020B0503020204020204" charset="-122"/>
                <a:sym typeface="+mn-lt"/>
              </a:endParaRPr>
            </a:p>
          </p:txBody>
        </p:sp>
        <p:sp>
          <p:nvSpPr>
            <p:cNvPr id="483" name="文本框 482"/>
            <p:cNvSpPr txBox="1"/>
            <p:nvPr/>
          </p:nvSpPr>
          <p:spPr>
            <a:xfrm>
              <a:off x="10764807" y="1576705"/>
              <a:ext cx="640428" cy="246221"/>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000" b="1" dirty="0">
                  <a:solidFill>
                    <a:srgbClr val="4472C4">
                      <a:lumMod val="75000"/>
                    </a:srgbClr>
                  </a:solidFill>
                  <a:effectLst>
                    <a:outerShdw blurRad="190500" dist="38100" dir="2700000" algn="tl">
                      <a:srgbClr val="0066FF">
                        <a:alpha val="20000"/>
                      </a:srgbClr>
                    </a:outerShdw>
                  </a:effectLst>
                  <a:latin typeface="微软雅黑" panose="020B0503020204020204" charset="-122"/>
                  <a:ea typeface="微软雅黑" panose="020B0503020204020204" charset="-122"/>
                </a:rPr>
                <a:t>大数据</a:t>
              </a:r>
              <a:endParaRPr kumimoji="0" lang="zh-CN" altLang="en-US" sz="1000" b="1" i="0" u="none" strike="noStrike" kern="1200" cap="none" spc="0" normalizeH="0" baseline="0"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grpSp>
      <p:sp>
        <p:nvSpPr>
          <p:cNvPr id="65" name="长方形"/>
          <p:cNvSpPr/>
          <p:nvPr/>
        </p:nvSpPr>
        <p:spPr>
          <a:xfrm>
            <a:off x="2238117" y="2603340"/>
            <a:ext cx="613793"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专家论证</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73" name="长方形"/>
          <p:cNvSpPr/>
          <p:nvPr/>
        </p:nvSpPr>
        <p:spPr>
          <a:xfrm>
            <a:off x="2236212" y="2801460"/>
            <a:ext cx="613793"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采购征集预告</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291"/>
          <p:cNvSpPr/>
          <p:nvPr/>
        </p:nvSpPr>
        <p:spPr>
          <a:xfrm>
            <a:off x="296545" y="281304"/>
            <a:ext cx="11449686" cy="1421088"/>
          </a:xfrm>
          <a:prstGeom prst="roundRect">
            <a:avLst>
              <a:gd name="adj" fmla="val 10655"/>
            </a:avLst>
          </a:prstGeom>
          <a:solidFill>
            <a:schemeClr val="accent1">
              <a:lumMod val="20000"/>
              <a:lumOff val="80000"/>
            </a:schemeClr>
          </a:solidFill>
          <a:ln w="12700">
            <a:noFill/>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mn-ea"/>
              <a:sym typeface="+mn-lt"/>
            </a:endParaRPr>
          </a:p>
        </p:txBody>
      </p:sp>
      <p:sp>
        <p:nvSpPr>
          <p:cNvPr id="61" name="矩形: 圆角 60"/>
          <p:cNvSpPr/>
          <p:nvPr/>
        </p:nvSpPr>
        <p:spPr>
          <a:xfrm>
            <a:off x="924843" y="692442"/>
            <a:ext cx="10650661" cy="939165"/>
          </a:xfrm>
          <a:prstGeom prst="roundRect">
            <a:avLst>
              <a:gd name="adj" fmla="val 7612"/>
            </a:avLst>
          </a:prstGeom>
          <a:solidFill>
            <a:srgbClr val="E7E6E6"/>
          </a:solidFill>
          <a:ln w="12700">
            <a:noFill/>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mn-ea"/>
              <a:sym typeface="+mn-lt"/>
            </a:endParaRPr>
          </a:p>
        </p:txBody>
      </p:sp>
      <p:sp>
        <p:nvSpPr>
          <p:cNvPr id="18" name="圆角矩形 179"/>
          <p:cNvSpPr/>
          <p:nvPr/>
        </p:nvSpPr>
        <p:spPr>
          <a:xfrm>
            <a:off x="1154870" y="369545"/>
            <a:ext cx="1335784" cy="238125"/>
          </a:xfrm>
          <a:prstGeom prst="rect">
            <a:avLst/>
          </a:prstGeom>
          <a:solidFill>
            <a:srgbClr val="00B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bg1"/>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采购商</a:t>
            </a:r>
            <a:endParaRPr lang="zh-CN" altLang="en-US" sz="1000" b="1" dirty="0">
              <a:solidFill>
                <a:schemeClr val="bg1"/>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24" name="圆角矩形 179"/>
          <p:cNvSpPr/>
          <p:nvPr/>
        </p:nvSpPr>
        <p:spPr>
          <a:xfrm>
            <a:off x="2919172" y="369545"/>
            <a:ext cx="1335784" cy="238125"/>
          </a:xfrm>
          <a:prstGeom prst="rect">
            <a:avLst/>
          </a:prstGeom>
          <a:solidFill>
            <a:srgbClr val="00B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bg1"/>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采购代理</a:t>
            </a:r>
            <a:endParaRPr lang="zh-CN" altLang="en-US" sz="1000" b="1" dirty="0">
              <a:solidFill>
                <a:schemeClr val="bg1"/>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25" name="圆角矩形 179"/>
          <p:cNvSpPr/>
          <p:nvPr/>
        </p:nvSpPr>
        <p:spPr>
          <a:xfrm>
            <a:off x="10018016" y="369545"/>
            <a:ext cx="1335784" cy="238125"/>
          </a:xfrm>
          <a:prstGeom prst="rect">
            <a:avLst/>
          </a:prstGeom>
          <a:solidFill>
            <a:srgbClr val="00B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bg1"/>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评审专家</a:t>
            </a:r>
            <a:endParaRPr lang="zh-CN" altLang="en-US" sz="1000" b="1" dirty="0">
              <a:solidFill>
                <a:schemeClr val="bg1"/>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26" name="圆角矩形 179"/>
          <p:cNvSpPr/>
          <p:nvPr/>
        </p:nvSpPr>
        <p:spPr>
          <a:xfrm>
            <a:off x="4751418" y="369545"/>
            <a:ext cx="1335784" cy="238125"/>
          </a:xfrm>
          <a:prstGeom prst="rect">
            <a:avLst/>
          </a:prstGeom>
          <a:solidFill>
            <a:srgbClr val="00B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bg1"/>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供应商</a:t>
            </a:r>
            <a:endParaRPr lang="zh-CN" altLang="en-US" sz="1000" b="1" dirty="0">
              <a:solidFill>
                <a:schemeClr val="bg1"/>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57" name="圆角矩形 179"/>
          <p:cNvSpPr/>
          <p:nvPr/>
        </p:nvSpPr>
        <p:spPr>
          <a:xfrm>
            <a:off x="6595729" y="369545"/>
            <a:ext cx="1335784" cy="238125"/>
          </a:xfrm>
          <a:prstGeom prst="rect">
            <a:avLst/>
          </a:prstGeom>
          <a:solidFill>
            <a:srgbClr val="00B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bg1"/>
                </a:solidFill>
                <a:latin typeface="微软雅黑" panose="020B0503020204020204" charset="-122"/>
                <a:ea typeface="微软雅黑" panose="020B0503020204020204" charset="-122"/>
                <a:sym typeface="+mn-ea"/>
              </a:rPr>
              <a:t>监管人员</a:t>
            </a:r>
            <a:endParaRPr lang="zh-CN" altLang="en-US" sz="1000" b="1" dirty="0">
              <a:solidFill>
                <a:schemeClr val="bg1"/>
              </a:solidFill>
              <a:latin typeface="微软雅黑" panose="020B0503020204020204" charset="-122"/>
              <a:ea typeface="微软雅黑" panose="020B0503020204020204" charset="-122"/>
              <a:sym typeface="+mn-ea"/>
            </a:endParaRPr>
          </a:p>
        </p:txBody>
      </p:sp>
      <p:sp>
        <p:nvSpPr>
          <p:cNvPr id="27" name="文本框 26"/>
          <p:cNvSpPr txBox="1"/>
          <p:nvPr/>
        </p:nvSpPr>
        <p:spPr>
          <a:xfrm>
            <a:off x="295910" y="281304"/>
            <a:ext cx="449005" cy="1421087"/>
          </a:xfrm>
          <a:prstGeom prst="roundRect">
            <a:avLst>
              <a:gd name="adj" fmla="val 7960"/>
            </a:avLst>
          </a:prstGeom>
          <a:solidFill>
            <a:srgbClr val="4472C4"/>
          </a:solidFill>
        </p:spPr>
        <p:txBody>
          <a:bodyPr wrap="square" rtlCol="0" anchor="ctr" anchorCtr="0">
            <a:noAutofit/>
          </a:bodyPr>
          <a:lstStyle/>
          <a:p>
            <a:pPr algn="ctr"/>
            <a:r>
              <a:rPr lang="zh-CN" altLang="en-US" sz="1200" b="1" dirty="0">
                <a:solidFill>
                  <a:schemeClr val="bg1"/>
                </a:solidFill>
                <a:latin typeface="微软雅黑" panose="020B0503020204020204" charset="-122"/>
                <a:ea typeface="微软雅黑" panose="020B0503020204020204" charset="-122"/>
                <a:cs typeface="+mn-ea"/>
                <a:sym typeface="+mn-lt"/>
              </a:rPr>
              <a:t>前端</a:t>
            </a:r>
            <a:endParaRPr lang="zh-CN" altLang="en-US" sz="1200" b="1" dirty="0">
              <a:solidFill>
                <a:schemeClr val="bg1"/>
              </a:solidFill>
              <a:latin typeface="微软雅黑" panose="020B0503020204020204" charset="-122"/>
              <a:ea typeface="微软雅黑" panose="020B0503020204020204" charset="-122"/>
              <a:cs typeface="+mn-ea"/>
              <a:sym typeface="+mn-lt"/>
            </a:endParaRPr>
          </a:p>
          <a:p>
            <a:pPr algn="ctr"/>
            <a:r>
              <a:rPr lang="zh-CN" altLang="en-US" sz="1200" b="1" dirty="0">
                <a:solidFill>
                  <a:schemeClr val="bg1"/>
                </a:solidFill>
                <a:latin typeface="微软雅黑" panose="020B0503020204020204" charset="-122"/>
                <a:ea typeface="微软雅黑" panose="020B0503020204020204" charset="-122"/>
                <a:cs typeface="+mn-ea"/>
                <a:sym typeface="+mn-lt"/>
              </a:rPr>
              <a:t>应用</a:t>
            </a:r>
            <a:endParaRPr lang="zh-CN" altLang="en-US" sz="1200" b="1" dirty="0">
              <a:solidFill>
                <a:schemeClr val="bg1"/>
              </a:solidFill>
              <a:latin typeface="微软雅黑" panose="020B0503020204020204" charset="-122"/>
              <a:ea typeface="微软雅黑" panose="020B0503020204020204" charset="-122"/>
              <a:cs typeface="+mn-ea"/>
              <a:sym typeface="+mn-lt"/>
            </a:endParaRPr>
          </a:p>
        </p:txBody>
      </p:sp>
      <p:sp>
        <p:nvSpPr>
          <p:cNvPr id="63" name="文本框 62"/>
          <p:cNvSpPr txBox="1"/>
          <p:nvPr/>
        </p:nvSpPr>
        <p:spPr>
          <a:xfrm>
            <a:off x="3724003" y="690404"/>
            <a:ext cx="5055235" cy="275590"/>
          </a:xfrm>
          <a:prstGeom prst="rect">
            <a:avLst/>
          </a:prstGeom>
          <a:noFill/>
        </p:spPr>
        <p:txBody>
          <a:bodyPr wrap="square" rtlCol="0">
            <a:spAutoFit/>
          </a:bodyPr>
          <a:lstStyle/>
          <a:p>
            <a:pPr algn="ctr"/>
            <a:r>
              <a:rPr lang="zh-CN" altLang="en-US" sz="1200" b="1" dirty="0">
                <a:solidFill>
                  <a:srgbClr val="385D9D"/>
                </a:solidFill>
                <a:latin typeface="微软雅黑" panose="020B0503020204020204" charset="-122"/>
                <a:ea typeface="微软雅黑" panose="020B0503020204020204" charset="-122"/>
                <a:cs typeface="+mn-ea"/>
                <a:sym typeface="+mn-lt"/>
              </a:rPr>
              <a:t>采购服务门户</a:t>
            </a:r>
            <a:endParaRPr lang="zh-CN" altLang="en-US" sz="1200" b="1" dirty="0">
              <a:solidFill>
                <a:srgbClr val="385D9D"/>
              </a:solidFill>
              <a:latin typeface="微软雅黑" panose="020B0503020204020204" charset="-122"/>
              <a:ea typeface="微软雅黑" panose="020B0503020204020204" charset="-122"/>
              <a:cs typeface="+mn-ea"/>
              <a:sym typeface="+mn-lt"/>
            </a:endParaRPr>
          </a:p>
        </p:txBody>
      </p:sp>
      <p:sp>
        <p:nvSpPr>
          <p:cNvPr id="62" name="矩形: 圆角 61"/>
          <p:cNvSpPr/>
          <p:nvPr/>
        </p:nvSpPr>
        <p:spPr>
          <a:xfrm>
            <a:off x="1114425" y="925830"/>
            <a:ext cx="4721225" cy="557530"/>
          </a:xfrm>
          <a:prstGeom prst="roundRect">
            <a:avLst>
              <a:gd name="adj" fmla="val 8101"/>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cs typeface="+mn-ea"/>
              <a:sym typeface="+mn-lt"/>
            </a:endParaRPr>
          </a:p>
        </p:txBody>
      </p:sp>
      <p:sp>
        <p:nvSpPr>
          <p:cNvPr id="64" name="矩形: 圆角 63"/>
          <p:cNvSpPr/>
          <p:nvPr/>
        </p:nvSpPr>
        <p:spPr>
          <a:xfrm>
            <a:off x="1844675" y="999490"/>
            <a:ext cx="665480" cy="18288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800" dirty="0">
                <a:latin typeface="微软雅黑" panose="020B0503020204020204" charset="-122"/>
                <a:ea typeface="微软雅黑" panose="020B0503020204020204" charset="-122"/>
                <a:cs typeface="+mn-ea"/>
                <a:sym typeface="+mn-lt"/>
              </a:rPr>
              <a:t>商城采购</a:t>
            </a:r>
            <a:endParaRPr lang="zh-CN" altLang="en-US" sz="800" dirty="0">
              <a:latin typeface="微软雅黑" panose="020B0503020204020204" charset="-122"/>
              <a:ea typeface="微软雅黑" panose="020B0503020204020204" charset="-122"/>
              <a:cs typeface="+mn-ea"/>
              <a:sym typeface="+mn-lt"/>
            </a:endParaRPr>
          </a:p>
        </p:txBody>
      </p:sp>
      <p:sp>
        <p:nvSpPr>
          <p:cNvPr id="65" name="文本框 64"/>
          <p:cNvSpPr txBox="1"/>
          <p:nvPr/>
        </p:nvSpPr>
        <p:spPr>
          <a:xfrm>
            <a:off x="1155065" y="999490"/>
            <a:ext cx="651510" cy="381635"/>
          </a:xfrm>
          <a:prstGeom prst="rect">
            <a:avLst/>
          </a:prstGeom>
          <a:noFill/>
        </p:spPr>
        <p:txBody>
          <a:bodyPr wrap="none" rtlCol="0" anchor="ctr" anchorCtr="0">
            <a:noAutofit/>
          </a:bodyPr>
          <a:lstStyle/>
          <a:p>
            <a:pPr algn="ctr"/>
            <a:r>
              <a:rPr lang="zh-CN" altLang="en-US" sz="900" b="1" dirty="0">
                <a:solidFill>
                  <a:schemeClr val="tx1"/>
                </a:solidFill>
                <a:latin typeface="微软雅黑" panose="020B0503020204020204" charset="-122"/>
                <a:ea typeface="微软雅黑" panose="020B0503020204020204" charset="-122"/>
                <a:cs typeface="+mn-ea"/>
                <a:sym typeface="+mn-lt"/>
              </a:rPr>
              <a:t>外网</a:t>
            </a:r>
            <a:endParaRPr lang="en-US" altLang="zh-CN" sz="900" b="1" dirty="0">
              <a:solidFill>
                <a:schemeClr val="tx1"/>
              </a:solidFill>
              <a:latin typeface="微软雅黑" panose="020B0503020204020204" charset="-122"/>
              <a:ea typeface="微软雅黑" panose="020B0503020204020204" charset="-122"/>
              <a:cs typeface="+mn-ea"/>
              <a:sym typeface="+mn-lt"/>
            </a:endParaRPr>
          </a:p>
          <a:p>
            <a:pPr algn="ctr"/>
            <a:r>
              <a:rPr lang="zh-CN" altLang="en-US" sz="900" b="1" dirty="0">
                <a:solidFill>
                  <a:schemeClr val="tx1"/>
                </a:solidFill>
                <a:latin typeface="微软雅黑" panose="020B0503020204020204" charset="-122"/>
                <a:ea typeface="微软雅黑" panose="020B0503020204020204" charset="-122"/>
                <a:cs typeface="+mn-ea"/>
                <a:sym typeface="+mn-lt"/>
              </a:rPr>
              <a:t>信息门户</a:t>
            </a:r>
            <a:endParaRPr lang="zh-CN" altLang="en-US" sz="900" b="1" dirty="0">
              <a:solidFill>
                <a:schemeClr val="tx1"/>
              </a:solidFill>
              <a:latin typeface="微软雅黑" panose="020B0503020204020204" charset="-122"/>
              <a:ea typeface="微软雅黑" panose="020B0503020204020204" charset="-122"/>
              <a:cs typeface="+mn-ea"/>
              <a:sym typeface="+mn-lt"/>
            </a:endParaRPr>
          </a:p>
        </p:txBody>
      </p:sp>
      <p:sp>
        <p:nvSpPr>
          <p:cNvPr id="67" name="矩形: 圆角 308"/>
          <p:cNvSpPr/>
          <p:nvPr/>
        </p:nvSpPr>
        <p:spPr>
          <a:xfrm>
            <a:off x="2639060" y="999490"/>
            <a:ext cx="665480" cy="18288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800" dirty="0">
                <a:latin typeface="微软雅黑" panose="020B0503020204020204" charset="-122"/>
                <a:ea typeface="微软雅黑" panose="020B0503020204020204" charset="-122"/>
                <a:cs typeface="+mn-ea"/>
                <a:sym typeface="+mn-lt"/>
              </a:rPr>
              <a:t>招采商机</a:t>
            </a:r>
            <a:endParaRPr lang="en-US" altLang="zh-CN" sz="800" dirty="0">
              <a:latin typeface="微软雅黑" panose="020B0503020204020204" charset="-122"/>
              <a:ea typeface="微软雅黑" panose="020B0503020204020204" charset="-122"/>
              <a:cs typeface="+mn-ea"/>
              <a:sym typeface="+mn-lt"/>
            </a:endParaRPr>
          </a:p>
        </p:txBody>
      </p:sp>
      <p:sp>
        <p:nvSpPr>
          <p:cNvPr id="68" name="矩形: 圆角 308"/>
          <p:cNvSpPr/>
          <p:nvPr/>
        </p:nvSpPr>
        <p:spPr>
          <a:xfrm>
            <a:off x="3433445" y="999490"/>
            <a:ext cx="665480" cy="18288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800" dirty="0">
                <a:latin typeface="微软雅黑" panose="020B0503020204020204" charset="-122"/>
                <a:ea typeface="微软雅黑" panose="020B0503020204020204" charset="-122"/>
                <a:cs typeface="+mn-ea"/>
                <a:sym typeface="+mn-lt"/>
              </a:rPr>
              <a:t>平台公告</a:t>
            </a:r>
            <a:endParaRPr lang="zh-CN" altLang="en-US" sz="800" dirty="0">
              <a:latin typeface="微软雅黑" panose="020B0503020204020204" charset="-122"/>
              <a:ea typeface="微软雅黑" panose="020B0503020204020204" charset="-122"/>
              <a:cs typeface="+mn-ea"/>
              <a:sym typeface="+mn-lt"/>
            </a:endParaRPr>
          </a:p>
        </p:txBody>
      </p:sp>
      <p:sp>
        <p:nvSpPr>
          <p:cNvPr id="69" name="矩形: 圆角 308"/>
          <p:cNvSpPr/>
          <p:nvPr/>
        </p:nvSpPr>
        <p:spPr>
          <a:xfrm>
            <a:off x="1844675" y="1245870"/>
            <a:ext cx="665480" cy="18288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sz="800" dirty="0">
                <a:latin typeface="微软雅黑" panose="020B0503020204020204" charset="-122"/>
                <a:ea typeface="微软雅黑" panose="020B0503020204020204" charset="-122"/>
                <a:cs typeface="+mn-ea"/>
                <a:sym typeface="+mn-lt"/>
              </a:rPr>
              <a:t>产品动态</a:t>
            </a:r>
            <a:endParaRPr lang="zh-CN" sz="800" dirty="0">
              <a:latin typeface="微软雅黑" panose="020B0503020204020204" charset="-122"/>
              <a:ea typeface="微软雅黑" panose="020B0503020204020204" charset="-122"/>
              <a:cs typeface="+mn-ea"/>
              <a:sym typeface="+mn-lt"/>
            </a:endParaRPr>
          </a:p>
        </p:txBody>
      </p:sp>
      <p:sp>
        <p:nvSpPr>
          <p:cNvPr id="70" name="矩形: 圆角 308"/>
          <p:cNvSpPr/>
          <p:nvPr/>
        </p:nvSpPr>
        <p:spPr>
          <a:xfrm>
            <a:off x="2639060" y="1245870"/>
            <a:ext cx="665480" cy="18288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800" dirty="0">
                <a:latin typeface="微软雅黑" panose="020B0503020204020204" charset="-122"/>
                <a:ea typeface="微软雅黑" panose="020B0503020204020204" charset="-122"/>
                <a:cs typeface="+mn-ea"/>
                <a:sym typeface="+mn-lt"/>
              </a:rPr>
              <a:t>资讯信息</a:t>
            </a:r>
            <a:endParaRPr lang="zh-CN" altLang="en-US" sz="800" dirty="0">
              <a:latin typeface="微软雅黑" panose="020B0503020204020204" charset="-122"/>
              <a:ea typeface="微软雅黑" panose="020B0503020204020204" charset="-122"/>
              <a:cs typeface="+mn-ea"/>
              <a:sym typeface="+mn-lt"/>
            </a:endParaRPr>
          </a:p>
        </p:txBody>
      </p:sp>
      <p:sp>
        <p:nvSpPr>
          <p:cNvPr id="71" name="矩形: 圆角 308"/>
          <p:cNvSpPr/>
          <p:nvPr/>
        </p:nvSpPr>
        <p:spPr>
          <a:xfrm>
            <a:off x="5022215" y="1245870"/>
            <a:ext cx="665480" cy="18288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en-US" altLang="zh-CN" sz="800" dirty="0">
                <a:latin typeface="微软雅黑" panose="020B0503020204020204" charset="-122"/>
                <a:ea typeface="微软雅黑" panose="020B0503020204020204" charset="-122"/>
                <a:cs typeface="+mn-ea"/>
                <a:sym typeface="+mn-lt"/>
              </a:rPr>
              <a:t>......</a:t>
            </a:r>
            <a:endParaRPr lang="en-US" altLang="zh-CN" sz="800" dirty="0">
              <a:latin typeface="微软雅黑" panose="020B0503020204020204" charset="-122"/>
              <a:ea typeface="微软雅黑" panose="020B0503020204020204" charset="-122"/>
              <a:cs typeface="+mn-ea"/>
              <a:sym typeface="+mn-lt"/>
            </a:endParaRPr>
          </a:p>
        </p:txBody>
      </p:sp>
      <p:sp>
        <p:nvSpPr>
          <p:cNvPr id="127" name="矩形: 圆角 126"/>
          <p:cNvSpPr/>
          <p:nvPr/>
        </p:nvSpPr>
        <p:spPr>
          <a:xfrm>
            <a:off x="6330950" y="925830"/>
            <a:ext cx="5115560" cy="557530"/>
          </a:xfrm>
          <a:prstGeom prst="roundRect">
            <a:avLst>
              <a:gd name="adj" fmla="val 8101"/>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cs typeface="+mn-ea"/>
              <a:sym typeface="+mn-lt"/>
            </a:endParaRPr>
          </a:p>
        </p:txBody>
      </p:sp>
      <p:sp>
        <p:nvSpPr>
          <p:cNvPr id="128" name="矩形: 圆角 127"/>
          <p:cNvSpPr/>
          <p:nvPr/>
        </p:nvSpPr>
        <p:spPr>
          <a:xfrm>
            <a:off x="7207249" y="999490"/>
            <a:ext cx="1040565" cy="18288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800" dirty="0">
                <a:latin typeface="微软雅黑" panose="020B0503020204020204" charset="-122"/>
                <a:ea typeface="微软雅黑" panose="020B0503020204020204" charset="-122"/>
                <a:cs typeface="+mn-ea"/>
                <a:sym typeface="+mn-lt"/>
              </a:rPr>
              <a:t>采购工作台</a:t>
            </a:r>
            <a:endParaRPr lang="zh-CN" altLang="en-US" sz="800" dirty="0">
              <a:latin typeface="微软雅黑" panose="020B0503020204020204" charset="-122"/>
              <a:ea typeface="微软雅黑" panose="020B0503020204020204" charset="-122"/>
              <a:cs typeface="+mn-ea"/>
              <a:sym typeface="+mn-lt"/>
            </a:endParaRPr>
          </a:p>
        </p:txBody>
      </p:sp>
      <p:sp>
        <p:nvSpPr>
          <p:cNvPr id="150" name="文本框 149"/>
          <p:cNvSpPr txBox="1"/>
          <p:nvPr/>
        </p:nvSpPr>
        <p:spPr>
          <a:xfrm>
            <a:off x="6504940" y="1005205"/>
            <a:ext cx="651510" cy="381635"/>
          </a:xfrm>
          <a:prstGeom prst="rect">
            <a:avLst/>
          </a:prstGeom>
          <a:noFill/>
        </p:spPr>
        <p:txBody>
          <a:bodyPr wrap="none" rtlCol="0" anchor="ctr" anchorCtr="0">
            <a:noAutofit/>
          </a:bodyPr>
          <a:lstStyle/>
          <a:p>
            <a:pPr algn="ctr"/>
            <a:r>
              <a:rPr lang="zh-CN" altLang="en-US" sz="900" b="1" dirty="0">
                <a:solidFill>
                  <a:schemeClr val="tx1"/>
                </a:solidFill>
                <a:latin typeface="微软雅黑" panose="020B0503020204020204" charset="-122"/>
                <a:ea typeface="微软雅黑" panose="020B0503020204020204" charset="-122"/>
                <a:cs typeface="+mn-ea"/>
                <a:sym typeface="+mn-lt"/>
              </a:rPr>
              <a:t>移动门户</a:t>
            </a:r>
            <a:endParaRPr lang="zh-CN" altLang="en-US" sz="900" b="1" dirty="0">
              <a:solidFill>
                <a:schemeClr val="tx1"/>
              </a:solidFill>
              <a:latin typeface="微软雅黑" panose="020B0503020204020204" charset="-122"/>
              <a:ea typeface="微软雅黑" panose="020B0503020204020204" charset="-122"/>
              <a:cs typeface="+mn-ea"/>
              <a:sym typeface="+mn-lt"/>
            </a:endParaRPr>
          </a:p>
        </p:txBody>
      </p:sp>
      <p:sp>
        <p:nvSpPr>
          <p:cNvPr id="164" name="矩形: 圆角 308"/>
          <p:cNvSpPr/>
          <p:nvPr/>
        </p:nvSpPr>
        <p:spPr>
          <a:xfrm>
            <a:off x="8774112" y="999490"/>
            <a:ext cx="1040565" cy="18288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800" dirty="0">
                <a:latin typeface="微软雅黑" panose="020B0503020204020204" charset="-122"/>
                <a:ea typeface="微软雅黑" panose="020B0503020204020204" charset="-122"/>
                <a:cs typeface="+mn-ea"/>
                <a:sym typeface="+mn-lt"/>
              </a:rPr>
              <a:t>公告专区</a:t>
            </a:r>
            <a:endParaRPr lang="zh-CN" altLang="en-US" sz="800" dirty="0">
              <a:latin typeface="微软雅黑" panose="020B0503020204020204" charset="-122"/>
              <a:ea typeface="微软雅黑" panose="020B0503020204020204" charset="-122"/>
              <a:cs typeface="+mn-ea"/>
              <a:sym typeface="+mn-lt"/>
            </a:endParaRPr>
          </a:p>
        </p:txBody>
      </p:sp>
      <p:sp>
        <p:nvSpPr>
          <p:cNvPr id="166" name="矩形: 圆角 308"/>
          <p:cNvSpPr/>
          <p:nvPr/>
        </p:nvSpPr>
        <p:spPr>
          <a:xfrm>
            <a:off x="10340974" y="999490"/>
            <a:ext cx="1040565" cy="18288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800" dirty="0">
                <a:latin typeface="微软雅黑" panose="020B0503020204020204" charset="-122"/>
                <a:ea typeface="微软雅黑" panose="020B0503020204020204" charset="-122"/>
                <a:cs typeface="+mn-ea"/>
                <a:sym typeface="+mn-lt"/>
              </a:rPr>
              <a:t>流程审批</a:t>
            </a:r>
            <a:endParaRPr lang="zh-CN" altLang="en-US" sz="800" dirty="0">
              <a:latin typeface="微软雅黑" panose="020B0503020204020204" charset="-122"/>
              <a:ea typeface="微软雅黑" panose="020B0503020204020204" charset="-122"/>
              <a:cs typeface="+mn-ea"/>
              <a:sym typeface="+mn-lt"/>
            </a:endParaRPr>
          </a:p>
        </p:txBody>
      </p:sp>
      <p:sp>
        <p:nvSpPr>
          <p:cNvPr id="168" name="矩形: 圆角 308"/>
          <p:cNvSpPr/>
          <p:nvPr/>
        </p:nvSpPr>
        <p:spPr>
          <a:xfrm>
            <a:off x="7207249" y="1245870"/>
            <a:ext cx="1040565" cy="18288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zh-CN" sz="800" dirty="0">
                <a:latin typeface="微软雅黑" panose="020B0503020204020204" charset="-122"/>
                <a:ea typeface="微软雅黑" panose="020B0503020204020204" charset="-122"/>
                <a:cs typeface="+mn-ea"/>
                <a:sym typeface="+mn-lt"/>
              </a:rPr>
              <a:t>待办事宜</a:t>
            </a:r>
            <a:endParaRPr lang="zh-CN" altLang="zh-CN" sz="800" dirty="0">
              <a:latin typeface="微软雅黑" panose="020B0503020204020204" charset="-122"/>
              <a:ea typeface="微软雅黑" panose="020B0503020204020204" charset="-122"/>
              <a:cs typeface="+mn-ea"/>
              <a:sym typeface="+mn-lt"/>
            </a:endParaRPr>
          </a:p>
        </p:txBody>
      </p:sp>
      <p:sp>
        <p:nvSpPr>
          <p:cNvPr id="175" name="矩形: 圆角 308"/>
          <p:cNvSpPr/>
          <p:nvPr/>
        </p:nvSpPr>
        <p:spPr>
          <a:xfrm>
            <a:off x="8774112" y="1245870"/>
            <a:ext cx="1040565" cy="18288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800" dirty="0">
                <a:latin typeface="微软雅黑" panose="020B0503020204020204" charset="-122"/>
                <a:ea typeface="微软雅黑" panose="020B0503020204020204" charset="-122"/>
                <a:cs typeface="+mn-ea"/>
                <a:sym typeface="+mn-lt"/>
              </a:rPr>
              <a:t>今日开标</a:t>
            </a:r>
            <a:endParaRPr lang="zh-CN" altLang="en-US" sz="800" dirty="0">
              <a:latin typeface="微软雅黑" panose="020B0503020204020204" charset="-122"/>
              <a:ea typeface="微软雅黑" panose="020B0503020204020204" charset="-122"/>
              <a:cs typeface="+mn-ea"/>
              <a:sym typeface="+mn-lt"/>
            </a:endParaRPr>
          </a:p>
        </p:txBody>
      </p:sp>
      <p:sp>
        <p:nvSpPr>
          <p:cNvPr id="176" name="矩形: 圆角 308"/>
          <p:cNvSpPr/>
          <p:nvPr/>
        </p:nvSpPr>
        <p:spPr>
          <a:xfrm>
            <a:off x="10340974" y="1245870"/>
            <a:ext cx="1040565" cy="18288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en-US" altLang="zh-CN" sz="800" dirty="0">
                <a:latin typeface="微软雅黑" panose="020B0503020204020204" charset="-122"/>
                <a:ea typeface="微软雅黑" panose="020B0503020204020204" charset="-122"/>
                <a:cs typeface="+mn-ea"/>
                <a:sym typeface="+mn-lt"/>
              </a:rPr>
              <a:t>......</a:t>
            </a:r>
            <a:endParaRPr lang="en-US" altLang="zh-CN" sz="800" dirty="0">
              <a:latin typeface="微软雅黑" panose="020B0503020204020204" charset="-122"/>
              <a:ea typeface="微软雅黑" panose="020B0503020204020204" charset="-122"/>
              <a:cs typeface="+mn-ea"/>
              <a:sym typeface="+mn-lt"/>
            </a:endParaRPr>
          </a:p>
        </p:txBody>
      </p:sp>
      <p:sp>
        <p:nvSpPr>
          <p:cNvPr id="322" name="矩形: 圆角 321"/>
          <p:cNvSpPr/>
          <p:nvPr/>
        </p:nvSpPr>
        <p:spPr>
          <a:xfrm>
            <a:off x="552564" y="1768978"/>
            <a:ext cx="11199046" cy="4307972"/>
          </a:xfrm>
          <a:prstGeom prst="roundRect">
            <a:avLst>
              <a:gd name="adj" fmla="val 2232"/>
            </a:avLst>
          </a:prstGeom>
          <a:solidFill>
            <a:srgbClr val="DEEBF7"/>
          </a:solidFill>
          <a:ln w="12700">
            <a:noFill/>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mn-ea"/>
              <a:sym typeface="+mn-lt"/>
            </a:endParaRPr>
          </a:p>
        </p:txBody>
      </p:sp>
      <p:sp>
        <p:nvSpPr>
          <p:cNvPr id="328" name="矩形: 圆角 303"/>
          <p:cNvSpPr/>
          <p:nvPr/>
        </p:nvSpPr>
        <p:spPr>
          <a:xfrm>
            <a:off x="6455645" y="1826636"/>
            <a:ext cx="2422377" cy="2976282"/>
          </a:xfrm>
          <a:prstGeom prst="roundRect">
            <a:avLst>
              <a:gd name="adj" fmla="val 2308"/>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anose="020B0503020204020204" charset="-122"/>
              <a:ea typeface="微软雅黑" panose="020B0503020204020204" charset="-122"/>
              <a:cs typeface="+mn-ea"/>
              <a:sym typeface="+mn-lt"/>
            </a:endParaRPr>
          </a:p>
        </p:txBody>
      </p:sp>
      <p:sp>
        <p:nvSpPr>
          <p:cNvPr id="329" name="矩形: 圆角 308"/>
          <p:cNvSpPr/>
          <p:nvPr/>
        </p:nvSpPr>
        <p:spPr>
          <a:xfrm>
            <a:off x="6562958" y="3171909"/>
            <a:ext cx="2252153" cy="1532457"/>
          </a:xfrm>
          <a:prstGeom prst="roundRect">
            <a:avLst>
              <a:gd name="adj" fmla="val 8824"/>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sz="900" dirty="0">
              <a:latin typeface="微软雅黑" panose="020B0503020204020204" charset="-122"/>
              <a:ea typeface="微软雅黑" panose="020B0503020204020204" charset="-122"/>
              <a:cs typeface="+mn-ea"/>
              <a:sym typeface="+mn-lt"/>
            </a:endParaRPr>
          </a:p>
        </p:txBody>
      </p:sp>
      <p:sp>
        <p:nvSpPr>
          <p:cNvPr id="330" name="文本框 329"/>
          <p:cNvSpPr txBox="1"/>
          <p:nvPr/>
        </p:nvSpPr>
        <p:spPr>
          <a:xfrm>
            <a:off x="6755134" y="1802560"/>
            <a:ext cx="1867800" cy="347980"/>
          </a:xfrm>
          <a:prstGeom prst="rect">
            <a:avLst/>
          </a:prstGeom>
          <a:noFill/>
        </p:spPr>
        <p:txBody>
          <a:bodyPr wrap="square" rtlCol="0" anchor="ctr" anchorCtr="0">
            <a:noAutofit/>
          </a:bodyPr>
          <a:lstStyle/>
          <a:p>
            <a:pPr algn="ctr"/>
            <a:r>
              <a:rPr lang="zh-CN" altLang="en-US" sz="1050" b="1" dirty="0">
                <a:solidFill>
                  <a:schemeClr val="tx1"/>
                </a:solidFill>
                <a:latin typeface="微软雅黑" panose="020B0503020204020204" charset="-122"/>
                <a:ea typeface="微软雅黑" panose="020B0503020204020204" charset="-122"/>
                <a:cs typeface="+mn-ea"/>
                <a:sym typeface="+mn-lt"/>
              </a:rPr>
              <a:t>电子开标评标（评审）系统</a:t>
            </a:r>
            <a:endParaRPr lang="zh-CN" altLang="en-US" sz="1050" b="1" dirty="0">
              <a:solidFill>
                <a:schemeClr val="tx1"/>
              </a:solidFill>
              <a:latin typeface="微软雅黑" panose="020B0503020204020204" charset="-122"/>
              <a:ea typeface="微软雅黑" panose="020B0503020204020204" charset="-122"/>
              <a:cs typeface="+mn-ea"/>
              <a:sym typeface="+mn-lt"/>
            </a:endParaRPr>
          </a:p>
        </p:txBody>
      </p:sp>
      <p:sp>
        <p:nvSpPr>
          <p:cNvPr id="331" name="矩形: 圆角 308"/>
          <p:cNvSpPr/>
          <p:nvPr/>
        </p:nvSpPr>
        <p:spPr>
          <a:xfrm>
            <a:off x="6562960" y="2107306"/>
            <a:ext cx="2252151" cy="996396"/>
          </a:xfrm>
          <a:prstGeom prst="roundRect">
            <a:avLst>
              <a:gd name="adj" fmla="val 8824"/>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sz="900" dirty="0">
              <a:latin typeface="微软雅黑" panose="020B0503020204020204" charset="-122"/>
              <a:ea typeface="微软雅黑" panose="020B0503020204020204" charset="-122"/>
              <a:cs typeface="+mn-ea"/>
              <a:sym typeface="+mn-lt"/>
            </a:endParaRPr>
          </a:p>
        </p:txBody>
      </p:sp>
      <p:sp>
        <p:nvSpPr>
          <p:cNvPr id="332" name="圆角矩形 200"/>
          <p:cNvSpPr/>
          <p:nvPr/>
        </p:nvSpPr>
        <p:spPr>
          <a:xfrm>
            <a:off x="6624388" y="2330263"/>
            <a:ext cx="647400" cy="204438"/>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项目管理</a:t>
            </a:r>
            <a:endParaRPr lang="zh-CN" altLang="en-US" sz="800" dirty="0">
              <a:solidFill>
                <a:schemeClr val="tx1"/>
              </a:solidFill>
              <a:latin typeface="微软雅黑" panose="020B0503020204020204" charset="-122"/>
              <a:ea typeface="微软雅黑" panose="020B0503020204020204" charset="-122"/>
            </a:endParaRPr>
          </a:p>
        </p:txBody>
      </p:sp>
      <p:sp>
        <p:nvSpPr>
          <p:cNvPr id="333" name="文本框 332"/>
          <p:cNvSpPr txBox="1"/>
          <p:nvPr/>
        </p:nvSpPr>
        <p:spPr>
          <a:xfrm>
            <a:off x="7162053" y="2098106"/>
            <a:ext cx="1085762" cy="230832"/>
          </a:xfrm>
          <a:prstGeom prst="rect">
            <a:avLst/>
          </a:prstGeom>
          <a:noFill/>
        </p:spPr>
        <p:txBody>
          <a:bodyPr wrap="square" rtlCol="0" anchor="t">
            <a:spAutoFit/>
          </a:bodyPr>
          <a:lstStyle/>
          <a:p>
            <a:pPr lvl="0" algn="ctr">
              <a:buClrTx/>
              <a:buSzTx/>
              <a:buFontTx/>
            </a:pPr>
            <a:r>
              <a:rPr lang="zh-CN" sz="900" dirty="0">
                <a:solidFill>
                  <a:schemeClr val="bg1"/>
                </a:solidFill>
                <a:latin typeface="微软雅黑" panose="020B0503020204020204" charset="-122"/>
                <a:ea typeface="微软雅黑" panose="020B0503020204020204" charset="-122"/>
                <a:cs typeface="+mn-ea"/>
                <a:sym typeface="+mn-lt"/>
              </a:rPr>
              <a:t>电子开标子系统</a:t>
            </a:r>
            <a:endParaRPr lang="zh-CN" altLang="en-US" sz="900" dirty="0">
              <a:solidFill>
                <a:schemeClr val="bg1"/>
              </a:solidFill>
              <a:latin typeface="微软雅黑" panose="020B0503020204020204" charset="-122"/>
              <a:ea typeface="微软雅黑" panose="020B0503020204020204" charset="-122"/>
              <a:cs typeface="+mn-ea"/>
              <a:sym typeface="+mn-lt"/>
            </a:endParaRPr>
          </a:p>
        </p:txBody>
      </p:sp>
      <p:sp>
        <p:nvSpPr>
          <p:cNvPr id="334" name="圆角矩形 202"/>
          <p:cNvSpPr/>
          <p:nvPr/>
        </p:nvSpPr>
        <p:spPr>
          <a:xfrm>
            <a:off x="7336126" y="2330263"/>
            <a:ext cx="665969" cy="204438"/>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开标倒计时</a:t>
            </a:r>
            <a:endParaRPr lang="zh-CN" altLang="en-US" sz="800" dirty="0">
              <a:solidFill>
                <a:schemeClr val="tx1"/>
              </a:solidFill>
              <a:latin typeface="微软雅黑" panose="020B0503020204020204" charset="-122"/>
              <a:ea typeface="微软雅黑" panose="020B0503020204020204" charset="-122"/>
            </a:endParaRPr>
          </a:p>
        </p:txBody>
      </p:sp>
      <p:sp>
        <p:nvSpPr>
          <p:cNvPr id="335" name="圆角矩形 203"/>
          <p:cNvSpPr/>
          <p:nvPr/>
        </p:nvSpPr>
        <p:spPr>
          <a:xfrm>
            <a:off x="8038595" y="2329107"/>
            <a:ext cx="702908" cy="204438"/>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a:solidFill>
                  <a:schemeClr val="tx1"/>
                </a:solidFill>
                <a:latin typeface="微软雅黑" panose="020B0503020204020204" charset="-122"/>
                <a:ea typeface="微软雅黑" panose="020B0503020204020204" charset="-122"/>
              </a:rPr>
              <a:t>公布投标人</a:t>
            </a:r>
            <a:endParaRPr lang="zh-CN" altLang="en-US" sz="800">
              <a:solidFill>
                <a:schemeClr val="tx1"/>
              </a:solidFill>
              <a:latin typeface="微软雅黑" panose="020B0503020204020204" charset="-122"/>
              <a:ea typeface="微软雅黑" panose="020B0503020204020204" charset="-122"/>
            </a:endParaRPr>
          </a:p>
        </p:txBody>
      </p:sp>
      <p:sp>
        <p:nvSpPr>
          <p:cNvPr id="336" name="圆角矩形 204"/>
          <p:cNvSpPr/>
          <p:nvPr/>
        </p:nvSpPr>
        <p:spPr>
          <a:xfrm>
            <a:off x="6632147" y="2827825"/>
            <a:ext cx="987852" cy="204438"/>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投标文件解密</a:t>
            </a:r>
            <a:endParaRPr lang="zh-CN" altLang="en-US" sz="800" dirty="0">
              <a:solidFill>
                <a:schemeClr val="tx1"/>
              </a:solidFill>
              <a:latin typeface="微软雅黑" panose="020B0503020204020204" charset="-122"/>
              <a:ea typeface="微软雅黑" panose="020B0503020204020204" charset="-122"/>
            </a:endParaRPr>
          </a:p>
        </p:txBody>
      </p:sp>
      <p:sp>
        <p:nvSpPr>
          <p:cNvPr id="337" name="圆角矩形 219"/>
          <p:cNvSpPr/>
          <p:nvPr/>
        </p:nvSpPr>
        <p:spPr>
          <a:xfrm>
            <a:off x="6632146" y="2580700"/>
            <a:ext cx="987853" cy="20865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唱标</a:t>
            </a:r>
            <a:r>
              <a:rPr lang="en-US" altLang="zh-CN" sz="800" dirty="0">
                <a:solidFill>
                  <a:schemeClr val="tx1"/>
                </a:solidFill>
                <a:latin typeface="微软雅黑" panose="020B0503020204020204" charset="-122"/>
                <a:ea typeface="微软雅黑" panose="020B0503020204020204" charset="-122"/>
              </a:rPr>
              <a:t>-</a:t>
            </a:r>
            <a:r>
              <a:rPr lang="zh-CN" altLang="en-US" sz="800" dirty="0">
                <a:solidFill>
                  <a:schemeClr val="tx1"/>
                </a:solidFill>
                <a:latin typeface="微软雅黑" panose="020B0503020204020204" charset="-122"/>
                <a:ea typeface="微软雅黑" panose="020B0503020204020204" charset="-122"/>
              </a:rPr>
              <a:t>电声唱标</a:t>
            </a:r>
            <a:endParaRPr lang="zh-CN" altLang="en-US" sz="800" dirty="0">
              <a:solidFill>
                <a:schemeClr val="tx1"/>
              </a:solidFill>
              <a:latin typeface="微软雅黑" panose="020B0503020204020204" charset="-122"/>
              <a:ea typeface="微软雅黑" panose="020B0503020204020204" charset="-122"/>
            </a:endParaRPr>
          </a:p>
        </p:txBody>
      </p:sp>
      <p:sp>
        <p:nvSpPr>
          <p:cNvPr id="338" name="圆角矩形 220"/>
          <p:cNvSpPr/>
          <p:nvPr/>
        </p:nvSpPr>
        <p:spPr>
          <a:xfrm>
            <a:off x="7720013" y="2575995"/>
            <a:ext cx="1016601" cy="20865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双信封开标</a:t>
            </a:r>
            <a:endParaRPr lang="zh-CN" altLang="en-US" sz="800" dirty="0">
              <a:solidFill>
                <a:schemeClr val="tx1"/>
              </a:solidFill>
              <a:latin typeface="微软雅黑" panose="020B0503020204020204" charset="-122"/>
              <a:ea typeface="微软雅黑" panose="020B0503020204020204" charset="-122"/>
            </a:endParaRPr>
          </a:p>
        </p:txBody>
      </p:sp>
      <p:sp>
        <p:nvSpPr>
          <p:cNvPr id="339" name="圆角矩形 221"/>
          <p:cNvSpPr/>
          <p:nvPr/>
        </p:nvSpPr>
        <p:spPr>
          <a:xfrm>
            <a:off x="7720013" y="2826441"/>
            <a:ext cx="1016601" cy="20865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开标结束</a:t>
            </a:r>
            <a:endParaRPr lang="zh-CN" altLang="en-US" sz="800" dirty="0">
              <a:solidFill>
                <a:schemeClr val="tx1"/>
              </a:solidFill>
              <a:latin typeface="微软雅黑" panose="020B0503020204020204" charset="-122"/>
              <a:ea typeface="微软雅黑" panose="020B0503020204020204" charset="-122"/>
            </a:endParaRPr>
          </a:p>
        </p:txBody>
      </p:sp>
      <p:sp>
        <p:nvSpPr>
          <p:cNvPr id="340" name="圆角矩形 223"/>
          <p:cNvSpPr/>
          <p:nvPr/>
        </p:nvSpPr>
        <p:spPr>
          <a:xfrm>
            <a:off x="6616300" y="3489611"/>
            <a:ext cx="664239" cy="2268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范本</a:t>
            </a:r>
            <a:r>
              <a:rPr lang="en-US" altLang="zh-CN" sz="800" dirty="0">
                <a:solidFill>
                  <a:schemeClr val="tx1"/>
                </a:solidFill>
                <a:latin typeface="微软雅黑" panose="020B0503020204020204" charset="-122"/>
                <a:ea typeface="微软雅黑" panose="020B0503020204020204" charset="-122"/>
              </a:rPr>
              <a:t>/</a:t>
            </a:r>
            <a:r>
              <a:rPr lang="zh-CN" altLang="en-US" sz="800" dirty="0">
                <a:solidFill>
                  <a:schemeClr val="tx1"/>
                </a:solidFill>
                <a:latin typeface="微软雅黑" panose="020B0503020204020204" charset="-122"/>
                <a:ea typeface="微软雅黑" panose="020B0503020204020204" charset="-122"/>
              </a:rPr>
              <a:t>评标办法</a:t>
            </a:r>
            <a:endParaRPr lang="zh-CN" altLang="en-US" sz="800" dirty="0">
              <a:solidFill>
                <a:schemeClr val="tx1"/>
              </a:solidFill>
              <a:latin typeface="微软雅黑" panose="020B0503020204020204" charset="-122"/>
              <a:ea typeface="微软雅黑" panose="020B0503020204020204" charset="-122"/>
            </a:endParaRPr>
          </a:p>
        </p:txBody>
      </p:sp>
      <p:sp>
        <p:nvSpPr>
          <p:cNvPr id="341" name="文本框 340"/>
          <p:cNvSpPr txBox="1"/>
          <p:nvPr/>
        </p:nvSpPr>
        <p:spPr>
          <a:xfrm>
            <a:off x="6923897" y="3207366"/>
            <a:ext cx="1554252" cy="230832"/>
          </a:xfrm>
          <a:prstGeom prst="rect">
            <a:avLst/>
          </a:prstGeom>
          <a:noFill/>
        </p:spPr>
        <p:txBody>
          <a:bodyPr wrap="square" rtlCol="0" anchor="t">
            <a:spAutoFit/>
          </a:bodyPr>
          <a:lstStyle/>
          <a:p>
            <a:pPr lvl="0" algn="ctr">
              <a:buClrTx/>
              <a:buSzTx/>
              <a:buFontTx/>
            </a:pPr>
            <a:r>
              <a:rPr lang="zh-CN" sz="900" dirty="0">
                <a:solidFill>
                  <a:schemeClr val="bg1"/>
                </a:solidFill>
                <a:latin typeface="微软雅黑" panose="020B0503020204020204" charset="-122"/>
                <a:ea typeface="微软雅黑" panose="020B0503020204020204" charset="-122"/>
                <a:cs typeface="+mn-ea"/>
                <a:sym typeface="+mn-lt"/>
              </a:rPr>
              <a:t>电子评标（评审）子系统</a:t>
            </a:r>
            <a:endParaRPr lang="zh-CN" altLang="en-US" sz="900" dirty="0">
              <a:solidFill>
                <a:schemeClr val="bg1"/>
              </a:solidFill>
              <a:latin typeface="微软雅黑" panose="020B0503020204020204" charset="-122"/>
              <a:ea typeface="微软雅黑" panose="020B0503020204020204" charset="-122"/>
              <a:cs typeface="+mn-ea"/>
              <a:sym typeface="+mn-lt"/>
            </a:endParaRPr>
          </a:p>
        </p:txBody>
      </p:sp>
      <p:sp>
        <p:nvSpPr>
          <p:cNvPr id="342" name="圆角矩形 225"/>
          <p:cNvSpPr/>
          <p:nvPr/>
        </p:nvSpPr>
        <p:spPr>
          <a:xfrm>
            <a:off x="7342244" y="3489611"/>
            <a:ext cx="664239" cy="2268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评标准备</a:t>
            </a:r>
            <a:endParaRPr lang="zh-CN" altLang="en-US" sz="800" dirty="0">
              <a:solidFill>
                <a:schemeClr val="tx1"/>
              </a:solidFill>
              <a:latin typeface="微软雅黑" panose="020B0503020204020204" charset="-122"/>
              <a:ea typeface="微软雅黑" panose="020B0503020204020204" charset="-122"/>
            </a:endParaRPr>
          </a:p>
        </p:txBody>
      </p:sp>
      <p:sp>
        <p:nvSpPr>
          <p:cNvPr id="343" name="圆角矩形 226"/>
          <p:cNvSpPr/>
          <p:nvPr/>
        </p:nvSpPr>
        <p:spPr>
          <a:xfrm>
            <a:off x="8068188" y="3489611"/>
            <a:ext cx="664239" cy="2268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a:solidFill>
                  <a:schemeClr val="tx1"/>
                </a:solidFill>
                <a:latin typeface="微软雅黑" panose="020B0503020204020204" charset="-122"/>
                <a:ea typeface="微软雅黑" panose="020B0503020204020204" charset="-122"/>
              </a:rPr>
              <a:t>项目流标</a:t>
            </a:r>
            <a:endParaRPr lang="zh-CN" altLang="en-US" sz="800">
              <a:solidFill>
                <a:schemeClr val="tx1"/>
              </a:solidFill>
              <a:latin typeface="微软雅黑" panose="020B0503020204020204" charset="-122"/>
              <a:ea typeface="微软雅黑" panose="020B0503020204020204" charset="-122"/>
            </a:endParaRPr>
          </a:p>
        </p:txBody>
      </p:sp>
      <p:sp>
        <p:nvSpPr>
          <p:cNvPr id="344" name="圆角矩形 227"/>
          <p:cNvSpPr/>
          <p:nvPr/>
        </p:nvSpPr>
        <p:spPr>
          <a:xfrm>
            <a:off x="6616300" y="3784618"/>
            <a:ext cx="659948" cy="2268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标书比对</a:t>
            </a:r>
            <a:endParaRPr lang="zh-CN" altLang="en-US" sz="800" dirty="0">
              <a:solidFill>
                <a:schemeClr val="tx1"/>
              </a:solidFill>
              <a:latin typeface="微软雅黑" panose="020B0503020204020204" charset="-122"/>
              <a:ea typeface="微软雅黑" panose="020B0503020204020204" charset="-122"/>
            </a:endParaRPr>
          </a:p>
        </p:txBody>
      </p:sp>
      <p:sp>
        <p:nvSpPr>
          <p:cNvPr id="345" name="圆角矩形 231"/>
          <p:cNvSpPr/>
          <p:nvPr/>
        </p:nvSpPr>
        <p:spPr>
          <a:xfrm>
            <a:off x="7342147" y="3784618"/>
            <a:ext cx="664239" cy="2268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sz="800">
                <a:solidFill>
                  <a:schemeClr val="tx1"/>
                </a:solidFill>
                <a:latin typeface="微软雅黑" panose="020B0503020204020204" charset="-122"/>
                <a:ea typeface="微软雅黑" panose="020B0503020204020204" charset="-122"/>
              </a:rPr>
              <a:t>废标管理</a:t>
            </a:r>
            <a:endParaRPr lang="zh-CN" sz="800">
              <a:solidFill>
                <a:schemeClr val="tx1"/>
              </a:solidFill>
              <a:latin typeface="微软雅黑" panose="020B0503020204020204" charset="-122"/>
              <a:ea typeface="微软雅黑" panose="020B0503020204020204" charset="-122"/>
            </a:endParaRPr>
          </a:p>
        </p:txBody>
      </p:sp>
      <p:sp>
        <p:nvSpPr>
          <p:cNvPr id="346" name="圆角矩形 232"/>
          <p:cNvSpPr/>
          <p:nvPr/>
        </p:nvSpPr>
        <p:spPr>
          <a:xfrm>
            <a:off x="8068188" y="3779155"/>
            <a:ext cx="664239" cy="2268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资格审查</a:t>
            </a:r>
            <a:endParaRPr lang="zh-CN" altLang="en-US" sz="800" dirty="0">
              <a:solidFill>
                <a:schemeClr val="tx1"/>
              </a:solidFill>
              <a:latin typeface="微软雅黑" panose="020B0503020204020204" charset="-122"/>
              <a:ea typeface="微软雅黑" panose="020B0503020204020204" charset="-122"/>
            </a:endParaRPr>
          </a:p>
        </p:txBody>
      </p:sp>
      <p:sp>
        <p:nvSpPr>
          <p:cNvPr id="347" name="圆角矩形 233"/>
          <p:cNvSpPr/>
          <p:nvPr/>
        </p:nvSpPr>
        <p:spPr>
          <a:xfrm>
            <a:off x="6616301" y="4055305"/>
            <a:ext cx="659948" cy="2268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响应性审查</a:t>
            </a:r>
            <a:endParaRPr lang="zh-CN" altLang="en-US" sz="800" dirty="0">
              <a:solidFill>
                <a:schemeClr val="tx1"/>
              </a:solidFill>
              <a:latin typeface="微软雅黑" panose="020B0503020204020204" charset="-122"/>
              <a:ea typeface="微软雅黑" panose="020B0503020204020204" charset="-122"/>
            </a:endParaRPr>
          </a:p>
        </p:txBody>
      </p:sp>
      <p:sp>
        <p:nvSpPr>
          <p:cNvPr id="348" name="圆角矩形 234"/>
          <p:cNvSpPr/>
          <p:nvPr/>
        </p:nvSpPr>
        <p:spPr>
          <a:xfrm>
            <a:off x="7342147" y="4055305"/>
            <a:ext cx="659948" cy="2268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技术评审</a:t>
            </a:r>
            <a:endParaRPr lang="zh-CN" altLang="en-US" sz="800" dirty="0">
              <a:solidFill>
                <a:schemeClr val="tx1"/>
              </a:solidFill>
              <a:latin typeface="微软雅黑" panose="020B0503020204020204" charset="-122"/>
              <a:ea typeface="微软雅黑" panose="020B0503020204020204" charset="-122"/>
            </a:endParaRPr>
          </a:p>
        </p:txBody>
      </p:sp>
      <p:sp>
        <p:nvSpPr>
          <p:cNvPr id="349" name="圆角矩形 235"/>
          <p:cNvSpPr/>
          <p:nvPr/>
        </p:nvSpPr>
        <p:spPr>
          <a:xfrm>
            <a:off x="8068188" y="4052353"/>
            <a:ext cx="664239" cy="2268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商务</a:t>
            </a:r>
            <a:r>
              <a:rPr lang="zh-CN" sz="800" dirty="0">
                <a:solidFill>
                  <a:schemeClr val="tx1"/>
                </a:solidFill>
                <a:latin typeface="微软雅黑" panose="020B0503020204020204" charset="-122"/>
                <a:ea typeface="微软雅黑" panose="020B0503020204020204" charset="-122"/>
              </a:rPr>
              <a:t>评审</a:t>
            </a:r>
            <a:endParaRPr lang="zh-CN" sz="800" dirty="0">
              <a:solidFill>
                <a:schemeClr val="tx1"/>
              </a:solidFill>
              <a:latin typeface="微软雅黑" panose="020B0503020204020204" charset="-122"/>
              <a:ea typeface="微软雅黑" panose="020B0503020204020204" charset="-122"/>
            </a:endParaRPr>
          </a:p>
        </p:txBody>
      </p:sp>
      <p:sp>
        <p:nvSpPr>
          <p:cNvPr id="350" name="圆角矩形 236"/>
          <p:cNvSpPr/>
          <p:nvPr/>
        </p:nvSpPr>
        <p:spPr>
          <a:xfrm>
            <a:off x="6616300" y="4320561"/>
            <a:ext cx="664239" cy="2268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清标</a:t>
            </a:r>
            <a:endParaRPr lang="zh-CN" altLang="en-US" sz="800" dirty="0">
              <a:solidFill>
                <a:schemeClr val="tx1"/>
              </a:solidFill>
              <a:latin typeface="微软雅黑" panose="020B0503020204020204" charset="-122"/>
              <a:ea typeface="微软雅黑" panose="020B0503020204020204" charset="-122"/>
            </a:endParaRPr>
          </a:p>
        </p:txBody>
      </p:sp>
      <p:sp>
        <p:nvSpPr>
          <p:cNvPr id="351" name="圆角矩形 237"/>
          <p:cNvSpPr/>
          <p:nvPr/>
        </p:nvSpPr>
        <p:spPr>
          <a:xfrm>
            <a:off x="7342244" y="4320561"/>
            <a:ext cx="659851" cy="2268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a:solidFill>
                  <a:schemeClr val="tx1"/>
                </a:solidFill>
                <a:latin typeface="微软雅黑" panose="020B0503020204020204" charset="-122"/>
                <a:ea typeface="微软雅黑" panose="020B0503020204020204" charset="-122"/>
              </a:rPr>
              <a:t>评标结果</a:t>
            </a:r>
            <a:endParaRPr lang="zh-CN" altLang="en-US" sz="800">
              <a:solidFill>
                <a:schemeClr val="tx1"/>
              </a:solidFill>
              <a:latin typeface="微软雅黑" panose="020B0503020204020204" charset="-122"/>
              <a:ea typeface="微软雅黑" panose="020B0503020204020204" charset="-122"/>
            </a:endParaRPr>
          </a:p>
        </p:txBody>
      </p:sp>
      <p:sp>
        <p:nvSpPr>
          <p:cNvPr id="352" name="圆角矩形 238"/>
          <p:cNvSpPr/>
          <p:nvPr/>
        </p:nvSpPr>
        <p:spPr>
          <a:xfrm>
            <a:off x="8063800" y="4320561"/>
            <a:ext cx="668627" cy="2268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en-US" altLang="zh-CN" sz="800">
                <a:solidFill>
                  <a:schemeClr val="tx1"/>
                </a:solidFill>
                <a:latin typeface="微软雅黑" panose="020B0503020204020204" charset="-122"/>
                <a:ea typeface="微软雅黑" panose="020B0503020204020204" charset="-122"/>
              </a:rPr>
              <a:t>......</a:t>
            </a:r>
            <a:endParaRPr lang="en-US" altLang="zh-CN" sz="800">
              <a:solidFill>
                <a:schemeClr val="tx1"/>
              </a:solidFill>
              <a:latin typeface="微软雅黑" panose="020B0503020204020204" charset="-122"/>
              <a:ea typeface="微软雅黑" panose="020B0503020204020204" charset="-122"/>
            </a:endParaRPr>
          </a:p>
        </p:txBody>
      </p:sp>
      <p:sp>
        <p:nvSpPr>
          <p:cNvPr id="407" name="Rounded Rectangle 5"/>
          <p:cNvSpPr/>
          <p:nvPr/>
        </p:nvSpPr>
        <p:spPr>
          <a:xfrm rot="2700000">
            <a:off x="6419799" y="4192952"/>
            <a:ext cx="142414" cy="44197"/>
          </a:xfrm>
          <a:prstGeom prst="roundRect">
            <a:avLst>
              <a:gd name="adj" fmla="val 50000"/>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algn="ctr"/>
            <a:endParaRPr lang="en-US" sz="1000" kern="0">
              <a:solidFill>
                <a:srgbClr val="FFFFFF"/>
              </a:solidFill>
              <a:latin typeface="微软雅黑" panose="020B0503020204020204" charset="-122"/>
              <a:ea typeface="微软雅黑" panose="020B0503020204020204" charset="-122"/>
            </a:endParaRPr>
          </a:p>
        </p:txBody>
      </p:sp>
      <p:sp>
        <p:nvSpPr>
          <p:cNvPr id="408" name="Rounded Rectangle 6"/>
          <p:cNvSpPr/>
          <p:nvPr/>
        </p:nvSpPr>
        <p:spPr>
          <a:xfrm rot="8100000">
            <a:off x="6420301" y="4261982"/>
            <a:ext cx="141976" cy="44197"/>
          </a:xfrm>
          <a:prstGeom prst="roundRect">
            <a:avLst>
              <a:gd name="adj" fmla="val 50000"/>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algn="ctr"/>
            <a:endParaRPr lang="en-US" sz="1000" kern="0">
              <a:solidFill>
                <a:srgbClr val="FFFFFF"/>
              </a:solidFill>
              <a:latin typeface="微软雅黑" panose="020B0503020204020204" charset="-122"/>
              <a:ea typeface="微软雅黑" panose="020B0503020204020204" charset="-122"/>
            </a:endParaRPr>
          </a:p>
        </p:txBody>
      </p:sp>
      <p:sp useBgFill="1">
        <p:nvSpPr>
          <p:cNvPr id="410" name="Oval 11"/>
          <p:cNvSpPr/>
          <p:nvPr/>
        </p:nvSpPr>
        <p:spPr>
          <a:xfrm>
            <a:off x="6505247" y="4229283"/>
            <a:ext cx="40229" cy="40551"/>
          </a:xfrm>
          <a:prstGeom prst="ellipse">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algn="ctr"/>
            <a:endParaRPr lang="en-US" sz="1000" kern="0" dirty="0">
              <a:solidFill>
                <a:srgbClr val="FFFFFF"/>
              </a:solidFill>
              <a:latin typeface="微软雅黑" panose="020B0503020204020204" charset="-122"/>
              <a:ea typeface="微软雅黑" panose="020B0503020204020204" charset="-122"/>
            </a:endParaRPr>
          </a:p>
        </p:txBody>
      </p:sp>
      <p:sp>
        <p:nvSpPr>
          <p:cNvPr id="411" name="Rounded Rectangle 5"/>
          <p:cNvSpPr/>
          <p:nvPr/>
        </p:nvSpPr>
        <p:spPr>
          <a:xfrm rot="2700000">
            <a:off x="6458334" y="2536436"/>
            <a:ext cx="142414" cy="44197"/>
          </a:xfrm>
          <a:prstGeom prst="roundRect">
            <a:avLst>
              <a:gd name="adj" fmla="val 50000"/>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sp>
        <p:nvSpPr>
          <p:cNvPr id="412" name="Rounded Rectangle 6"/>
          <p:cNvSpPr/>
          <p:nvPr/>
        </p:nvSpPr>
        <p:spPr>
          <a:xfrm rot="8100000">
            <a:off x="6458836" y="2605466"/>
            <a:ext cx="141976" cy="44197"/>
          </a:xfrm>
          <a:prstGeom prst="roundRect">
            <a:avLst>
              <a:gd name="adj" fmla="val 50000"/>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sp>
        <p:nvSpPr>
          <p:cNvPr id="413" name="Rounded Rectangle 7"/>
          <p:cNvSpPr/>
          <p:nvPr/>
        </p:nvSpPr>
        <p:spPr>
          <a:xfrm>
            <a:off x="6335491" y="2570943"/>
            <a:ext cx="250931" cy="45719"/>
          </a:xfrm>
          <a:prstGeom prst="roundRect">
            <a:avLst>
              <a:gd name="adj" fmla="val 50000"/>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useBgFill="1">
        <p:nvSpPr>
          <p:cNvPr id="414" name="Oval 11"/>
          <p:cNvSpPr/>
          <p:nvPr/>
        </p:nvSpPr>
        <p:spPr>
          <a:xfrm>
            <a:off x="6543782" y="2572767"/>
            <a:ext cx="40229" cy="40551"/>
          </a:xfrm>
          <a:prstGeom prst="ellipse">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415" name="Rounded Rectangle 7"/>
          <p:cNvSpPr/>
          <p:nvPr/>
        </p:nvSpPr>
        <p:spPr>
          <a:xfrm rot="5400000">
            <a:off x="5684690" y="3217201"/>
            <a:ext cx="1338235" cy="45719"/>
          </a:xfrm>
          <a:prstGeom prst="roundRect">
            <a:avLst>
              <a:gd name="adj" fmla="val 50000"/>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417" name="矩形: 圆角 303"/>
          <p:cNvSpPr/>
          <p:nvPr/>
        </p:nvSpPr>
        <p:spPr>
          <a:xfrm>
            <a:off x="7738110" y="4869180"/>
            <a:ext cx="1139190" cy="1185545"/>
          </a:xfrm>
          <a:prstGeom prst="roundRect">
            <a:avLst>
              <a:gd name="adj" fmla="val 8101"/>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cs typeface="+mn-ea"/>
              <a:sym typeface="+mn-lt"/>
            </a:endParaRPr>
          </a:p>
        </p:txBody>
      </p:sp>
      <p:sp>
        <p:nvSpPr>
          <p:cNvPr id="418" name="矩形: 圆角 308"/>
          <p:cNvSpPr/>
          <p:nvPr/>
        </p:nvSpPr>
        <p:spPr>
          <a:xfrm>
            <a:off x="7820661" y="5120005"/>
            <a:ext cx="1003935" cy="26543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dirty="0">
                <a:latin typeface="微软雅黑" panose="020B0503020204020204" charset="-122"/>
                <a:ea typeface="微软雅黑" panose="020B0503020204020204" charset="-122"/>
                <a:cs typeface="+mn-ea"/>
                <a:sym typeface="+mn-lt"/>
              </a:rPr>
              <a:t>物料类别管理</a:t>
            </a:r>
            <a:endParaRPr lang="zh-CN" altLang="en-US" sz="1000" dirty="0">
              <a:latin typeface="微软雅黑" panose="020B0503020204020204" charset="-122"/>
              <a:ea typeface="微软雅黑" panose="020B0503020204020204" charset="-122"/>
              <a:cs typeface="+mn-ea"/>
              <a:sym typeface="+mn-lt"/>
            </a:endParaRPr>
          </a:p>
        </p:txBody>
      </p:sp>
      <p:sp>
        <p:nvSpPr>
          <p:cNvPr id="419" name="文本框 418"/>
          <p:cNvSpPr txBox="1"/>
          <p:nvPr/>
        </p:nvSpPr>
        <p:spPr>
          <a:xfrm>
            <a:off x="7757160" y="4850765"/>
            <a:ext cx="1056005" cy="311150"/>
          </a:xfrm>
          <a:prstGeom prst="rect">
            <a:avLst/>
          </a:prstGeom>
          <a:noFill/>
        </p:spPr>
        <p:txBody>
          <a:bodyPr wrap="none" rtlCol="0" anchor="ctr" anchorCtr="0">
            <a:noAutofit/>
          </a:bodyPr>
          <a:lstStyle/>
          <a:p>
            <a:pPr algn="ctr"/>
            <a:r>
              <a:rPr lang="zh-CN" altLang="en-US" sz="1100" b="1" dirty="0">
                <a:solidFill>
                  <a:schemeClr val="tx1"/>
                </a:solidFill>
                <a:latin typeface="微软雅黑" panose="020B0503020204020204" charset="-122"/>
                <a:ea typeface="微软雅黑" panose="020B0503020204020204" charset="-122"/>
                <a:cs typeface="+mn-ea"/>
                <a:sym typeface="+mn-lt"/>
              </a:rPr>
              <a:t>物料主数据系统</a:t>
            </a:r>
            <a:endParaRPr lang="zh-CN" altLang="en-US" sz="1100" b="1" dirty="0">
              <a:solidFill>
                <a:schemeClr val="tx1"/>
              </a:solidFill>
              <a:latin typeface="微软雅黑" panose="020B0503020204020204" charset="-122"/>
              <a:ea typeface="微软雅黑" panose="020B0503020204020204" charset="-122"/>
              <a:cs typeface="+mn-ea"/>
              <a:sym typeface="+mn-lt"/>
            </a:endParaRPr>
          </a:p>
        </p:txBody>
      </p:sp>
      <p:sp>
        <p:nvSpPr>
          <p:cNvPr id="420" name="矩形: 圆角 308"/>
          <p:cNvSpPr/>
          <p:nvPr/>
        </p:nvSpPr>
        <p:spPr>
          <a:xfrm>
            <a:off x="7820661" y="5422900"/>
            <a:ext cx="1003935" cy="26543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dirty="0">
                <a:latin typeface="微软雅黑" panose="020B0503020204020204" charset="-122"/>
                <a:ea typeface="微软雅黑" panose="020B0503020204020204" charset="-122"/>
                <a:cs typeface="+mn-ea"/>
                <a:sym typeface="+mn-lt"/>
              </a:rPr>
              <a:t>物料信息管理</a:t>
            </a:r>
            <a:endParaRPr lang="zh-CN" altLang="en-US" sz="1000" dirty="0">
              <a:latin typeface="微软雅黑" panose="020B0503020204020204" charset="-122"/>
              <a:ea typeface="微软雅黑" panose="020B0503020204020204" charset="-122"/>
              <a:cs typeface="+mn-ea"/>
              <a:sym typeface="+mn-lt"/>
            </a:endParaRPr>
          </a:p>
        </p:txBody>
      </p:sp>
      <p:sp>
        <p:nvSpPr>
          <p:cNvPr id="421" name="矩形: 圆角 308"/>
          <p:cNvSpPr/>
          <p:nvPr/>
        </p:nvSpPr>
        <p:spPr>
          <a:xfrm>
            <a:off x="7820661" y="5716270"/>
            <a:ext cx="1003935" cy="26543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dirty="0">
                <a:latin typeface="微软雅黑" panose="020B0503020204020204" charset="-122"/>
                <a:ea typeface="微软雅黑" panose="020B0503020204020204" charset="-122"/>
                <a:cs typeface="+mn-ea"/>
                <a:sym typeface="+mn-lt"/>
              </a:rPr>
              <a:t>物料信息查询</a:t>
            </a:r>
            <a:endParaRPr lang="zh-CN" altLang="en-US" sz="1000" dirty="0">
              <a:latin typeface="微软雅黑" panose="020B0503020204020204" charset="-122"/>
              <a:ea typeface="微软雅黑" panose="020B0503020204020204" charset="-122"/>
              <a:cs typeface="+mn-ea"/>
              <a:sym typeface="+mn-lt"/>
            </a:endParaRPr>
          </a:p>
        </p:txBody>
      </p:sp>
      <p:sp>
        <p:nvSpPr>
          <p:cNvPr id="423" name="矩形: 圆角 303"/>
          <p:cNvSpPr/>
          <p:nvPr/>
        </p:nvSpPr>
        <p:spPr>
          <a:xfrm>
            <a:off x="1094740" y="5021580"/>
            <a:ext cx="2401570" cy="902335"/>
          </a:xfrm>
          <a:prstGeom prst="roundRect">
            <a:avLst>
              <a:gd name="adj" fmla="val 8101"/>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cs typeface="+mn-ea"/>
              <a:sym typeface="+mn-lt"/>
            </a:endParaRPr>
          </a:p>
        </p:txBody>
      </p:sp>
      <p:sp>
        <p:nvSpPr>
          <p:cNvPr id="424" name="矩形: 圆角 308"/>
          <p:cNvSpPr/>
          <p:nvPr/>
        </p:nvSpPr>
        <p:spPr>
          <a:xfrm>
            <a:off x="1157605" y="5274945"/>
            <a:ext cx="1097280" cy="26543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1000" dirty="0">
                <a:latin typeface="微软雅黑" panose="020B0503020204020204" charset="-122"/>
                <a:ea typeface="微软雅黑" panose="020B0503020204020204" charset="-122"/>
                <a:cs typeface="+mn-ea"/>
                <a:sym typeface="+mn-lt"/>
              </a:rPr>
              <a:t>标书费用管理</a:t>
            </a:r>
            <a:endParaRPr lang="zh-CN" altLang="en-US" sz="1000" dirty="0">
              <a:latin typeface="微软雅黑" panose="020B0503020204020204" charset="-122"/>
              <a:ea typeface="微软雅黑" panose="020B0503020204020204" charset="-122"/>
              <a:cs typeface="+mn-ea"/>
              <a:sym typeface="+mn-lt"/>
            </a:endParaRPr>
          </a:p>
        </p:txBody>
      </p:sp>
      <p:sp>
        <p:nvSpPr>
          <p:cNvPr id="425" name="矩形: 圆角 308"/>
          <p:cNvSpPr/>
          <p:nvPr/>
        </p:nvSpPr>
        <p:spPr>
          <a:xfrm>
            <a:off x="1157605" y="5607050"/>
            <a:ext cx="1097280" cy="26543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1000" dirty="0">
                <a:latin typeface="微软雅黑" panose="020B0503020204020204" charset="-122"/>
                <a:ea typeface="微软雅黑" panose="020B0503020204020204" charset="-122"/>
                <a:cs typeface="+mn-ea"/>
                <a:sym typeface="+mn-lt"/>
              </a:rPr>
              <a:t>中标服务费管理</a:t>
            </a:r>
            <a:endParaRPr lang="zh-CN" altLang="en-US" sz="1000" dirty="0">
              <a:latin typeface="微软雅黑" panose="020B0503020204020204" charset="-122"/>
              <a:ea typeface="微软雅黑" panose="020B0503020204020204" charset="-122"/>
              <a:cs typeface="+mn-ea"/>
              <a:sym typeface="+mn-lt"/>
            </a:endParaRPr>
          </a:p>
        </p:txBody>
      </p:sp>
      <p:sp>
        <p:nvSpPr>
          <p:cNvPr id="426" name="矩形: 圆角 308"/>
          <p:cNvSpPr/>
          <p:nvPr/>
        </p:nvSpPr>
        <p:spPr>
          <a:xfrm>
            <a:off x="2317115" y="5273040"/>
            <a:ext cx="1097280" cy="26543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1000" dirty="0">
                <a:latin typeface="微软雅黑" panose="020B0503020204020204" charset="-122"/>
                <a:ea typeface="微软雅黑" panose="020B0503020204020204" charset="-122"/>
                <a:cs typeface="+mn-ea"/>
                <a:sym typeface="+mn-lt"/>
              </a:rPr>
              <a:t>投标保证金管理</a:t>
            </a:r>
            <a:endParaRPr lang="zh-CN" altLang="en-US" sz="1000" dirty="0">
              <a:latin typeface="微软雅黑" panose="020B0503020204020204" charset="-122"/>
              <a:ea typeface="微软雅黑" panose="020B0503020204020204" charset="-122"/>
              <a:cs typeface="+mn-ea"/>
              <a:sym typeface="+mn-lt"/>
            </a:endParaRPr>
          </a:p>
        </p:txBody>
      </p:sp>
      <p:sp>
        <p:nvSpPr>
          <p:cNvPr id="427" name="矩形: 圆角 308"/>
          <p:cNvSpPr/>
          <p:nvPr/>
        </p:nvSpPr>
        <p:spPr>
          <a:xfrm>
            <a:off x="2317115" y="5605145"/>
            <a:ext cx="1097280" cy="26543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1000" dirty="0">
                <a:latin typeface="微软雅黑" panose="020B0503020204020204" charset="-122"/>
                <a:ea typeface="微软雅黑" panose="020B0503020204020204" charset="-122"/>
                <a:cs typeface="+mn-ea"/>
                <a:sym typeface="+mn-lt"/>
              </a:rPr>
              <a:t>资金对账管理</a:t>
            </a:r>
            <a:endParaRPr lang="zh-CN" altLang="en-US" sz="1000" dirty="0">
              <a:latin typeface="微软雅黑" panose="020B0503020204020204" charset="-122"/>
              <a:ea typeface="微软雅黑" panose="020B0503020204020204" charset="-122"/>
              <a:cs typeface="+mn-ea"/>
              <a:sym typeface="+mn-lt"/>
            </a:endParaRPr>
          </a:p>
        </p:txBody>
      </p:sp>
      <p:sp>
        <p:nvSpPr>
          <p:cNvPr id="428" name="文本框 427"/>
          <p:cNvSpPr txBox="1"/>
          <p:nvPr/>
        </p:nvSpPr>
        <p:spPr>
          <a:xfrm>
            <a:off x="1117600" y="4981575"/>
            <a:ext cx="2399665" cy="311150"/>
          </a:xfrm>
          <a:prstGeom prst="rect">
            <a:avLst/>
          </a:prstGeom>
          <a:noFill/>
        </p:spPr>
        <p:txBody>
          <a:bodyPr wrap="square" rtlCol="0" anchor="ctr" anchorCtr="0">
            <a:noAutofit/>
          </a:bodyPr>
          <a:lstStyle/>
          <a:p>
            <a:pPr algn="ctr"/>
            <a:r>
              <a:rPr lang="zh-CN" altLang="en-US" sz="1100" b="1" dirty="0">
                <a:latin typeface="微软雅黑" panose="020B0503020204020204" charset="-122"/>
                <a:ea typeface="微软雅黑" panose="020B0503020204020204" charset="-122"/>
                <a:cs typeface="+mn-ea"/>
                <a:sym typeface="+mn-lt"/>
              </a:rPr>
              <a:t>资金财务</a:t>
            </a:r>
            <a:r>
              <a:rPr lang="zh-CN" altLang="en-US" sz="1100" b="1" dirty="0">
                <a:solidFill>
                  <a:schemeClr val="tx1"/>
                </a:solidFill>
                <a:latin typeface="微软雅黑" panose="020B0503020204020204" charset="-122"/>
                <a:ea typeface="微软雅黑" panose="020B0503020204020204" charset="-122"/>
                <a:cs typeface="+mn-ea"/>
                <a:sym typeface="+mn-lt"/>
              </a:rPr>
              <a:t>系统</a:t>
            </a:r>
            <a:endParaRPr lang="zh-CN" altLang="en-US" sz="1100" b="1" dirty="0">
              <a:solidFill>
                <a:schemeClr val="tx1"/>
              </a:solidFill>
              <a:latin typeface="微软雅黑" panose="020B0503020204020204" charset="-122"/>
              <a:ea typeface="微软雅黑" panose="020B0503020204020204" charset="-122"/>
              <a:cs typeface="+mn-ea"/>
              <a:sym typeface="+mn-lt"/>
            </a:endParaRPr>
          </a:p>
        </p:txBody>
      </p:sp>
      <p:sp>
        <p:nvSpPr>
          <p:cNvPr id="323" name="矩形: 圆角 303"/>
          <p:cNvSpPr/>
          <p:nvPr/>
        </p:nvSpPr>
        <p:spPr>
          <a:xfrm>
            <a:off x="1117600" y="1826895"/>
            <a:ext cx="5133975" cy="2992755"/>
          </a:xfrm>
          <a:prstGeom prst="roundRect">
            <a:avLst>
              <a:gd name="adj" fmla="val 1760"/>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cs typeface="+mn-ea"/>
              <a:sym typeface="+mn-lt"/>
            </a:endParaRPr>
          </a:p>
        </p:txBody>
      </p:sp>
      <p:sp>
        <p:nvSpPr>
          <p:cNvPr id="324" name="矩形: 圆角 308"/>
          <p:cNvSpPr/>
          <p:nvPr/>
        </p:nvSpPr>
        <p:spPr>
          <a:xfrm>
            <a:off x="2554605" y="3497580"/>
            <a:ext cx="3533140" cy="1205230"/>
          </a:xfrm>
          <a:prstGeom prst="roundRect">
            <a:avLst>
              <a:gd name="adj" fmla="val 3904"/>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sz="900" dirty="0">
              <a:latin typeface="微软雅黑" panose="020B0503020204020204" charset="-122"/>
              <a:ea typeface="微软雅黑" panose="020B0503020204020204" charset="-122"/>
              <a:cs typeface="+mn-ea"/>
              <a:sym typeface="+mn-lt"/>
            </a:endParaRPr>
          </a:p>
        </p:txBody>
      </p:sp>
      <p:sp>
        <p:nvSpPr>
          <p:cNvPr id="325" name="矩形: 圆角 324"/>
          <p:cNvSpPr/>
          <p:nvPr/>
        </p:nvSpPr>
        <p:spPr>
          <a:xfrm>
            <a:off x="2574290" y="3714115"/>
            <a:ext cx="3458210" cy="681355"/>
          </a:xfrm>
          <a:prstGeom prst="roundRect">
            <a:avLst>
              <a:gd name="adj" fmla="val 8101"/>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mn-ea"/>
              <a:sym typeface="+mn-lt"/>
            </a:endParaRPr>
          </a:p>
        </p:txBody>
      </p:sp>
      <p:cxnSp>
        <p:nvCxnSpPr>
          <p:cNvPr id="326" name="直接连接符 325"/>
          <p:cNvCxnSpPr>
            <a:stCxn id="394" idx="3"/>
            <a:endCxn id="389" idx="1"/>
          </p:cNvCxnSpPr>
          <p:nvPr/>
        </p:nvCxnSpPr>
        <p:spPr>
          <a:xfrm>
            <a:off x="4194175" y="4251960"/>
            <a:ext cx="1112520" cy="0"/>
          </a:xfrm>
          <a:prstGeom prst="line">
            <a:avLst/>
          </a:prstGeom>
          <a:ln w="19050">
            <a:solidFill>
              <a:srgbClr val="A4F6FA"/>
            </a:solidFill>
          </a:ln>
        </p:spPr>
        <p:style>
          <a:lnRef idx="1">
            <a:schemeClr val="accent1"/>
          </a:lnRef>
          <a:fillRef idx="0">
            <a:schemeClr val="accent1"/>
          </a:fillRef>
          <a:effectRef idx="0">
            <a:schemeClr val="accent1"/>
          </a:effectRef>
          <a:fontRef idx="minor">
            <a:schemeClr val="tx1"/>
          </a:fontRef>
        </p:style>
      </p:cxnSp>
      <p:cxnSp>
        <p:nvCxnSpPr>
          <p:cNvPr id="327" name="直接连接符 326"/>
          <p:cNvCxnSpPr>
            <a:endCxn id="388" idx="1"/>
          </p:cNvCxnSpPr>
          <p:nvPr/>
        </p:nvCxnSpPr>
        <p:spPr>
          <a:xfrm>
            <a:off x="4194175" y="3891280"/>
            <a:ext cx="1112520" cy="0"/>
          </a:xfrm>
          <a:prstGeom prst="line">
            <a:avLst/>
          </a:prstGeom>
          <a:ln w="19050">
            <a:solidFill>
              <a:srgbClr val="A4F6FA"/>
            </a:solidFill>
          </a:ln>
        </p:spPr>
        <p:style>
          <a:lnRef idx="1">
            <a:schemeClr val="accent1"/>
          </a:lnRef>
          <a:fillRef idx="0">
            <a:schemeClr val="accent1"/>
          </a:fillRef>
          <a:effectRef idx="0">
            <a:schemeClr val="accent1"/>
          </a:effectRef>
          <a:fontRef idx="minor">
            <a:schemeClr val="tx1"/>
          </a:fontRef>
        </p:style>
      </p:cxnSp>
      <p:sp>
        <p:nvSpPr>
          <p:cNvPr id="353" name="文本框 352"/>
          <p:cNvSpPr txBox="1"/>
          <p:nvPr/>
        </p:nvSpPr>
        <p:spPr>
          <a:xfrm>
            <a:off x="2560320" y="1777365"/>
            <a:ext cx="2102485" cy="347980"/>
          </a:xfrm>
          <a:prstGeom prst="rect">
            <a:avLst/>
          </a:prstGeom>
          <a:noFill/>
        </p:spPr>
        <p:txBody>
          <a:bodyPr wrap="square" rtlCol="0" anchor="ctr" anchorCtr="0">
            <a:noAutofit/>
          </a:bodyPr>
          <a:lstStyle/>
          <a:p>
            <a:pPr algn="ctr"/>
            <a:r>
              <a:rPr lang="zh-CN" altLang="en-US" sz="1100" b="1" dirty="0">
                <a:solidFill>
                  <a:schemeClr val="tx1"/>
                </a:solidFill>
                <a:latin typeface="微软雅黑" panose="020B0503020204020204" charset="-122"/>
                <a:ea typeface="微软雅黑" panose="020B0503020204020204" charset="-122"/>
                <a:cs typeface="+mn-ea"/>
                <a:sym typeface="+mn-lt"/>
              </a:rPr>
              <a:t>招标采购业务管理系统</a:t>
            </a:r>
            <a:endParaRPr lang="zh-CN" altLang="en-US" sz="1100" b="1" dirty="0">
              <a:solidFill>
                <a:schemeClr val="tx1"/>
              </a:solidFill>
              <a:latin typeface="微软雅黑" panose="020B0503020204020204" charset="-122"/>
              <a:ea typeface="微软雅黑" panose="020B0503020204020204" charset="-122"/>
              <a:cs typeface="+mn-ea"/>
              <a:sym typeface="+mn-lt"/>
            </a:endParaRPr>
          </a:p>
        </p:txBody>
      </p:sp>
      <p:sp>
        <p:nvSpPr>
          <p:cNvPr id="354" name="矩形: 圆角 308"/>
          <p:cNvSpPr/>
          <p:nvPr/>
        </p:nvSpPr>
        <p:spPr>
          <a:xfrm>
            <a:off x="4933315" y="2104390"/>
            <a:ext cx="1127760" cy="1344930"/>
          </a:xfrm>
          <a:prstGeom prst="roundRect">
            <a:avLst>
              <a:gd name="adj" fmla="val 5257"/>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endParaRPr lang="zh-CN" sz="900" dirty="0">
              <a:latin typeface="微软雅黑" panose="020B0503020204020204" charset="-122"/>
              <a:ea typeface="微软雅黑" panose="020B0503020204020204" charset="-122"/>
              <a:cs typeface="+mn-ea"/>
              <a:sym typeface="+mn-lt"/>
            </a:endParaRPr>
          </a:p>
        </p:txBody>
      </p:sp>
      <p:sp>
        <p:nvSpPr>
          <p:cNvPr id="355" name="圆角矩形 122"/>
          <p:cNvSpPr/>
          <p:nvPr/>
        </p:nvSpPr>
        <p:spPr>
          <a:xfrm>
            <a:off x="5022215" y="2363470"/>
            <a:ext cx="949960" cy="255905"/>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电子招标（采购）</a:t>
            </a:r>
            <a:endParaRPr lang="en-US" altLang="zh-CN" sz="800" dirty="0">
              <a:solidFill>
                <a:schemeClr val="tx1"/>
              </a:solidFill>
              <a:latin typeface="微软雅黑" panose="020B0503020204020204" charset="-122"/>
              <a:ea typeface="微软雅黑" panose="020B0503020204020204" charset="-122"/>
            </a:endParaRPr>
          </a:p>
          <a:p>
            <a:pPr algn="ctr"/>
            <a:r>
              <a:rPr lang="zh-CN" altLang="en-US" sz="800" dirty="0">
                <a:solidFill>
                  <a:schemeClr val="tx1"/>
                </a:solidFill>
                <a:latin typeface="微软雅黑" panose="020B0503020204020204" charset="-122"/>
                <a:ea typeface="微软雅黑" panose="020B0503020204020204" charset="-122"/>
              </a:rPr>
              <a:t>文件编制工具</a:t>
            </a:r>
            <a:endParaRPr lang="zh-CN" altLang="en-US" sz="800" dirty="0">
              <a:solidFill>
                <a:schemeClr val="tx1"/>
              </a:solidFill>
              <a:latin typeface="微软雅黑" panose="020B0503020204020204" charset="-122"/>
              <a:ea typeface="微软雅黑" panose="020B0503020204020204" charset="-122"/>
            </a:endParaRPr>
          </a:p>
        </p:txBody>
      </p:sp>
      <p:sp>
        <p:nvSpPr>
          <p:cNvPr id="356" name="文本框 355"/>
          <p:cNvSpPr txBox="1"/>
          <p:nvPr/>
        </p:nvSpPr>
        <p:spPr>
          <a:xfrm>
            <a:off x="4944110" y="2110740"/>
            <a:ext cx="1105535" cy="231140"/>
          </a:xfrm>
          <a:prstGeom prst="rect">
            <a:avLst/>
          </a:prstGeom>
          <a:noFill/>
        </p:spPr>
        <p:txBody>
          <a:bodyPr wrap="none" rtlCol="0" anchor="t">
            <a:spAutoFit/>
          </a:bodyPr>
          <a:lstStyle/>
          <a:p>
            <a:pPr lvl="0" algn="ctr">
              <a:buClrTx/>
              <a:buSzTx/>
              <a:buFontTx/>
            </a:pPr>
            <a:r>
              <a:rPr lang="zh-CN" sz="900" dirty="0">
                <a:solidFill>
                  <a:schemeClr val="bg1"/>
                </a:solidFill>
                <a:latin typeface="微软雅黑" panose="020B0503020204020204" charset="-122"/>
                <a:ea typeface="微软雅黑" panose="020B0503020204020204" charset="-122"/>
                <a:cs typeface="+mn-ea"/>
                <a:sym typeface="+mn-lt"/>
              </a:rPr>
              <a:t>电子文件编制工具</a:t>
            </a:r>
            <a:endParaRPr lang="zh-CN" altLang="en-US" sz="900" dirty="0">
              <a:solidFill>
                <a:schemeClr val="bg1"/>
              </a:solidFill>
              <a:latin typeface="微软雅黑" panose="020B0503020204020204" charset="-122"/>
              <a:ea typeface="微软雅黑" panose="020B0503020204020204" charset="-122"/>
              <a:cs typeface="+mn-ea"/>
              <a:sym typeface="+mn-lt"/>
            </a:endParaRPr>
          </a:p>
        </p:txBody>
      </p:sp>
      <p:sp>
        <p:nvSpPr>
          <p:cNvPr id="357" name="圆角矩形 124"/>
          <p:cNvSpPr/>
          <p:nvPr/>
        </p:nvSpPr>
        <p:spPr>
          <a:xfrm>
            <a:off x="5022215" y="2763203"/>
            <a:ext cx="949960" cy="255905"/>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电子投标（响应）</a:t>
            </a:r>
            <a:endParaRPr lang="en-US" altLang="zh-CN" sz="800" dirty="0">
              <a:solidFill>
                <a:schemeClr val="tx1"/>
              </a:solidFill>
              <a:latin typeface="微软雅黑" panose="020B0503020204020204" charset="-122"/>
              <a:ea typeface="微软雅黑" panose="020B0503020204020204" charset="-122"/>
            </a:endParaRPr>
          </a:p>
          <a:p>
            <a:pPr algn="ctr"/>
            <a:r>
              <a:rPr lang="zh-CN" altLang="en-US" sz="800" dirty="0">
                <a:solidFill>
                  <a:schemeClr val="tx1"/>
                </a:solidFill>
                <a:latin typeface="微软雅黑" panose="020B0503020204020204" charset="-122"/>
                <a:ea typeface="微软雅黑" panose="020B0503020204020204" charset="-122"/>
              </a:rPr>
              <a:t>文件编制工具</a:t>
            </a:r>
            <a:endParaRPr lang="zh-CN" altLang="en-US" sz="800" dirty="0">
              <a:solidFill>
                <a:schemeClr val="tx1"/>
              </a:solidFill>
              <a:latin typeface="微软雅黑" panose="020B0503020204020204" charset="-122"/>
              <a:ea typeface="微软雅黑" panose="020B0503020204020204" charset="-122"/>
            </a:endParaRPr>
          </a:p>
        </p:txBody>
      </p:sp>
      <p:sp>
        <p:nvSpPr>
          <p:cNvPr id="358" name="圆角矩形 125"/>
          <p:cNvSpPr/>
          <p:nvPr/>
        </p:nvSpPr>
        <p:spPr>
          <a:xfrm>
            <a:off x="5022215" y="3162935"/>
            <a:ext cx="949960" cy="255905"/>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文件模板制作</a:t>
            </a:r>
            <a:endParaRPr lang="zh-CN" altLang="en-US" sz="800" dirty="0">
              <a:solidFill>
                <a:schemeClr val="tx1"/>
              </a:solidFill>
              <a:latin typeface="微软雅黑" panose="020B0503020204020204" charset="-122"/>
              <a:ea typeface="微软雅黑" panose="020B0503020204020204" charset="-122"/>
            </a:endParaRPr>
          </a:p>
        </p:txBody>
      </p:sp>
      <p:sp>
        <p:nvSpPr>
          <p:cNvPr id="359" name="矩形: 圆角 308"/>
          <p:cNvSpPr/>
          <p:nvPr/>
        </p:nvSpPr>
        <p:spPr>
          <a:xfrm>
            <a:off x="1370965" y="2098040"/>
            <a:ext cx="1104900" cy="1344930"/>
          </a:xfrm>
          <a:prstGeom prst="roundRect">
            <a:avLst>
              <a:gd name="adj" fmla="val 4577"/>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endParaRPr lang="zh-CN" sz="900" dirty="0">
              <a:latin typeface="微软雅黑" panose="020B0503020204020204" charset="-122"/>
              <a:ea typeface="微软雅黑" panose="020B0503020204020204" charset="-122"/>
              <a:cs typeface="+mn-ea"/>
              <a:sym typeface="+mn-lt"/>
            </a:endParaRPr>
          </a:p>
        </p:txBody>
      </p:sp>
      <p:sp>
        <p:nvSpPr>
          <p:cNvPr id="360" name="圆角矩形 129"/>
          <p:cNvSpPr/>
          <p:nvPr/>
        </p:nvSpPr>
        <p:spPr>
          <a:xfrm>
            <a:off x="1457960" y="2353310"/>
            <a:ext cx="930910" cy="19177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预算管理</a:t>
            </a:r>
            <a:endParaRPr lang="zh-CN" altLang="en-US" sz="800" dirty="0">
              <a:solidFill>
                <a:schemeClr val="tx1"/>
              </a:solidFill>
              <a:latin typeface="微软雅黑" panose="020B0503020204020204" charset="-122"/>
              <a:ea typeface="微软雅黑" panose="020B0503020204020204" charset="-122"/>
            </a:endParaRPr>
          </a:p>
        </p:txBody>
      </p:sp>
      <p:sp>
        <p:nvSpPr>
          <p:cNvPr id="361" name="文本框 360"/>
          <p:cNvSpPr txBox="1"/>
          <p:nvPr/>
        </p:nvSpPr>
        <p:spPr>
          <a:xfrm>
            <a:off x="1485265" y="2104390"/>
            <a:ext cx="875030" cy="231140"/>
          </a:xfrm>
          <a:prstGeom prst="rect">
            <a:avLst/>
          </a:prstGeom>
          <a:noFill/>
        </p:spPr>
        <p:txBody>
          <a:bodyPr wrap="none" rtlCol="0" anchor="t">
            <a:spAutoFit/>
          </a:bodyPr>
          <a:lstStyle/>
          <a:p>
            <a:pPr lvl="0" algn="ctr">
              <a:buClrTx/>
              <a:buSzTx/>
              <a:buFontTx/>
            </a:pPr>
            <a:r>
              <a:rPr lang="zh-CN" sz="900" dirty="0">
                <a:solidFill>
                  <a:schemeClr val="bg1"/>
                </a:solidFill>
                <a:latin typeface="微软雅黑" panose="020B0503020204020204" charset="-122"/>
                <a:ea typeface="微软雅黑" panose="020B0503020204020204" charset="-122"/>
                <a:cs typeface="+mn-ea"/>
                <a:sym typeface="+mn-lt"/>
              </a:rPr>
              <a:t>采购计划管理</a:t>
            </a:r>
            <a:endParaRPr lang="zh-CN" altLang="en-US" sz="900" dirty="0">
              <a:solidFill>
                <a:schemeClr val="bg1"/>
              </a:solidFill>
              <a:latin typeface="微软雅黑" panose="020B0503020204020204" charset="-122"/>
              <a:ea typeface="微软雅黑" panose="020B0503020204020204" charset="-122"/>
              <a:cs typeface="+mn-ea"/>
              <a:sym typeface="+mn-lt"/>
            </a:endParaRPr>
          </a:p>
        </p:txBody>
      </p:sp>
      <p:sp>
        <p:nvSpPr>
          <p:cNvPr id="362" name="圆角矩形 131"/>
          <p:cNvSpPr/>
          <p:nvPr/>
        </p:nvSpPr>
        <p:spPr>
          <a:xfrm>
            <a:off x="1459865" y="2817918"/>
            <a:ext cx="930910" cy="19177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a:solidFill>
                  <a:schemeClr val="tx1"/>
                </a:solidFill>
                <a:latin typeface="微软雅黑" panose="020B0503020204020204" charset="-122"/>
                <a:ea typeface="微软雅黑" panose="020B0503020204020204" charset="-122"/>
              </a:rPr>
              <a:t>采购需求管理</a:t>
            </a:r>
            <a:endParaRPr lang="zh-CN" altLang="en-US" sz="800">
              <a:solidFill>
                <a:schemeClr val="tx1"/>
              </a:solidFill>
              <a:latin typeface="微软雅黑" panose="020B0503020204020204" charset="-122"/>
              <a:ea typeface="微软雅黑" panose="020B0503020204020204" charset="-122"/>
            </a:endParaRPr>
          </a:p>
        </p:txBody>
      </p:sp>
      <p:sp>
        <p:nvSpPr>
          <p:cNvPr id="363" name="圆角矩形 132"/>
          <p:cNvSpPr/>
          <p:nvPr/>
        </p:nvSpPr>
        <p:spPr>
          <a:xfrm>
            <a:off x="1459865" y="3207596"/>
            <a:ext cx="930910" cy="19177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a:solidFill>
                  <a:schemeClr val="tx1"/>
                </a:solidFill>
                <a:latin typeface="微软雅黑" panose="020B0503020204020204" charset="-122"/>
                <a:ea typeface="微软雅黑" panose="020B0503020204020204" charset="-122"/>
              </a:rPr>
              <a:t>需求池</a:t>
            </a:r>
            <a:endParaRPr lang="zh-CN" altLang="en-US" sz="800">
              <a:solidFill>
                <a:schemeClr val="tx1"/>
              </a:solidFill>
              <a:latin typeface="微软雅黑" panose="020B0503020204020204" charset="-122"/>
              <a:ea typeface="微软雅黑" panose="020B0503020204020204" charset="-122"/>
            </a:endParaRPr>
          </a:p>
        </p:txBody>
      </p:sp>
      <p:sp>
        <p:nvSpPr>
          <p:cNvPr id="365" name="矩形: 圆角 308"/>
          <p:cNvSpPr/>
          <p:nvPr/>
        </p:nvSpPr>
        <p:spPr>
          <a:xfrm>
            <a:off x="2558415" y="2104390"/>
            <a:ext cx="1104900" cy="1344930"/>
          </a:xfrm>
          <a:prstGeom prst="roundRect">
            <a:avLst>
              <a:gd name="adj" fmla="val 3363"/>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endParaRPr lang="zh-CN" sz="900" dirty="0">
              <a:latin typeface="微软雅黑" panose="020B0503020204020204" charset="-122"/>
              <a:ea typeface="微软雅黑" panose="020B0503020204020204" charset="-122"/>
              <a:cs typeface="+mn-ea"/>
              <a:sym typeface="+mn-lt"/>
            </a:endParaRPr>
          </a:p>
        </p:txBody>
      </p:sp>
      <p:sp>
        <p:nvSpPr>
          <p:cNvPr id="366" name="圆角矩形 137"/>
          <p:cNvSpPr/>
          <p:nvPr/>
        </p:nvSpPr>
        <p:spPr>
          <a:xfrm>
            <a:off x="2644775" y="2359660"/>
            <a:ext cx="930910" cy="19177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招标采购立项</a:t>
            </a:r>
            <a:endParaRPr lang="zh-CN" altLang="en-US" sz="800" dirty="0">
              <a:solidFill>
                <a:schemeClr val="tx1"/>
              </a:solidFill>
              <a:latin typeface="微软雅黑" panose="020B0503020204020204" charset="-122"/>
              <a:ea typeface="微软雅黑" panose="020B0503020204020204" charset="-122"/>
            </a:endParaRPr>
          </a:p>
        </p:txBody>
      </p:sp>
      <p:sp>
        <p:nvSpPr>
          <p:cNvPr id="367" name="文本框 366"/>
          <p:cNvSpPr txBox="1"/>
          <p:nvPr/>
        </p:nvSpPr>
        <p:spPr>
          <a:xfrm>
            <a:off x="2672715" y="2110740"/>
            <a:ext cx="875030" cy="231140"/>
          </a:xfrm>
          <a:prstGeom prst="rect">
            <a:avLst/>
          </a:prstGeom>
          <a:noFill/>
        </p:spPr>
        <p:txBody>
          <a:bodyPr wrap="none" rtlCol="0" anchor="t">
            <a:spAutoFit/>
          </a:bodyPr>
          <a:lstStyle/>
          <a:p>
            <a:pPr lvl="0" algn="ctr">
              <a:buClrTx/>
              <a:buSzTx/>
              <a:buFontTx/>
            </a:pPr>
            <a:r>
              <a:rPr lang="zh-CN" sz="900" dirty="0">
                <a:solidFill>
                  <a:schemeClr val="bg1"/>
                </a:solidFill>
                <a:latin typeface="微软雅黑" panose="020B0503020204020204" charset="-122"/>
                <a:ea typeface="微软雅黑" panose="020B0503020204020204" charset="-122"/>
                <a:cs typeface="+mn-ea"/>
                <a:sym typeface="+mn-lt"/>
              </a:rPr>
              <a:t>采购立项管理</a:t>
            </a:r>
            <a:endParaRPr lang="zh-CN" altLang="en-US" sz="900" dirty="0">
              <a:solidFill>
                <a:schemeClr val="bg1"/>
              </a:solidFill>
              <a:latin typeface="微软雅黑" panose="020B0503020204020204" charset="-122"/>
              <a:ea typeface="微软雅黑" panose="020B0503020204020204" charset="-122"/>
              <a:cs typeface="+mn-ea"/>
              <a:sym typeface="+mn-lt"/>
            </a:endParaRPr>
          </a:p>
        </p:txBody>
      </p:sp>
      <p:sp>
        <p:nvSpPr>
          <p:cNvPr id="368" name="圆角矩形 139"/>
          <p:cNvSpPr/>
          <p:nvPr/>
        </p:nvSpPr>
        <p:spPr>
          <a:xfrm>
            <a:off x="2644775" y="2818342"/>
            <a:ext cx="930910" cy="19177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招标委托合同</a:t>
            </a:r>
            <a:endParaRPr lang="zh-CN" altLang="en-US" sz="800" dirty="0">
              <a:solidFill>
                <a:schemeClr val="tx1"/>
              </a:solidFill>
              <a:latin typeface="微软雅黑" panose="020B0503020204020204" charset="-122"/>
              <a:ea typeface="微软雅黑" panose="020B0503020204020204" charset="-122"/>
            </a:endParaRPr>
          </a:p>
        </p:txBody>
      </p:sp>
      <p:sp>
        <p:nvSpPr>
          <p:cNvPr id="369" name="圆角矩形 140"/>
          <p:cNvSpPr/>
          <p:nvPr/>
        </p:nvSpPr>
        <p:spPr>
          <a:xfrm>
            <a:off x="2639060" y="3226859"/>
            <a:ext cx="930910" cy="19177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a:solidFill>
                  <a:schemeClr val="tx1"/>
                </a:solidFill>
                <a:latin typeface="微软雅黑" panose="020B0503020204020204" charset="-122"/>
                <a:ea typeface="微软雅黑" panose="020B0503020204020204" charset="-122"/>
              </a:rPr>
              <a:t>招标项目计划</a:t>
            </a:r>
            <a:endParaRPr lang="zh-CN" altLang="en-US" sz="800">
              <a:solidFill>
                <a:schemeClr val="tx1"/>
              </a:solidFill>
              <a:latin typeface="微软雅黑" panose="020B0503020204020204" charset="-122"/>
              <a:ea typeface="微软雅黑" panose="020B0503020204020204" charset="-122"/>
            </a:endParaRPr>
          </a:p>
        </p:txBody>
      </p:sp>
      <p:sp>
        <p:nvSpPr>
          <p:cNvPr id="371" name="矩形: 圆角 308"/>
          <p:cNvSpPr/>
          <p:nvPr/>
        </p:nvSpPr>
        <p:spPr>
          <a:xfrm>
            <a:off x="3745865" y="2104390"/>
            <a:ext cx="1104900" cy="1344930"/>
          </a:xfrm>
          <a:prstGeom prst="roundRect">
            <a:avLst>
              <a:gd name="adj" fmla="val 5184"/>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endParaRPr lang="zh-CN" sz="900" dirty="0">
              <a:latin typeface="微软雅黑" panose="020B0503020204020204" charset="-122"/>
              <a:ea typeface="微软雅黑" panose="020B0503020204020204" charset="-122"/>
              <a:cs typeface="+mn-ea"/>
              <a:sym typeface="+mn-lt"/>
            </a:endParaRPr>
          </a:p>
        </p:txBody>
      </p:sp>
      <p:sp>
        <p:nvSpPr>
          <p:cNvPr id="372" name="圆角矩形 144"/>
          <p:cNvSpPr/>
          <p:nvPr/>
        </p:nvSpPr>
        <p:spPr>
          <a:xfrm>
            <a:off x="3828415" y="2359660"/>
            <a:ext cx="930910" cy="19177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a:solidFill>
                  <a:schemeClr val="tx1"/>
                </a:solidFill>
                <a:latin typeface="微软雅黑" panose="020B0503020204020204" charset="-122"/>
                <a:ea typeface="微软雅黑" panose="020B0503020204020204" charset="-122"/>
              </a:rPr>
              <a:t>招标采购</a:t>
            </a:r>
            <a:endParaRPr lang="zh-CN" altLang="en-US" sz="800">
              <a:solidFill>
                <a:schemeClr val="tx1"/>
              </a:solidFill>
              <a:latin typeface="微软雅黑" panose="020B0503020204020204" charset="-122"/>
              <a:ea typeface="微软雅黑" panose="020B0503020204020204" charset="-122"/>
            </a:endParaRPr>
          </a:p>
        </p:txBody>
      </p:sp>
      <p:sp>
        <p:nvSpPr>
          <p:cNvPr id="373" name="文本框 372"/>
          <p:cNvSpPr txBox="1"/>
          <p:nvPr/>
        </p:nvSpPr>
        <p:spPr>
          <a:xfrm>
            <a:off x="3745865" y="2110740"/>
            <a:ext cx="1105535" cy="231140"/>
          </a:xfrm>
          <a:prstGeom prst="rect">
            <a:avLst/>
          </a:prstGeom>
          <a:noFill/>
        </p:spPr>
        <p:txBody>
          <a:bodyPr wrap="none" rtlCol="0" anchor="t">
            <a:spAutoFit/>
          </a:bodyPr>
          <a:lstStyle/>
          <a:p>
            <a:pPr lvl="0" algn="ctr">
              <a:buClrTx/>
              <a:buSzTx/>
              <a:buFontTx/>
            </a:pPr>
            <a:r>
              <a:rPr lang="zh-CN" sz="900" dirty="0">
                <a:solidFill>
                  <a:schemeClr val="bg1"/>
                </a:solidFill>
                <a:latin typeface="微软雅黑" panose="020B0503020204020204" charset="-122"/>
                <a:ea typeface="微软雅黑" panose="020B0503020204020204" charset="-122"/>
                <a:cs typeface="+mn-ea"/>
                <a:sym typeface="+mn-lt"/>
              </a:rPr>
              <a:t>招标采购业务管理</a:t>
            </a:r>
            <a:endParaRPr lang="zh-CN" altLang="en-US" sz="900" dirty="0">
              <a:solidFill>
                <a:schemeClr val="bg1"/>
              </a:solidFill>
              <a:latin typeface="微软雅黑" panose="020B0503020204020204" charset="-122"/>
              <a:ea typeface="微软雅黑" panose="020B0503020204020204" charset="-122"/>
              <a:cs typeface="+mn-ea"/>
              <a:sym typeface="+mn-lt"/>
            </a:endParaRPr>
          </a:p>
        </p:txBody>
      </p:sp>
      <p:sp>
        <p:nvSpPr>
          <p:cNvPr id="374" name="圆角矩形 146"/>
          <p:cNvSpPr/>
          <p:nvPr/>
        </p:nvSpPr>
        <p:spPr>
          <a:xfrm>
            <a:off x="3828415" y="2576512"/>
            <a:ext cx="930910" cy="19177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谈判采购</a:t>
            </a:r>
            <a:endParaRPr lang="zh-CN" altLang="en-US" sz="800" dirty="0">
              <a:solidFill>
                <a:schemeClr val="tx1"/>
              </a:solidFill>
              <a:latin typeface="微软雅黑" panose="020B0503020204020204" charset="-122"/>
              <a:ea typeface="微软雅黑" panose="020B0503020204020204" charset="-122"/>
            </a:endParaRPr>
          </a:p>
        </p:txBody>
      </p:sp>
      <p:sp>
        <p:nvSpPr>
          <p:cNvPr id="377" name="圆角矩形 151"/>
          <p:cNvSpPr/>
          <p:nvPr/>
        </p:nvSpPr>
        <p:spPr>
          <a:xfrm>
            <a:off x="2625090" y="3796030"/>
            <a:ext cx="698500" cy="1905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资格预审管理</a:t>
            </a:r>
            <a:endParaRPr lang="zh-CN" altLang="en-US" sz="800" dirty="0">
              <a:solidFill>
                <a:schemeClr val="tx1"/>
              </a:solidFill>
              <a:latin typeface="微软雅黑" panose="020B0503020204020204" charset="-122"/>
              <a:ea typeface="微软雅黑" panose="020B0503020204020204" charset="-122"/>
            </a:endParaRPr>
          </a:p>
        </p:txBody>
      </p:sp>
      <p:sp>
        <p:nvSpPr>
          <p:cNvPr id="384" name="文本框 383"/>
          <p:cNvSpPr txBox="1"/>
          <p:nvPr/>
        </p:nvSpPr>
        <p:spPr>
          <a:xfrm>
            <a:off x="3380105" y="3519170"/>
            <a:ext cx="1820545" cy="231140"/>
          </a:xfrm>
          <a:prstGeom prst="rect">
            <a:avLst/>
          </a:prstGeom>
          <a:noFill/>
        </p:spPr>
        <p:txBody>
          <a:bodyPr wrap="square" rtlCol="0" anchor="t">
            <a:spAutoFit/>
          </a:bodyPr>
          <a:lstStyle/>
          <a:p>
            <a:pPr lvl="0" algn="ctr">
              <a:buClrTx/>
              <a:buSzTx/>
              <a:buFontTx/>
            </a:pPr>
            <a:r>
              <a:rPr lang="zh-CN" altLang="en-US" sz="900" dirty="0">
                <a:solidFill>
                  <a:schemeClr val="bg1"/>
                </a:solidFill>
                <a:latin typeface="微软雅黑" panose="020B0503020204020204" charset="-122"/>
                <a:ea typeface="微软雅黑" panose="020B0503020204020204" charset="-122"/>
                <a:cs typeface="+mn-ea"/>
                <a:sym typeface="+mn-lt"/>
              </a:rPr>
              <a:t>招标采购业务组件</a:t>
            </a:r>
            <a:endParaRPr lang="zh-CN" altLang="en-US" sz="900" dirty="0">
              <a:solidFill>
                <a:schemeClr val="bg1"/>
              </a:solidFill>
              <a:latin typeface="微软雅黑" panose="020B0503020204020204" charset="-122"/>
              <a:ea typeface="微软雅黑" panose="020B0503020204020204" charset="-122"/>
              <a:cs typeface="+mn-ea"/>
              <a:sym typeface="+mn-lt"/>
            </a:endParaRPr>
          </a:p>
        </p:txBody>
      </p:sp>
      <p:sp>
        <p:nvSpPr>
          <p:cNvPr id="385" name="圆角矩形 153"/>
          <p:cNvSpPr/>
          <p:nvPr/>
        </p:nvSpPr>
        <p:spPr>
          <a:xfrm>
            <a:off x="3497580" y="3796030"/>
            <a:ext cx="698500" cy="1905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a:solidFill>
                  <a:schemeClr val="tx1"/>
                </a:solidFill>
                <a:latin typeface="微软雅黑" panose="020B0503020204020204" charset="-122"/>
                <a:ea typeface="微软雅黑" panose="020B0503020204020204" charset="-122"/>
              </a:rPr>
              <a:t>招标管理</a:t>
            </a:r>
            <a:endParaRPr lang="zh-CN" altLang="en-US" sz="800">
              <a:solidFill>
                <a:schemeClr val="tx1"/>
              </a:solidFill>
              <a:latin typeface="微软雅黑" panose="020B0503020204020204" charset="-122"/>
              <a:ea typeface="微软雅黑" panose="020B0503020204020204" charset="-122"/>
            </a:endParaRPr>
          </a:p>
        </p:txBody>
      </p:sp>
      <p:sp>
        <p:nvSpPr>
          <p:cNvPr id="386" name="圆角矩形 154"/>
          <p:cNvSpPr/>
          <p:nvPr/>
        </p:nvSpPr>
        <p:spPr>
          <a:xfrm>
            <a:off x="2600325" y="4445000"/>
            <a:ext cx="664845" cy="1905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a:solidFill>
                  <a:schemeClr val="tx1"/>
                </a:solidFill>
                <a:latin typeface="微软雅黑" panose="020B0503020204020204" charset="-122"/>
                <a:ea typeface="微软雅黑" panose="020B0503020204020204" charset="-122"/>
              </a:rPr>
              <a:t>发标管理</a:t>
            </a:r>
            <a:endParaRPr lang="zh-CN" altLang="en-US" sz="800">
              <a:solidFill>
                <a:schemeClr val="tx1"/>
              </a:solidFill>
              <a:latin typeface="微软雅黑" panose="020B0503020204020204" charset="-122"/>
              <a:ea typeface="微软雅黑" panose="020B0503020204020204" charset="-122"/>
            </a:endParaRPr>
          </a:p>
        </p:txBody>
      </p:sp>
      <p:sp>
        <p:nvSpPr>
          <p:cNvPr id="387" name="圆角矩形 155"/>
          <p:cNvSpPr/>
          <p:nvPr/>
        </p:nvSpPr>
        <p:spPr>
          <a:xfrm>
            <a:off x="4402455" y="3796030"/>
            <a:ext cx="698500" cy="1905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a:solidFill>
                  <a:schemeClr val="tx1"/>
                </a:solidFill>
                <a:latin typeface="微软雅黑" panose="020B0503020204020204" charset="-122"/>
                <a:ea typeface="微软雅黑" panose="020B0503020204020204" charset="-122"/>
              </a:rPr>
              <a:t>投标管理</a:t>
            </a:r>
            <a:endParaRPr lang="zh-CN" altLang="en-US" sz="800">
              <a:solidFill>
                <a:schemeClr val="tx1"/>
              </a:solidFill>
              <a:latin typeface="微软雅黑" panose="020B0503020204020204" charset="-122"/>
              <a:ea typeface="微软雅黑" panose="020B0503020204020204" charset="-122"/>
            </a:endParaRPr>
          </a:p>
        </p:txBody>
      </p:sp>
      <p:sp>
        <p:nvSpPr>
          <p:cNvPr id="388" name="圆角矩形 156"/>
          <p:cNvSpPr/>
          <p:nvPr/>
        </p:nvSpPr>
        <p:spPr>
          <a:xfrm>
            <a:off x="5306695" y="3796030"/>
            <a:ext cx="698500" cy="1905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a:solidFill>
                  <a:schemeClr val="tx1"/>
                </a:solidFill>
                <a:latin typeface="微软雅黑" panose="020B0503020204020204" charset="-122"/>
                <a:ea typeface="微软雅黑" panose="020B0503020204020204" charset="-122"/>
              </a:rPr>
              <a:t>开标管理</a:t>
            </a:r>
            <a:endParaRPr lang="zh-CN" altLang="en-US" sz="800">
              <a:solidFill>
                <a:schemeClr val="tx1"/>
              </a:solidFill>
              <a:latin typeface="微软雅黑" panose="020B0503020204020204" charset="-122"/>
              <a:ea typeface="微软雅黑" panose="020B0503020204020204" charset="-122"/>
            </a:endParaRPr>
          </a:p>
        </p:txBody>
      </p:sp>
      <p:sp>
        <p:nvSpPr>
          <p:cNvPr id="389" name="圆角矩形 157"/>
          <p:cNvSpPr/>
          <p:nvPr/>
        </p:nvSpPr>
        <p:spPr>
          <a:xfrm>
            <a:off x="5306695" y="4156710"/>
            <a:ext cx="698500" cy="1905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a:solidFill>
                  <a:schemeClr val="tx1"/>
                </a:solidFill>
                <a:latin typeface="微软雅黑" panose="020B0503020204020204" charset="-122"/>
                <a:ea typeface="微软雅黑" panose="020B0503020204020204" charset="-122"/>
              </a:rPr>
              <a:t>评标管理</a:t>
            </a:r>
            <a:endParaRPr lang="zh-CN" altLang="en-US" sz="800">
              <a:solidFill>
                <a:schemeClr val="tx1"/>
              </a:solidFill>
              <a:latin typeface="微软雅黑" panose="020B0503020204020204" charset="-122"/>
              <a:ea typeface="微软雅黑" panose="020B0503020204020204" charset="-122"/>
            </a:endParaRPr>
          </a:p>
        </p:txBody>
      </p:sp>
      <p:sp>
        <p:nvSpPr>
          <p:cNvPr id="393" name="圆角矩形 158"/>
          <p:cNvSpPr/>
          <p:nvPr/>
        </p:nvSpPr>
        <p:spPr>
          <a:xfrm>
            <a:off x="4401185" y="4156710"/>
            <a:ext cx="698500" cy="1905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a:solidFill>
                  <a:schemeClr val="tx1"/>
                </a:solidFill>
                <a:latin typeface="微软雅黑" panose="020B0503020204020204" charset="-122"/>
                <a:ea typeface="微软雅黑" panose="020B0503020204020204" charset="-122"/>
              </a:rPr>
              <a:t>定标管理</a:t>
            </a:r>
            <a:endParaRPr lang="zh-CN" altLang="en-US" sz="800">
              <a:solidFill>
                <a:schemeClr val="tx1"/>
              </a:solidFill>
              <a:latin typeface="微软雅黑" panose="020B0503020204020204" charset="-122"/>
              <a:ea typeface="微软雅黑" panose="020B0503020204020204" charset="-122"/>
            </a:endParaRPr>
          </a:p>
        </p:txBody>
      </p:sp>
      <p:sp>
        <p:nvSpPr>
          <p:cNvPr id="394" name="圆角矩形 159"/>
          <p:cNvSpPr/>
          <p:nvPr/>
        </p:nvSpPr>
        <p:spPr>
          <a:xfrm>
            <a:off x="3496310" y="4156710"/>
            <a:ext cx="698500" cy="1905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800">
                <a:solidFill>
                  <a:schemeClr val="tx1"/>
                </a:solidFill>
                <a:latin typeface="微软雅黑" panose="020B0503020204020204" charset="-122"/>
                <a:ea typeface="微软雅黑" panose="020B0503020204020204" charset="-122"/>
              </a:rPr>
              <a:t>履约管理</a:t>
            </a:r>
            <a:endParaRPr lang="zh-CN" altLang="en-US" sz="800">
              <a:solidFill>
                <a:schemeClr val="tx1"/>
              </a:solidFill>
              <a:latin typeface="微软雅黑" panose="020B0503020204020204" charset="-122"/>
              <a:ea typeface="微软雅黑" panose="020B0503020204020204" charset="-122"/>
            </a:endParaRPr>
          </a:p>
        </p:txBody>
      </p:sp>
      <p:sp>
        <p:nvSpPr>
          <p:cNvPr id="395" name="圆角矩形 160"/>
          <p:cNvSpPr/>
          <p:nvPr/>
        </p:nvSpPr>
        <p:spPr>
          <a:xfrm>
            <a:off x="3964305" y="4445000"/>
            <a:ext cx="664845" cy="1905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异常变更管理</a:t>
            </a:r>
            <a:endParaRPr lang="zh-CN" altLang="en-US" sz="800" dirty="0">
              <a:solidFill>
                <a:schemeClr val="tx1"/>
              </a:solidFill>
              <a:latin typeface="微软雅黑" panose="020B0503020204020204" charset="-122"/>
              <a:ea typeface="微软雅黑" panose="020B0503020204020204" charset="-122"/>
            </a:endParaRPr>
          </a:p>
        </p:txBody>
      </p:sp>
      <p:sp>
        <p:nvSpPr>
          <p:cNvPr id="396" name="圆角矩形 161"/>
          <p:cNvSpPr/>
          <p:nvPr/>
        </p:nvSpPr>
        <p:spPr>
          <a:xfrm>
            <a:off x="3282315" y="4445000"/>
            <a:ext cx="664845" cy="1905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a:solidFill>
                  <a:schemeClr val="tx1"/>
                </a:solidFill>
                <a:latin typeface="微软雅黑" panose="020B0503020204020204" charset="-122"/>
                <a:ea typeface="微软雅黑" panose="020B0503020204020204" charset="-122"/>
              </a:rPr>
              <a:t>场地管理</a:t>
            </a:r>
            <a:endParaRPr lang="zh-CN" altLang="en-US" sz="800">
              <a:solidFill>
                <a:schemeClr val="tx1"/>
              </a:solidFill>
              <a:latin typeface="微软雅黑" panose="020B0503020204020204" charset="-122"/>
              <a:ea typeface="微软雅黑" panose="020B0503020204020204" charset="-122"/>
            </a:endParaRPr>
          </a:p>
        </p:txBody>
      </p:sp>
      <p:sp>
        <p:nvSpPr>
          <p:cNvPr id="397" name="圆角矩形 162"/>
          <p:cNvSpPr/>
          <p:nvPr/>
        </p:nvSpPr>
        <p:spPr>
          <a:xfrm>
            <a:off x="4646295" y="4445000"/>
            <a:ext cx="664845" cy="1905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电子竞价大厅</a:t>
            </a:r>
            <a:endParaRPr lang="zh-CN" altLang="en-US" sz="800" dirty="0">
              <a:solidFill>
                <a:schemeClr val="tx1"/>
              </a:solidFill>
              <a:latin typeface="微软雅黑" panose="020B0503020204020204" charset="-122"/>
              <a:ea typeface="微软雅黑" panose="020B0503020204020204" charset="-122"/>
            </a:endParaRPr>
          </a:p>
        </p:txBody>
      </p:sp>
      <p:sp>
        <p:nvSpPr>
          <p:cNvPr id="398" name="圆角矩形 159"/>
          <p:cNvSpPr/>
          <p:nvPr/>
        </p:nvSpPr>
        <p:spPr>
          <a:xfrm>
            <a:off x="5328285" y="4445000"/>
            <a:ext cx="660400" cy="1905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en-US" altLang="zh-CN" sz="800" dirty="0">
                <a:solidFill>
                  <a:schemeClr val="tx1"/>
                </a:solidFill>
                <a:latin typeface="微软雅黑" panose="020B0503020204020204" charset="-122"/>
                <a:ea typeface="微软雅黑" panose="020B0503020204020204" charset="-122"/>
              </a:rPr>
              <a:t>……</a:t>
            </a:r>
            <a:endParaRPr lang="zh-CN" altLang="en-US" sz="800" dirty="0">
              <a:solidFill>
                <a:schemeClr val="tx1"/>
              </a:solidFill>
              <a:latin typeface="微软雅黑" panose="020B0503020204020204" charset="-122"/>
              <a:ea typeface="微软雅黑" panose="020B0503020204020204" charset="-122"/>
            </a:endParaRPr>
          </a:p>
        </p:txBody>
      </p:sp>
      <p:grpSp>
        <p:nvGrpSpPr>
          <p:cNvPr id="399" name="组合 398"/>
          <p:cNvGrpSpPr/>
          <p:nvPr/>
        </p:nvGrpSpPr>
        <p:grpSpPr>
          <a:xfrm>
            <a:off x="1370965" y="3497580"/>
            <a:ext cx="1127760" cy="1198880"/>
            <a:chOff x="6338" y="5450"/>
            <a:chExt cx="1731" cy="1888"/>
          </a:xfrm>
        </p:grpSpPr>
        <p:sp>
          <p:nvSpPr>
            <p:cNvPr id="400" name="矩形: 圆角 308"/>
            <p:cNvSpPr/>
            <p:nvPr/>
          </p:nvSpPr>
          <p:spPr>
            <a:xfrm>
              <a:off x="6338" y="5450"/>
              <a:ext cx="1731" cy="1888"/>
            </a:xfrm>
            <a:prstGeom prst="roundRect">
              <a:avLst>
                <a:gd name="adj" fmla="val 5257"/>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sz="900" dirty="0">
                <a:latin typeface="微软雅黑" panose="020B0503020204020204" charset="-122"/>
                <a:ea typeface="微软雅黑" panose="020B0503020204020204" charset="-122"/>
                <a:cs typeface="+mn-ea"/>
                <a:sym typeface="+mn-lt"/>
              </a:endParaRPr>
            </a:p>
          </p:txBody>
        </p:sp>
        <p:sp>
          <p:nvSpPr>
            <p:cNvPr id="401" name="圆角矩形 169"/>
            <p:cNvSpPr/>
            <p:nvPr/>
          </p:nvSpPr>
          <p:spPr>
            <a:xfrm>
              <a:off x="6474" y="5866"/>
              <a:ext cx="1424" cy="3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800">
                  <a:solidFill>
                    <a:schemeClr val="tx1"/>
                  </a:solidFill>
                  <a:latin typeface="微软雅黑" panose="020B0503020204020204" charset="-122"/>
                  <a:ea typeface="微软雅黑" panose="020B0503020204020204" charset="-122"/>
                </a:rPr>
                <a:t>招标项目台账</a:t>
              </a:r>
              <a:endParaRPr lang="zh-CN" altLang="en-US" sz="800">
                <a:solidFill>
                  <a:schemeClr val="tx1"/>
                </a:solidFill>
                <a:latin typeface="微软雅黑" panose="020B0503020204020204" charset="-122"/>
                <a:ea typeface="微软雅黑" panose="020B0503020204020204" charset="-122"/>
              </a:endParaRPr>
            </a:p>
          </p:txBody>
        </p:sp>
        <p:sp>
          <p:nvSpPr>
            <p:cNvPr id="402" name="文本框 401"/>
            <p:cNvSpPr txBox="1"/>
            <p:nvPr/>
          </p:nvSpPr>
          <p:spPr>
            <a:xfrm>
              <a:off x="6338" y="5460"/>
              <a:ext cx="1731" cy="364"/>
            </a:xfrm>
            <a:prstGeom prst="rect">
              <a:avLst/>
            </a:prstGeom>
            <a:noFill/>
          </p:spPr>
          <p:txBody>
            <a:bodyPr wrap="square" rtlCol="0" anchor="t">
              <a:spAutoFit/>
            </a:bodyPr>
            <a:lstStyle/>
            <a:p>
              <a:pPr lvl="0" algn="ctr">
                <a:buClrTx/>
                <a:buSzTx/>
                <a:buFontTx/>
              </a:pPr>
              <a:r>
                <a:rPr lang="zh-CN" altLang="en-US" sz="900" dirty="0">
                  <a:solidFill>
                    <a:schemeClr val="bg1"/>
                  </a:solidFill>
                  <a:latin typeface="微软雅黑" panose="020B0503020204020204" charset="-122"/>
                  <a:ea typeface="微软雅黑" panose="020B0503020204020204" charset="-122"/>
                  <a:cs typeface="+mn-ea"/>
                  <a:sym typeface="+mn-lt"/>
                </a:rPr>
                <a:t>统计报表</a:t>
              </a:r>
              <a:endParaRPr lang="zh-CN" altLang="en-US" sz="900" dirty="0">
                <a:solidFill>
                  <a:schemeClr val="bg1"/>
                </a:solidFill>
                <a:latin typeface="微软雅黑" panose="020B0503020204020204" charset="-122"/>
                <a:ea typeface="微软雅黑" panose="020B0503020204020204" charset="-122"/>
                <a:cs typeface="+mn-ea"/>
                <a:sym typeface="+mn-lt"/>
              </a:endParaRPr>
            </a:p>
          </p:txBody>
        </p:sp>
        <p:sp>
          <p:nvSpPr>
            <p:cNvPr id="403" name="圆角矩形 171"/>
            <p:cNvSpPr/>
            <p:nvPr/>
          </p:nvSpPr>
          <p:spPr>
            <a:xfrm>
              <a:off x="6474" y="6213"/>
              <a:ext cx="1424" cy="3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800">
                  <a:solidFill>
                    <a:schemeClr val="tx1"/>
                  </a:solidFill>
                  <a:latin typeface="微软雅黑" panose="020B0503020204020204" charset="-122"/>
                  <a:ea typeface="微软雅黑" panose="020B0503020204020204" charset="-122"/>
                </a:rPr>
                <a:t>成交价格统计</a:t>
              </a:r>
              <a:endParaRPr lang="zh-CN" altLang="en-US" sz="800">
                <a:solidFill>
                  <a:schemeClr val="tx1"/>
                </a:solidFill>
                <a:latin typeface="微软雅黑" panose="020B0503020204020204" charset="-122"/>
                <a:ea typeface="微软雅黑" panose="020B0503020204020204" charset="-122"/>
              </a:endParaRPr>
            </a:p>
          </p:txBody>
        </p:sp>
        <p:sp>
          <p:nvSpPr>
            <p:cNvPr id="404" name="圆角矩形 172"/>
            <p:cNvSpPr/>
            <p:nvPr/>
          </p:nvSpPr>
          <p:spPr>
            <a:xfrm>
              <a:off x="6474" y="6560"/>
              <a:ext cx="1424" cy="3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800" dirty="0">
                  <a:solidFill>
                    <a:schemeClr val="tx1"/>
                  </a:solidFill>
                  <a:latin typeface="微软雅黑" panose="020B0503020204020204" charset="-122"/>
                  <a:ea typeface="微软雅黑" panose="020B0503020204020204" charset="-122"/>
                </a:rPr>
                <a:t>项目时长统计</a:t>
              </a:r>
              <a:endParaRPr lang="zh-CN" altLang="en-US" sz="800" dirty="0">
                <a:solidFill>
                  <a:schemeClr val="tx1"/>
                </a:solidFill>
                <a:latin typeface="微软雅黑" panose="020B0503020204020204" charset="-122"/>
                <a:ea typeface="微软雅黑" panose="020B0503020204020204" charset="-122"/>
              </a:endParaRPr>
            </a:p>
          </p:txBody>
        </p:sp>
        <p:sp>
          <p:nvSpPr>
            <p:cNvPr id="405" name="圆角矩形 173"/>
            <p:cNvSpPr/>
            <p:nvPr/>
          </p:nvSpPr>
          <p:spPr>
            <a:xfrm>
              <a:off x="6474" y="6907"/>
              <a:ext cx="1424" cy="30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800" dirty="0">
                  <a:solidFill>
                    <a:schemeClr val="tx1"/>
                  </a:solidFill>
                  <a:latin typeface="微软雅黑" panose="020B0503020204020204" charset="-122"/>
                  <a:ea typeface="微软雅黑" panose="020B0503020204020204" charset="-122"/>
                </a:rPr>
                <a:t>......</a:t>
              </a:r>
              <a:endParaRPr lang="en-US" altLang="zh-CN" sz="800" dirty="0">
                <a:solidFill>
                  <a:schemeClr val="tx1"/>
                </a:solidFill>
                <a:latin typeface="微软雅黑" panose="020B0503020204020204" charset="-122"/>
                <a:ea typeface="微软雅黑" panose="020B0503020204020204" charset="-122"/>
              </a:endParaRPr>
            </a:p>
          </p:txBody>
        </p:sp>
      </p:grpSp>
      <p:cxnSp>
        <p:nvCxnSpPr>
          <p:cNvPr id="406" name="直接连接符 405"/>
          <p:cNvCxnSpPr>
            <a:stCxn id="388" idx="2"/>
            <a:endCxn id="389" idx="0"/>
          </p:cNvCxnSpPr>
          <p:nvPr/>
        </p:nvCxnSpPr>
        <p:spPr>
          <a:xfrm>
            <a:off x="5655945" y="3986530"/>
            <a:ext cx="0" cy="170180"/>
          </a:xfrm>
          <a:prstGeom prst="line">
            <a:avLst/>
          </a:prstGeom>
          <a:ln w="19050">
            <a:solidFill>
              <a:srgbClr val="A4F6FA"/>
            </a:solidFill>
          </a:ln>
        </p:spPr>
        <p:style>
          <a:lnRef idx="1">
            <a:schemeClr val="accent1"/>
          </a:lnRef>
          <a:fillRef idx="0">
            <a:schemeClr val="accent1"/>
          </a:fillRef>
          <a:effectRef idx="0">
            <a:schemeClr val="accent1"/>
          </a:effectRef>
          <a:fontRef idx="minor">
            <a:schemeClr val="tx1"/>
          </a:fontRef>
        </p:style>
      </p:cxnSp>
      <p:cxnSp>
        <p:nvCxnSpPr>
          <p:cNvPr id="429" name="直接连接符 428"/>
          <p:cNvCxnSpPr>
            <a:stCxn id="377" idx="3"/>
            <a:endCxn id="385" idx="1"/>
          </p:cNvCxnSpPr>
          <p:nvPr/>
        </p:nvCxnSpPr>
        <p:spPr>
          <a:xfrm>
            <a:off x="3323590" y="3891280"/>
            <a:ext cx="173990" cy="0"/>
          </a:xfrm>
          <a:prstGeom prst="line">
            <a:avLst/>
          </a:prstGeom>
          <a:ln w="19050">
            <a:solidFill>
              <a:srgbClr val="A4F6FA"/>
            </a:solidFill>
          </a:ln>
        </p:spPr>
        <p:style>
          <a:lnRef idx="1">
            <a:schemeClr val="accent1"/>
          </a:lnRef>
          <a:fillRef idx="0">
            <a:schemeClr val="accent1"/>
          </a:fillRef>
          <a:effectRef idx="0">
            <a:schemeClr val="accent1"/>
          </a:effectRef>
          <a:fontRef idx="minor">
            <a:schemeClr val="tx1"/>
          </a:fontRef>
        </p:style>
      </p:cxnSp>
      <p:sp>
        <p:nvSpPr>
          <p:cNvPr id="430" name="任意多边形: 形状 429"/>
          <p:cNvSpPr/>
          <p:nvPr/>
        </p:nvSpPr>
        <p:spPr>
          <a:xfrm rot="3124604" flipV="1">
            <a:off x="4251960" y="3843020"/>
            <a:ext cx="74930" cy="82550"/>
          </a:xfrm>
          <a:custGeom>
            <a:avLst/>
            <a:gdLst>
              <a:gd name="connsiteX0" fmla="*/ 10753 w 662741"/>
              <a:gd name="connsiteY0" fmla="*/ 477643 h 691739"/>
              <a:gd name="connsiteX1" fmla="*/ 72648 w 662741"/>
              <a:gd name="connsiteY1" fmla="*/ 533004 h 691739"/>
              <a:gd name="connsiteX2" fmla="*/ 508143 w 662741"/>
              <a:gd name="connsiteY2" fmla="*/ 685606 h 691739"/>
              <a:gd name="connsiteX3" fmla="*/ 624404 w 662741"/>
              <a:gd name="connsiteY3" fmla="*/ 656128 h 691739"/>
              <a:gd name="connsiteX4" fmla="*/ 629393 w 662741"/>
              <a:gd name="connsiteY4" fmla="*/ 647734 h 691739"/>
              <a:gd name="connsiteX5" fmla="*/ 630962 w 662741"/>
              <a:gd name="connsiteY5" fmla="*/ 646676 h 691739"/>
              <a:gd name="connsiteX6" fmla="*/ 662741 w 662741"/>
              <a:gd name="connsiteY6" fmla="*/ 569956 h 691739"/>
              <a:gd name="connsiteX7" fmla="*/ 662741 w 662741"/>
              <a:gd name="connsiteY7" fmla="*/ 108499 h 691739"/>
              <a:gd name="connsiteX8" fmla="*/ 554242 w 662741"/>
              <a:gd name="connsiteY8" fmla="*/ 0 h 691739"/>
              <a:gd name="connsiteX9" fmla="*/ 445743 w 662741"/>
              <a:gd name="connsiteY9" fmla="*/ 108499 h 691739"/>
              <a:gd name="connsiteX10" fmla="*/ 445743 w 662741"/>
              <a:gd name="connsiteY10" fmla="*/ 433805 h 691739"/>
              <a:gd name="connsiteX11" fmla="*/ 144408 w 662741"/>
              <a:gd name="connsiteY11" fmla="*/ 328215 h 691739"/>
              <a:gd name="connsiteX12" fmla="*/ 6133 w 662741"/>
              <a:gd name="connsiteY12" fmla="*/ 394730 h 691739"/>
              <a:gd name="connsiteX13" fmla="*/ 10753 w 662741"/>
              <a:gd name="connsiteY13" fmla="*/ 477643 h 69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2741" h="691739">
                <a:moveTo>
                  <a:pt x="10753" y="477643"/>
                </a:moveTo>
                <a:cubicBezTo>
                  <a:pt x="22790" y="502665"/>
                  <a:pt x="44373" y="523096"/>
                  <a:pt x="72648" y="533004"/>
                </a:cubicBezTo>
                <a:lnTo>
                  <a:pt x="508143" y="685606"/>
                </a:lnTo>
                <a:cubicBezTo>
                  <a:pt x="550555" y="700467"/>
                  <a:pt x="595982" y="687432"/>
                  <a:pt x="624404" y="656128"/>
                </a:cubicBezTo>
                <a:lnTo>
                  <a:pt x="629393" y="647734"/>
                </a:lnTo>
                <a:lnTo>
                  <a:pt x="630962" y="646676"/>
                </a:lnTo>
                <a:cubicBezTo>
                  <a:pt x="650597" y="627042"/>
                  <a:pt x="662741" y="599917"/>
                  <a:pt x="662741" y="569956"/>
                </a:cubicBezTo>
                <a:lnTo>
                  <a:pt x="662741" y="108499"/>
                </a:lnTo>
                <a:cubicBezTo>
                  <a:pt x="662741" y="48577"/>
                  <a:pt x="614164" y="0"/>
                  <a:pt x="554242" y="0"/>
                </a:cubicBezTo>
                <a:cubicBezTo>
                  <a:pt x="494320" y="0"/>
                  <a:pt x="445743" y="48577"/>
                  <a:pt x="445743" y="108499"/>
                </a:cubicBezTo>
                <a:lnTo>
                  <a:pt x="445743" y="433805"/>
                </a:lnTo>
                <a:lnTo>
                  <a:pt x="144408" y="328215"/>
                </a:lnTo>
                <a:cubicBezTo>
                  <a:pt x="87857" y="308399"/>
                  <a:pt x="25949" y="338179"/>
                  <a:pt x="6133" y="394730"/>
                </a:cubicBezTo>
                <a:cubicBezTo>
                  <a:pt x="-3774" y="423005"/>
                  <a:pt x="-1283" y="452620"/>
                  <a:pt x="10753" y="477643"/>
                </a:cubicBezTo>
                <a:close/>
              </a:path>
            </a:pathLst>
          </a:custGeom>
          <a:solidFill>
            <a:srgbClr val="FFFFFF"/>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431" name="任意多边形: 形状 430"/>
          <p:cNvSpPr/>
          <p:nvPr/>
        </p:nvSpPr>
        <p:spPr>
          <a:xfrm rot="14036668" flipV="1">
            <a:off x="5179695" y="4217670"/>
            <a:ext cx="74930" cy="82550"/>
          </a:xfrm>
          <a:custGeom>
            <a:avLst/>
            <a:gdLst>
              <a:gd name="connsiteX0" fmla="*/ 10753 w 662741"/>
              <a:gd name="connsiteY0" fmla="*/ 477643 h 691739"/>
              <a:gd name="connsiteX1" fmla="*/ 72648 w 662741"/>
              <a:gd name="connsiteY1" fmla="*/ 533004 h 691739"/>
              <a:gd name="connsiteX2" fmla="*/ 508143 w 662741"/>
              <a:gd name="connsiteY2" fmla="*/ 685606 h 691739"/>
              <a:gd name="connsiteX3" fmla="*/ 624404 w 662741"/>
              <a:gd name="connsiteY3" fmla="*/ 656128 h 691739"/>
              <a:gd name="connsiteX4" fmla="*/ 629393 w 662741"/>
              <a:gd name="connsiteY4" fmla="*/ 647734 h 691739"/>
              <a:gd name="connsiteX5" fmla="*/ 630962 w 662741"/>
              <a:gd name="connsiteY5" fmla="*/ 646676 h 691739"/>
              <a:gd name="connsiteX6" fmla="*/ 662741 w 662741"/>
              <a:gd name="connsiteY6" fmla="*/ 569956 h 691739"/>
              <a:gd name="connsiteX7" fmla="*/ 662741 w 662741"/>
              <a:gd name="connsiteY7" fmla="*/ 108499 h 691739"/>
              <a:gd name="connsiteX8" fmla="*/ 554242 w 662741"/>
              <a:gd name="connsiteY8" fmla="*/ 0 h 691739"/>
              <a:gd name="connsiteX9" fmla="*/ 445743 w 662741"/>
              <a:gd name="connsiteY9" fmla="*/ 108499 h 691739"/>
              <a:gd name="connsiteX10" fmla="*/ 445743 w 662741"/>
              <a:gd name="connsiteY10" fmla="*/ 433805 h 691739"/>
              <a:gd name="connsiteX11" fmla="*/ 144408 w 662741"/>
              <a:gd name="connsiteY11" fmla="*/ 328215 h 691739"/>
              <a:gd name="connsiteX12" fmla="*/ 6133 w 662741"/>
              <a:gd name="connsiteY12" fmla="*/ 394730 h 691739"/>
              <a:gd name="connsiteX13" fmla="*/ 10753 w 662741"/>
              <a:gd name="connsiteY13" fmla="*/ 477643 h 69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2741" h="691739">
                <a:moveTo>
                  <a:pt x="10753" y="477643"/>
                </a:moveTo>
                <a:cubicBezTo>
                  <a:pt x="22790" y="502665"/>
                  <a:pt x="44373" y="523096"/>
                  <a:pt x="72648" y="533004"/>
                </a:cubicBezTo>
                <a:lnTo>
                  <a:pt x="508143" y="685606"/>
                </a:lnTo>
                <a:cubicBezTo>
                  <a:pt x="550555" y="700467"/>
                  <a:pt x="595982" y="687432"/>
                  <a:pt x="624404" y="656128"/>
                </a:cubicBezTo>
                <a:lnTo>
                  <a:pt x="629393" y="647734"/>
                </a:lnTo>
                <a:lnTo>
                  <a:pt x="630962" y="646676"/>
                </a:lnTo>
                <a:cubicBezTo>
                  <a:pt x="650597" y="627042"/>
                  <a:pt x="662741" y="599917"/>
                  <a:pt x="662741" y="569956"/>
                </a:cubicBezTo>
                <a:lnTo>
                  <a:pt x="662741" y="108499"/>
                </a:lnTo>
                <a:cubicBezTo>
                  <a:pt x="662741" y="48577"/>
                  <a:pt x="614164" y="0"/>
                  <a:pt x="554242" y="0"/>
                </a:cubicBezTo>
                <a:cubicBezTo>
                  <a:pt x="494320" y="0"/>
                  <a:pt x="445743" y="48577"/>
                  <a:pt x="445743" y="108499"/>
                </a:cubicBezTo>
                <a:lnTo>
                  <a:pt x="445743" y="433805"/>
                </a:lnTo>
                <a:lnTo>
                  <a:pt x="144408" y="328215"/>
                </a:lnTo>
                <a:cubicBezTo>
                  <a:pt x="87857" y="308399"/>
                  <a:pt x="25949" y="338179"/>
                  <a:pt x="6133" y="394730"/>
                </a:cubicBezTo>
                <a:cubicBezTo>
                  <a:pt x="-3774" y="423005"/>
                  <a:pt x="-1283" y="452620"/>
                  <a:pt x="10753" y="477643"/>
                </a:cubicBezTo>
                <a:close/>
              </a:path>
            </a:pathLst>
          </a:custGeom>
          <a:solidFill>
            <a:srgbClr val="FFFFFF"/>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432" name="任意多边形: 形状 431"/>
          <p:cNvSpPr/>
          <p:nvPr/>
        </p:nvSpPr>
        <p:spPr>
          <a:xfrm rot="3124604" flipV="1">
            <a:off x="5165725" y="3842385"/>
            <a:ext cx="74930" cy="82550"/>
          </a:xfrm>
          <a:custGeom>
            <a:avLst/>
            <a:gdLst>
              <a:gd name="connsiteX0" fmla="*/ 10753 w 662741"/>
              <a:gd name="connsiteY0" fmla="*/ 477643 h 691739"/>
              <a:gd name="connsiteX1" fmla="*/ 72648 w 662741"/>
              <a:gd name="connsiteY1" fmla="*/ 533004 h 691739"/>
              <a:gd name="connsiteX2" fmla="*/ 508143 w 662741"/>
              <a:gd name="connsiteY2" fmla="*/ 685606 h 691739"/>
              <a:gd name="connsiteX3" fmla="*/ 624404 w 662741"/>
              <a:gd name="connsiteY3" fmla="*/ 656128 h 691739"/>
              <a:gd name="connsiteX4" fmla="*/ 629393 w 662741"/>
              <a:gd name="connsiteY4" fmla="*/ 647734 h 691739"/>
              <a:gd name="connsiteX5" fmla="*/ 630962 w 662741"/>
              <a:gd name="connsiteY5" fmla="*/ 646676 h 691739"/>
              <a:gd name="connsiteX6" fmla="*/ 662741 w 662741"/>
              <a:gd name="connsiteY6" fmla="*/ 569956 h 691739"/>
              <a:gd name="connsiteX7" fmla="*/ 662741 w 662741"/>
              <a:gd name="connsiteY7" fmla="*/ 108499 h 691739"/>
              <a:gd name="connsiteX8" fmla="*/ 554242 w 662741"/>
              <a:gd name="connsiteY8" fmla="*/ 0 h 691739"/>
              <a:gd name="connsiteX9" fmla="*/ 445743 w 662741"/>
              <a:gd name="connsiteY9" fmla="*/ 108499 h 691739"/>
              <a:gd name="connsiteX10" fmla="*/ 445743 w 662741"/>
              <a:gd name="connsiteY10" fmla="*/ 433805 h 691739"/>
              <a:gd name="connsiteX11" fmla="*/ 144408 w 662741"/>
              <a:gd name="connsiteY11" fmla="*/ 328215 h 691739"/>
              <a:gd name="connsiteX12" fmla="*/ 6133 w 662741"/>
              <a:gd name="connsiteY12" fmla="*/ 394730 h 691739"/>
              <a:gd name="connsiteX13" fmla="*/ 10753 w 662741"/>
              <a:gd name="connsiteY13" fmla="*/ 477643 h 69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2741" h="691739">
                <a:moveTo>
                  <a:pt x="10753" y="477643"/>
                </a:moveTo>
                <a:cubicBezTo>
                  <a:pt x="22790" y="502665"/>
                  <a:pt x="44373" y="523096"/>
                  <a:pt x="72648" y="533004"/>
                </a:cubicBezTo>
                <a:lnTo>
                  <a:pt x="508143" y="685606"/>
                </a:lnTo>
                <a:cubicBezTo>
                  <a:pt x="550555" y="700467"/>
                  <a:pt x="595982" y="687432"/>
                  <a:pt x="624404" y="656128"/>
                </a:cubicBezTo>
                <a:lnTo>
                  <a:pt x="629393" y="647734"/>
                </a:lnTo>
                <a:lnTo>
                  <a:pt x="630962" y="646676"/>
                </a:lnTo>
                <a:cubicBezTo>
                  <a:pt x="650597" y="627042"/>
                  <a:pt x="662741" y="599917"/>
                  <a:pt x="662741" y="569956"/>
                </a:cubicBezTo>
                <a:lnTo>
                  <a:pt x="662741" y="108499"/>
                </a:lnTo>
                <a:cubicBezTo>
                  <a:pt x="662741" y="48577"/>
                  <a:pt x="614164" y="0"/>
                  <a:pt x="554242" y="0"/>
                </a:cubicBezTo>
                <a:cubicBezTo>
                  <a:pt x="494320" y="0"/>
                  <a:pt x="445743" y="48577"/>
                  <a:pt x="445743" y="108499"/>
                </a:cubicBezTo>
                <a:lnTo>
                  <a:pt x="445743" y="433805"/>
                </a:lnTo>
                <a:lnTo>
                  <a:pt x="144408" y="328215"/>
                </a:lnTo>
                <a:cubicBezTo>
                  <a:pt x="87857" y="308399"/>
                  <a:pt x="25949" y="338179"/>
                  <a:pt x="6133" y="394730"/>
                </a:cubicBezTo>
                <a:cubicBezTo>
                  <a:pt x="-3774" y="423005"/>
                  <a:pt x="-1283" y="452620"/>
                  <a:pt x="10753" y="477643"/>
                </a:cubicBezTo>
                <a:close/>
              </a:path>
            </a:pathLst>
          </a:custGeom>
          <a:solidFill>
            <a:srgbClr val="FFFFFF"/>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433" name="任意多边形: 形状 432"/>
          <p:cNvSpPr/>
          <p:nvPr/>
        </p:nvSpPr>
        <p:spPr>
          <a:xfrm rot="14002025" flipV="1">
            <a:off x="4272915" y="4213860"/>
            <a:ext cx="74930" cy="82550"/>
          </a:xfrm>
          <a:custGeom>
            <a:avLst/>
            <a:gdLst>
              <a:gd name="connsiteX0" fmla="*/ 10753 w 662741"/>
              <a:gd name="connsiteY0" fmla="*/ 477643 h 691739"/>
              <a:gd name="connsiteX1" fmla="*/ 72648 w 662741"/>
              <a:gd name="connsiteY1" fmla="*/ 533004 h 691739"/>
              <a:gd name="connsiteX2" fmla="*/ 508143 w 662741"/>
              <a:gd name="connsiteY2" fmla="*/ 685606 h 691739"/>
              <a:gd name="connsiteX3" fmla="*/ 624404 w 662741"/>
              <a:gd name="connsiteY3" fmla="*/ 656128 h 691739"/>
              <a:gd name="connsiteX4" fmla="*/ 629393 w 662741"/>
              <a:gd name="connsiteY4" fmla="*/ 647734 h 691739"/>
              <a:gd name="connsiteX5" fmla="*/ 630962 w 662741"/>
              <a:gd name="connsiteY5" fmla="*/ 646676 h 691739"/>
              <a:gd name="connsiteX6" fmla="*/ 662741 w 662741"/>
              <a:gd name="connsiteY6" fmla="*/ 569956 h 691739"/>
              <a:gd name="connsiteX7" fmla="*/ 662741 w 662741"/>
              <a:gd name="connsiteY7" fmla="*/ 108499 h 691739"/>
              <a:gd name="connsiteX8" fmla="*/ 554242 w 662741"/>
              <a:gd name="connsiteY8" fmla="*/ 0 h 691739"/>
              <a:gd name="connsiteX9" fmla="*/ 445743 w 662741"/>
              <a:gd name="connsiteY9" fmla="*/ 108499 h 691739"/>
              <a:gd name="connsiteX10" fmla="*/ 445743 w 662741"/>
              <a:gd name="connsiteY10" fmla="*/ 433805 h 691739"/>
              <a:gd name="connsiteX11" fmla="*/ 144408 w 662741"/>
              <a:gd name="connsiteY11" fmla="*/ 328215 h 691739"/>
              <a:gd name="connsiteX12" fmla="*/ 6133 w 662741"/>
              <a:gd name="connsiteY12" fmla="*/ 394730 h 691739"/>
              <a:gd name="connsiteX13" fmla="*/ 10753 w 662741"/>
              <a:gd name="connsiteY13" fmla="*/ 477643 h 69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2741" h="691739">
                <a:moveTo>
                  <a:pt x="10753" y="477643"/>
                </a:moveTo>
                <a:cubicBezTo>
                  <a:pt x="22790" y="502665"/>
                  <a:pt x="44373" y="523096"/>
                  <a:pt x="72648" y="533004"/>
                </a:cubicBezTo>
                <a:lnTo>
                  <a:pt x="508143" y="685606"/>
                </a:lnTo>
                <a:cubicBezTo>
                  <a:pt x="550555" y="700467"/>
                  <a:pt x="595982" y="687432"/>
                  <a:pt x="624404" y="656128"/>
                </a:cubicBezTo>
                <a:lnTo>
                  <a:pt x="629393" y="647734"/>
                </a:lnTo>
                <a:lnTo>
                  <a:pt x="630962" y="646676"/>
                </a:lnTo>
                <a:cubicBezTo>
                  <a:pt x="650597" y="627042"/>
                  <a:pt x="662741" y="599917"/>
                  <a:pt x="662741" y="569956"/>
                </a:cubicBezTo>
                <a:lnTo>
                  <a:pt x="662741" y="108499"/>
                </a:lnTo>
                <a:cubicBezTo>
                  <a:pt x="662741" y="48577"/>
                  <a:pt x="614164" y="0"/>
                  <a:pt x="554242" y="0"/>
                </a:cubicBezTo>
                <a:cubicBezTo>
                  <a:pt x="494320" y="0"/>
                  <a:pt x="445743" y="48577"/>
                  <a:pt x="445743" y="108499"/>
                </a:cubicBezTo>
                <a:lnTo>
                  <a:pt x="445743" y="433805"/>
                </a:lnTo>
                <a:lnTo>
                  <a:pt x="144408" y="328215"/>
                </a:lnTo>
                <a:cubicBezTo>
                  <a:pt x="87857" y="308399"/>
                  <a:pt x="25949" y="338179"/>
                  <a:pt x="6133" y="394730"/>
                </a:cubicBezTo>
                <a:cubicBezTo>
                  <a:pt x="-3774" y="423005"/>
                  <a:pt x="-1283" y="452620"/>
                  <a:pt x="10753" y="477643"/>
                </a:cubicBezTo>
                <a:close/>
              </a:path>
            </a:pathLst>
          </a:custGeom>
          <a:solidFill>
            <a:srgbClr val="FFFFFF"/>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434" name="任意多边形: 形状 433"/>
          <p:cNvSpPr/>
          <p:nvPr/>
        </p:nvSpPr>
        <p:spPr>
          <a:xfrm rot="8302720" flipV="1">
            <a:off x="5616575" y="4027805"/>
            <a:ext cx="78740" cy="78105"/>
          </a:xfrm>
          <a:custGeom>
            <a:avLst/>
            <a:gdLst>
              <a:gd name="connsiteX0" fmla="*/ 10753 w 662741"/>
              <a:gd name="connsiteY0" fmla="*/ 477643 h 691739"/>
              <a:gd name="connsiteX1" fmla="*/ 72648 w 662741"/>
              <a:gd name="connsiteY1" fmla="*/ 533004 h 691739"/>
              <a:gd name="connsiteX2" fmla="*/ 508143 w 662741"/>
              <a:gd name="connsiteY2" fmla="*/ 685606 h 691739"/>
              <a:gd name="connsiteX3" fmla="*/ 624404 w 662741"/>
              <a:gd name="connsiteY3" fmla="*/ 656128 h 691739"/>
              <a:gd name="connsiteX4" fmla="*/ 629393 w 662741"/>
              <a:gd name="connsiteY4" fmla="*/ 647734 h 691739"/>
              <a:gd name="connsiteX5" fmla="*/ 630962 w 662741"/>
              <a:gd name="connsiteY5" fmla="*/ 646676 h 691739"/>
              <a:gd name="connsiteX6" fmla="*/ 662741 w 662741"/>
              <a:gd name="connsiteY6" fmla="*/ 569956 h 691739"/>
              <a:gd name="connsiteX7" fmla="*/ 662741 w 662741"/>
              <a:gd name="connsiteY7" fmla="*/ 108499 h 691739"/>
              <a:gd name="connsiteX8" fmla="*/ 554242 w 662741"/>
              <a:gd name="connsiteY8" fmla="*/ 0 h 691739"/>
              <a:gd name="connsiteX9" fmla="*/ 445743 w 662741"/>
              <a:gd name="connsiteY9" fmla="*/ 108499 h 691739"/>
              <a:gd name="connsiteX10" fmla="*/ 445743 w 662741"/>
              <a:gd name="connsiteY10" fmla="*/ 433805 h 691739"/>
              <a:gd name="connsiteX11" fmla="*/ 144408 w 662741"/>
              <a:gd name="connsiteY11" fmla="*/ 328215 h 691739"/>
              <a:gd name="connsiteX12" fmla="*/ 6133 w 662741"/>
              <a:gd name="connsiteY12" fmla="*/ 394730 h 691739"/>
              <a:gd name="connsiteX13" fmla="*/ 10753 w 662741"/>
              <a:gd name="connsiteY13" fmla="*/ 477643 h 69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2741" h="691739">
                <a:moveTo>
                  <a:pt x="10753" y="477643"/>
                </a:moveTo>
                <a:cubicBezTo>
                  <a:pt x="22790" y="502665"/>
                  <a:pt x="44373" y="523096"/>
                  <a:pt x="72648" y="533004"/>
                </a:cubicBezTo>
                <a:lnTo>
                  <a:pt x="508143" y="685606"/>
                </a:lnTo>
                <a:cubicBezTo>
                  <a:pt x="550555" y="700467"/>
                  <a:pt x="595982" y="687432"/>
                  <a:pt x="624404" y="656128"/>
                </a:cubicBezTo>
                <a:lnTo>
                  <a:pt x="629393" y="647734"/>
                </a:lnTo>
                <a:lnTo>
                  <a:pt x="630962" y="646676"/>
                </a:lnTo>
                <a:cubicBezTo>
                  <a:pt x="650597" y="627042"/>
                  <a:pt x="662741" y="599917"/>
                  <a:pt x="662741" y="569956"/>
                </a:cubicBezTo>
                <a:lnTo>
                  <a:pt x="662741" y="108499"/>
                </a:lnTo>
                <a:cubicBezTo>
                  <a:pt x="662741" y="48577"/>
                  <a:pt x="614164" y="0"/>
                  <a:pt x="554242" y="0"/>
                </a:cubicBezTo>
                <a:cubicBezTo>
                  <a:pt x="494320" y="0"/>
                  <a:pt x="445743" y="48577"/>
                  <a:pt x="445743" y="108499"/>
                </a:cubicBezTo>
                <a:lnTo>
                  <a:pt x="445743" y="433805"/>
                </a:lnTo>
                <a:lnTo>
                  <a:pt x="144408" y="328215"/>
                </a:lnTo>
                <a:cubicBezTo>
                  <a:pt x="87857" y="308399"/>
                  <a:pt x="25949" y="338179"/>
                  <a:pt x="6133" y="394730"/>
                </a:cubicBezTo>
                <a:cubicBezTo>
                  <a:pt x="-3774" y="423005"/>
                  <a:pt x="-1283" y="452620"/>
                  <a:pt x="10753" y="477643"/>
                </a:cubicBezTo>
                <a:close/>
              </a:path>
            </a:pathLst>
          </a:custGeom>
          <a:solidFill>
            <a:srgbClr val="FFFFFF"/>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435" name="任意多边形: 形状 434"/>
          <p:cNvSpPr/>
          <p:nvPr/>
        </p:nvSpPr>
        <p:spPr>
          <a:xfrm rot="3124604" flipV="1">
            <a:off x="3352165" y="3839845"/>
            <a:ext cx="74930" cy="82550"/>
          </a:xfrm>
          <a:custGeom>
            <a:avLst/>
            <a:gdLst>
              <a:gd name="connsiteX0" fmla="*/ 10753 w 662741"/>
              <a:gd name="connsiteY0" fmla="*/ 477643 h 691739"/>
              <a:gd name="connsiteX1" fmla="*/ 72648 w 662741"/>
              <a:gd name="connsiteY1" fmla="*/ 533004 h 691739"/>
              <a:gd name="connsiteX2" fmla="*/ 508143 w 662741"/>
              <a:gd name="connsiteY2" fmla="*/ 685606 h 691739"/>
              <a:gd name="connsiteX3" fmla="*/ 624404 w 662741"/>
              <a:gd name="connsiteY3" fmla="*/ 656128 h 691739"/>
              <a:gd name="connsiteX4" fmla="*/ 629393 w 662741"/>
              <a:gd name="connsiteY4" fmla="*/ 647734 h 691739"/>
              <a:gd name="connsiteX5" fmla="*/ 630962 w 662741"/>
              <a:gd name="connsiteY5" fmla="*/ 646676 h 691739"/>
              <a:gd name="connsiteX6" fmla="*/ 662741 w 662741"/>
              <a:gd name="connsiteY6" fmla="*/ 569956 h 691739"/>
              <a:gd name="connsiteX7" fmla="*/ 662741 w 662741"/>
              <a:gd name="connsiteY7" fmla="*/ 108499 h 691739"/>
              <a:gd name="connsiteX8" fmla="*/ 554242 w 662741"/>
              <a:gd name="connsiteY8" fmla="*/ 0 h 691739"/>
              <a:gd name="connsiteX9" fmla="*/ 445743 w 662741"/>
              <a:gd name="connsiteY9" fmla="*/ 108499 h 691739"/>
              <a:gd name="connsiteX10" fmla="*/ 445743 w 662741"/>
              <a:gd name="connsiteY10" fmla="*/ 433805 h 691739"/>
              <a:gd name="connsiteX11" fmla="*/ 144408 w 662741"/>
              <a:gd name="connsiteY11" fmla="*/ 328215 h 691739"/>
              <a:gd name="connsiteX12" fmla="*/ 6133 w 662741"/>
              <a:gd name="connsiteY12" fmla="*/ 394730 h 691739"/>
              <a:gd name="connsiteX13" fmla="*/ 10753 w 662741"/>
              <a:gd name="connsiteY13" fmla="*/ 477643 h 69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2741" h="691739">
                <a:moveTo>
                  <a:pt x="10753" y="477643"/>
                </a:moveTo>
                <a:cubicBezTo>
                  <a:pt x="22790" y="502665"/>
                  <a:pt x="44373" y="523096"/>
                  <a:pt x="72648" y="533004"/>
                </a:cubicBezTo>
                <a:lnTo>
                  <a:pt x="508143" y="685606"/>
                </a:lnTo>
                <a:cubicBezTo>
                  <a:pt x="550555" y="700467"/>
                  <a:pt x="595982" y="687432"/>
                  <a:pt x="624404" y="656128"/>
                </a:cubicBezTo>
                <a:lnTo>
                  <a:pt x="629393" y="647734"/>
                </a:lnTo>
                <a:lnTo>
                  <a:pt x="630962" y="646676"/>
                </a:lnTo>
                <a:cubicBezTo>
                  <a:pt x="650597" y="627042"/>
                  <a:pt x="662741" y="599917"/>
                  <a:pt x="662741" y="569956"/>
                </a:cubicBezTo>
                <a:lnTo>
                  <a:pt x="662741" y="108499"/>
                </a:lnTo>
                <a:cubicBezTo>
                  <a:pt x="662741" y="48577"/>
                  <a:pt x="614164" y="0"/>
                  <a:pt x="554242" y="0"/>
                </a:cubicBezTo>
                <a:cubicBezTo>
                  <a:pt x="494320" y="0"/>
                  <a:pt x="445743" y="48577"/>
                  <a:pt x="445743" y="108499"/>
                </a:cubicBezTo>
                <a:lnTo>
                  <a:pt x="445743" y="433805"/>
                </a:lnTo>
                <a:lnTo>
                  <a:pt x="144408" y="328215"/>
                </a:lnTo>
                <a:cubicBezTo>
                  <a:pt x="87857" y="308399"/>
                  <a:pt x="25949" y="338179"/>
                  <a:pt x="6133" y="394730"/>
                </a:cubicBezTo>
                <a:cubicBezTo>
                  <a:pt x="-3774" y="423005"/>
                  <a:pt x="-1283" y="452620"/>
                  <a:pt x="10753" y="477643"/>
                </a:cubicBezTo>
                <a:close/>
              </a:path>
            </a:pathLst>
          </a:custGeom>
          <a:solidFill>
            <a:srgbClr val="FFFFFF"/>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437" name="矩形: 圆角 303"/>
          <p:cNvSpPr/>
          <p:nvPr/>
        </p:nvSpPr>
        <p:spPr>
          <a:xfrm>
            <a:off x="9080500" y="2199005"/>
            <a:ext cx="2401570" cy="607060"/>
          </a:xfrm>
          <a:prstGeom prst="roundRect">
            <a:avLst>
              <a:gd name="adj" fmla="val 8101"/>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charset="-122"/>
              <a:ea typeface="微软雅黑" panose="020B0503020204020204" charset="-122"/>
              <a:cs typeface="+mn-ea"/>
              <a:sym typeface="+mn-lt"/>
            </a:endParaRPr>
          </a:p>
        </p:txBody>
      </p:sp>
      <p:sp>
        <p:nvSpPr>
          <p:cNvPr id="438" name="矩形: 圆角 308"/>
          <p:cNvSpPr/>
          <p:nvPr/>
        </p:nvSpPr>
        <p:spPr>
          <a:xfrm>
            <a:off x="9130030" y="2465070"/>
            <a:ext cx="1097280" cy="26543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algn="ctr"/>
            <a:r>
              <a:rPr lang="zh-CN" altLang="en-US" sz="1000" dirty="0">
                <a:latin typeface="微软雅黑" panose="020B0503020204020204" charset="-122"/>
                <a:ea typeface="微软雅黑" panose="020B0503020204020204" charset="-122"/>
                <a:cs typeface="+mn-ea"/>
                <a:sym typeface="+mn-lt"/>
              </a:rPr>
              <a:t>商品管理</a:t>
            </a:r>
            <a:endParaRPr lang="zh-CN" altLang="en-US" sz="1000" dirty="0">
              <a:latin typeface="微软雅黑" panose="020B0503020204020204" charset="-122"/>
              <a:ea typeface="微软雅黑" panose="020B0503020204020204" charset="-122"/>
              <a:cs typeface="+mn-ea"/>
              <a:sym typeface="+mn-lt"/>
            </a:endParaRPr>
          </a:p>
        </p:txBody>
      </p:sp>
      <p:sp>
        <p:nvSpPr>
          <p:cNvPr id="439" name="矩形: 圆角 308"/>
          <p:cNvSpPr/>
          <p:nvPr/>
        </p:nvSpPr>
        <p:spPr>
          <a:xfrm>
            <a:off x="10311765" y="2465070"/>
            <a:ext cx="1097280" cy="26543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algn="ctr"/>
            <a:r>
              <a:rPr lang="zh-CN" altLang="en-US" sz="1000" dirty="0">
                <a:latin typeface="微软雅黑" panose="020B0503020204020204" charset="-122"/>
                <a:ea typeface="微软雅黑" panose="020B0503020204020204" charset="-122"/>
                <a:cs typeface="+mn-ea"/>
                <a:sym typeface="+mn-lt"/>
              </a:rPr>
              <a:t>订单管理</a:t>
            </a:r>
            <a:endParaRPr lang="zh-CN" altLang="en-US" sz="1000" dirty="0">
              <a:latin typeface="微软雅黑" panose="020B0503020204020204" charset="-122"/>
              <a:ea typeface="微软雅黑" panose="020B0503020204020204" charset="-122"/>
              <a:cs typeface="+mn-ea"/>
              <a:sym typeface="+mn-lt"/>
            </a:endParaRPr>
          </a:p>
        </p:txBody>
      </p:sp>
      <p:sp>
        <p:nvSpPr>
          <p:cNvPr id="440" name="文本框 439"/>
          <p:cNvSpPr txBox="1"/>
          <p:nvPr/>
        </p:nvSpPr>
        <p:spPr>
          <a:xfrm>
            <a:off x="9489440" y="2164080"/>
            <a:ext cx="1445260" cy="317500"/>
          </a:xfrm>
          <a:prstGeom prst="rect">
            <a:avLst/>
          </a:prstGeom>
          <a:noFill/>
        </p:spPr>
        <p:txBody>
          <a:bodyPr wrap="square" rtlCol="0" anchor="ctr" anchorCtr="0">
            <a:noAutofit/>
          </a:bodyPr>
          <a:lstStyle/>
          <a:p>
            <a:pPr algn="ctr"/>
            <a:r>
              <a:rPr lang="zh-CN" altLang="en-US" sz="1100" b="1" dirty="0">
                <a:latin typeface="微软雅黑" panose="020B0503020204020204" charset="-122"/>
                <a:ea typeface="微软雅黑" panose="020B0503020204020204" charset="-122"/>
                <a:cs typeface="+mn-ea"/>
                <a:sym typeface="+mn-lt"/>
              </a:rPr>
              <a:t>商城</a:t>
            </a:r>
            <a:r>
              <a:rPr lang="zh-CN" altLang="en-US" sz="1100" b="1" dirty="0">
                <a:solidFill>
                  <a:schemeClr val="tx1"/>
                </a:solidFill>
                <a:latin typeface="微软雅黑" panose="020B0503020204020204" charset="-122"/>
                <a:ea typeface="微软雅黑" panose="020B0503020204020204" charset="-122"/>
                <a:cs typeface="+mn-ea"/>
                <a:sym typeface="+mn-lt"/>
              </a:rPr>
              <a:t>系统</a:t>
            </a:r>
            <a:endParaRPr lang="zh-CN" altLang="en-US" sz="1100" b="1" dirty="0">
              <a:solidFill>
                <a:schemeClr val="tx1"/>
              </a:solidFill>
              <a:latin typeface="微软雅黑" panose="020B0503020204020204" charset="-122"/>
              <a:ea typeface="微软雅黑" panose="020B0503020204020204" charset="-122"/>
              <a:cs typeface="+mn-ea"/>
              <a:sym typeface="+mn-lt"/>
            </a:endParaRPr>
          </a:p>
        </p:txBody>
      </p:sp>
      <p:sp>
        <p:nvSpPr>
          <p:cNvPr id="442" name="矩形: 圆角 303"/>
          <p:cNvSpPr/>
          <p:nvPr/>
        </p:nvSpPr>
        <p:spPr>
          <a:xfrm>
            <a:off x="9070340" y="3035300"/>
            <a:ext cx="2401570" cy="591185"/>
          </a:xfrm>
          <a:prstGeom prst="roundRect">
            <a:avLst>
              <a:gd name="adj" fmla="val 8101"/>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cs typeface="+mn-ea"/>
              <a:sym typeface="+mn-lt"/>
            </a:endParaRPr>
          </a:p>
        </p:txBody>
      </p:sp>
      <p:sp>
        <p:nvSpPr>
          <p:cNvPr id="443" name="矩形: 圆角 308"/>
          <p:cNvSpPr/>
          <p:nvPr/>
        </p:nvSpPr>
        <p:spPr>
          <a:xfrm>
            <a:off x="9133205" y="3288665"/>
            <a:ext cx="1097280" cy="26543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1000" dirty="0">
                <a:latin typeface="微软雅黑" panose="020B0503020204020204" charset="-122"/>
                <a:ea typeface="微软雅黑" panose="020B0503020204020204" charset="-122"/>
                <a:cs typeface="+mn-ea"/>
                <a:sym typeface="+mn-lt"/>
              </a:rPr>
              <a:t>合同模板</a:t>
            </a:r>
            <a:endParaRPr lang="zh-CN" altLang="en-US" sz="1000" dirty="0">
              <a:latin typeface="微软雅黑" panose="020B0503020204020204" charset="-122"/>
              <a:ea typeface="微软雅黑" panose="020B0503020204020204" charset="-122"/>
              <a:cs typeface="+mn-ea"/>
              <a:sym typeface="+mn-lt"/>
            </a:endParaRPr>
          </a:p>
        </p:txBody>
      </p:sp>
      <p:sp>
        <p:nvSpPr>
          <p:cNvPr id="445" name="矩形: 圆角 308"/>
          <p:cNvSpPr/>
          <p:nvPr/>
        </p:nvSpPr>
        <p:spPr>
          <a:xfrm>
            <a:off x="10292715" y="3286760"/>
            <a:ext cx="1097280" cy="26543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1000" dirty="0">
                <a:latin typeface="微软雅黑" panose="020B0503020204020204" charset="-122"/>
                <a:ea typeface="微软雅黑" panose="020B0503020204020204" charset="-122"/>
                <a:cs typeface="+mn-ea"/>
                <a:sym typeface="+mn-lt"/>
              </a:rPr>
              <a:t>合同签订</a:t>
            </a:r>
            <a:endParaRPr lang="zh-CN" altLang="en-US" sz="1000" dirty="0">
              <a:latin typeface="微软雅黑" panose="020B0503020204020204" charset="-122"/>
              <a:ea typeface="微软雅黑" panose="020B0503020204020204" charset="-122"/>
              <a:cs typeface="+mn-ea"/>
              <a:sym typeface="+mn-lt"/>
            </a:endParaRPr>
          </a:p>
        </p:txBody>
      </p:sp>
      <p:sp>
        <p:nvSpPr>
          <p:cNvPr id="447" name="文本框 446"/>
          <p:cNvSpPr txBox="1"/>
          <p:nvPr/>
        </p:nvSpPr>
        <p:spPr>
          <a:xfrm>
            <a:off x="9093200" y="2995295"/>
            <a:ext cx="2399665" cy="311150"/>
          </a:xfrm>
          <a:prstGeom prst="rect">
            <a:avLst/>
          </a:prstGeom>
          <a:noFill/>
        </p:spPr>
        <p:txBody>
          <a:bodyPr wrap="square" rtlCol="0" anchor="ctr" anchorCtr="0">
            <a:noAutofit/>
          </a:bodyPr>
          <a:lstStyle/>
          <a:p>
            <a:pPr algn="ctr"/>
            <a:r>
              <a:rPr lang="zh-CN" altLang="en-US" sz="1100" b="1" dirty="0">
                <a:latin typeface="微软雅黑" panose="020B0503020204020204" charset="-122"/>
                <a:ea typeface="微软雅黑" panose="020B0503020204020204" charset="-122"/>
                <a:cs typeface="+mn-ea"/>
                <a:sym typeface="+mn-lt"/>
              </a:rPr>
              <a:t>合同系统</a:t>
            </a:r>
            <a:endParaRPr lang="zh-CN" altLang="en-US" sz="1100" b="1" dirty="0">
              <a:solidFill>
                <a:schemeClr val="tx1"/>
              </a:solidFill>
              <a:latin typeface="微软雅黑" panose="020B0503020204020204" charset="-122"/>
              <a:ea typeface="微软雅黑" panose="020B0503020204020204" charset="-122"/>
              <a:cs typeface="+mn-ea"/>
              <a:sym typeface="+mn-lt"/>
            </a:endParaRPr>
          </a:p>
        </p:txBody>
      </p:sp>
      <p:sp>
        <p:nvSpPr>
          <p:cNvPr id="449" name="矩形: 圆角 303"/>
          <p:cNvSpPr/>
          <p:nvPr/>
        </p:nvSpPr>
        <p:spPr>
          <a:xfrm>
            <a:off x="3803015" y="5021580"/>
            <a:ext cx="2204085" cy="902335"/>
          </a:xfrm>
          <a:prstGeom prst="roundRect">
            <a:avLst>
              <a:gd name="adj" fmla="val 8101"/>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cs typeface="+mn-ea"/>
              <a:sym typeface="+mn-lt"/>
            </a:endParaRPr>
          </a:p>
        </p:txBody>
      </p:sp>
      <p:sp>
        <p:nvSpPr>
          <p:cNvPr id="450" name="矩形: 圆角 308"/>
          <p:cNvSpPr/>
          <p:nvPr/>
        </p:nvSpPr>
        <p:spPr>
          <a:xfrm>
            <a:off x="3860800" y="5274945"/>
            <a:ext cx="1007110" cy="26543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algn="ctr"/>
            <a:r>
              <a:rPr lang="zh-CN" altLang="en-US" sz="1000" dirty="0">
                <a:latin typeface="微软雅黑" panose="020B0503020204020204" charset="-122"/>
                <a:ea typeface="微软雅黑" panose="020B0503020204020204" charset="-122"/>
                <a:cs typeface="+mn-ea"/>
                <a:sym typeface="+mn-lt"/>
              </a:rPr>
              <a:t>准入管理</a:t>
            </a:r>
            <a:endParaRPr lang="en-US" altLang="zh-CN" sz="1000" dirty="0">
              <a:latin typeface="微软雅黑" panose="020B0503020204020204" charset="-122"/>
              <a:ea typeface="微软雅黑" panose="020B0503020204020204" charset="-122"/>
              <a:cs typeface="+mn-ea"/>
              <a:sym typeface="+mn-lt"/>
            </a:endParaRPr>
          </a:p>
        </p:txBody>
      </p:sp>
      <p:sp>
        <p:nvSpPr>
          <p:cNvPr id="451" name="矩形: 圆角 308"/>
          <p:cNvSpPr/>
          <p:nvPr/>
        </p:nvSpPr>
        <p:spPr>
          <a:xfrm>
            <a:off x="3860800" y="5607050"/>
            <a:ext cx="1007110" cy="26543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algn="ctr"/>
            <a:r>
              <a:rPr lang="zh-CN" altLang="en-US" sz="1000" dirty="0">
                <a:latin typeface="微软雅黑" panose="020B0503020204020204" charset="-122"/>
                <a:ea typeface="微软雅黑" panose="020B0503020204020204" charset="-122"/>
                <a:cs typeface="+mn-ea"/>
                <a:sym typeface="+mn-lt"/>
              </a:rPr>
              <a:t>绩效管理</a:t>
            </a:r>
            <a:endParaRPr lang="en-US" altLang="zh-CN" sz="1000" dirty="0">
              <a:latin typeface="微软雅黑" panose="020B0503020204020204" charset="-122"/>
              <a:ea typeface="微软雅黑" panose="020B0503020204020204" charset="-122"/>
              <a:cs typeface="+mn-ea"/>
              <a:sym typeface="+mn-lt"/>
            </a:endParaRPr>
          </a:p>
        </p:txBody>
      </p:sp>
      <p:sp>
        <p:nvSpPr>
          <p:cNvPr id="452" name="矩形: 圆角 308"/>
          <p:cNvSpPr/>
          <p:nvPr/>
        </p:nvSpPr>
        <p:spPr>
          <a:xfrm>
            <a:off x="4925060" y="5273040"/>
            <a:ext cx="1007110" cy="26543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algn="ctr"/>
            <a:r>
              <a:rPr lang="zh-CN" altLang="en-US" sz="1000" dirty="0">
                <a:latin typeface="微软雅黑" panose="020B0503020204020204" charset="-122"/>
                <a:ea typeface="微软雅黑" panose="020B0503020204020204" charset="-122"/>
                <a:cs typeface="+mn-ea"/>
                <a:sym typeface="+mn-lt"/>
              </a:rPr>
              <a:t>分级管理</a:t>
            </a:r>
            <a:endParaRPr lang="en-US" altLang="zh-CN" sz="1000" dirty="0">
              <a:latin typeface="微软雅黑" panose="020B0503020204020204" charset="-122"/>
              <a:ea typeface="微软雅黑" panose="020B0503020204020204" charset="-122"/>
              <a:cs typeface="+mn-ea"/>
              <a:sym typeface="+mn-lt"/>
            </a:endParaRPr>
          </a:p>
        </p:txBody>
      </p:sp>
      <p:sp>
        <p:nvSpPr>
          <p:cNvPr id="453" name="矩形: 圆角 308"/>
          <p:cNvSpPr/>
          <p:nvPr/>
        </p:nvSpPr>
        <p:spPr>
          <a:xfrm>
            <a:off x="4925060" y="5605145"/>
            <a:ext cx="1007110" cy="26543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algn="ctr"/>
            <a:r>
              <a:rPr lang="zh-CN" altLang="en-US" sz="1000" dirty="0">
                <a:latin typeface="微软雅黑" panose="020B0503020204020204" charset="-122"/>
                <a:ea typeface="微软雅黑" panose="020B0503020204020204" charset="-122"/>
                <a:cs typeface="+mn-ea"/>
                <a:sym typeface="+mn-lt"/>
              </a:rPr>
              <a:t>企业信息管理</a:t>
            </a:r>
            <a:endParaRPr lang="zh-CN" altLang="en-US" sz="1000" dirty="0">
              <a:latin typeface="微软雅黑" panose="020B0503020204020204" charset="-122"/>
              <a:ea typeface="微软雅黑" panose="020B0503020204020204" charset="-122"/>
              <a:cs typeface="+mn-ea"/>
              <a:sym typeface="+mn-lt"/>
            </a:endParaRPr>
          </a:p>
        </p:txBody>
      </p:sp>
      <p:sp>
        <p:nvSpPr>
          <p:cNvPr id="454" name="文本框 453"/>
          <p:cNvSpPr txBox="1"/>
          <p:nvPr/>
        </p:nvSpPr>
        <p:spPr>
          <a:xfrm>
            <a:off x="3823970" y="4981575"/>
            <a:ext cx="2202180" cy="311150"/>
          </a:xfrm>
          <a:prstGeom prst="rect">
            <a:avLst/>
          </a:prstGeom>
          <a:noFill/>
        </p:spPr>
        <p:txBody>
          <a:bodyPr wrap="square" rtlCol="0" anchor="ctr" anchorCtr="0">
            <a:noAutofit/>
          </a:bodyPr>
          <a:lstStyle/>
          <a:p>
            <a:pPr algn="ctr"/>
            <a:r>
              <a:rPr lang="zh-CN" altLang="en-US" sz="1100" b="1" dirty="0">
                <a:solidFill>
                  <a:schemeClr val="tx1"/>
                </a:solidFill>
                <a:latin typeface="微软雅黑" panose="020B0503020204020204" charset="-122"/>
                <a:ea typeface="微软雅黑" panose="020B0503020204020204" charset="-122"/>
                <a:cs typeface="+mn-ea"/>
                <a:sym typeface="+mn-lt"/>
              </a:rPr>
              <a:t>供应商管理</a:t>
            </a:r>
            <a:endParaRPr lang="zh-CN" altLang="en-US" sz="1100" b="1" dirty="0">
              <a:solidFill>
                <a:schemeClr val="tx1"/>
              </a:solidFill>
              <a:latin typeface="微软雅黑" panose="020B0503020204020204" charset="-122"/>
              <a:ea typeface="微软雅黑" panose="020B0503020204020204" charset="-122"/>
              <a:cs typeface="+mn-ea"/>
              <a:sym typeface="+mn-lt"/>
            </a:endParaRPr>
          </a:p>
        </p:txBody>
      </p:sp>
      <p:sp>
        <p:nvSpPr>
          <p:cNvPr id="456" name="矩形: 圆角 303"/>
          <p:cNvSpPr/>
          <p:nvPr/>
        </p:nvSpPr>
        <p:spPr>
          <a:xfrm>
            <a:off x="9086850" y="3852545"/>
            <a:ext cx="2397760" cy="902335"/>
          </a:xfrm>
          <a:prstGeom prst="roundRect">
            <a:avLst>
              <a:gd name="adj" fmla="val 8101"/>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cs typeface="+mn-ea"/>
              <a:sym typeface="+mn-lt"/>
            </a:endParaRPr>
          </a:p>
        </p:txBody>
      </p:sp>
      <p:sp>
        <p:nvSpPr>
          <p:cNvPr id="457" name="矩形: 圆角 308"/>
          <p:cNvSpPr/>
          <p:nvPr/>
        </p:nvSpPr>
        <p:spPr>
          <a:xfrm>
            <a:off x="9149715" y="4105910"/>
            <a:ext cx="1095375" cy="26543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algn="ctr"/>
            <a:r>
              <a:rPr lang="zh-CN" altLang="en-US" sz="1000" dirty="0">
                <a:latin typeface="微软雅黑" panose="020B0503020204020204" charset="-122"/>
                <a:ea typeface="微软雅黑" panose="020B0503020204020204" charset="-122"/>
                <a:cs typeface="+mn-ea"/>
                <a:sym typeface="+mn-lt"/>
              </a:rPr>
              <a:t>辅助决策</a:t>
            </a:r>
            <a:endParaRPr lang="zh-CN" altLang="en-US" sz="1000" dirty="0">
              <a:latin typeface="微软雅黑" panose="020B0503020204020204" charset="-122"/>
              <a:ea typeface="微软雅黑" panose="020B0503020204020204" charset="-122"/>
              <a:cs typeface="+mn-ea"/>
              <a:sym typeface="+mn-lt"/>
            </a:endParaRPr>
          </a:p>
        </p:txBody>
      </p:sp>
      <p:sp>
        <p:nvSpPr>
          <p:cNvPr id="458" name="矩形: 圆角 308"/>
          <p:cNvSpPr/>
          <p:nvPr/>
        </p:nvSpPr>
        <p:spPr>
          <a:xfrm>
            <a:off x="9149715" y="4437380"/>
            <a:ext cx="2253615" cy="26543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algn="ctr"/>
            <a:r>
              <a:rPr lang="zh-CN" altLang="en-US" sz="1000" dirty="0">
                <a:latin typeface="微软雅黑" panose="020B0503020204020204" charset="-122"/>
                <a:ea typeface="微软雅黑" panose="020B0503020204020204" charset="-122"/>
                <a:cs typeface="+mn-ea"/>
                <a:sym typeface="+mn-lt"/>
              </a:rPr>
              <a:t>围串标分析</a:t>
            </a:r>
            <a:endParaRPr lang="zh-CN" altLang="en-US" sz="1000" dirty="0">
              <a:latin typeface="微软雅黑" panose="020B0503020204020204" charset="-122"/>
              <a:ea typeface="微软雅黑" panose="020B0503020204020204" charset="-122"/>
              <a:cs typeface="+mn-ea"/>
              <a:sym typeface="+mn-lt"/>
            </a:endParaRPr>
          </a:p>
        </p:txBody>
      </p:sp>
      <p:sp>
        <p:nvSpPr>
          <p:cNvPr id="459" name="矩形: 圆角 308"/>
          <p:cNvSpPr/>
          <p:nvPr/>
        </p:nvSpPr>
        <p:spPr>
          <a:xfrm>
            <a:off x="10307320" y="4104005"/>
            <a:ext cx="1095375" cy="26543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algn="ctr"/>
            <a:r>
              <a:rPr lang="en-US" altLang="zh-CN" sz="1000" dirty="0">
                <a:latin typeface="微软雅黑" panose="020B0503020204020204" charset="-122"/>
                <a:ea typeface="微软雅黑" panose="020B0503020204020204" charset="-122"/>
                <a:cs typeface="+mn-ea"/>
                <a:sym typeface="+mn-lt"/>
              </a:rPr>
              <a:t>BI</a:t>
            </a:r>
            <a:r>
              <a:rPr lang="zh-CN" altLang="en-US" sz="1000" dirty="0">
                <a:latin typeface="微软雅黑" panose="020B0503020204020204" charset="-122"/>
                <a:ea typeface="微软雅黑" panose="020B0503020204020204" charset="-122"/>
                <a:cs typeface="+mn-ea"/>
                <a:sym typeface="+mn-lt"/>
              </a:rPr>
              <a:t>分析</a:t>
            </a:r>
            <a:endParaRPr lang="zh-CN" altLang="en-US" sz="1000" dirty="0">
              <a:latin typeface="微软雅黑" panose="020B0503020204020204" charset="-122"/>
              <a:ea typeface="微软雅黑" panose="020B0503020204020204" charset="-122"/>
              <a:cs typeface="+mn-ea"/>
              <a:sym typeface="+mn-lt"/>
            </a:endParaRPr>
          </a:p>
        </p:txBody>
      </p:sp>
      <p:sp>
        <p:nvSpPr>
          <p:cNvPr id="460" name="文本框 459"/>
          <p:cNvSpPr txBox="1"/>
          <p:nvPr/>
        </p:nvSpPr>
        <p:spPr>
          <a:xfrm>
            <a:off x="9078595" y="3815715"/>
            <a:ext cx="2395855" cy="311150"/>
          </a:xfrm>
          <a:prstGeom prst="rect">
            <a:avLst/>
          </a:prstGeom>
          <a:noFill/>
        </p:spPr>
        <p:txBody>
          <a:bodyPr wrap="square" rtlCol="0" anchor="ctr" anchorCtr="0">
            <a:noAutofit/>
          </a:bodyPr>
          <a:lstStyle/>
          <a:p>
            <a:pPr algn="ctr"/>
            <a:r>
              <a:rPr lang="zh-CN" altLang="en-US" sz="1100" b="1" dirty="0">
                <a:solidFill>
                  <a:schemeClr val="tx1"/>
                </a:solidFill>
                <a:latin typeface="微软雅黑" panose="020B0503020204020204" charset="-122"/>
                <a:ea typeface="微软雅黑" panose="020B0503020204020204" charset="-122"/>
                <a:cs typeface="+mn-ea"/>
                <a:sym typeface="+mn-lt"/>
              </a:rPr>
              <a:t>大数据系统</a:t>
            </a:r>
            <a:endParaRPr lang="zh-CN" altLang="en-US" sz="1100" b="1" dirty="0">
              <a:solidFill>
                <a:schemeClr val="tx1"/>
              </a:solidFill>
              <a:latin typeface="微软雅黑" panose="020B0503020204020204" charset="-122"/>
              <a:ea typeface="微软雅黑" panose="020B0503020204020204" charset="-122"/>
              <a:cs typeface="+mn-ea"/>
              <a:sym typeface="+mn-lt"/>
            </a:endParaRPr>
          </a:p>
        </p:txBody>
      </p:sp>
      <p:sp>
        <p:nvSpPr>
          <p:cNvPr id="462" name="矩形: 圆角 303"/>
          <p:cNvSpPr/>
          <p:nvPr/>
        </p:nvSpPr>
        <p:spPr>
          <a:xfrm>
            <a:off x="9084945" y="4984115"/>
            <a:ext cx="2372360" cy="902335"/>
          </a:xfrm>
          <a:prstGeom prst="roundRect">
            <a:avLst>
              <a:gd name="adj" fmla="val 8101"/>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cs typeface="+mn-ea"/>
              <a:sym typeface="+mn-lt"/>
            </a:endParaRPr>
          </a:p>
        </p:txBody>
      </p:sp>
      <p:sp>
        <p:nvSpPr>
          <p:cNvPr id="463" name="矩形: 圆角 308"/>
          <p:cNvSpPr/>
          <p:nvPr/>
        </p:nvSpPr>
        <p:spPr>
          <a:xfrm>
            <a:off x="9147175" y="5237480"/>
            <a:ext cx="1083945" cy="26543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algn="ctr"/>
            <a:r>
              <a:rPr lang="zh-CN" altLang="en-US" sz="1000" dirty="0">
                <a:latin typeface="微软雅黑" panose="020B0503020204020204" charset="-122"/>
                <a:ea typeface="微软雅黑" panose="020B0503020204020204" charset="-122"/>
                <a:cs typeface="+mn-ea"/>
                <a:sym typeface="+mn-lt"/>
              </a:rPr>
              <a:t>业务风险监督</a:t>
            </a:r>
            <a:endParaRPr lang="en-US" altLang="zh-CN" sz="1000" dirty="0">
              <a:latin typeface="微软雅黑" panose="020B0503020204020204" charset="-122"/>
              <a:ea typeface="微软雅黑" panose="020B0503020204020204" charset="-122"/>
              <a:cs typeface="+mn-ea"/>
              <a:sym typeface="+mn-lt"/>
            </a:endParaRPr>
          </a:p>
        </p:txBody>
      </p:sp>
      <p:sp>
        <p:nvSpPr>
          <p:cNvPr id="464" name="矩形: 圆角 308"/>
          <p:cNvSpPr/>
          <p:nvPr/>
        </p:nvSpPr>
        <p:spPr>
          <a:xfrm>
            <a:off x="9147175" y="5569585"/>
            <a:ext cx="2229485" cy="26543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algn="ctr"/>
            <a:r>
              <a:rPr lang="zh-CN" altLang="en-US" sz="1000" dirty="0">
                <a:latin typeface="微软雅黑" panose="020B0503020204020204" charset="-122"/>
                <a:ea typeface="微软雅黑" panose="020B0503020204020204" charset="-122"/>
                <a:cs typeface="+mn-ea"/>
                <a:sym typeface="+mn-lt"/>
              </a:rPr>
              <a:t>人员分析</a:t>
            </a:r>
            <a:endParaRPr lang="en-US" altLang="zh-CN" sz="1000" dirty="0">
              <a:latin typeface="微软雅黑" panose="020B0503020204020204" charset="-122"/>
              <a:ea typeface="微软雅黑" panose="020B0503020204020204" charset="-122"/>
              <a:cs typeface="+mn-ea"/>
              <a:sym typeface="+mn-lt"/>
            </a:endParaRPr>
          </a:p>
        </p:txBody>
      </p:sp>
      <p:sp>
        <p:nvSpPr>
          <p:cNvPr id="465" name="矩形: 圆角 308"/>
          <p:cNvSpPr/>
          <p:nvPr/>
        </p:nvSpPr>
        <p:spPr>
          <a:xfrm>
            <a:off x="10292715" y="5235575"/>
            <a:ext cx="1083945" cy="26543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algn="ctr"/>
            <a:r>
              <a:rPr lang="zh-CN" altLang="en-US" sz="1000" dirty="0">
                <a:latin typeface="微软雅黑" panose="020B0503020204020204" charset="-122"/>
                <a:ea typeface="微软雅黑" panose="020B0503020204020204" charset="-122"/>
                <a:cs typeface="+mn-ea"/>
                <a:sym typeface="+mn-lt"/>
              </a:rPr>
              <a:t>效能监督</a:t>
            </a:r>
            <a:endParaRPr lang="en-US" altLang="zh-CN" sz="1000" dirty="0">
              <a:latin typeface="微软雅黑" panose="020B0503020204020204" charset="-122"/>
              <a:ea typeface="微软雅黑" panose="020B0503020204020204" charset="-122"/>
              <a:cs typeface="+mn-ea"/>
              <a:sym typeface="+mn-lt"/>
            </a:endParaRPr>
          </a:p>
        </p:txBody>
      </p:sp>
      <p:sp>
        <p:nvSpPr>
          <p:cNvPr id="466" name="文本框 465"/>
          <p:cNvSpPr txBox="1"/>
          <p:nvPr/>
        </p:nvSpPr>
        <p:spPr>
          <a:xfrm>
            <a:off x="9107805" y="4944110"/>
            <a:ext cx="2369820" cy="311150"/>
          </a:xfrm>
          <a:prstGeom prst="rect">
            <a:avLst/>
          </a:prstGeom>
          <a:noFill/>
        </p:spPr>
        <p:txBody>
          <a:bodyPr wrap="square" rtlCol="0" anchor="ctr" anchorCtr="0">
            <a:noAutofit/>
          </a:bodyPr>
          <a:lstStyle/>
          <a:p>
            <a:pPr algn="ctr"/>
            <a:r>
              <a:rPr lang="zh-CN" altLang="en-US" sz="1100" b="1" dirty="0">
                <a:latin typeface="微软雅黑" panose="020B0503020204020204" charset="-122"/>
                <a:ea typeface="微软雅黑" panose="020B0503020204020204" charset="-122"/>
                <a:cs typeface="+mn-ea"/>
                <a:sym typeface="+mn-lt"/>
              </a:rPr>
              <a:t>监督系统</a:t>
            </a:r>
            <a:endParaRPr lang="zh-CN" altLang="en-US" sz="1100" b="1" dirty="0">
              <a:solidFill>
                <a:schemeClr val="tx1"/>
              </a:solidFill>
              <a:latin typeface="微软雅黑" panose="020B0503020204020204" charset="-122"/>
              <a:ea typeface="微软雅黑" panose="020B0503020204020204" charset="-122"/>
              <a:cs typeface="+mn-ea"/>
              <a:sym typeface="+mn-lt"/>
            </a:endParaRPr>
          </a:p>
        </p:txBody>
      </p:sp>
      <p:sp>
        <p:nvSpPr>
          <p:cNvPr id="467" name="矩形: 圆角 303"/>
          <p:cNvSpPr/>
          <p:nvPr/>
        </p:nvSpPr>
        <p:spPr>
          <a:xfrm>
            <a:off x="6312535" y="4869180"/>
            <a:ext cx="1139190" cy="1185545"/>
          </a:xfrm>
          <a:prstGeom prst="roundRect">
            <a:avLst>
              <a:gd name="adj" fmla="val 8101"/>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cs typeface="+mn-ea"/>
              <a:sym typeface="+mn-lt"/>
            </a:endParaRPr>
          </a:p>
        </p:txBody>
      </p:sp>
      <p:sp>
        <p:nvSpPr>
          <p:cNvPr id="468" name="矩形: 圆角 308"/>
          <p:cNvSpPr/>
          <p:nvPr/>
        </p:nvSpPr>
        <p:spPr>
          <a:xfrm>
            <a:off x="6380480" y="5120640"/>
            <a:ext cx="1003935" cy="26543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r>
              <a:rPr lang="zh-CN" altLang="en-US" sz="1000" dirty="0">
                <a:latin typeface="微软雅黑" panose="020B0503020204020204" charset="-122"/>
                <a:ea typeface="微软雅黑" panose="020B0503020204020204" charset="-122"/>
                <a:cs typeface="+mn-ea"/>
                <a:sym typeface="+mn-lt"/>
              </a:rPr>
              <a:t>专业管理</a:t>
            </a:r>
            <a:endParaRPr lang="en-US" altLang="zh-CN" sz="1000" dirty="0">
              <a:latin typeface="微软雅黑" panose="020B0503020204020204" charset="-122"/>
              <a:ea typeface="微软雅黑" panose="020B0503020204020204" charset="-122"/>
              <a:cs typeface="+mn-ea"/>
              <a:sym typeface="+mn-lt"/>
            </a:endParaRPr>
          </a:p>
        </p:txBody>
      </p:sp>
      <p:sp>
        <p:nvSpPr>
          <p:cNvPr id="469" name="文本框 468"/>
          <p:cNvSpPr txBox="1"/>
          <p:nvPr/>
        </p:nvSpPr>
        <p:spPr>
          <a:xfrm>
            <a:off x="6354445" y="4851400"/>
            <a:ext cx="1056005" cy="311150"/>
          </a:xfrm>
          <a:prstGeom prst="rect">
            <a:avLst/>
          </a:prstGeom>
          <a:noFill/>
        </p:spPr>
        <p:txBody>
          <a:bodyPr wrap="none" rtlCol="0" anchor="ctr" anchorCtr="0">
            <a:noAutofit/>
          </a:bodyPr>
          <a:lstStyle/>
          <a:p>
            <a:pPr algn="ctr"/>
            <a:r>
              <a:rPr lang="zh-CN" altLang="en-US" sz="1100" b="1" dirty="0">
                <a:solidFill>
                  <a:schemeClr val="tx1"/>
                </a:solidFill>
                <a:latin typeface="微软雅黑" panose="020B0503020204020204" charset="-122"/>
                <a:ea typeface="微软雅黑" panose="020B0503020204020204" charset="-122"/>
                <a:cs typeface="+mn-ea"/>
                <a:sym typeface="+mn-lt"/>
              </a:rPr>
              <a:t>专家管理系统</a:t>
            </a:r>
            <a:endParaRPr lang="zh-CN" altLang="en-US" sz="1100" b="1" dirty="0">
              <a:solidFill>
                <a:schemeClr val="tx1"/>
              </a:solidFill>
              <a:latin typeface="微软雅黑" panose="020B0503020204020204" charset="-122"/>
              <a:ea typeface="微软雅黑" panose="020B0503020204020204" charset="-122"/>
              <a:cs typeface="+mn-ea"/>
              <a:sym typeface="+mn-lt"/>
            </a:endParaRPr>
          </a:p>
        </p:txBody>
      </p:sp>
      <p:sp>
        <p:nvSpPr>
          <p:cNvPr id="470" name="矩形: 圆角 308"/>
          <p:cNvSpPr/>
          <p:nvPr/>
        </p:nvSpPr>
        <p:spPr>
          <a:xfrm>
            <a:off x="6380480" y="5422900"/>
            <a:ext cx="1003935" cy="26543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r>
              <a:rPr lang="zh-CN" altLang="en-US" sz="1000" dirty="0">
                <a:latin typeface="微软雅黑" panose="020B0503020204020204" charset="-122"/>
                <a:ea typeface="微软雅黑" panose="020B0503020204020204" charset="-122"/>
                <a:cs typeface="+mn-ea"/>
                <a:sym typeface="+mn-lt"/>
              </a:rPr>
              <a:t>专家抽取</a:t>
            </a:r>
            <a:endParaRPr lang="en-US" altLang="zh-CN" sz="1000" dirty="0">
              <a:latin typeface="微软雅黑" panose="020B0503020204020204" charset="-122"/>
              <a:ea typeface="微软雅黑" panose="020B0503020204020204" charset="-122"/>
              <a:cs typeface="+mn-ea"/>
              <a:sym typeface="+mn-lt"/>
            </a:endParaRPr>
          </a:p>
        </p:txBody>
      </p:sp>
      <p:sp>
        <p:nvSpPr>
          <p:cNvPr id="471" name="矩形: 圆角 308"/>
          <p:cNvSpPr/>
          <p:nvPr/>
        </p:nvSpPr>
        <p:spPr>
          <a:xfrm>
            <a:off x="6380480" y="5716270"/>
            <a:ext cx="1003935" cy="26543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r>
              <a:rPr lang="zh-CN" altLang="en-US" sz="1000" dirty="0">
                <a:latin typeface="微软雅黑" panose="020B0503020204020204" charset="-122"/>
                <a:ea typeface="微软雅黑" panose="020B0503020204020204" charset="-122"/>
                <a:cs typeface="+mn-ea"/>
                <a:sym typeface="+mn-lt"/>
              </a:rPr>
              <a:t>语音通知</a:t>
            </a:r>
            <a:endParaRPr lang="zh-CN" altLang="en-US" sz="1000" dirty="0">
              <a:latin typeface="微软雅黑" panose="020B0503020204020204" charset="-122"/>
              <a:ea typeface="微软雅黑" panose="020B0503020204020204" charset="-122"/>
              <a:cs typeface="+mn-ea"/>
              <a:sym typeface="+mn-lt"/>
            </a:endParaRPr>
          </a:p>
        </p:txBody>
      </p:sp>
      <p:sp>
        <p:nvSpPr>
          <p:cNvPr id="416" name="Rounded Rectangle 7"/>
          <p:cNvSpPr/>
          <p:nvPr/>
        </p:nvSpPr>
        <p:spPr>
          <a:xfrm>
            <a:off x="6003341" y="3867867"/>
            <a:ext cx="369619" cy="49272"/>
          </a:xfrm>
          <a:prstGeom prst="roundRect">
            <a:avLst>
              <a:gd name="adj" fmla="val 50000"/>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409" name="Rounded Rectangle 7"/>
          <p:cNvSpPr/>
          <p:nvPr/>
        </p:nvSpPr>
        <p:spPr>
          <a:xfrm>
            <a:off x="6003341" y="4227594"/>
            <a:ext cx="525789" cy="45719"/>
          </a:xfrm>
          <a:prstGeom prst="roundRect">
            <a:avLst>
              <a:gd name="adj" fmla="val 50000"/>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algn="ctr"/>
            <a:endParaRPr lang="en-US" sz="1000" kern="0" dirty="0">
              <a:solidFill>
                <a:srgbClr val="FFFFFF"/>
              </a:solidFill>
              <a:latin typeface="微软雅黑" panose="020B0503020204020204" charset="-122"/>
              <a:ea typeface="微软雅黑" panose="020B0503020204020204" charset="-122"/>
            </a:endParaRPr>
          </a:p>
        </p:txBody>
      </p:sp>
      <p:sp>
        <p:nvSpPr>
          <p:cNvPr id="474" name="文本框 473"/>
          <p:cNvSpPr txBox="1"/>
          <p:nvPr/>
        </p:nvSpPr>
        <p:spPr>
          <a:xfrm>
            <a:off x="295910" y="1768979"/>
            <a:ext cx="449005" cy="4307971"/>
          </a:xfrm>
          <a:prstGeom prst="roundRect">
            <a:avLst>
              <a:gd name="adj" fmla="val 7960"/>
            </a:avLst>
          </a:prstGeom>
          <a:solidFill>
            <a:srgbClr val="4472C4"/>
          </a:solidFill>
        </p:spPr>
        <p:txBody>
          <a:bodyPr wrap="square" rtlCol="0" anchor="ctr" anchorCtr="0">
            <a:noAutofit/>
          </a:bodyPr>
          <a:lstStyle/>
          <a:p>
            <a:pPr algn="ctr"/>
            <a:r>
              <a:rPr lang="zh-CN" altLang="en-US" sz="1200" b="1" dirty="0">
                <a:solidFill>
                  <a:schemeClr val="bg1"/>
                </a:solidFill>
                <a:latin typeface="微软雅黑" panose="020B0503020204020204" charset="-122"/>
                <a:ea typeface="微软雅黑" panose="020B0503020204020204" charset="-122"/>
                <a:cs typeface="+mn-ea"/>
                <a:sym typeface="+mn-lt"/>
              </a:rPr>
              <a:t>业务功能</a:t>
            </a:r>
            <a:endParaRPr lang="zh-CN" altLang="en-US" sz="1200" b="1" dirty="0">
              <a:solidFill>
                <a:schemeClr val="bg1"/>
              </a:solidFill>
              <a:latin typeface="微软雅黑" panose="020B0503020204020204" charset="-122"/>
              <a:ea typeface="微软雅黑" panose="020B0503020204020204" charset="-122"/>
              <a:cs typeface="+mn-ea"/>
              <a:sym typeface="+mn-lt"/>
            </a:endParaRPr>
          </a:p>
        </p:txBody>
      </p:sp>
      <p:sp>
        <p:nvSpPr>
          <p:cNvPr id="475" name="矩形: 圆角 474"/>
          <p:cNvSpPr/>
          <p:nvPr/>
        </p:nvSpPr>
        <p:spPr>
          <a:xfrm>
            <a:off x="292435" y="6198740"/>
            <a:ext cx="11449686" cy="459740"/>
          </a:xfrm>
          <a:prstGeom prst="roundRect">
            <a:avLst>
              <a:gd name="adj" fmla="val 10655"/>
            </a:avLst>
          </a:prstGeom>
          <a:solidFill>
            <a:schemeClr val="bg2">
              <a:lumMod val="90000"/>
            </a:schemeClr>
          </a:solidFill>
          <a:ln w="12700">
            <a:noFill/>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mn-ea"/>
              <a:sym typeface="+mn-lt"/>
            </a:endParaRPr>
          </a:p>
        </p:txBody>
      </p:sp>
      <p:sp>
        <p:nvSpPr>
          <p:cNvPr id="476" name="矩形: 圆角 475"/>
          <p:cNvSpPr/>
          <p:nvPr/>
        </p:nvSpPr>
        <p:spPr>
          <a:xfrm>
            <a:off x="1104282" y="6292720"/>
            <a:ext cx="1260475" cy="271780"/>
          </a:xfrm>
          <a:prstGeom prst="roundRect">
            <a:avLst/>
          </a:prstGeom>
          <a:solidFill>
            <a:srgbClr val="00B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流程管理</a:t>
            </a:r>
            <a:endParaRPr lang="zh-CN" altLang="en-US" sz="1000" dirty="0">
              <a:latin typeface="微软雅黑" panose="020B0503020204020204" charset="-122"/>
              <a:ea typeface="微软雅黑" panose="020B0503020204020204" charset="-122"/>
              <a:cs typeface="+mn-ea"/>
              <a:sym typeface="+mn-lt"/>
            </a:endParaRPr>
          </a:p>
        </p:txBody>
      </p:sp>
      <p:sp>
        <p:nvSpPr>
          <p:cNvPr id="477" name="矩形: 圆角 476"/>
          <p:cNvSpPr/>
          <p:nvPr/>
        </p:nvSpPr>
        <p:spPr>
          <a:xfrm>
            <a:off x="2916577" y="6292720"/>
            <a:ext cx="1260475" cy="271780"/>
          </a:xfrm>
          <a:prstGeom prst="roundRect">
            <a:avLst/>
          </a:prstGeom>
          <a:solidFill>
            <a:srgbClr val="00B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规则管理</a:t>
            </a:r>
            <a:endParaRPr lang="zh-CN" altLang="en-US" sz="1000" dirty="0">
              <a:latin typeface="微软雅黑" panose="020B0503020204020204" charset="-122"/>
              <a:ea typeface="微软雅黑" panose="020B0503020204020204" charset="-122"/>
              <a:cs typeface="+mn-ea"/>
              <a:sym typeface="+mn-lt"/>
            </a:endParaRPr>
          </a:p>
        </p:txBody>
      </p:sp>
      <p:sp>
        <p:nvSpPr>
          <p:cNvPr id="478" name="矩形: 圆角 477"/>
          <p:cNvSpPr/>
          <p:nvPr/>
        </p:nvSpPr>
        <p:spPr>
          <a:xfrm>
            <a:off x="4728872" y="6292720"/>
            <a:ext cx="1260475" cy="271780"/>
          </a:xfrm>
          <a:prstGeom prst="roundRect">
            <a:avLst/>
          </a:prstGeom>
          <a:solidFill>
            <a:srgbClr val="00B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权限管理</a:t>
            </a:r>
            <a:endParaRPr lang="zh-CN" altLang="en-US" sz="1000" dirty="0">
              <a:latin typeface="微软雅黑" panose="020B0503020204020204" charset="-122"/>
              <a:ea typeface="微软雅黑" panose="020B0503020204020204" charset="-122"/>
              <a:cs typeface="+mn-ea"/>
              <a:sym typeface="+mn-lt"/>
            </a:endParaRPr>
          </a:p>
        </p:txBody>
      </p:sp>
      <p:sp>
        <p:nvSpPr>
          <p:cNvPr id="479" name="矩形: 圆角 478"/>
          <p:cNvSpPr/>
          <p:nvPr/>
        </p:nvSpPr>
        <p:spPr>
          <a:xfrm>
            <a:off x="6541167" y="6292720"/>
            <a:ext cx="1260475" cy="271780"/>
          </a:xfrm>
          <a:prstGeom prst="roundRect">
            <a:avLst/>
          </a:prstGeom>
          <a:solidFill>
            <a:srgbClr val="00B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消息管理</a:t>
            </a:r>
            <a:endParaRPr lang="zh-CN" altLang="en-US" sz="1000" dirty="0">
              <a:latin typeface="微软雅黑" panose="020B0503020204020204" charset="-122"/>
              <a:ea typeface="微软雅黑" panose="020B0503020204020204" charset="-122"/>
              <a:cs typeface="+mn-ea"/>
              <a:sym typeface="+mn-lt"/>
            </a:endParaRPr>
          </a:p>
        </p:txBody>
      </p:sp>
      <p:sp>
        <p:nvSpPr>
          <p:cNvPr id="480" name="矩形: 圆角 479"/>
          <p:cNvSpPr/>
          <p:nvPr/>
        </p:nvSpPr>
        <p:spPr>
          <a:xfrm>
            <a:off x="8353462" y="6292720"/>
            <a:ext cx="1260475" cy="271780"/>
          </a:xfrm>
          <a:prstGeom prst="roundRect">
            <a:avLst/>
          </a:prstGeom>
          <a:solidFill>
            <a:srgbClr val="00B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任务管理</a:t>
            </a:r>
            <a:endParaRPr lang="zh-CN" altLang="en-US" sz="1000" dirty="0">
              <a:latin typeface="微软雅黑" panose="020B0503020204020204" charset="-122"/>
              <a:ea typeface="微软雅黑" panose="020B0503020204020204" charset="-122"/>
              <a:cs typeface="+mn-ea"/>
              <a:sym typeface="+mn-lt"/>
            </a:endParaRPr>
          </a:p>
        </p:txBody>
      </p:sp>
      <p:sp>
        <p:nvSpPr>
          <p:cNvPr id="481" name="矩形: 圆角 480"/>
          <p:cNvSpPr/>
          <p:nvPr/>
        </p:nvSpPr>
        <p:spPr>
          <a:xfrm>
            <a:off x="10165756" y="6292720"/>
            <a:ext cx="1260475" cy="271780"/>
          </a:xfrm>
          <a:prstGeom prst="roundRect">
            <a:avLst/>
          </a:prstGeom>
          <a:solidFill>
            <a:srgbClr val="00B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低码配置</a:t>
            </a:r>
            <a:endParaRPr lang="zh-CN" altLang="en-US" sz="1000" dirty="0">
              <a:latin typeface="微软雅黑" panose="020B0503020204020204" charset="-122"/>
              <a:ea typeface="微软雅黑" panose="020B0503020204020204" charset="-122"/>
              <a:cs typeface="+mn-ea"/>
              <a:sym typeface="+mn-lt"/>
            </a:endParaRPr>
          </a:p>
        </p:txBody>
      </p:sp>
      <p:sp>
        <p:nvSpPr>
          <p:cNvPr id="482" name="文本框 481"/>
          <p:cNvSpPr txBox="1"/>
          <p:nvPr/>
        </p:nvSpPr>
        <p:spPr>
          <a:xfrm>
            <a:off x="293706" y="6198422"/>
            <a:ext cx="449006" cy="460375"/>
          </a:xfrm>
          <a:prstGeom prst="roundRect">
            <a:avLst/>
          </a:prstGeom>
          <a:solidFill>
            <a:srgbClr val="4472C4"/>
          </a:solidFill>
        </p:spPr>
        <p:txBody>
          <a:bodyPr wrap="none" rtlCol="0" anchor="ctr" anchorCtr="0">
            <a:noAutofit/>
          </a:bodyPr>
          <a:lstStyle/>
          <a:p>
            <a:pPr algn="ctr"/>
            <a:r>
              <a:rPr lang="zh-CN" altLang="en-US" sz="1050" b="1" dirty="0">
                <a:solidFill>
                  <a:schemeClr val="bg1"/>
                </a:solidFill>
                <a:latin typeface="微软雅黑" panose="020B0503020204020204" charset="-122"/>
                <a:ea typeface="微软雅黑" panose="020B0503020204020204" charset="-122"/>
                <a:cs typeface="+mn-ea"/>
                <a:sym typeface="+mn-lt"/>
              </a:rPr>
              <a:t>基础</a:t>
            </a:r>
            <a:endParaRPr lang="en-US" altLang="zh-CN" sz="1050" b="1" dirty="0">
              <a:solidFill>
                <a:schemeClr val="bg1"/>
              </a:solidFill>
              <a:latin typeface="微软雅黑" panose="020B0503020204020204" charset="-122"/>
              <a:ea typeface="微软雅黑" panose="020B0503020204020204" charset="-122"/>
              <a:cs typeface="+mn-ea"/>
              <a:sym typeface="+mn-lt"/>
            </a:endParaRPr>
          </a:p>
          <a:p>
            <a:pPr algn="ctr"/>
            <a:r>
              <a:rPr lang="zh-CN" altLang="en-US" sz="1050" b="1" dirty="0">
                <a:solidFill>
                  <a:schemeClr val="bg1"/>
                </a:solidFill>
                <a:latin typeface="微软雅黑" panose="020B0503020204020204" charset="-122"/>
                <a:ea typeface="微软雅黑" panose="020B0503020204020204" charset="-122"/>
                <a:cs typeface="+mn-ea"/>
                <a:sym typeface="+mn-lt"/>
              </a:rPr>
              <a:t>支撑</a:t>
            </a:r>
            <a:endParaRPr lang="zh-CN" altLang="en-US" sz="1050" b="1" dirty="0">
              <a:solidFill>
                <a:schemeClr val="bg1"/>
              </a:solidFill>
              <a:latin typeface="微软雅黑" panose="020B0503020204020204" charset="-122"/>
              <a:ea typeface="微软雅黑" panose="020B0503020204020204" charset="-122"/>
              <a:cs typeface="+mn-ea"/>
              <a:sym typeface="+mn-lt"/>
            </a:endParaRPr>
          </a:p>
        </p:txBody>
      </p:sp>
      <p:sp>
        <p:nvSpPr>
          <p:cNvPr id="5" name="矩形 4"/>
          <p:cNvSpPr/>
          <p:nvPr/>
        </p:nvSpPr>
        <p:spPr>
          <a:xfrm>
            <a:off x="8976995" y="1826895"/>
            <a:ext cx="2608580" cy="4228465"/>
          </a:xfrm>
          <a:prstGeom prst="rect">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algn="ctr"/>
            <a:r>
              <a:rPr lang="zh-CN" altLang="en-US" sz="1200" b="1" dirty="0">
                <a:solidFill>
                  <a:schemeClr val="tx1"/>
                </a:solidFill>
                <a:latin typeface="微软雅黑" panose="020B0503020204020204" charset="-122"/>
                <a:ea typeface="微软雅黑" panose="020B0503020204020204" charset="-122"/>
              </a:rPr>
              <a:t>其他功能</a:t>
            </a:r>
            <a:endParaRPr lang="zh-CN" altLang="en-US" sz="1200" b="1" dirty="0">
              <a:solidFill>
                <a:schemeClr val="tx1"/>
              </a:solidFill>
              <a:latin typeface="微软雅黑" panose="020B0503020204020204" charset="-122"/>
              <a:ea typeface="微软雅黑" panose="020B0503020204020204" charset="-122"/>
            </a:endParaRPr>
          </a:p>
        </p:txBody>
      </p:sp>
      <p:sp>
        <p:nvSpPr>
          <p:cNvPr id="6" name="矩形: 圆角 308"/>
          <p:cNvSpPr/>
          <p:nvPr/>
        </p:nvSpPr>
        <p:spPr>
          <a:xfrm>
            <a:off x="4227830" y="999490"/>
            <a:ext cx="665480" cy="18288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800" dirty="0">
                <a:latin typeface="微软雅黑" panose="020B0503020204020204" charset="-122"/>
                <a:ea typeface="微软雅黑" panose="020B0503020204020204" charset="-122"/>
                <a:cs typeface="+mn-ea"/>
                <a:sym typeface="+mn-lt"/>
              </a:rPr>
              <a:t>注册</a:t>
            </a:r>
            <a:r>
              <a:rPr lang="en-US" altLang="zh-CN" sz="800" dirty="0">
                <a:latin typeface="微软雅黑" panose="020B0503020204020204" charset="-122"/>
                <a:ea typeface="微软雅黑" panose="020B0503020204020204" charset="-122"/>
                <a:cs typeface="+mn-ea"/>
                <a:sym typeface="+mn-lt"/>
              </a:rPr>
              <a:t>/</a:t>
            </a:r>
            <a:r>
              <a:rPr lang="zh-CN" altLang="en-US" sz="800" dirty="0">
                <a:latin typeface="微软雅黑" panose="020B0503020204020204" charset="-122"/>
                <a:ea typeface="微软雅黑" panose="020B0503020204020204" charset="-122"/>
                <a:cs typeface="+mn-ea"/>
                <a:sym typeface="+mn-lt"/>
              </a:rPr>
              <a:t>登录入口</a:t>
            </a:r>
            <a:endParaRPr lang="zh-CN" altLang="en-US" sz="800" dirty="0">
              <a:latin typeface="微软雅黑" panose="020B0503020204020204" charset="-122"/>
              <a:ea typeface="微软雅黑" panose="020B0503020204020204" charset="-122"/>
              <a:cs typeface="+mn-ea"/>
              <a:sym typeface="+mn-lt"/>
            </a:endParaRPr>
          </a:p>
        </p:txBody>
      </p:sp>
      <p:sp>
        <p:nvSpPr>
          <p:cNvPr id="7" name="矩形: 圆角 308"/>
          <p:cNvSpPr/>
          <p:nvPr/>
        </p:nvSpPr>
        <p:spPr>
          <a:xfrm>
            <a:off x="5022215" y="999490"/>
            <a:ext cx="665480" cy="18288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800" dirty="0">
                <a:latin typeface="微软雅黑" panose="020B0503020204020204" charset="-122"/>
                <a:ea typeface="微软雅黑" panose="020B0503020204020204" charset="-122"/>
                <a:cs typeface="+mn-ea"/>
                <a:sym typeface="+mn-lt"/>
              </a:rPr>
              <a:t>产品服务</a:t>
            </a:r>
            <a:endParaRPr lang="zh-CN" altLang="en-US" sz="800" dirty="0">
              <a:latin typeface="微软雅黑" panose="020B0503020204020204" charset="-122"/>
              <a:ea typeface="微软雅黑" panose="020B0503020204020204" charset="-122"/>
              <a:cs typeface="+mn-ea"/>
              <a:sym typeface="+mn-lt"/>
            </a:endParaRPr>
          </a:p>
        </p:txBody>
      </p:sp>
      <p:sp>
        <p:nvSpPr>
          <p:cNvPr id="8" name="矩形: 圆角 308"/>
          <p:cNvSpPr/>
          <p:nvPr/>
        </p:nvSpPr>
        <p:spPr>
          <a:xfrm>
            <a:off x="3433445" y="1245870"/>
            <a:ext cx="665480" cy="18288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800" dirty="0">
                <a:latin typeface="微软雅黑" panose="020B0503020204020204" charset="-122"/>
                <a:ea typeface="微软雅黑" panose="020B0503020204020204" charset="-122"/>
                <a:cs typeface="+mn-ea"/>
                <a:sym typeface="+mn-lt"/>
              </a:rPr>
              <a:t>推荐专区</a:t>
            </a:r>
            <a:endParaRPr lang="zh-CN" altLang="en-US" sz="800" dirty="0">
              <a:latin typeface="微软雅黑" panose="020B0503020204020204" charset="-122"/>
              <a:ea typeface="微软雅黑" panose="020B0503020204020204" charset="-122"/>
              <a:cs typeface="+mn-ea"/>
              <a:sym typeface="+mn-lt"/>
            </a:endParaRPr>
          </a:p>
        </p:txBody>
      </p:sp>
      <p:sp>
        <p:nvSpPr>
          <p:cNvPr id="9" name="矩形: 圆角 308"/>
          <p:cNvSpPr/>
          <p:nvPr/>
        </p:nvSpPr>
        <p:spPr>
          <a:xfrm>
            <a:off x="4227830" y="1245870"/>
            <a:ext cx="665480" cy="18288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800" dirty="0">
                <a:latin typeface="微软雅黑" panose="020B0503020204020204" charset="-122"/>
                <a:ea typeface="微软雅黑" panose="020B0503020204020204" charset="-122"/>
                <a:cs typeface="+mn-ea"/>
                <a:sym typeface="+mn-lt"/>
              </a:rPr>
              <a:t>友情合作</a:t>
            </a:r>
            <a:endParaRPr lang="zh-CN" altLang="en-US" sz="800" dirty="0">
              <a:latin typeface="微软雅黑" panose="020B0503020204020204" charset="-122"/>
              <a:ea typeface="微软雅黑" panose="020B0503020204020204" charset="-122"/>
              <a:cs typeface="+mn-ea"/>
              <a:sym typeface="+mn-lt"/>
            </a:endParaRPr>
          </a:p>
        </p:txBody>
      </p:sp>
      <p:sp>
        <p:nvSpPr>
          <p:cNvPr id="10" name="圆角矩形 146"/>
          <p:cNvSpPr/>
          <p:nvPr/>
        </p:nvSpPr>
        <p:spPr>
          <a:xfrm>
            <a:off x="3828415" y="2793364"/>
            <a:ext cx="930910" cy="19177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询比采购</a:t>
            </a:r>
            <a:endParaRPr lang="zh-CN" altLang="en-US" sz="800" dirty="0">
              <a:solidFill>
                <a:schemeClr val="tx1"/>
              </a:solidFill>
              <a:latin typeface="微软雅黑" panose="020B0503020204020204" charset="-122"/>
              <a:ea typeface="微软雅黑" panose="020B0503020204020204" charset="-122"/>
            </a:endParaRPr>
          </a:p>
        </p:txBody>
      </p:sp>
      <p:sp>
        <p:nvSpPr>
          <p:cNvPr id="11" name="圆角矩形 146"/>
          <p:cNvSpPr/>
          <p:nvPr/>
        </p:nvSpPr>
        <p:spPr>
          <a:xfrm>
            <a:off x="3828415" y="3010216"/>
            <a:ext cx="930910" cy="19177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竞价采购</a:t>
            </a:r>
            <a:endParaRPr lang="zh-CN" altLang="en-US" sz="800" dirty="0">
              <a:solidFill>
                <a:schemeClr val="tx1"/>
              </a:solidFill>
              <a:latin typeface="微软雅黑" panose="020B0503020204020204" charset="-122"/>
              <a:ea typeface="微软雅黑" panose="020B0503020204020204" charset="-122"/>
            </a:endParaRPr>
          </a:p>
        </p:txBody>
      </p:sp>
      <p:sp>
        <p:nvSpPr>
          <p:cNvPr id="12" name="圆角矩形 146"/>
          <p:cNvSpPr/>
          <p:nvPr/>
        </p:nvSpPr>
        <p:spPr>
          <a:xfrm>
            <a:off x="3828415" y="3227070"/>
            <a:ext cx="930910" cy="191770"/>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none" rtlCol="0" anchor="ctr"/>
          <a:lstStyle/>
          <a:p>
            <a:pPr algn="ctr"/>
            <a:r>
              <a:rPr lang="zh-CN" altLang="en-US" sz="800" dirty="0">
                <a:solidFill>
                  <a:schemeClr val="tx1"/>
                </a:solidFill>
                <a:latin typeface="微软雅黑" panose="020B0503020204020204" charset="-122"/>
                <a:ea typeface="微软雅黑" panose="020B0503020204020204" charset="-122"/>
              </a:rPr>
              <a:t>直接采购</a:t>
            </a:r>
            <a:endParaRPr lang="zh-CN" altLang="en-US" sz="800" dirty="0">
              <a:solidFill>
                <a:schemeClr val="tx1"/>
              </a:solidFill>
              <a:latin typeface="微软雅黑" panose="020B0503020204020204" charset="-122"/>
              <a:ea typeface="微软雅黑" panose="020B0503020204020204" charset="-122"/>
            </a:endParaRPr>
          </a:p>
        </p:txBody>
      </p:sp>
      <p:sp>
        <p:nvSpPr>
          <p:cNvPr id="3" name="圆角矩形 179"/>
          <p:cNvSpPr/>
          <p:nvPr/>
        </p:nvSpPr>
        <p:spPr>
          <a:xfrm>
            <a:off x="8315309" y="369545"/>
            <a:ext cx="1335784" cy="238125"/>
          </a:xfrm>
          <a:prstGeom prst="rect">
            <a:avLst/>
          </a:prstGeom>
          <a:solidFill>
            <a:srgbClr val="00B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bg1"/>
                </a:solidFill>
                <a:latin typeface="微软雅黑" panose="020B0503020204020204" charset="-122"/>
                <a:ea typeface="微软雅黑" panose="020B0503020204020204" charset="-122"/>
                <a:sym typeface="+mn-ea"/>
              </a:rPr>
              <a:t>财务人员</a:t>
            </a:r>
            <a:endParaRPr lang="zh-CN" altLang="en-US" sz="1000" b="1" dirty="0">
              <a:solidFill>
                <a:schemeClr val="bg1"/>
              </a:solidFill>
              <a:latin typeface="微软雅黑" panose="020B0503020204020204" charset="-122"/>
              <a:ea typeface="微软雅黑" panose="020B0503020204020204"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圆角 321"/>
          <p:cNvSpPr/>
          <p:nvPr/>
        </p:nvSpPr>
        <p:spPr>
          <a:xfrm>
            <a:off x="552564" y="1307333"/>
            <a:ext cx="11199046" cy="4307972"/>
          </a:xfrm>
          <a:prstGeom prst="roundRect">
            <a:avLst>
              <a:gd name="adj" fmla="val 2232"/>
            </a:avLst>
          </a:prstGeom>
          <a:solidFill>
            <a:srgbClr val="DEEBF7"/>
          </a:solidFill>
          <a:ln w="12700">
            <a:noFill/>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mn-ea"/>
              <a:sym typeface="+mn-lt"/>
            </a:endParaRPr>
          </a:p>
        </p:txBody>
      </p:sp>
      <p:sp>
        <p:nvSpPr>
          <p:cNvPr id="20" name="矩形: 圆角 474"/>
          <p:cNvSpPr/>
          <p:nvPr/>
        </p:nvSpPr>
        <p:spPr>
          <a:xfrm>
            <a:off x="292435" y="5527545"/>
            <a:ext cx="11449686" cy="459740"/>
          </a:xfrm>
          <a:prstGeom prst="roundRect">
            <a:avLst>
              <a:gd name="adj" fmla="val 10655"/>
            </a:avLst>
          </a:prstGeom>
          <a:solidFill>
            <a:schemeClr val="bg2">
              <a:lumMod val="90000"/>
            </a:schemeClr>
          </a:solidFill>
          <a:ln w="12700">
            <a:noFill/>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mn-ea"/>
              <a:sym typeface="+mn-lt"/>
            </a:endParaRPr>
          </a:p>
        </p:txBody>
      </p:sp>
      <p:sp>
        <p:nvSpPr>
          <p:cNvPr id="21" name="矩形: 圆角 475"/>
          <p:cNvSpPr/>
          <p:nvPr/>
        </p:nvSpPr>
        <p:spPr>
          <a:xfrm>
            <a:off x="1104282" y="5621525"/>
            <a:ext cx="1260475" cy="271780"/>
          </a:xfrm>
          <a:prstGeom prst="roundRect">
            <a:avLst/>
          </a:prstGeom>
          <a:solidFill>
            <a:srgbClr val="00B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租户生命周期管理</a:t>
            </a:r>
            <a:endParaRPr lang="zh-CN" altLang="en-US" sz="1000" dirty="0">
              <a:latin typeface="微软雅黑" panose="020B0503020204020204" charset="-122"/>
              <a:ea typeface="微软雅黑" panose="020B0503020204020204" charset="-122"/>
              <a:cs typeface="+mn-ea"/>
              <a:sym typeface="+mn-lt"/>
            </a:endParaRPr>
          </a:p>
        </p:txBody>
      </p:sp>
      <p:sp>
        <p:nvSpPr>
          <p:cNvPr id="22" name="矩形: 圆角 476"/>
          <p:cNvSpPr/>
          <p:nvPr/>
        </p:nvSpPr>
        <p:spPr>
          <a:xfrm>
            <a:off x="3369967" y="5621525"/>
            <a:ext cx="1260475" cy="271780"/>
          </a:xfrm>
          <a:prstGeom prst="roundRect">
            <a:avLst/>
          </a:prstGeom>
          <a:solidFill>
            <a:srgbClr val="00B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租户初始化</a:t>
            </a:r>
            <a:endParaRPr lang="zh-CN" altLang="en-US" sz="1000" dirty="0">
              <a:latin typeface="微软雅黑" panose="020B0503020204020204" charset="-122"/>
              <a:ea typeface="微软雅黑" panose="020B0503020204020204" charset="-122"/>
              <a:cs typeface="+mn-ea"/>
              <a:sym typeface="+mn-lt"/>
            </a:endParaRPr>
          </a:p>
        </p:txBody>
      </p:sp>
      <p:sp>
        <p:nvSpPr>
          <p:cNvPr id="23" name="矩形: 圆角 477"/>
          <p:cNvSpPr/>
          <p:nvPr/>
        </p:nvSpPr>
        <p:spPr>
          <a:xfrm>
            <a:off x="5636287" y="5621525"/>
            <a:ext cx="1260475" cy="271780"/>
          </a:xfrm>
          <a:prstGeom prst="roundRect">
            <a:avLst/>
          </a:prstGeom>
          <a:solidFill>
            <a:srgbClr val="00B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租户定制</a:t>
            </a:r>
            <a:endParaRPr lang="zh-CN" altLang="en-US" sz="1000" dirty="0">
              <a:latin typeface="微软雅黑" panose="020B0503020204020204" charset="-122"/>
              <a:ea typeface="微软雅黑" panose="020B0503020204020204" charset="-122"/>
              <a:cs typeface="+mn-ea"/>
              <a:sym typeface="+mn-lt"/>
            </a:endParaRPr>
          </a:p>
        </p:txBody>
      </p:sp>
      <p:sp>
        <p:nvSpPr>
          <p:cNvPr id="28" name="矩形: 圆角 478"/>
          <p:cNvSpPr/>
          <p:nvPr/>
        </p:nvSpPr>
        <p:spPr>
          <a:xfrm>
            <a:off x="7936897" y="5621525"/>
            <a:ext cx="1260475" cy="271780"/>
          </a:xfrm>
          <a:prstGeom prst="roundRect">
            <a:avLst/>
          </a:prstGeom>
          <a:solidFill>
            <a:srgbClr val="00B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租户运维</a:t>
            </a:r>
            <a:endParaRPr lang="zh-CN" altLang="en-US" sz="1000" dirty="0">
              <a:latin typeface="微软雅黑" panose="020B0503020204020204" charset="-122"/>
              <a:ea typeface="微软雅黑" panose="020B0503020204020204" charset="-122"/>
              <a:cs typeface="+mn-ea"/>
              <a:sym typeface="+mn-lt"/>
            </a:endParaRPr>
          </a:p>
        </p:txBody>
      </p:sp>
      <p:sp>
        <p:nvSpPr>
          <p:cNvPr id="29" name="矩形: 圆角 479"/>
          <p:cNvSpPr/>
          <p:nvPr/>
        </p:nvSpPr>
        <p:spPr>
          <a:xfrm>
            <a:off x="10237507" y="5621525"/>
            <a:ext cx="1260475" cy="271780"/>
          </a:xfrm>
          <a:prstGeom prst="roundRect">
            <a:avLst/>
          </a:prstGeom>
          <a:solidFill>
            <a:srgbClr val="00B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租户服务</a:t>
            </a:r>
            <a:endParaRPr lang="zh-CN" altLang="en-US" sz="1000" dirty="0">
              <a:latin typeface="微软雅黑" panose="020B0503020204020204" charset="-122"/>
              <a:ea typeface="微软雅黑" panose="020B0503020204020204" charset="-122"/>
              <a:cs typeface="+mn-ea"/>
              <a:sym typeface="+mn-lt"/>
            </a:endParaRPr>
          </a:p>
        </p:txBody>
      </p:sp>
      <p:sp>
        <p:nvSpPr>
          <p:cNvPr id="31" name="文本框 30"/>
          <p:cNvSpPr txBox="1"/>
          <p:nvPr/>
        </p:nvSpPr>
        <p:spPr>
          <a:xfrm>
            <a:off x="293706" y="5527227"/>
            <a:ext cx="449006" cy="460375"/>
          </a:xfrm>
          <a:prstGeom prst="roundRect">
            <a:avLst>
              <a:gd name="adj" fmla="val 8182"/>
            </a:avLst>
          </a:prstGeom>
          <a:solidFill>
            <a:srgbClr val="4472C4"/>
          </a:solidFill>
        </p:spPr>
        <p:txBody>
          <a:bodyPr wrap="none" rtlCol="0" anchor="ctr" anchorCtr="0">
            <a:noAutofit/>
          </a:bodyPr>
          <a:lstStyle/>
          <a:p>
            <a:pPr algn="ctr"/>
            <a:r>
              <a:rPr lang="zh-CN" sz="1050" b="1" dirty="0">
                <a:solidFill>
                  <a:schemeClr val="bg1"/>
                </a:solidFill>
                <a:latin typeface="微软雅黑" panose="020B0503020204020204" charset="-122"/>
                <a:ea typeface="微软雅黑" panose="020B0503020204020204" charset="-122"/>
                <a:cs typeface="+mn-ea"/>
                <a:sym typeface="+mn-lt"/>
              </a:rPr>
              <a:t>多租户</a:t>
            </a:r>
            <a:endParaRPr lang="zh-CN" sz="1050" b="1" dirty="0">
              <a:solidFill>
                <a:schemeClr val="bg1"/>
              </a:solidFill>
              <a:latin typeface="微软雅黑" panose="020B0503020204020204" charset="-122"/>
              <a:ea typeface="微软雅黑" panose="020B0503020204020204" charset="-122"/>
              <a:cs typeface="+mn-ea"/>
              <a:sym typeface="+mn-lt"/>
            </a:endParaRPr>
          </a:p>
          <a:p>
            <a:pPr algn="ctr"/>
            <a:r>
              <a:rPr lang="zh-CN" sz="1050" b="1" dirty="0">
                <a:solidFill>
                  <a:schemeClr val="bg1"/>
                </a:solidFill>
                <a:latin typeface="微软雅黑" panose="020B0503020204020204" charset="-122"/>
                <a:ea typeface="微软雅黑" panose="020B0503020204020204" charset="-122"/>
                <a:cs typeface="+mn-ea"/>
                <a:sym typeface="+mn-lt"/>
              </a:rPr>
              <a:t>架构</a:t>
            </a:r>
            <a:endParaRPr lang="zh-CN" sz="1050" b="1" dirty="0">
              <a:solidFill>
                <a:schemeClr val="bg1"/>
              </a:solidFill>
              <a:latin typeface="微软雅黑" panose="020B0503020204020204" charset="-122"/>
              <a:ea typeface="微软雅黑" panose="020B0503020204020204" charset="-122"/>
              <a:cs typeface="+mn-ea"/>
              <a:sym typeface="+mn-lt"/>
            </a:endParaRPr>
          </a:p>
        </p:txBody>
      </p:sp>
      <p:sp>
        <p:nvSpPr>
          <p:cNvPr id="186" name="矩形: 圆角 170"/>
          <p:cNvSpPr/>
          <p:nvPr/>
        </p:nvSpPr>
        <p:spPr>
          <a:xfrm>
            <a:off x="1384300" y="3901440"/>
            <a:ext cx="10208895" cy="1397000"/>
          </a:xfrm>
          <a:prstGeom prst="roundRect">
            <a:avLst>
              <a:gd name="adj" fmla="val 953"/>
            </a:avLst>
          </a:prstGeom>
          <a:solidFill>
            <a:srgbClr val="00B4F8"/>
          </a:solidFill>
          <a:ln w="12700">
            <a:solidFill>
              <a:schemeClr val="accent1"/>
            </a:solidFill>
            <a:prstDash val="dash"/>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mn-ea"/>
              <a:sym typeface="+mn-lt"/>
            </a:endParaRPr>
          </a:p>
        </p:txBody>
      </p:sp>
      <p:sp>
        <p:nvSpPr>
          <p:cNvPr id="192" name="长方形"/>
          <p:cNvSpPr/>
          <p:nvPr/>
        </p:nvSpPr>
        <p:spPr>
          <a:xfrm>
            <a:off x="4585548" y="4628304"/>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事项组件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193" name="长方形"/>
          <p:cNvSpPr/>
          <p:nvPr/>
        </p:nvSpPr>
        <p:spPr>
          <a:xfrm>
            <a:off x="4585548" y="4834467"/>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存储组件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195" name="长方形"/>
          <p:cNvSpPr/>
          <p:nvPr/>
        </p:nvSpPr>
        <p:spPr>
          <a:xfrm>
            <a:off x="5586379" y="4422141"/>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权限组件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196" name="长方形"/>
          <p:cNvSpPr/>
          <p:nvPr/>
        </p:nvSpPr>
        <p:spPr>
          <a:xfrm>
            <a:off x="4585548" y="5040631"/>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日志组件</a:t>
            </a:r>
            <a:endParaRPr lang="zh-CN" altLang="zh-CN" sz="900" kern="0" dirty="0">
              <a:solidFill>
                <a:srgbClr val="FFFFFF"/>
              </a:solidFill>
              <a:latin typeface="微软雅黑" panose="020B0503020204020204" charset="-122"/>
              <a:ea typeface="微软雅黑" panose="020B0503020204020204" charset="-122"/>
              <a:sym typeface="+mn-lt"/>
            </a:endParaRPr>
          </a:p>
        </p:txBody>
      </p:sp>
      <p:sp>
        <p:nvSpPr>
          <p:cNvPr id="197" name="长方形"/>
          <p:cNvSpPr/>
          <p:nvPr/>
        </p:nvSpPr>
        <p:spPr>
          <a:xfrm>
            <a:off x="5586379" y="4628304"/>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表单组件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198" name="长方形"/>
          <p:cNvSpPr/>
          <p:nvPr/>
        </p:nvSpPr>
        <p:spPr>
          <a:xfrm>
            <a:off x="5586379" y="4834467"/>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kern="0" dirty="0">
                <a:solidFill>
                  <a:srgbClr val="FFFFFF"/>
                </a:solidFill>
                <a:latin typeface="微软雅黑" panose="020B0503020204020204" charset="-122"/>
                <a:ea typeface="微软雅黑" panose="020B0503020204020204" charset="-122"/>
                <a:sym typeface="+mn-lt"/>
              </a:rPr>
              <a:t>CA</a:t>
            </a:r>
            <a:r>
              <a:rPr lang="zh-CN" altLang="en-US" sz="900" kern="0" dirty="0">
                <a:solidFill>
                  <a:srgbClr val="FFFFFF"/>
                </a:solidFill>
                <a:latin typeface="微软雅黑" panose="020B0503020204020204" charset="-122"/>
                <a:ea typeface="微软雅黑" panose="020B0503020204020204" charset="-122"/>
                <a:sym typeface="+mn-lt"/>
              </a:rPr>
              <a:t>签章</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199" name="长方形"/>
          <p:cNvSpPr/>
          <p:nvPr/>
        </p:nvSpPr>
        <p:spPr>
          <a:xfrm>
            <a:off x="6587210" y="4834467"/>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安全组件</a:t>
            </a:r>
            <a:endParaRPr lang="zh-CN" altLang="zh-CN" sz="900" kern="0" dirty="0">
              <a:solidFill>
                <a:srgbClr val="FFFFFF"/>
              </a:solidFill>
              <a:latin typeface="微软雅黑" panose="020B0503020204020204" charset="-122"/>
              <a:ea typeface="微软雅黑" panose="020B0503020204020204" charset="-122"/>
              <a:sym typeface="+mn-lt"/>
            </a:endParaRPr>
          </a:p>
        </p:txBody>
      </p:sp>
      <p:sp>
        <p:nvSpPr>
          <p:cNvPr id="203" name="长方形"/>
          <p:cNvSpPr/>
          <p:nvPr/>
        </p:nvSpPr>
        <p:spPr>
          <a:xfrm>
            <a:off x="6587210" y="4628304"/>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支付组件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04" name="长方形"/>
          <p:cNvSpPr/>
          <p:nvPr/>
        </p:nvSpPr>
        <p:spPr>
          <a:xfrm>
            <a:off x="5586379" y="5040631"/>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元数据管理</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05" name="文本框 204"/>
          <p:cNvSpPr txBox="1"/>
          <p:nvPr/>
        </p:nvSpPr>
        <p:spPr>
          <a:xfrm>
            <a:off x="4793619" y="4208145"/>
            <a:ext cx="2440305" cy="245110"/>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dirty="0">
                <a:solidFill>
                  <a:schemeClr val="tx1"/>
                </a:solidFill>
                <a:effectLst>
                  <a:outerShdw blurRad="190500" dist="38100" dir="2700000" algn="tl">
                    <a:srgbClr val="0066FF">
                      <a:alpha val="20000"/>
                    </a:srgbClr>
                  </a:outerShdw>
                </a:effectLst>
                <a:latin typeface="微软雅黑" panose="020B0503020204020204" charset="-122"/>
                <a:ea typeface="微软雅黑" panose="020B0503020204020204" charset="-122"/>
              </a:rPr>
              <a:t>支撑</a:t>
            </a:r>
            <a:r>
              <a:rPr kumimoji="0" lang="zh-CN" altLang="en-US" sz="1000" b="1" i="0" u="none" strike="noStrike" kern="1200" cap="none" spc="0" normalizeH="0" baseline="0" noProof="0" dirty="0">
                <a:ln>
                  <a:noFill/>
                </a:ln>
                <a:solidFill>
                  <a:schemeClr val="tx1"/>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组件</a:t>
            </a:r>
            <a:endParaRPr kumimoji="0" lang="zh-CN" altLang="en-US" sz="1000" b="1" i="0" u="none" strike="noStrike" kern="1200" cap="none" spc="0" normalizeH="0" baseline="0" noProof="0" dirty="0">
              <a:ln>
                <a:noFill/>
              </a:ln>
              <a:solidFill>
                <a:schemeClr val="tx1"/>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sp>
        <p:nvSpPr>
          <p:cNvPr id="207" name="长方形"/>
          <p:cNvSpPr/>
          <p:nvPr/>
        </p:nvSpPr>
        <p:spPr>
          <a:xfrm>
            <a:off x="1583055" y="4422141"/>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计划组件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09" name="长方形"/>
          <p:cNvSpPr/>
          <p:nvPr/>
        </p:nvSpPr>
        <p:spPr>
          <a:xfrm>
            <a:off x="1583055" y="4628304"/>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投标上传组件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12" name="长方形"/>
          <p:cNvSpPr/>
          <p:nvPr/>
        </p:nvSpPr>
        <p:spPr>
          <a:xfrm>
            <a:off x="1583055" y="4834467"/>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文件生成组件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13" name="长方形"/>
          <p:cNvSpPr/>
          <p:nvPr/>
        </p:nvSpPr>
        <p:spPr>
          <a:xfrm>
            <a:off x="2583886" y="4422141"/>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发包组件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20" name="长方形"/>
          <p:cNvSpPr/>
          <p:nvPr/>
        </p:nvSpPr>
        <p:spPr>
          <a:xfrm>
            <a:off x="1583055" y="5040631"/>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复议组件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26" name="长方形"/>
          <p:cNvSpPr/>
          <p:nvPr/>
        </p:nvSpPr>
        <p:spPr>
          <a:xfrm>
            <a:off x="2583886" y="4628304"/>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解密组件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28" name="长方形"/>
          <p:cNvSpPr/>
          <p:nvPr/>
        </p:nvSpPr>
        <p:spPr>
          <a:xfrm>
            <a:off x="2583886" y="4834467"/>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场地组件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29" name="长方形"/>
          <p:cNvSpPr/>
          <p:nvPr/>
        </p:nvSpPr>
        <p:spPr>
          <a:xfrm>
            <a:off x="2583886" y="5040631"/>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清单组件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31" name="长方形"/>
          <p:cNvSpPr/>
          <p:nvPr/>
        </p:nvSpPr>
        <p:spPr>
          <a:xfrm>
            <a:off x="3584717" y="4628304"/>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公告组件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32" name="长方形"/>
          <p:cNvSpPr/>
          <p:nvPr/>
        </p:nvSpPr>
        <p:spPr>
          <a:xfrm>
            <a:off x="3584717" y="4834467"/>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算分组件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33" name="长方形"/>
          <p:cNvSpPr/>
          <p:nvPr/>
        </p:nvSpPr>
        <p:spPr>
          <a:xfrm>
            <a:off x="3584717" y="5040631"/>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kern="0" dirty="0">
                <a:solidFill>
                  <a:srgbClr val="FFFFFF"/>
                </a:solidFill>
                <a:latin typeface="微软雅黑" panose="020B0503020204020204" charset="-122"/>
                <a:ea typeface="微软雅黑" panose="020B0503020204020204" charset="-122"/>
                <a:sym typeface="+mn-lt"/>
              </a:rPr>
              <a:t>……</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32" name="矩形 31"/>
          <p:cNvSpPr/>
          <p:nvPr/>
        </p:nvSpPr>
        <p:spPr>
          <a:xfrm>
            <a:off x="1583056" y="3942080"/>
            <a:ext cx="9758679" cy="259715"/>
          </a:xfrm>
          <a:prstGeom prst="rect">
            <a:avLst/>
          </a:prstGeom>
          <a:solidFill>
            <a:srgbClr val="EDF3FA"/>
          </a:solidFill>
          <a:ln>
            <a:noFill/>
          </a:ln>
        </p:spPr>
        <p:style>
          <a:lnRef idx="2">
            <a:schemeClr val="accent3">
              <a:shade val="50000"/>
            </a:schemeClr>
          </a:lnRef>
          <a:fillRef idx="1">
            <a:schemeClr val="accent3"/>
          </a:fillRef>
          <a:effectRef idx="0">
            <a:schemeClr val="accent3"/>
          </a:effectRef>
          <a:fontRef idx="minor">
            <a:schemeClr val="lt1"/>
          </a:fontRef>
        </p:style>
        <p:txBody>
          <a:bodyPr vertOverflow="overflow" horzOverflow="overflow" vert="horz" wrap="none" numCol="1" spcCol="0" rtlCol="0" fromWordArt="0" anchor="t" anchorCtr="0" forceAA="0" compatLnSpc="1">
            <a:noAutofit/>
          </a:bodyPr>
          <a:lstStyle/>
          <a:p>
            <a:pPr lvl="0" algn="ctr">
              <a:spcBef>
                <a:spcPts val="0"/>
              </a:spcBef>
              <a:spcAft>
                <a:spcPts val="0"/>
              </a:spcAft>
              <a:buClrTx/>
              <a:buSzTx/>
              <a:buFontTx/>
              <a:defRPr/>
            </a:pPr>
            <a:r>
              <a:rPr lang="zh-CN" altLang="en-US" sz="12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sym typeface="+mn-ea"/>
              </a:rPr>
              <a:t>统一低码开发平台</a:t>
            </a:r>
            <a:endParaRPr lang="zh-CN" altLang="en-US" sz="12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sym typeface="+mn-ea"/>
            </a:endParaRPr>
          </a:p>
        </p:txBody>
      </p:sp>
      <p:sp>
        <p:nvSpPr>
          <p:cNvPr id="33" name="文本框 32"/>
          <p:cNvSpPr txBox="1"/>
          <p:nvPr/>
        </p:nvSpPr>
        <p:spPr>
          <a:xfrm>
            <a:off x="295910" y="1289685"/>
            <a:ext cx="449005" cy="4116070"/>
          </a:xfrm>
          <a:prstGeom prst="roundRect">
            <a:avLst>
              <a:gd name="adj" fmla="val 7960"/>
            </a:avLst>
          </a:prstGeom>
          <a:solidFill>
            <a:srgbClr val="4472C4"/>
          </a:solidFill>
        </p:spPr>
        <p:txBody>
          <a:bodyPr wrap="square" rtlCol="0" anchor="ctr" anchorCtr="0">
            <a:noAutofit/>
          </a:bodyPr>
          <a:lstStyle/>
          <a:p>
            <a:pPr algn="ctr"/>
            <a:r>
              <a:rPr lang="zh-CN" altLang="en-US" sz="1200" b="1" dirty="0">
                <a:solidFill>
                  <a:schemeClr val="bg1"/>
                </a:solidFill>
                <a:latin typeface="微软雅黑" panose="020B0503020204020204" charset="-122"/>
                <a:ea typeface="微软雅黑" panose="020B0503020204020204" charset="-122"/>
                <a:cs typeface="+mn-ea"/>
                <a:sym typeface="+mn-lt"/>
              </a:rPr>
              <a:t>交易平台</a:t>
            </a:r>
            <a:endParaRPr lang="zh-CN" altLang="en-US" sz="1200" b="1" dirty="0">
              <a:solidFill>
                <a:schemeClr val="bg1"/>
              </a:solidFill>
              <a:latin typeface="微软雅黑" panose="020B0503020204020204" charset="-122"/>
              <a:ea typeface="微软雅黑" panose="020B0503020204020204" charset="-122"/>
              <a:cs typeface="+mn-ea"/>
              <a:sym typeface="+mn-lt"/>
            </a:endParaRPr>
          </a:p>
        </p:txBody>
      </p:sp>
      <p:sp>
        <p:nvSpPr>
          <p:cNvPr id="37" name="长方形"/>
          <p:cNvSpPr/>
          <p:nvPr/>
        </p:nvSpPr>
        <p:spPr>
          <a:xfrm>
            <a:off x="3584717" y="4422141"/>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竞价组件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38" name="长方形"/>
          <p:cNvSpPr/>
          <p:nvPr/>
        </p:nvSpPr>
        <p:spPr>
          <a:xfrm>
            <a:off x="4585548" y="4422141"/>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认证组件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39" name="长方形"/>
          <p:cNvSpPr/>
          <p:nvPr/>
        </p:nvSpPr>
        <p:spPr>
          <a:xfrm>
            <a:off x="6587210" y="4422141"/>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文件组件</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35" name="文本框 234"/>
          <p:cNvSpPr txBox="1"/>
          <p:nvPr/>
        </p:nvSpPr>
        <p:spPr>
          <a:xfrm>
            <a:off x="2218267" y="4206240"/>
            <a:ext cx="1476163" cy="245110"/>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tx1"/>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业务组件</a:t>
            </a:r>
            <a:endParaRPr kumimoji="0" lang="zh-CN" altLang="en-US" sz="1000" b="1" i="0" u="none" strike="noStrike" kern="1200" cap="none" spc="0" normalizeH="0" baseline="0" noProof="0" dirty="0">
              <a:ln>
                <a:noFill/>
              </a:ln>
              <a:solidFill>
                <a:schemeClr val="tx1"/>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sp>
        <p:nvSpPr>
          <p:cNvPr id="43" name="长方形"/>
          <p:cNvSpPr/>
          <p:nvPr/>
        </p:nvSpPr>
        <p:spPr>
          <a:xfrm>
            <a:off x="7588041" y="4422141"/>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在线表单</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45" name="文本框 44"/>
          <p:cNvSpPr txBox="1"/>
          <p:nvPr/>
        </p:nvSpPr>
        <p:spPr>
          <a:xfrm>
            <a:off x="7389495" y="4208145"/>
            <a:ext cx="1116965" cy="245110"/>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tx1"/>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电子表单组件</a:t>
            </a:r>
            <a:endParaRPr kumimoji="0" lang="zh-CN" altLang="en-US" sz="1000" b="1" i="0" u="none" strike="noStrike" kern="1200" cap="none" spc="0" normalizeH="0" baseline="0" noProof="0" dirty="0">
              <a:ln>
                <a:noFill/>
              </a:ln>
              <a:solidFill>
                <a:schemeClr val="tx1"/>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sp>
        <p:nvSpPr>
          <p:cNvPr id="46" name="文本框 45"/>
          <p:cNvSpPr txBox="1"/>
          <p:nvPr/>
        </p:nvSpPr>
        <p:spPr>
          <a:xfrm>
            <a:off x="8396605" y="4208145"/>
            <a:ext cx="1116965" cy="245110"/>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tx1"/>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工作流组件</a:t>
            </a:r>
            <a:endParaRPr kumimoji="0" lang="zh-CN" altLang="en-US" sz="1000" b="1" i="0" u="none" strike="noStrike" kern="1200" cap="none" spc="0" normalizeH="0" baseline="0" noProof="0" dirty="0">
              <a:ln>
                <a:noFill/>
              </a:ln>
              <a:solidFill>
                <a:schemeClr val="tx1"/>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sp>
        <p:nvSpPr>
          <p:cNvPr id="47" name="文本框 46"/>
          <p:cNvSpPr txBox="1"/>
          <p:nvPr/>
        </p:nvSpPr>
        <p:spPr>
          <a:xfrm>
            <a:off x="9409430" y="4208145"/>
            <a:ext cx="1116965" cy="245110"/>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tx1"/>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接口管理组件</a:t>
            </a:r>
            <a:endParaRPr kumimoji="0" lang="zh-CN" altLang="en-US" sz="1000" b="1" i="0" u="none" strike="noStrike" kern="1200" cap="none" spc="0" normalizeH="0" baseline="0" noProof="0" dirty="0">
              <a:ln>
                <a:noFill/>
              </a:ln>
              <a:solidFill>
                <a:schemeClr val="tx1"/>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sp>
        <p:nvSpPr>
          <p:cNvPr id="48" name="文本框 47"/>
          <p:cNvSpPr txBox="1"/>
          <p:nvPr/>
        </p:nvSpPr>
        <p:spPr>
          <a:xfrm>
            <a:off x="10384790" y="4208145"/>
            <a:ext cx="1116965" cy="245110"/>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tx1"/>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权限管理组件</a:t>
            </a:r>
            <a:endParaRPr kumimoji="0" lang="zh-CN" altLang="en-US" sz="1000" b="1" i="0" u="none" strike="noStrike" kern="1200" cap="none" spc="0" normalizeH="0" baseline="0" noProof="0" dirty="0">
              <a:ln>
                <a:noFill/>
              </a:ln>
              <a:solidFill>
                <a:schemeClr val="tx1"/>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sp>
        <p:nvSpPr>
          <p:cNvPr id="49" name="长方形"/>
          <p:cNvSpPr/>
          <p:nvPr/>
        </p:nvSpPr>
        <p:spPr>
          <a:xfrm>
            <a:off x="7588041" y="4628304"/>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模板中心</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50" name="长方形"/>
          <p:cNvSpPr/>
          <p:nvPr/>
        </p:nvSpPr>
        <p:spPr>
          <a:xfrm>
            <a:off x="7588041" y="5040631"/>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kern="0" dirty="0">
                <a:solidFill>
                  <a:srgbClr val="FFFFFF"/>
                </a:solidFill>
                <a:latin typeface="微软雅黑" panose="020B0503020204020204" charset="-122"/>
                <a:ea typeface="微软雅黑" panose="020B0503020204020204" charset="-122"/>
                <a:sym typeface="+mn-lt"/>
              </a:rPr>
              <a:t>……</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51" name="长方形"/>
          <p:cNvSpPr/>
          <p:nvPr/>
        </p:nvSpPr>
        <p:spPr>
          <a:xfrm>
            <a:off x="7588041" y="4834467"/>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权限管理</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52" name="长方形"/>
          <p:cNvSpPr/>
          <p:nvPr/>
        </p:nvSpPr>
        <p:spPr>
          <a:xfrm>
            <a:off x="8588872" y="4422141"/>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高级工作流</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53" name="长方形"/>
          <p:cNvSpPr/>
          <p:nvPr/>
        </p:nvSpPr>
        <p:spPr>
          <a:xfrm>
            <a:off x="8588872" y="4628304"/>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简易工作流</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54" name="长方形"/>
          <p:cNvSpPr/>
          <p:nvPr/>
        </p:nvSpPr>
        <p:spPr>
          <a:xfrm>
            <a:off x="8588872" y="4834467"/>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mn-lt"/>
              </a:rPr>
              <a:t>流程监控</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55" name="长方形"/>
          <p:cNvSpPr/>
          <p:nvPr/>
        </p:nvSpPr>
        <p:spPr>
          <a:xfrm>
            <a:off x="8588872" y="5040631"/>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kern="0" dirty="0">
                <a:solidFill>
                  <a:srgbClr val="FFFFFF"/>
                </a:solidFill>
                <a:latin typeface="微软雅黑" panose="020B0503020204020204" charset="-122"/>
                <a:ea typeface="微软雅黑" panose="020B0503020204020204" charset="-122"/>
                <a:sym typeface="+mn-lt"/>
              </a:rPr>
              <a:t>……</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56" name="长方形"/>
          <p:cNvSpPr/>
          <p:nvPr/>
        </p:nvSpPr>
        <p:spPr>
          <a:xfrm>
            <a:off x="9589703" y="4422141"/>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kern="0" dirty="0">
                <a:solidFill>
                  <a:srgbClr val="FFFFFF"/>
                </a:solidFill>
                <a:latin typeface="微软雅黑" panose="020B0503020204020204" charset="-122"/>
                <a:ea typeface="微软雅黑" panose="020B0503020204020204" charset="-122"/>
                <a:sym typeface="+mn-lt"/>
              </a:rPr>
              <a:t>API</a:t>
            </a:r>
            <a:r>
              <a:rPr lang="zh-CN" altLang="en-US" sz="900" kern="0" dirty="0">
                <a:solidFill>
                  <a:srgbClr val="FFFFFF"/>
                </a:solidFill>
                <a:latin typeface="微软雅黑" panose="020B0503020204020204" charset="-122"/>
                <a:ea typeface="微软雅黑" panose="020B0503020204020204" charset="-122"/>
                <a:sym typeface="+mn-lt"/>
              </a:rPr>
              <a:t>管理</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58" name="长方形"/>
          <p:cNvSpPr/>
          <p:nvPr/>
        </p:nvSpPr>
        <p:spPr>
          <a:xfrm>
            <a:off x="9589703" y="4628304"/>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sz="900" kern="0" dirty="0">
                <a:solidFill>
                  <a:srgbClr val="FFFFFF"/>
                </a:solidFill>
                <a:latin typeface="微软雅黑" panose="020B0503020204020204" charset="-122"/>
                <a:ea typeface="微软雅黑" panose="020B0503020204020204" charset="-122"/>
                <a:sym typeface="+mn-lt"/>
              </a:rPr>
              <a:t>接口编排</a:t>
            </a:r>
            <a:endParaRPr lang="zh-CN" sz="900" kern="0" dirty="0">
              <a:solidFill>
                <a:srgbClr val="FFFFFF"/>
              </a:solidFill>
              <a:latin typeface="微软雅黑" panose="020B0503020204020204" charset="-122"/>
              <a:ea typeface="微软雅黑" panose="020B0503020204020204" charset="-122"/>
              <a:sym typeface="+mn-lt"/>
            </a:endParaRPr>
          </a:p>
        </p:txBody>
      </p:sp>
      <p:sp>
        <p:nvSpPr>
          <p:cNvPr id="59" name="长方形"/>
          <p:cNvSpPr/>
          <p:nvPr/>
        </p:nvSpPr>
        <p:spPr>
          <a:xfrm>
            <a:off x="9589703" y="4834467"/>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p>
            <a:pPr algn="ctr"/>
            <a:r>
              <a:rPr lang="zh-CN" sz="900" kern="0" dirty="0">
                <a:solidFill>
                  <a:srgbClr val="FFFFFF"/>
                </a:solidFill>
                <a:latin typeface="微软雅黑" panose="020B0503020204020204" charset="-122"/>
                <a:ea typeface="微软雅黑" panose="020B0503020204020204" charset="-122"/>
                <a:sym typeface="+mn-lt"/>
              </a:rPr>
              <a:t>接口调试</a:t>
            </a:r>
            <a:endParaRPr lang="zh-CN" sz="900" kern="0" dirty="0">
              <a:solidFill>
                <a:srgbClr val="FFFFFF"/>
              </a:solidFill>
              <a:latin typeface="微软雅黑" panose="020B0503020204020204" charset="-122"/>
              <a:ea typeface="微软雅黑" panose="020B0503020204020204" charset="-122"/>
              <a:sym typeface="+mn-lt"/>
            </a:endParaRPr>
          </a:p>
        </p:txBody>
      </p:sp>
      <p:sp>
        <p:nvSpPr>
          <p:cNvPr id="60" name="长方形"/>
          <p:cNvSpPr/>
          <p:nvPr/>
        </p:nvSpPr>
        <p:spPr>
          <a:xfrm>
            <a:off x="9589703" y="5040631"/>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kern="0" dirty="0">
                <a:solidFill>
                  <a:srgbClr val="FFFFFF"/>
                </a:solidFill>
                <a:latin typeface="微软雅黑" panose="020B0503020204020204" charset="-122"/>
                <a:ea typeface="微软雅黑" panose="020B0503020204020204" charset="-122"/>
                <a:sym typeface="+mn-lt"/>
              </a:rPr>
              <a:t>……</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66" name="长方形"/>
          <p:cNvSpPr/>
          <p:nvPr/>
        </p:nvSpPr>
        <p:spPr>
          <a:xfrm>
            <a:off x="10590530" y="4422141"/>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sz="900" kern="0" dirty="0">
                <a:solidFill>
                  <a:srgbClr val="FFFFFF"/>
                </a:solidFill>
                <a:latin typeface="微软雅黑" panose="020B0503020204020204" charset="-122"/>
                <a:ea typeface="微软雅黑" panose="020B0503020204020204" charset="-122"/>
                <a:sym typeface="+mn-lt"/>
              </a:rPr>
              <a:t>规则管理</a:t>
            </a:r>
            <a:endParaRPr lang="zh-CN" sz="900" kern="0" dirty="0">
              <a:solidFill>
                <a:srgbClr val="FFFFFF"/>
              </a:solidFill>
              <a:latin typeface="微软雅黑" panose="020B0503020204020204" charset="-122"/>
              <a:ea typeface="微软雅黑" panose="020B0503020204020204" charset="-122"/>
              <a:sym typeface="+mn-lt"/>
            </a:endParaRPr>
          </a:p>
        </p:txBody>
      </p:sp>
      <p:sp>
        <p:nvSpPr>
          <p:cNvPr id="72" name="长方形"/>
          <p:cNvSpPr/>
          <p:nvPr/>
        </p:nvSpPr>
        <p:spPr>
          <a:xfrm>
            <a:off x="10590530" y="4628304"/>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sz="900" kern="0" dirty="0">
                <a:solidFill>
                  <a:srgbClr val="FFFFFF"/>
                </a:solidFill>
                <a:latin typeface="微软雅黑" panose="020B0503020204020204" charset="-122"/>
                <a:ea typeface="微软雅黑" panose="020B0503020204020204" charset="-122"/>
                <a:sym typeface="+mn-lt"/>
              </a:rPr>
              <a:t>策略管理</a:t>
            </a:r>
            <a:endParaRPr lang="zh-CN" sz="900" kern="0" dirty="0">
              <a:solidFill>
                <a:srgbClr val="FFFFFF"/>
              </a:solidFill>
              <a:latin typeface="微软雅黑" panose="020B0503020204020204" charset="-122"/>
              <a:ea typeface="微软雅黑" panose="020B0503020204020204" charset="-122"/>
              <a:sym typeface="+mn-lt"/>
            </a:endParaRPr>
          </a:p>
        </p:txBody>
      </p:sp>
      <p:sp>
        <p:nvSpPr>
          <p:cNvPr id="73" name="长方形"/>
          <p:cNvSpPr/>
          <p:nvPr/>
        </p:nvSpPr>
        <p:spPr>
          <a:xfrm>
            <a:off x="10590530" y="4834467"/>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sz="900" kern="0" dirty="0">
                <a:solidFill>
                  <a:srgbClr val="FFFFFF"/>
                </a:solidFill>
                <a:latin typeface="微软雅黑" panose="020B0503020204020204" charset="-122"/>
                <a:ea typeface="微软雅黑" panose="020B0503020204020204" charset="-122"/>
                <a:sym typeface="+mn-lt"/>
              </a:rPr>
              <a:t>策略赋权</a:t>
            </a:r>
            <a:endParaRPr lang="zh-CN" sz="900" kern="0" dirty="0">
              <a:solidFill>
                <a:srgbClr val="FFFFFF"/>
              </a:solidFill>
              <a:latin typeface="微软雅黑" panose="020B0503020204020204" charset="-122"/>
              <a:ea typeface="微软雅黑" panose="020B0503020204020204" charset="-122"/>
              <a:sym typeface="+mn-lt"/>
            </a:endParaRPr>
          </a:p>
        </p:txBody>
      </p:sp>
      <p:sp>
        <p:nvSpPr>
          <p:cNvPr id="74" name="长方形"/>
          <p:cNvSpPr/>
          <p:nvPr/>
        </p:nvSpPr>
        <p:spPr>
          <a:xfrm>
            <a:off x="10590530" y="5040631"/>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kern="0" dirty="0">
                <a:solidFill>
                  <a:srgbClr val="FFFFFF"/>
                </a:solidFill>
                <a:latin typeface="微软雅黑" panose="020B0503020204020204" charset="-122"/>
                <a:ea typeface="微软雅黑" panose="020B0503020204020204" charset="-122"/>
                <a:sym typeface="+mn-lt"/>
              </a:rPr>
              <a:t>……</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75" name="长方形"/>
          <p:cNvSpPr/>
          <p:nvPr/>
        </p:nvSpPr>
        <p:spPr>
          <a:xfrm>
            <a:off x="1470660" y="1289685"/>
            <a:ext cx="5034915" cy="720725"/>
          </a:xfrm>
          <a:prstGeom prst="roundRect">
            <a:avLst>
              <a:gd name="adj" fmla="val 10407"/>
            </a:avLst>
          </a:prstGeom>
          <a:solidFill>
            <a:schemeClr val="accent1">
              <a:lumMod val="40000"/>
              <a:lumOff val="60000"/>
            </a:schemeClr>
          </a:solidFill>
          <a:ln w="12700" cap="flat" cmpd="sng" algn="ctr">
            <a:noFill/>
            <a:prstDash val="solid"/>
            <a:miter lim="800000"/>
          </a:ln>
          <a:effectLst/>
        </p:spPr>
        <p:txBody>
          <a:bodyPr vert="eaVert" rtlCol="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endParaRPr>
          </a:p>
        </p:txBody>
      </p:sp>
      <p:sp>
        <p:nvSpPr>
          <p:cNvPr id="243" name="矩形: 圆角 291"/>
          <p:cNvSpPr/>
          <p:nvPr/>
        </p:nvSpPr>
        <p:spPr>
          <a:xfrm>
            <a:off x="951230" y="2141220"/>
            <a:ext cx="10646410" cy="1551940"/>
          </a:xfrm>
          <a:prstGeom prst="roundRect">
            <a:avLst>
              <a:gd name="adj" fmla="val 4429"/>
            </a:avLst>
          </a:prstGeom>
          <a:solidFill>
            <a:srgbClr val="898CFF"/>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mn-ea"/>
              <a:sym typeface="+mn-lt"/>
            </a:endParaRPr>
          </a:p>
        </p:txBody>
      </p:sp>
      <p:sp>
        <p:nvSpPr>
          <p:cNvPr id="244" name="矩形: 圆角 408"/>
          <p:cNvSpPr/>
          <p:nvPr/>
        </p:nvSpPr>
        <p:spPr>
          <a:xfrm>
            <a:off x="835025" y="2141220"/>
            <a:ext cx="500380" cy="1551940"/>
          </a:xfrm>
          <a:prstGeom prst="roundRect">
            <a:avLst>
              <a:gd name="adj" fmla="val 13820"/>
            </a:avLst>
          </a:prstGeom>
          <a:solidFill>
            <a:srgbClr val="2E54A1"/>
          </a:solidFill>
          <a:ln w="38100" cap="flat" cmpd="sng" algn="ctr">
            <a:noFill/>
            <a:prstDash val="solid"/>
            <a:miter lim="800000"/>
          </a:ln>
          <a:effectLst/>
        </p:spPr>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prstClr val="white"/>
                </a:solidFill>
                <a:uLnTx/>
                <a:uFillTx/>
                <a:latin typeface="微软雅黑" panose="020B0503020204020204" charset="-122"/>
                <a:ea typeface="微软雅黑" panose="020B0503020204020204" charset="-122"/>
              </a:rPr>
              <a:t>领域服务</a:t>
            </a:r>
            <a:endParaRPr kumimoji="0" lang="zh-CN" altLang="en-US" sz="1200" b="1" i="0" u="none" strike="noStrike" kern="0" cap="none" spc="0" normalizeH="0" baseline="0" noProof="0" dirty="0">
              <a:ln>
                <a:noFill/>
              </a:ln>
              <a:solidFill>
                <a:prstClr val="white"/>
              </a:solidFill>
              <a:uLnTx/>
              <a:uFillTx/>
              <a:latin typeface="微软雅黑" panose="020B0503020204020204" charset="-122"/>
              <a:ea typeface="微软雅黑" panose="020B0503020204020204" charset="-122"/>
            </a:endParaRPr>
          </a:p>
        </p:txBody>
      </p:sp>
      <p:sp>
        <p:nvSpPr>
          <p:cNvPr id="375" name="矩形: 圆角 18"/>
          <p:cNvSpPr/>
          <p:nvPr/>
        </p:nvSpPr>
        <p:spPr>
          <a:xfrm>
            <a:off x="1412240" y="2171700"/>
            <a:ext cx="8573135" cy="1492885"/>
          </a:xfrm>
          <a:prstGeom prst="roundRect">
            <a:avLst>
              <a:gd name="adj" fmla="val 4681"/>
            </a:avLst>
          </a:prstGeom>
          <a:solidFill>
            <a:srgbClr val="DEEBF7"/>
          </a:solidFill>
          <a:ln w="12700">
            <a:noFill/>
            <a:prstDash val="dash"/>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a:latin typeface="微软雅黑" panose="020B0503020204020204" charset="-122"/>
              <a:ea typeface="微软雅黑" panose="020B0503020204020204" charset="-122"/>
              <a:cs typeface="+mn-ea"/>
              <a:sym typeface="+mn-lt"/>
            </a:endParaRPr>
          </a:p>
        </p:txBody>
      </p:sp>
      <p:grpSp>
        <p:nvGrpSpPr>
          <p:cNvPr id="76" name="组合 75"/>
          <p:cNvGrpSpPr/>
          <p:nvPr/>
        </p:nvGrpSpPr>
        <p:grpSpPr>
          <a:xfrm>
            <a:off x="1510028" y="2299810"/>
            <a:ext cx="810175" cy="1316356"/>
            <a:chOff x="1352713" y="1716405"/>
            <a:chExt cx="854932" cy="1316356"/>
          </a:xfrm>
        </p:grpSpPr>
        <p:sp>
          <p:nvSpPr>
            <p:cNvPr id="378" name="矩形: 圆角 19"/>
            <p:cNvSpPr/>
            <p:nvPr/>
          </p:nvSpPr>
          <p:spPr>
            <a:xfrm>
              <a:off x="1380490" y="1747521"/>
              <a:ext cx="796290" cy="1285240"/>
            </a:xfrm>
            <a:prstGeom prst="roundRect">
              <a:avLst>
                <a:gd name="adj" fmla="val 8101"/>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sym typeface="+mn-lt"/>
              </a:endParaRPr>
            </a:p>
          </p:txBody>
        </p:sp>
        <p:sp>
          <p:nvSpPr>
            <p:cNvPr id="379" name="文本框 378"/>
            <p:cNvSpPr txBox="1"/>
            <p:nvPr/>
          </p:nvSpPr>
          <p:spPr>
            <a:xfrm>
              <a:off x="1352713" y="1716405"/>
              <a:ext cx="854932" cy="245110"/>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需求计划</a:t>
              </a:r>
              <a:endParaRPr kumimoji="0" lang="zh-CN" altLang="en-US" sz="1000" b="1" i="0" u="none" strike="noStrike" kern="1200" cap="none" spc="0" normalizeH="0" baseline="0"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sp>
          <p:nvSpPr>
            <p:cNvPr id="380" name="长方形"/>
            <p:cNvSpPr/>
            <p:nvPr/>
          </p:nvSpPr>
          <p:spPr>
            <a:xfrm>
              <a:off x="1454150" y="196151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采购预算</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81" name="长方形"/>
            <p:cNvSpPr/>
            <p:nvPr/>
          </p:nvSpPr>
          <p:spPr>
            <a:xfrm>
              <a:off x="1454150" y="2329180"/>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采购需求</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82" name="长方形"/>
            <p:cNvSpPr/>
            <p:nvPr/>
          </p:nvSpPr>
          <p:spPr>
            <a:xfrm>
              <a:off x="1454150" y="269684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需求池</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grpSp>
      <p:sp>
        <p:nvSpPr>
          <p:cNvPr id="77" name="文本框 76"/>
          <p:cNvSpPr txBox="1"/>
          <p:nvPr/>
        </p:nvSpPr>
        <p:spPr>
          <a:xfrm>
            <a:off x="4990782" y="2109470"/>
            <a:ext cx="1785302" cy="260350"/>
          </a:xfrm>
          <a:prstGeom prst="rect">
            <a:avLst/>
          </a:prstGeom>
          <a:noFill/>
        </p:spPr>
        <p:txBody>
          <a:bodyPr wrap="square">
            <a:spAutoFit/>
          </a:bodyPr>
          <a:lstStyle/>
          <a:p>
            <a:pPr algn="ctr"/>
            <a:r>
              <a:rPr lang="zh-CN" altLang="en-US" sz="1100" b="1" dirty="0">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智慧交易</a:t>
            </a:r>
            <a:endParaRPr lang="zh-CN" altLang="en-US" sz="1100" b="1" dirty="0">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8" name="矩形: 圆角 1013"/>
          <p:cNvSpPr/>
          <p:nvPr/>
        </p:nvSpPr>
        <p:spPr>
          <a:xfrm>
            <a:off x="6582410" y="1680845"/>
            <a:ext cx="5023485" cy="329565"/>
          </a:xfrm>
          <a:prstGeom prst="roundRect">
            <a:avLst>
              <a:gd name="adj" fmla="val 8101"/>
            </a:avLst>
          </a:prstGeom>
          <a:solidFill>
            <a:srgbClr val="EDF3FA"/>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solidFill>
                <a:prstClr val="black"/>
              </a:solidFill>
              <a:effectLst/>
              <a:uLnTx/>
              <a:uFillTx/>
              <a:latin typeface="微软雅黑" panose="020B0503020204020204" charset="-122"/>
              <a:ea typeface="微软雅黑" panose="020B0503020204020204" charset="-122"/>
              <a:sym typeface="+mn-lt"/>
            </a:endParaRPr>
          </a:p>
        </p:txBody>
      </p:sp>
      <p:sp>
        <p:nvSpPr>
          <p:cNvPr id="79" name="矩形: 圆角 30"/>
          <p:cNvSpPr/>
          <p:nvPr/>
        </p:nvSpPr>
        <p:spPr>
          <a:xfrm>
            <a:off x="6582410" y="1680845"/>
            <a:ext cx="474345" cy="333375"/>
          </a:xfrm>
          <a:prstGeom prst="roundRect">
            <a:avLst>
              <a:gd name="adj" fmla="val 13820"/>
            </a:avLst>
          </a:prstGeom>
          <a:solidFill>
            <a:srgbClr val="2E54A1"/>
          </a:solidFill>
          <a:ln w="38100" cap="flat" cmpd="sng" algn="ctr">
            <a:noFill/>
            <a:prstDash val="solid"/>
            <a:miter lim="800000"/>
          </a:ln>
          <a:effectLst/>
        </p:spPr>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prstClr val="white"/>
                </a:solidFill>
                <a:uLnTx/>
                <a:uFillTx/>
                <a:latin typeface="微软雅黑" panose="020B0503020204020204" charset="-122"/>
                <a:ea typeface="微软雅黑" panose="020B0503020204020204" charset="-122"/>
              </a:rPr>
              <a:t>外部系统</a:t>
            </a:r>
            <a:endParaRPr kumimoji="0" lang="zh-CN" altLang="en-US" sz="900" b="1" i="0" u="none" strike="noStrike" kern="0" cap="none" spc="0" normalizeH="0" baseline="0" noProof="0" dirty="0">
              <a:ln>
                <a:noFill/>
              </a:ln>
              <a:solidFill>
                <a:prstClr val="white"/>
              </a:solidFill>
              <a:uLnTx/>
              <a:uFillTx/>
              <a:latin typeface="微软雅黑" panose="020B0503020204020204" charset="-122"/>
              <a:ea typeface="微软雅黑" panose="020B0503020204020204" charset="-122"/>
            </a:endParaRPr>
          </a:p>
        </p:txBody>
      </p:sp>
      <p:grpSp>
        <p:nvGrpSpPr>
          <p:cNvPr id="80" name="组合 79"/>
          <p:cNvGrpSpPr/>
          <p:nvPr/>
        </p:nvGrpSpPr>
        <p:grpSpPr>
          <a:xfrm>
            <a:off x="9124943" y="2300286"/>
            <a:ext cx="837963" cy="1316356"/>
            <a:chOff x="9507559" y="1716405"/>
            <a:chExt cx="884255" cy="1316356"/>
          </a:xfrm>
        </p:grpSpPr>
        <p:sp>
          <p:nvSpPr>
            <p:cNvPr id="81" name="矩形: 圆角 66"/>
            <p:cNvSpPr/>
            <p:nvPr/>
          </p:nvSpPr>
          <p:spPr>
            <a:xfrm>
              <a:off x="9539605" y="1746251"/>
              <a:ext cx="798195" cy="1286510"/>
            </a:xfrm>
            <a:prstGeom prst="roundRect">
              <a:avLst>
                <a:gd name="adj" fmla="val 8101"/>
              </a:avLst>
            </a:prstGeom>
            <a:solidFill>
              <a:schemeClr val="accent1">
                <a:lumMod val="40000"/>
                <a:lumOff val="60000"/>
              </a:schemeClr>
            </a:solidFill>
            <a:ln w="38100" cap="flat" cmpd="sng" algn="ctr">
              <a:noFill/>
              <a:prstDash val="solid"/>
              <a:miter lim="800000"/>
            </a:ln>
            <a:effectLst/>
          </p:spPr>
          <p:txBody>
            <a:bodyPr wrap="none" lIns="98755" tIns="49378" rIns="98755" bIns="49378" rtlCol="0" anchor="ctr">
              <a:noAutofit/>
            </a:bodyPr>
            <a:lstStyle/>
            <a:p>
              <a:pPr lvl="0" algn="ctr">
                <a:buClrTx/>
                <a:buSzTx/>
                <a:buFontTx/>
              </a:pPr>
              <a:endParaRPr lang="zh-CN" altLang="en-US" sz="1000" b="1">
                <a:latin typeface="微软雅黑" panose="020B0503020204020204" charset="-122"/>
                <a:ea typeface="微软雅黑" panose="020B0503020204020204" charset="-122"/>
                <a:cs typeface="+mn-ea"/>
                <a:sym typeface="+mn-lt"/>
              </a:endParaRPr>
            </a:p>
          </p:txBody>
        </p:sp>
        <p:sp>
          <p:nvSpPr>
            <p:cNvPr id="82" name="文本框 81"/>
            <p:cNvSpPr txBox="1"/>
            <p:nvPr/>
          </p:nvSpPr>
          <p:spPr>
            <a:xfrm>
              <a:off x="9507559" y="1716405"/>
              <a:ext cx="884255" cy="246221"/>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lvl="0" algn="l">
                <a:lnSpc>
                  <a:spcPct val="100000"/>
                </a:lnSpc>
                <a:spcBef>
                  <a:spcPts val="0"/>
                </a:spcBef>
                <a:spcAft>
                  <a:spcPts val="0"/>
                </a:spcAft>
                <a:buClrTx/>
                <a:buSzTx/>
                <a:buFontTx/>
                <a:defRPr/>
              </a:pPr>
              <a:r>
                <a:rPr lang="zh-CN" altLang="en-US" sz="10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智能物料</a:t>
              </a:r>
              <a:endParaRPr lang="zh-CN" altLang="en-US" sz="10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sp>
          <p:nvSpPr>
            <p:cNvPr id="461" name="长方形"/>
            <p:cNvSpPr/>
            <p:nvPr/>
          </p:nvSpPr>
          <p:spPr>
            <a:xfrm>
              <a:off x="9620885" y="2015490"/>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物料类别</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83" name="长方形"/>
            <p:cNvSpPr/>
            <p:nvPr/>
          </p:nvSpPr>
          <p:spPr>
            <a:xfrm>
              <a:off x="9620885" y="2251710"/>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物料信息</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84" name="长方形"/>
            <p:cNvSpPr/>
            <p:nvPr/>
          </p:nvSpPr>
          <p:spPr>
            <a:xfrm>
              <a:off x="9620885" y="251650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物料查询</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85" name="长方形"/>
            <p:cNvSpPr/>
            <p:nvPr/>
          </p:nvSpPr>
          <p:spPr>
            <a:xfrm>
              <a:off x="9620885" y="275780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00" kern="0" dirty="0">
                  <a:solidFill>
                    <a:srgbClr val="FFFFFF"/>
                  </a:solidFill>
                  <a:latin typeface="微软雅黑" panose="020B0503020204020204" charset="-122"/>
                  <a:ea typeface="微软雅黑" panose="020B0503020204020204" charset="-122"/>
                  <a:sym typeface="微软雅黑" panose="020B0503020204020204" charset="-122"/>
                </a:rPr>
                <a:t>采购负责人设置</a:t>
              </a:r>
              <a:endParaRPr lang="zh-CN" altLang="en-US" sz="700" kern="0" dirty="0">
                <a:solidFill>
                  <a:srgbClr val="FFFFFF"/>
                </a:solidFill>
                <a:latin typeface="微软雅黑" panose="020B0503020204020204" charset="-122"/>
                <a:ea typeface="微软雅黑" panose="020B0503020204020204" charset="-122"/>
                <a:sym typeface="微软雅黑" panose="020B0503020204020204" charset="-122"/>
              </a:endParaRPr>
            </a:p>
          </p:txBody>
        </p:sp>
      </p:grpSp>
      <p:sp>
        <p:nvSpPr>
          <p:cNvPr id="560" name="文本框 559"/>
          <p:cNvSpPr txBox="1"/>
          <p:nvPr/>
        </p:nvSpPr>
        <p:spPr>
          <a:xfrm>
            <a:off x="9220835" y="1937385"/>
            <a:ext cx="743585" cy="229870"/>
          </a:xfrm>
          <a:prstGeom prst="rect">
            <a:avLst/>
          </a:prstGeom>
          <a:noFill/>
        </p:spPr>
        <p:txBody>
          <a:bodyPr wrap="square" rtlCol="0">
            <a:spAutoFit/>
          </a:bodyPr>
          <a:lstStyle/>
          <a:p>
            <a:r>
              <a:rPr lang="zh-CN" altLang="en-US" sz="900">
                <a:latin typeface="微软雅黑" panose="020B0503020204020204" charset="-122"/>
                <a:ea typeface="微软雅黑" panose="020B0503020204020204" charset="-122"/>
              </a:rPr>
              <a:t>服务网关</a:t>
            </a:r>
            <a:endParaRPr lang="zh-CN" altLang="en-US" sz="900">
              <a:latin typeface="微软雅黑" panose="020B0503020204020204" charset="-122"/>
              <a:ea typeface="微软雅黑" panose="020B0503020204020204" charset="-122"/>
            </a:endParaRPr>
          </a:p>
        </p:txBody>
      </p:sp>
      <p:grpSp>
        <p:nvGrpSpPr>
          <p:cNvPr id="86" name="组合 85"/>
          <p:cNvGrpSpPr/>
          <p:nvPr/>
        </p:nvGrpSpPr>
        <p:grpSpPr>
          <a:xfrm>
            <a:off x="9090660" y="1969134"/>
            <a:ext cx="101600" cy="233045"/>
            <a:chOff x="8957310" y="1369060"/>
            <a:chExt cx="101600" cy="233045"/>
          </a:xfrm>
        </p:grpSpPr>
        <p:sp>
          <p:nvSpPr>
            <p:cNvPr id="563" name="任意多边形: 形状 522"/>
            <p:cNvSpPr/>
            <p:nvPr/>
          </p:nvSpPr>
          <p:spPr>
            <a:xfrm>
              <a:off x="8957310" y="1527810"/>
              <a:ext cx="101600" cy="7429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rgbClr val="4472C4"/>
            </a:solidFill>
            <a:ln w="12700" cap="flat" cmpd="sng" algn="ctr">
              <a:noFill/>
              <a:prstDash val="solid"/>
              <a:miter lim="800000"/>
            </a:ln>
            <a:effectLst/>
          </p:spPr>
          <p:txBody>
            <a:bodyPr wrap="square" lIns="84125" tIns="42062" rIns="84125" bIns="4206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55"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564" name="任意多边形: 形状 523"/>
            <p:cNvSpPr/>
            <p:nvPr/>
          </p:nvSpPr>
          <p:spPr>
            <a:xfrm>
              <a:off x="8957310" y="1448435"/>
              <a:ext cx="101600" cy="7429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rgbClr val="4472C4">
                <a:lumMod val="60000"/>
                <a:lumOff val="40000"/>
              </a:srgbClr>
            </a:solidFill>
            <a:ln w="12700" cap="flat" cmpd="sng" algn="ctr">
              <a:noFill/>
              <a:prstDash val="solid"/>
              <a:miter lim="800000"/>
            </a:ln>
            <a:effectLst/>
          </p:spPr>
          <p:txBody>
            <a:bodyPr wrap="square" lIns="84125" tIns="42062" rIns="84125" bIns="4206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55"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565" name="任意多边形: 形状 524"/>
            <p:cNvSpPr/>
            <p:nvPr/>
          </p:nvSpPr>
          <p:spPr>
            <a:xfrm>
              <a:off x="8957310" y="1369060"/>
              <a:ext cx="101600" cy="7429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rgbClr val="4472C4">
                <a:lumMod val="40000"/>
                <a:lumOff val="60000"/>
              </a:srgbClr>
            </a:solidFill>
            <a:ln w="12700" cap="flat" cmpd="sng" algn="ctr">
              <a:noFill/>
              <a:prstDash val="solid"/>
              <a:miter lim="800000"/>
            </a:ln>
            <a:effectLst/>
          </p:spPr>
          <p:txBody>
            <a:bodyPr wrap="square" lIns="84125" tIns="42062" rIns="84125" bIns="4206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55"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grpSp>
      <p:sp>
        <p:nvSpPr>
          <p:cNvPr id="87" name="矩形: 圆角 18"/>
          <p:cNvSpPr/>
          <p:nvPr/>
        </p:nvSpPr>
        <p:spPr>
          <a:xfrm>
            <a:off x="850423" y="1289686"/>
            <a:ext cx="500222" cy="763296"/>
          </a:xfrm>
          <a:prstGeom prst="roundRect">
            <a:avLst>
              <a:gd name="adj" fmla="val 13820"/>
            </a:avLst>
          </a:prstGeom>
          <a:solidFill>
            <a:srgbClr val="2E54A1"/>
          </a:solidFill>
          <a:ln w="38100" cap="flat" cmpd="sng" algn="ctr">
            <a:noFill/>
            <a:prstDash val="solid"/>
            <a:miter lim="800000"/>
          </a:ln>
          <a:effectLst/>
        </p:spPr>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prstClr val="white"/>
                </a:solidFill>
                <a:uLnTx/>
                <a:uFillTx/>
                <a:latin typeface="微软雅黑" panose="020B0503020204020204" charset="-122"/>
                <a:ea typeface="微软雅黑" panose="020B0503020204020204" charset="-122"/>
              </a:rPr>
              <a:t>系统应用</a:t>
            </a:r>
            <a:endParaRPr kumimoji="0" lang="zh-CN" altLang="en-US" sz="1200" b="1" i="0" u="none" strike="noStrike" kern="0" cap="none" spc="0" normalizeH="0" baseline="0" noProof="0" dirty="0">
              <a:ln>
                <a:noFill/>
              </a:ln>
              <a:solidFill>
                <a:prstClr val="white"/>
              </a:solidFill>
              <a:uLnTx/>
              <a:uFillTx/>
              <a:latin typeface="微软雅黑" panose="020B0503020204020204" charset="-122"/>
              <a:ea typeface="微软雅黑" panose="020B0503020204020204" charset="-122"/>
            </a:endParaRPr>
          </a:p>
        </p:txBody>
      </p:sp>
      <p:sp>
        <p:nvSpPr>
          <p:cNvPr id="88" name="长方形"/>
          <p:cNvSpPr/>
          <p:nvPr/>
        </p:nvSpPr>
        <p:spPr>
          <a:xfrm>
            <a:off x="1491718" y="1500280"/>
            <a:ext cx="1210297" cy="27398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solidFill>
                  <a:prstClr val="white"/>
                </a:solidFill>
                <a:latin typeface="微软雅黑" panose="020B0503020204020204" charset="-122"/>
                <a:ea typeface="微软雅黑" panose="020B0503020204020204" charset="-122"/>
              </a:rPr>
              <a:t>招标采购</a:t>
            </a:r>
            <a:endParaRPr lang="zh-CN" altLang="en-US" sz="900" dirty="0">
              <a:solidFill>
                <a:prstClr val="white"/>
              </a:solidFill>
              <a:latin typeface="微软雅黑" panose="020B0503020204020204" charset="-122"/>
              <a:ea typeface="微软雅黑" panose="020B0503020204020204" charset="-122"/>
            </a:endParaRPr>
          </a:p>
        </p:txBody>
      </p:sp>
      <p:sp>
        <p:nvSpPr>
          <p:cNvPr id="89" name="长方形"/>
          <p:cNvSpPr/>
          <p:nvPr/>
        </p:nvSpPr>
        <p:spPr>
          <a:xfrm>
            <a:off x="4029367" y="1499828"/>
            <a:ext cx="1210297" cy="27467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solidFill>
                  <a:prstClr val="white"/>
                </a:solidFill>
                <a:latin typeface="微软雅黑" panose="020B0503020204020204" charset="-122"/>
                <a:ea typeface="微软雅黑" panose="020B0503020204020204" charset="-122"/>
              </a:rPr>
              <a:t>投标响应</a:t>
            </a:r>
            <a:endParaRPr lang="zh-CN" altLang="en-US" sz="900" dirty="0">
              <a:solidFill>
                <a:prstClr val="white"/>
              </a:solidFill>
              <a:latin typeface="微软雅黑" panose="020B0503020204020204" charset="-122"/>
              <a:ea typeface="微软雅黑" panose="020B0503020204020204" charset="-122"/>
            </a:endParaRPr>
          </a:p>
        </p:txBody>
      </p:sp>
      <p:sp>
        <p:nvSpPr>
          <p:cNvPr id="90" name="长方形"/>
          <p:cNvSpPr/>
          <p:nvPr/>
        </p:nvSpPr>
        <p:spPr>
          <a:xfrm>
            <a:off x="5271615" y="1500554"/>
            <a:ext cx="1211346" cy="27329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solidFill>
                  <a:prstClr val="white"/>
                </a:solidFill>
                <a:latin typeface="微软雅黑" panose="020B0503020204020204" charset="-122"/>
                <a:ea typeface="微软雅黑" panose="020B0503020204020204" charset="-122"/>
              </a:rPr>
              <a:t>评标评审</a:t>
            </a:r>
            <a:endParaRPr lang="zh-CN" altLang="en-US" sz="900" dirty="0">
              <a:solidFill>
                <a:prstClr val="white"/>
              </a:solidFill>
              <a:latin typeface="微软雅黑" panose="020B0503020204020204" charset="-122"/>
              <a:ea typeface="微软雅黑" panose="020B0503020204020204" charset="-122"/>
            </a:endParaRPr>
          </a:p>
        </p:txBody>
      </p:sp>
      <p:sp>
        <p:nvSpPr>
          <p:cNvPr id="91" name="长方形"/>
          <p:cNvSpPr/>
          <p:nvPr/>
        </p:nvSpPr>
        <p:spPr>
          <a:xfrm>
            <a:off x="2761718" y="1501550"/>
            <a:ext cx="1210297" cy="27398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solidFill>
                  <a:prstClr val="white"/>
                </a:solidFill>
                <a:latin typeface="微软雅黑" panose="020B0503020204020204" charset="-122"/>
                <a:ea typeface="微软雅黑" panose="020B0503020204020204" charset="-122"/>
              </a:rPr>
              <a:t>非招标采购</a:t>
            </a:r>
            <a:endParaRPr lang="zh-CN" altLang="en-US" sz="900" dirty="0">
              <a:solidFill>
                <a:prstClr val="white"/>
              </a:solidFill>
              <a:latin typeface="微软雅黑" panose="020B0503020204020204" charset="-122"/>
              <a:ea typeface="微软雅黑" panose="020B0503020204020204" charset="-122"/>
            </a:endParaRPr>
          </a:p>
        </p:txBody>
      </p:sp>
      <p:sp>
        <p:nvSpPr>
          <p:cNvPr id="92" name="矩形: 圆角 1013"/>
          <p:cNvSpPr/>
          <p:nvPr/>
        </p:nvSpPr>
        <p:spPr>
          <a:xfrm>
            <a:off x="6595110" y="1290320"/>
            <a:ext cx="5023485" cy="321310"/>
          </a:xfrm>
          <a:prstGeom prst="roundRect">
            <a:avLst>
              <a:gd name="adj" fmla="val 8101"/>
            </a:avLst>
          </a:prstGeom>
          <a:solidFill>
            <a:srgbClr val="EDF3FA"/>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solidFill>
                <a:prstClr val="black"/>
              </a:solidFill>
              <a:effectLst/>
              <a:uLnTx/>
              <a:uFillTx/>
              <a:latin typeface="微软雅黑" panose="020B0503020204020204" charset="-122"/>
              <a:ea typeface="微软雅黑" panose="020B0503020204020204" charset="-122"/>
              <a:sym typeface="+mn-lt"/>
            </a:endParaRPr>
          </a:p>
        </p:txBody>
      </p:sp>
      <p:sp>
        <p:nvSpPr>
          <p:cNvPr id="93" name="矩形: 圆角 30"/>
          <p:cNvSpPr/>
          <p:nvPr/>
        </p:nvSpPr>
        <p:spPr>
          <a:xfrm>
            <a:off x="6593840" y="1301115"/>
            <a:ext cx="474345" cy="333375"/>
          </a:xfrm>
          <a:prstGeom prst="roundRect">
            <a:avLst>
              <a:gd name="adj" fmla="val 13820"/>
            </a:avLst>
          </a:prstGeom>
          <a:solidFill>
            <a:srgbClr val="2E54A1"/>
          </a:solidFill>
          <a:ln w="38100" cap="flat" cmpd="sng" algn="ctr">
            <a:noFill/>
            <a:prstDash val="solid"/>
            <a:miter lim="800000"/>
          </a:ln>
          <a:effectLst/>
        </p:spPr>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prstClr val="white"/>
                </a:solidFill>
                <a:uLnTx/>
                <a:uFillTx/>
                <a:latin typeface="微软雅黑" panose="020B0503020204020204" charset="-122"/>
                <a:ea typeface="微软雅黑" panose="020B0503020204020204" charset="-122"/>
              </a:rPr>
              <a:t>内部系统</a:t>
            </a:r>
            <a:endParaRPr kumimoji="0" lang="zh-CN" altLang="en-US" sz="900" b="1" i="0" u="none" strike="noStrike" kern="0" cap="none" spc="0" normalizeH="0" baseline="0" noProof="0" dirty="0">
              <a:ln>
                <a:noFill/>
              </a:ln>
              <a:solidFill>
                <a:prstClr val="white"/>
              </a:solidFill>
              <a:uLnTx/>
              <a:uFillTx/>
              <a:latin typeface="微软雅黑" panose="020B0503020204020204" charset="-122"/>
              <a:ea typeface="微软雅黑" panose="020B0503020204020204" charset="-122"/>
            </a:endParaRPr>
          </a:p>
        </p:txBody>
      </p:sp>
      <p:grpSp>
        <p:nvGrpSpPr>
          <p:cNvPr id="94" name="组合 93"/>
          <p:cNvGrpSpPr/>
          <p:nvPr/>
        </p:nvGrpSpPr>
        <p:grpSpPr>
          <a:xfrm>
            <a:off x="3047846" y="2300762"/>
            <a:ext cx="862296" cy="1316356"/>
            <a:chOff x="2291717" y="1716405"/>
            <a:chExt cx="909931" cy="1316356"/>
          </a:xfrm>
        </p:grpSpPr>
        <p:sp>
          <p:nvSpPr>
            <p:cNvPr id="95" name="矩形: 圆角 19"/>
            <p:cNvSpPr/>
            <p:nvPr/>
          </p:nvSpPr>
          <p:spPr>
            <a:xfrm>
              <a:off x="2342197" y="1747521"/>
              <a:ext cx="796290" cy="1285240"/>
            </a:xfrm>
            <a:prstGeom prst="roundRect">
              <a:avLst>
                <a:gd name="adj" fmla="val 8101"/>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sym typeface="+mn-lt"/>
              </a:endParaRPr>
            </a:p>
          </p:txBody>
        </p:sp>
        <p:sp>
          <p:nvSpPr>
            <p:cNvPr id="96" name="长方形"/>
            <p:cNvSpPr/>
            <p:nvPr/>
          </p:nvSpPr>
          <p:spPr>
            <a:xfrm>
              <a:off x="2418715" y="1961515"/>
              <a:ext cx="647700" cy="18171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招标采购</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97" name="长方形"/>
            <p:cNvSpPr/>
            <p:nvPr/>
          </p:nvSpPr>
          <p:spPr>
            <a:xfrm>
              <a:off x="2418715" y="2176118"/>
              <a:ext cx="647700" cy="18171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谈判采购</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98" name="长方形"/>
            <p:cNvSpPr/>
            <p:nvPr/>
          </p:nvSpPr>
          <p:spPr>
            <a:xfrm>
              <a:off x="2418715" y="2390721"/>
              <a:ext cx="647700" cy="18171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询比采购</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99" name="长方形"/>
            <p:cNvSpPr/>
            <p:nvPr/>
          </p:nvSpPr>
          <p:spPr>
            <a:xfrm>
              <a:off x="2418715" y="2605324"/>
              <a:ext cx="647700" cy="18171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竞价采购</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0" name="长方形"/>
            <p:cNvSpPr/>
            <p:nvPr/>
          </p:nvSpPr>
          <p:spPr>
            <a:xfrm>
              <a:off x="2418715" y="2819926"/>
              <a:ext cx="647700" cy="18171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直接采购</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1" name="文本框 100"/>
            <p:cNvSpPr txBox="1"/>
            <p:nvPr/>
          </p:nvSpPr>
          <p:spPr>
            <a:xfrm>
              <a:off x="2291717" y="1716405"/>
              <a:ext cx="909931" cy="245110"/>
            </a:xfrm>
            <a:prstGeom prst="rect">
              <a:avLst/>
            </a:prstGeom>
            <a:noFill/>
            <a:effectLst/>
          </p:spPr>
          <p:txBody>
            <a:bodyPr wrap="square" rtlCol="0">
              <a:spAutoFit/>
            </a:bodyPr>
            <a:lstStyle>
              <a:defPPr>
                <a:defRPr lang="zh-CN"/>
              </a:defPPr>
              <a:lvl1pPr marR="0" lvl="0" indent="0" fontAlgn="auto">
                <a:lnSpc>
                  <a:spcPct val="100000"/>
                </a:lnSpc>
                <a:spcBef>
                  <a:spcPts val="0"/>
                </a:spcBef>
                <a:spcAft>
                  <a:spcPts val="0"/>
                </a:spcAft>
                <a:buClrTx/>
                <a:buSzTx/>
                <a:buFontTx/>
                <a:buNone/>
                <a:defRPr kumimoji="0" sz="1000" b="1" i="0" u="none" strike="noStrike" cap="none" spc="0" normalizeH="0" baseline="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defRPr/>
              </a:pPr>
              <a:r>
                <a:rPr lang="zh-CN" altLang="en-US" noProof="0" dirty="0">
                  <a:latin typeface="微软雅黑" panose="020B0503020204020204" charset="-122"/>
                  <a:ea typeface="微软雅黑" panose="020B0503020204020204" charset="-122"/>
                </a:rPr>
                <a:t>采购服务</a:t>
              </a:r>
              <a:endParaRPr lang="zh-CN" altLang="en-US" noProof="0" dirty="0">
                <a:latin typeface="微软雅黑" panose="020B0503020204020204" charset="-122"/>
                <a:ea typeface="微软雅黑" panose="020B0503020204020204" charset="-122"/>
              </a:endParaRPr>
            </a:p>
          </p:txBody>
        </p:sp>
      </p:grpSp>
      <p:grpSp>
        <p:nvGrpSpPr>
          <p:cNvPr id="102" name="组合 101"/>
          <p:cNvGrpSpPr/>
          <p:nvPr/>
        </p:nvGrpSpPr>
        <p:grpSpPr>
          <a:xfrm>
            <a:off x="3790406" y="2301238"/>
            <a:ext cx="944717" cy="1316356"/>
            <a:chOff x="3196706" y="1716405"/>
            <a:chExt cx="996905" cy="1316356"/>
          </a:xfrm>
        </p:grpSpPr>
        <p:sp>
          <p:nvSpPr>
            <p:cNvPr id="103" name="矩形: 圆角 19"/>
            <p:cNvSpPr/>
            <p:nvPr/>
          </p:nvSpPr>
          <p:spPr>
            <a:xfrm>
              <a:off x="3290570" y="1747521"/>
              <a:ext cx="796290" cy="1285240"/>
            </a:xfrm>
            <a:prstGeom prst="roundRect">
              <a:avLst>
                <a:gd name="adj" fmla="val 8101"/>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sym typeface="+mn-lt"/>
              </a:endParaRPr>
            </a:p>
          </p:txBody>
        </p:sp>
        <p:sp>
          <p:nvSpPr>
            <p:cNvPr id="104" name="文本框 103"/>
            <p:cNvSpPr txBox="1"/>
            <p:nvPr/>
          </p:nvSpPr>
          <p:spPr>
            <a:xfrm>
              <a:off x="3196706" y="1716405"/>
              <a:ext cx="996905" cy="245110"/>
            </a:xfrm>
            <a:prstGeom prst="rect">
              <a:avLst/>
            </a:prstGeom>
            <a:noFill/>
            <a:effectLst/>
          </p:spPr>
          <p:txBody>
            <a:bodyPr wrap="square" rtlCol="0">
              <a:spAutoFit/>
            </a:bodyPr>
            <a:lstStyle>
              <a:defPPr>
                <a:defRPr lang="zh-CN"/>
              </a:defPPr>
              <a:lvl1pPr marR="0" lvl="0" indent="0" fontAlgn="auto">
                <a:lnSpc>
                  <a:spcPct val="100000"/>
                </a:lnSpc>
                <a:spcBef>
                  <a:spcPts val="0"/>
                </a:spcBef>
                <a:spcAft>
                  <a:spcPts val="0"/>
                </a:spcAft>
                <a:buClrTx/>
                <a:buSzTx/>
                <a:buFontTx/>
                <a:buNone/>
                <a:defRPr kumimoji="0" sz="1000" b="1" i="0" u="none" strike="noStrike" cap="none" spc="0" normalizeH="0" baseline="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defRPr/>
              </a:pPr>
              <a:r>
                <a:rPr lang="zh-CN" altLang="en-US" noProof="0" dirty="0">
                  <a:latin typeface="微软雅黑" panose="020B0503020204020204" charset="-122"/>
                  <a:ea typeface="微软雅黑" panose="020B0503020204020204" charset="-122"/>
                </a:rPr>
                <a:t>投标服务</a:t>
              </a:r>
              <a:endParaRPr lang="zh-CN" altLang="en-US" noProof="0" dirty="0">
                <a:latin typeface="微软雅黑" panose="020B0503020204020204" charset="-122"/>
                <a:ea typeface="微软雅黑" panose="020B0503020204020204" charset="-122"/>
              </a:endParaRPr>
            </a:p>
          </p:txBody>
        </p:sp>
        <p:sp>
          <p:nvSpPr>
            <p:cNvPr id="105" name="长方形"/>
            <p:cNvSpPr/>
            <p:nvPr/>
          </p:nvSpPr>
          <p:spPr>
            <a:xfrm>
              <a:off x="3368675" y="196151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文件领取</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6" name="长方形"/>
            <p:cNvSpPr/>
            <p:nvPr/>
          </p:nvSpPr>
          <p:spPr>
            <a:xfrm>
              <a:off x="3368675" y="217614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投标文件上传</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7" name="长方形"/>
            <p:cNvSpPr/>
            <p:nvPr/>
          </p:nvSpPr>
          <p:spPr>
            <a:xfrm>
              <a:off x="3368675" y="239077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异议投诉</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8" name="长方形"/>
            <p:cNvSpPr/>
            <p:nvPr/>
          </p:nvSpPr>
          <p:spPr>
            <a:xfrm>
              <a:off x="3368675" y="282003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服务费缴纳</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9" name="长方形"/>
            <p:cNvSpPr/>
            <p:nvPr/>
          </p:nvSpPr>
          <p:spPr>
            <a:xfrm>
              <a:off x="3368675" y="260540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通知书打印</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grpSp>
      <p:grpSp>
        <p:nvGrpSpPr>
          <p:cNvPr id="110" name="组合 109"/>
          <p:cNvGrpSpPr/>
          <p:nvPr/>
        </p:nvGrpSpPr>
        <p:grpSpPr>
          <a:xfrm>
            <a:off x="4645867" y="2301714"/>
            <a:ext cx="833574" cy="1316356"/>
            <a:chOff x="4129188" y="1714974"/>
            <a:chExt cx="879623" cy="1316356"/>
          </a:xfrm>
        </p:grpSpPr>
        <p:sp>
          <p:nvSpPr>
            <p:cNvPr id="111" name="矩形: 圆角 19"/>
            <p:cNvSpPr/>
            <p:nvPr/>
          </p:nvSpPr>
          <p:spPr>
            <a:xfrm>
              <a:off x="4155521" y="1746090"/>
              <a:ext cx="796290" cy="1285240"/>
            </a:xfrm>
            <a:prstGeom prst="roundRect">
              <a:avLst>
                <a:gd name="adj" fmla="val 8101"/>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sym typeface="+mn-lt"/>
              </a:endParaRPr>
            </a:p>
          </p:txBody>
        </p:sp>
        <p:sp>
          <p:nvSpPr>
            <p:cNvPr id="112" name="文本框 111"/>
            <p:cNvSpPr txBox="1"/>
            <p:nvPr/>
          </p:nvSpPr>
          <p:spPr>
            <a:xfrm>
              <a:off x="4129188" y="1714974"/>
              <a:ext cx="879623" cy="246221"/>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lvl="0" algn="l">
                <a:lnSpc>
                  <a:spcPct val="100000"/>
                </a:lnSpc>
                <a:spcBef>
                  <a:spcPts val="0"/>
                </a:spcBef>
                <a:spcAft>
                  <a:spcPts val="0"/>
                </a:spcAft>
                <a:buClrTx/>
                <a:buSzTx/>
                <a:buFontTx/>
                <a:defRPr/>
              </a:pPr>
              <a:r>
                <a:rPr lang="zh-CN" altLang="en-US" sz="10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开标询标</a:t>
              </a:r>
              <a:endParaRPr lang="zh-CN" altLang="en-US" sz="10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sp>
          <p:nvSpPr>
            <p:cNvPr id="113" name="长方形"/>
            <p:cNvSpPr/>
            <p:nvPr/>
          </p:nvSpPr>
          <p:spPr>
            <a:xfrm>
              <a:off x="4238071" y="1960084"/>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文件解密</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4" name="长方形"/>
            <p:cNvSpPr/>
            <p:nvPr/>
          </p:nvSpPr>
          <p:spPr>
            <a:xfrm>
              <a:off x="4238071" y="2174714"/>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公布名单</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5" name="长方形"/>
            <p:cNvSpPr/>
            <p:nvPr/>
          </p:nvSpPr>
          <p:spPr>
            <a:xfrm>
              <a:off x="4238071" y="2389344"/>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导入文件</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6" name="长方形"/>
            <p:cNvSpPr/>
            <p:nvPr/>
          </p:nvSpPr>
          <p:spPr>
            <a:xfrm>
              <a:off x="4238071" y="2818604"/>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项目询标</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7" name="长方形"/>
            <p:cNvSpPr/>
            <p:nvPr/>
          </p:nvSpPr>
          <p:spPr>
            <a:xfrm>
              <a:off x="4238071" y="2603974"/>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唱标</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grpSp>
      <p:grpSp>
        <p:nvGrpSpPr>
          <p:cNvPr id="118" name="组合 117"/>
          <p:cNvGrpSpPr/>
          <p:nvPr/>
        </p:nvGrpSpPr>
        <p:grpSpPr>
          <a:xfrm>
            <a:off x="5451145" y="2302190"/>
            <a:ext cx="793721" cy="1316356"/>
            <a:chOff x="5026660" y="1716405"/>
            <a:chExt cx="837569" cy="1316356"/>
          </a:xfrm>
        </p:grpSpPr>
        <p:sp>
          <p:nvSpPr>
            <p:cNvPr id="119" name="矩形: 圆角 19"/>
            <p:cNvSpPr/>
            <p:nvPr/>
          </p:nvSpPr>
          <p:spPr>
            <a:xfrm>
              <a:off x="5026660" y="1747521"/>
              <a:ext cx="796290" cy="1285240"/>
            </a:xfrm>
            <a:prstGeom prst="roundRect">
              <a:avLst>
                <a:gd name="adj" fmla="val 8101"/>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sym typeface="+mn-lt"/>
              </a:endParaRPr>
            </a:p>
          </p:txBody>
        </p:sp>
        <p:sp>
          <p:nvSpPr>
            <p:cNvPr id="120" name="文本框 119"/>
            <p:cNvSpPr txBox="1"/>
            <p:nvPr/>
          </p:nvSpPr>
          <p:spPr>
            <a:xfrm>
              <a:off x="5185222" y="1716405"/>
              <a:ext cx="679007" cy="246221"/>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lvl="0" algn="l">
                <a:lnSpc>
                  <a:spcPct val="100000"/>
                </a:lnSpc>
                <a:spcBef>
                  <a:spcPts val="0"/>
                </a:spcBef>
                <a:spcAft>
                  <a:spcPts val="0"/>
                </a:spcAft>
                <a:buClrTx/>
                <a:buSzTx/>
                <a:buFontTx/>
                <a:defRPr/>
              </a:pPr>
              <a:r>
                <a:rPr lang="zh-CN" altLang="en-US" sz="10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评标</a:t>
              </a:r>
              <a:endParaRPr lang="zh-CN" altLang="en-US" sz="10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sp>
          <p:nvSpPr>
            <p:cNvPr id="121" name="长方形"/>
            <p:cNvSpPr/>
            <p:nvPr/>
          </p:nvSpPr>
          <p:spPr>
            <a:xfrm>
              <a:off x="5118735" y="196151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评标准备</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2" name="长方形"/>
            <p:cNvSpPr/>
            <p:nvPr/>
          </p:nvSpPr>
          <p:spPr>
            <a:xfrm>
              <a:off x="5118735" y="217614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清标</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3" name="长方形"/>
            <p:cNvSpPr/>
            <p:nvPr/>
          </p:nvSpPr>
          <p:spPr>
            <a:xfrm>
              <a:off x="5118735" y="239077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符合性评审</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4" name="长方形"/>
            <p:cNvSpPr/>
            <p:nvPr/>
          </p:nvSpPr>
          <p:spPr>
            <a:xfrm>
              <a:off x="5118735" y="282003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评标结果</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422" name="长方形"/>
            <p:cNvSpPr/>
            <p:nvPr/>
          </p:nvSpPr>
          <p:spPr>
            <a:xfrm>
              <a:off x="5118735" y="260540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打分评审</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grpSp>
      <p:grpSp>
        <p:nvGrpSpPr>
          <p:cNvPr id="125" name="组合 124"/>
          <p:cNvGrpSpPr/>
          <p:nvPr/>
        </p:nvGrpSpPr>
        <p:grpSpPr>
          <a:xfrm>
            <a:off x="6216570" y="2302666"/>
            <a:ext cx="816623" cy="1316356"/>
            <a:chOff x="5933661" y="1716405"/>
            <a:chExt cx="861735" cy="1316356"/>
          </a:xfrm>
        </p:grpSpPr>
        <p:sp>
          <p:nvSpPr>
            <p:cNvPr id="126" name="矩形: 圆角 19"/>
            <p:cNvSpPr/>
            <p:nvPr/>
          </p:nvSpPr>
          <p:spPr>
            <a:xfrm>
              <a:off x="5955030" y="1747521"/>
              <a:ext cx="796290" cy="1285240"/>
            </a:xfrm>
            <a:prstGeom prst="roundRect">
              <a:avLst>
                <a:gd name="adj" fmla="val 8101"/>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sym typeface="+mn-lt"/>
              </a:endParaRPr>
            </a:p>
          </p:txBody>
        </p:sp>
        <p:sp>
          <p:nvSpPr>
            <p:cNvPr id="129" name="文本框 128"/>
            <p:cNvSpPr txBox="1"/>
            <p:nvPr/>
          </p:nvSpPr>
          <p:spPr>
            <a:xfrm>
              <a:off x="5933661" y="1716405"/>
              <a:ext cx="861735" cy="245110"/>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lvl="0" algn="l">
                <a:lnSpc>
                  <a:spcPct val="100000"/>
                </a:lnSpc>
                <a:spcBef>
                  <a:spcPts val="0"/>
                </a:spcBef>
                <a:spcAft>
                  <a:spcPts val="0"/>
                </a:spcAft>
                <a:buClrTx/>
                <a:buSzTx/>
                <a:buFontTx/>
                <a:defRPr/>
              </a:pPr>
              <a:r>
                <a:rPr lang="zh-CN" altLang="en-US" sz="10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电子合同</a:t>
              </a:r>
              <a:endParaRPr lang="zh-CN" altLang="en-US" sz="10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sp>
          <p:nvSpPr>
            <p:cNvPr id="130" name="长方形"/>
            <p:cNvSpPr/>
            <p:nvPr/>
          </p:nvSpPr>
          <p:spPr>
            <a:xfrm>
              <a:off x="6029325" y="196151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合同签署</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1" name="长方形"/>
            <p:cNvSpPr/>
            <p:nvPr/>
          </p:nvSpPr>
          <p:spPr>
            <a:xfrm>
              <a:off x="6029325" y="2248323"/>
              <a:ext cx="647700" cy="18097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合同变更</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2" name="长方形"/>
            <p:cNvSpPr/>
            <p:nvPr/>
          </p:nvSpPr>
          <p:spPr>
            <a:xfrm>
              <a:off x="6029325" y="2534496"/>
              <a:ext cx="647700" cy="18097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合同履约</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436" name="长方形"/>
            <p:cNvSpPr/>
            <p:nvPr/>
          </p:nvSpPr>
          <p:spPr>
            <a:xfrm>
              <a:off x="6029325" y="2820670"/>
              <a:ext cx="647700" cy="18097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合同终止</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grpSp>
      <p:grpSp>
        <p:nvGrpSpPr>
          <p:cNvPr id="133" name="组合 132"/>
          <p:cNvGrpSpPr/>
          <p:nvPr/>
        </p:nvGrpSpPr>
        <p:grpSpPr>
          <a:xfrm>
            <a:off x="6951557" y="2303145"/>
            <a:ext cx="799843" cy="1316356"/>
            <a:chOff x="6863936" y="1716405"/>
            <a:chExt cx="844028" cy="1316356"/>
          </a:xfrm>
        </p:grpSpPr>
        <p:sp>
          <p:nvSpPr>
            <p:cNvPr id="134" name="矩形: 圆角 19"/>
            <p:cNvSpPr/>
            <p:nvPr/>
          </p:nvSpPr>
          <p:spPr>
            <a:xfrm>
              <a:off x="6934674" y="1747521"/>
              <a:ext cx="731045" cy="1285240"/>
            </a:xfrm>
            <a:prstGeom prst="roundRect">
              <a:avLst>
                <a:gd name="adj" fmla="val 8101"/>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sym typeface="+mn-lt"/>
              </a:endParaRPr>
            </a:p>
          </p:txBody>
        </p:sp>
        <p:sp>
          <p:nvSpPr>
            <p:cNvPr id="135" name="文本框 134"/>
            <p:cNvSpPr txBox="1"/>
            <p:nvPr/>
          </p:nvSpPr>
          <p:spPr>
            <a:xfrm>
              <a:off x="6863936" y="1716405"/>
              <a:ext cx="844028" cy="245110"/>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lvl="0" algn="l">
                <a:lnSpc>
                  <a:spcPct val="100000"/>
                </a:lnSpc>
                <a:spcBef>
                  <a:spcPts val="0"/>
                </a:spcBef>
                <a:spcAft>
                  <a:spcPts val="0"/>
                </a:spcAft>
                <a:buClrTx/>
                <a:buSzTx/>
                <a:buFontTx/>
                <a:defRPr/>
              </a:pPr>
              <a:r>
                <a:rPr lang="zh-CN" altLang="en-US" sz="10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订单管理</a:t>
              </a:r>
              <a:endParaRPr lang="zh-CN" altLang="en-US" sz="10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sp>
          <p:nvSpPr>
            <p:cNvPr id="136" name="长方形"/>
            <p:cNvSpPr/>
            <p:nvPr/>
          </p:nvSpPr>
          <p:spPr>
            <a:xfrm>
              <a:off x="6983730" y="2142492"/>
              <a:ext cx="647700" cy="1817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订单下单</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7" name="长方形"/>
            <p:cNvSpPr/>
            <p:nvPr/>
          </p:nvSpPr>
          <p:spPr>
            <a:xfrm>
              <a:off x="6983730" y="2565402"/>
              <a:ext cx="647700" cy="1817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订单收货</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grpSp>
      <p:grpSp>
        <p:nvGrpSpPr>
          <p:cNvPr id="138" name="组合 137"/>
          <p:cNvGrpSpPr/>
          <p:nvPr/>
        </p:nvGrpSpPr>
        <p:grpSpPr>
          <a:xfrm>
            <a:off x="7738344" y="2303145"/>
            <a:ext cx="1384419" cy="1312545"/>
            <a:chOff x="7959327" y="1716405"/>
            <a:chExt cx="1460898" cy="1312545"/>
          </a:xfrm>
        </p:grpSpPr>
        <p:sp>
          <p:nvSpPr>
            <p:cNvPr id="139" name="矩形: 圆角 66"/>
            <p:cNvSpPr/>
            <p:nvPr/>
          </p:nvSpPr>
          <p:spPr>
            <a:xfrm>
              <a:off x="7959327" y="1746250"/>
              <a:ext cx="1460898" cy="1282700"/>
            </a:xfrm>
            <a:prstGeom prst="roundRect">
              <a:avLst>
                <a:gd name="adj" fmla="val 8101"/>
              </a:avLst>
            </a:prstGeom>
            <a:solidFill>
              <a:schemeClr val="accent1">
                <a:lumMod val="40000"/>
                <a:lumOff val="60000"/>
              </a:schemeClr>
            </a:solidFill>
            <a:ln w="38100" cap="flat" cmpd="sng" algn="ctr">
              <a:noFill/>
              <a:prstDash val="solid"/>
              <a:miter lim="800000"/>
            </a:ln>
            <a:effectLst/>
          </p:spPr>
          <p:txBody>
            <a:bodyPr wrap="none" lIns="98755" tIns="49378" rIns="98755" bIns="49378" rtlCol="0" anchor="ctr"/>
            <a:lstStyle/>
            <a:p>
              <a:pPr algn="ctr"/>
              <a:endParaRPr lang="zh-CN" altLang="en-US" sz="1000" b="1">
                <a:latin typeface="微软雅黑" panose="020B0503020204020204" charset="-122"/>
                <a:ea typeface="微软雅黑" panose="020B0503020204020204" charset="-122"/>
                <a:cs typeface="+mn-ea"/>
                <a:sym typeface="+mn-lt"/>
              </a:endParaRPr>
            </a:p>
          </p:txBody>
        </p:sp>
        <p:sp>
          <p:nvSpPr>
            <p:cNvPr id="140" name="文本框 139"/>
            <p:cNvSpPr txBox="1"/>
            <p:nvPr/>
          </p:nvSpPr>
          <p:spPr>
            <a:xfrm>
              <a:off x="8300720" y="1716405"/>
              <a:ext cx="908375" cy="245148"/>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lvl="0" algn="l">
                <a:lnSpc>
                  <a:spcPct val="100000"/>
                </a:lnSpc>
                <a:spcBef>
                  <a:spcPts val="0"/>
                </a:spcBef>
                <a:spcAft>
                  <a:spcPts val="0"/>
                </a:spcAft>
                <a:buClrTx/>
                <a:buSzTx/>
                <a:buFontTx/>
                <a:defRPr/>
              </a:pPr>
              <a:r>
                <a:rPr lang="zh-CN" altLang="en-US" sz="10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智能主体</a:t>
              </a:r>
              <a:endParaRPr lang="zh-CN" altLang="en-US" sz="1000" b="1"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sp>
          <p:nvSpPr>
            <p:cNvPr id="141" name="长方形"/>
            <p:cNvSpPr/>
            <p:nvPr/>
          </p:nvSpPr>
          <p:spPr>
            <a:xfrm>
              <a:off x="8021955" y="1990727"/>
              <a:ext cx="647700" cy="1817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供应商准入</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2" name="长方形"/>
            <p:cNvSpPr/>
            <p:nvPr/>
          </p:nvSpPr>
          <p:spPr>
            <a:xfrm>
              <a:off x="8021955" y="2189681"/>
              <a:ext cx="647700" cy="1817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邀请注册</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3" name="长方形"/>
            <p:cNvSpPr/>
            <p:nvPr/>
          </p:nvSpPr>
          <p:spPr>
            <a:xfrm>
              <a:off x="8021955" y="2388635"/>
              <a:ext cx="647700" cy="1817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供应商评价</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4" name="长方形"/>
            <p:cNvSpPr/>
            <p:nvPr/>
          </p:nvSpPr>
          <p:spPr>
            <a:xfrm>
              <a:off x="8021955" y="2786543"/>
              <a:ext cx="647700" cy="1817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供应商分级</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5" name="长方形"/>
            <p:cNvSpPr/>
            <p:nvPr/>
          </p:nvSpPr>
          <p:spPr>
            <a:xfrm>
              <a:off x="8021955" y="2587589"/>
              <a:ext cx="647700" cy="1817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供应商考核</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6" name="长方形"/>
            <p:cNvSpPr/>
            <p:nvPr/>
          </p:nvSpPr>
          <p:spPr>
            <a:xfrm>
              <a:off x="8719820" y="1985647"/>
              <a:ext cx="647700" cy="1817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黑名单</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7" name="长方形"/>
            <p:cNvSpPr/>
            <p:nvPr/>
          </p:nvSpPr>
          <p:spPr>
            <a:xfrm>
              <a:off x="8728710" y="2185628"/>
              <a:ext cx="647700" cy="1817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供应商退出</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8" name="长方形"/>
            <p:cNvSpPr/>
            <p:nvPr/>
          </p:nvSpPr>
          <p:spPr>
            <a:xfrm>
              <a:off x="8728710" y="2385609"/>
              <a:ext cx="647700" cy="1817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资质预警</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9" name="长方形"/>
            <p:cNvSpPr/>
            <p:nvPr/>
          </p:nvSpPr>
          <p:spPr>
            <a:xfrm>
              <a:off x="8728710" y="2585590"/>
              <a:ext cx="647700" cy="1817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智能寻源</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51" name="长方形"/>
            <p:cNvSpPr/>
            <p:nvPr/>
          </p:nvSpPr>
          <p:spPr>
            <a:xfrm>
              <a:off x="8728710" y="2785570"/>
              <a:ext cx="647700" cy="1817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00" kern="0" dirty="0">
                  <a:solidFill>
                    <a:srgbClr val="FFFFFF"/>
                  </a:solidFill>
                  <a:latin typeface="微软雅黑" panose="020B0503020204020204" charset="-122"/>
                  <a:ea typeface="微软雅黑" panose="020B0503020204020204" charset="-122"/>
                  <a:sym typeface="微软雅黑" panose="020B0503020204020204" charset="-122"/>
                </a:rPr>
                <a:t>……</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grpSp>
      <p:grpSp>
        <p:nvGrpSpPr>
          <p:cNvPr id="152" name="组合 151"/>
          <p:cNvGrpSpPr/>
          <p:nvPr/>
        </p:nvGrpSpPr>
        <p:grpSpPr>
          <a:xfrm>
            <a:off x="3856037" y="1969134"/>
            <a:ext cx="101600" cy="233045"/>
            <a:chOff x="8957310" y="1369060"/>
            <a:chExt cx="101600" cy="233045"/>
          </a:xfrm>
        </p:grpSpPr>
        <p:sp>
          <p:nvSpPr>
            <p:cNvPr id="153" name="任意多边形: 形状 522"/>
            <p:cNvSpPr/>
            <p:nvPr/>
          </p:nvSpPr>
          <p:spPr>
            <a:xfrm>
              <a:off x="8957310" y="1527810"/>
              <a:ext cx="101600" cy="7429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rgbClr val="4472C4"/>
            </a:solidFill>
            <a:ln w="12700" cap="flat" cmpd="sng" algn="ctr">
              <a:noFill/>
              <a:prstDash val="solid"/>
              <a:miter lim="800000"/>
            </a:ln>
            <a:effectLst/>
          </p:spPr>
          <p:txBody>
            <a:bodyPr wrap="square" lIns="84125" tIns="42062" rIns="84125" bIns="4206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55"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154" name="任意多边形: 形状 523"/>
            <p:cNvSpPr/>
            <p:nvPr/>
          </p:nvSpPr>
          <p:spPr>
            <a:xfrm>
              <a:off x="8957310" y="1448435"/>
              <a:ext cx="101600" cy="7429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rgbClr val="4472C4">
                <a:lumMod val="60000"/>
                <a:lumOff val="40000"/>
              </a:srgbClr>
            </a:solidFill>
            <a:ln w="12700" cap="flat" cmpd="sng" algn="ctr">
              <a:noFill/>
              <a:prstDash val="solid"/>
              <a:miter lim="800000"/>
            </a:ln>
            <a:effectLst/>
          </p:spPr>
          <p:txBody>
            <a:bodyPr wrap="square" lIns="84125" tIns="42062" rIns="84125" bIns="4206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55"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155" name="任意多边形: 形状 524"/>
            <p:cNvSpPr/>
            <p:nvPr/>
          </p:nvSpPr>
          <p:spPr>
            <a:xfrm>
              <a:off x="8957310" y="1369060"/>
              <a:ext cx="101600" cy="7429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rgbClr val="4472C4">
                <a:lumMod val="40000"/>
                <a:lumOff val="60000"/>
              </a:srgbClr>
            </a:solidFill>
            <a:ln w="12700" cap="flat" cmpd="sng" algn="ctr">
              <a:noFill/>
              <a:prstDash val="solid"/>
              <a:miter lim="800000"/>
            </a:ln>
            <a:effectLst/>
          </p:spPr>
          <p:txBody>
            <a:bodyPr wrap="square" lIns="84125" tIns="42062" rIns="84125" bIns="4206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55"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grpSp>
      <p:sp>
        <p:nvSpPr>
          <p:cNvPr id="156" name="长方形"/>
          <p:cNvSpPr/>
          <p:nvPr/>
        </p:nvSpPr>
        <p:spPr>
          <a:xfrm>
            <a:off x="7200900" y="1365885"/>
            <a:ext cx="437515" cy="20383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A2C7B6"/>
          </a:solidFill>
          <a:ln w="38100" cap="flat" cmpd="sng" algn="ctr">
            <a:noFill/>
            <a:prstDash val="solid"/>
            <a:miter lim="800000"/>
          </a:ln>
          <a:effectLst/>
        </p:spPr>
        <p:txBody>
          <a:bodyPr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b="1" dirty="0">
                <a:solidFill>
                  <a:schemeClr val="bg1"/>
                </a:solidFill>
                <a:latin typeface="微软雅黑" panose="020B0503020204020204" charset="-122"/>
              </a:rPr>
              <a:t>OA</a:t>
            </a:r>
            <a:endParaRPr lang="en-US" altLang="zh-CN" sz="900" b="1" dirty="0">
              <a:solidFill>
                <a:schemeClr val="bg1"/>
              </a:solidFill>
              <a:latin typeface="微软雅黑" panose="020B0503020204020204" charset="-122"/>
            </a:endParaRPr>
          </a:p>
        </p:txBody>
      </p:sp>
      <p:sp>
        <p:nvSpPr>
          <p:cNvPr id="157" name="长方形"/>
          <p:cNvSpPr/>
          <p:nvPr/>
        </p:nvSpPr>
        <p:spPr>
          <a:xfrm>
            <a:off x="8312150" y="1365885"/>
            <a:ext cx="549910" cy="20383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A2C7B6"/>
          </a:solidFill>
          <a:ln w="38100" cap="flat" cmpd="sng" algn="ctr">
            <a:noFill/>
            <a:prstDash val="solid"/>
            <a:miter lim="800000"/>
          </a:ln>
          <a:effectLst/>
        </p:spPr>
        <p:txBody>
          <a:bodyPr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b="1" dirty="0">
                <a:solidFill>
                  <a:schemeClr val="bg1"/>
                </a:solidFill>
                <a:latin typeface="微软雅黑" panose="020B0503020204020204" charset="-122"/>
              </a:rPr>
              <a:t>MDM</a:t>
            </a:r>
            <a:endParaRPr lang="en-US" altLang="zh-CN" sz="900" b="1" dirty="0">
              <a:solidFill>
                <a:schemeClr val="bg1"/>
              </a:solidFill>
              <a:latin typeface="微软雅黑" panose="020B0503020204020204" charset="-122"/>
            </a:endParaRPr>
          </a:p>
        </p:txBody>
      </p:sp>
      <p:sp>
        <p:nvSpPr>
          <p:cNvPr id="158" name="长方形"/>
          <p:cNvSpPr/>
          <p:nvPr/>
        </p:nvSpPr>
        <p:spPr>
          <a:xfrm>
            <a:off x="9044305" y="1365885"/>
            <a:ext cx="920115" cy="20383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A2C7B6"/>
          </a:solidFill>
          <a:ln w="38100" cap="flat" cmpd="sng" algn="ctr">
            <a:noFill/>
            <a:prstDash val="solid"/>
            <a:miter lim="800000"/>
          </a:ln>
          <a:effectLst/>
        </p:spPr>
        <p:txBody>
          <a:bodyPr lIns="98755" tIns="49378" rIns="98755" bIns="49378" rtlCol="0" anchor="ctr"/>
          <a:lstStyle/>
          <a:p>
            <a:pPr algn="ctr"/>
            <a:r>
              <a:rPr lang="zh-CN" altLang="en-US" sz="900" b="1" dirty="0">
                <a:solidFill>
                  <a:schemeClr val="bg1"/>
                </a:solidFill>
                <a:latin typeface="微软雅黑" panose="020B0503020204020204" charset="-122"/>
              </a:rPr>
              <a:t>财务系统</a:t>
            </a:r>
            <a:endParaRPr lang="zh-CN" altLang="en-US" sz="900" b="1" dirty="0">
              <a:solidFill>
                <a:schemeClr val="bg1"/>
              </a:solidFill>
              <a:latin typeface="微软雅黑" panose="020B0503020204020204" charset="-122"/>
            </a:endParaRPr>
          </a:p>
        </p:txBody>
      </p:sp>
      <p:sp>
        <p:nvSpPr>
          <p:cNvPr id="159" name="长方形"/>
          <p:cNvSpPr/>
          <p:nvPr/>
        </p:nvSpPr>
        <p:spPr>
          <a:xfrm>
            <a:off x="10157460" y="1365885"/>
            <a:ext cx="920115" cy="20383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A2C7B6"/>
          </a:solidFill>
          <a:ln w="38100" cap="flat" cmpd="sng" algn="ctr">
            <a:noFill/>
            <a:prstDash val="solid"/>
            <a:miter lim="800000"/>
          </a:ln>
          <a:effectLst/>
        </p:spPr>
        <p:txBody>
          <a:bodyPr lIns="98755" tIns="49378" rIns="98755" bIns="49378" rtlCol="0" anchor="ctr"/>
          <a:lstStyle/>
          <a:p>
            <a:pPr algn="ctr"/>
            <a:r>
              <a:rPr lang="zh-CN" altLang="en-US" sz="900" b="1" dirty="0">
                <a:solidFill>
                  <a:schemeClr val="bg1"/>
                </a:solidFill>
                <a:latin typeface="微软雅黑" panose="020B0503020204020204" charset="-122"/>
              </a:rPr>
              <a:t>物料共享系统</a:t>
            </a:r>
            <a:endParaRPr lang="zh-CN" altLang="en-US" sz="900" b="1" dirty="0">
              <a:solidFill>
                <a:schemeClr val="bg1"/>
              </a:solidFill>
              <a:latin typeface="微软雅黑" panose="020B0503020204020204" charset="-122"/>
            </a:endParaRPr>
          </a:p>
        </p:txBody>
      </p:sp>
      <p:sp>
        <p:nvSpPr>
          <p:cNvPr id="160" name="长方形"/>
          <p:cNvSpPr/>
          <p:nvPr/>
        </p:nvSpPr>
        <p:spPr>
          <a:xfrm>
            <a:off x="7765415" y="1365885"/>
            <a:ext cx="437515" cy="20383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A2C7B6"/>
          </a:solidFill>
          <a:ln w="38100" cap="flat" cmpd="sng" algn="ctr">
            <a:noFill/>
            <a:prstDash val="solid"/>
            <a:miter lim="800000"/>
          </a:ln>
          <a:effectLst/>
        </p:spPr>
        <p:txBody>
          <a:bodyPr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b="1" dirty="0">
                <a:solidFill>
                  <a:schemeClr val="bg1"/>
                </a:solidFill>
                <a:latin typeface="微软雅黑" panose="020B0503020204020204" charset="-122"/>
              </a:rPr>
              <a:t>ERP</a:t>
            </a:r>
            <a:endParaRPr lang="en-US" altLang="zh-CN" sz="900" b="1" dirty="0">
              <a:solidFill>
                <a:schemeClr val="bg1"/>
              </a:solidFill>
              <a:latin typeface="微软雅黑" panose="020B0503020204020204" charset="-122"/>
            </a:endParaRPr>
          </a:p>
        </p:txBody>
      </p:sp>
      <p:sp>
        <p:nvSpPr>
          <p:cNvPr id="161" name="长方形"/>
          <p:cNvSpPr/>
          <p:nvPr/>
        </p:nvSpPr>
        <p:spPr>
          <a:xfrm>
            <a:off x="11192510" y="1365885"/>
            <a:ext cx="413385" cy="20383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A2C7B6"/>
          </a:solidFill>
          <a:ln w="38100" cap="flat" cmpd="sng" algn="ctr">
            <a:noFill/>
            <a:prstDash val="solid"/>
            <a:miter lim="800000"/>
          </a:ln>
          <a:effectLst/>
        </p:spPr>
        <p:txBody>
          <a:bodyPr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b="1" dirty="0">
                <a:solidFill>
                  <a:schemeClr val="bg1"/>
                </a:solidFill>
                <a:latin typeface="微软雅黑" panose="020B0503020204020204" charset="-122"/>
              </a:rPr>
              <a:t>…</a:t>
            </a:r>
            <a:endParaRPr lang="en-US" altLang="zh-CN" sz="900" b="1" dirty="0">
              <a:solidFill>
                <a:schemeClr val="bg1"/>
              </a:solidFill>
              <a:latin typeface="微软雅黑" panose="020B0503020204020204" charset="-122"/>
            </a:endParaRPr>
          </a:p>
        </p:txBody>
      </p:sp>
      <p:sp>
        <p:nvSpPr>
          <p:cNvPr id="162" name="长方形"/>
          <p:cNvSpPr/>
          <p:nvPr/>
        </p:nvSpPr>
        <p:spPr>
          <a:xfrm>
            <a:off x="8620125" y="1733550"/>
            <a:ext cx="1179195" cy="20383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A2C7B6"/>
          </a:solidFill>
          <a:ln w="38100" cap="flat" cmpd="sng" algn="ctr">
            <a:noFill/>
            <a:prstDash val="solid"/>
            <a:miter lim="800000"/>
          </a:ln>
          <a:effectLst/>
        </p:spPr>
        <p:txBody>
          <a:bodyPr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b="1" dirty="0">
                <a:solidFill>
                  <a:schemeClr val="bg1"/>
                </a:solidFill>
                <a:latin typeface="微软雅黑" panose="020B0503020204020204" charset="-122"/>
              </a:rPr>
              <a:t>地区信用管理平台</a:t>
            </a:r>
            <a:endParaRPr lang="zh-CN" altLang="en-US" sz="900" b="1" dirty="0">
              <a:solidFill>
                <a:schemeClr val="bg1"/>
              </a:solidFill>
              <a:latin typeface="微软雅黑" panose="020B0503020204020204" charset="-122"/>
            </a:endParaRPr>
          </a:p>
        </p:txBody>
      </p:sp>
      <p:sp>
        <p:nvSpPr>
          <p:cNvPr id="455" name="长方形"/>
          <p:cNvSpPr/>
          <p:nvPr/>
        </p:nvSpPr>
        <p:spPr>
          <a:xfrm>
            <a:off x="11183620" y="1733550"/>
            <a:ext cx="413385" cy="20383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A2C7B6"/>
          </a:solidFill>
          <a:ln w="38100" cap="flat" cmpd="sng" algn="ctr">
            <a:noFill/>
            <a:prstDash val="solid"/>
            <a:miter lim="800000"/>
          </a:ln>
          <a:effectLst/>
        </p:spPr>
        <p:txBody>
          <a:bodyPr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b="1" dirty="0">
                <a:solidFill>
                  <a:schemeClr val="bg1"/>
                </a:solidFill>
                <a:latin typeface="微软雅黑" panose="020B0503020204020204" charset="-122"/>
              </a:rPr>
              <a:t>…</a:t>
            </a:r>
            <a:endParaRPr lang="en-US" altLang="zh-CN" sz="900" b="1" dirty="0">
              <a:solidFill>
                <a:schemeClr val="bg1"/>
              </a:solidFill>
              <a:latin typeface="微软雅黑" panose="020B0503020204020204" charset="-122"/>
            </a:endParaRPr>
          </a:p>
        </p:txBody>
      </p:sp>
      <p:sp>
        <p:nvSpPr>
          <p:cNvPr id="163" name="长方形"/>
          <p:cNvSpPr/>
          <p:nvPr/>
        </p:nvSpPr>
        <p:spPr>
          <a:xfrm>
            <a:off x="7218045" y="1733550"/>
            <a:ext cx="1268095" cy="20383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A2C7B6"/>
          </a:solidFill>
          <a:ln w="38100" cap="flat" cmpd="sng" algn="ctr">
            <a:noFill/>
            <a:prstDash val="solid"/>
            <a:miter lim="800000"/>
          </a:ln>
          <a:effectLst/>
        </p:spPr>
        <p:txBody>
          <a:bodyPr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b="1" dirty="0">
                <a:solidFill>
                  <a:schemeClr val="bg1"/>
                </a:solidFill>
                <a:latin typeface="微软雅黑" panose="020B0503020204020204" charset="-122"/>
              </a:rPr>
              <a:t>国家公共服务平台</a:t>
            </a:r>
            <a:endParaRPr lang="zh-CN" altLang="en-US" sz="900" b="1" dirty="0">
              <a:solidFill>
                <a:schemeClr val="bg1"/>
              </a:solidFill>
              <a:latin typeface="微软雅黑" panose="020B0503020204020204" charset="-122"/>
            </a:endParaRPr>
          </a:p>
        </p:txBody>
      </p:sp>
      <p:sp>
        <p:nvSpPr>
          <p:cNvPr id="165" name="长方形"/>
          <p:cNvSpPr/>
          <p:nvPr/>
        </p:nvSpPr>
        <p:spPr>
          <a:xfrm>
            <a:off x="9985375" y="1733550"/>
            <a:ext cx="1028700" cy="203835"/>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A2C7B6"/>
          </a:solidFill>
          <a:ln w="38100" cap="flat" cmpd="sng" algn="ctr">
            <a:noFill/>
            <a:prstDash val="solid"/>
            <a:miter lim="800000"/>
          </a:ln>
          <a:effectLst/>
        </p:spPr>
        <p:txBody>
          <a:bodyPr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b="1" dirty="0">
                <a:solidFill>
                  <a:schemeClr val="bg1"/>
                </a:solidFill>
                <a:latin typeface="微软雅黑" panose="020B0503020204020204" charset="-122"/>
              </a:rPr>
              <a:t>工商信息系统</a:t>
            </a:r>
            <a:endParaRPr lang="zh-CN" altLang="en-US" sz="900" b="1" dirty="0">
              <a:solidFill>
                <a:schemeClr val="bg1"/>
              </a:solidFill>
              <a:latin typeface="微软雅黑" panose="020B0503020204020204" charset="-122"/>
            </a:endParaRPr>
          </a:p>
        </p:txBody>
      </p:sp>
      <p:grpSp>
        <p:nvGrpSpPr>
          <p:cNvPr id="167" name="组合 166"/>
          <p:cNvGrpSpPr/>
          <p:nvPr/>
        </p:nvGrpSpPr>
        <p:grpSpPr>
          <a:xfrm>
            <a:off x="2238567" y="2299810"/>
            <a:ext cx="883295" cy="1316356"/>
            <a:chOff x="1297156" y="1716405"/>
            <a:chExt cx="932090" cy="1316356"/>
          </a:xfrm>
        </p:grpSpPr>
        <p:sp>
          <p:nvSpPr>
            <p:cNvPr id="169" name="矩形: 圆角 19"/>
            <p:cNvSpPr/>
            <p:nvPr/>
          </p:nvSpPr>
          <p:spPr>
            <a:xfrm>
              <a:off x="1380490" y="1747521"/>
              <a:ext cx="796290" cy="1285240"/>
            </a:xfrm>
            <a:prstGeom prst="roundRect">
              <a:avLst>
                <a:gd name="adj" fmla="val 8101"/>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sym typeface="+mn-lt"/>
              </a:endParaRPr>
            </a:p>
          </p:txBody>
        </p:sp>
        <p:sp>
          <p:nvSpPr>
            <p:cNvPr id="170" name="文本框 169"/>
            <p:cNvSpPr txBox="1"/>
            <p:nvPr/>
          </p:nvSpPr>
          <p:spPr>
            <a:xfrm>
              <a:off x="1297156" y="1716405"/>
              <a:ext cx="932090" cy="246221"/>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dirty="0">
                  <a:solidFill>
                    <a:srgbClr val="4472C4">
                      <a:lumMod val="75000"/>
                    </a:srgbClr>
                  </a:solidFill>
                  <a:effectLst>
                    <a:outerShdw blurRad="190500" dist="38100" dir="2700000" algn="tl">
                      <a:srgbClr val="0066FF">
                        <a:alpha val="20000"/>
                      </a:srgbClr>
                    </a:outerShdw>
                  </a:effectLst>
                  <a:latin typeface="微软雅黑" panose="020B0503020204020204" charset="-122"/>
                  <a:ea typeface="微软雅黑" panose="020B0503020204020204" charset="-122"/>
                </a:rPr>
                <a:t>采购立项</a:t>
              </a:r>
              <a:endParaRPr kumimoji="0" lang="zh-CN" altLang="en-US" sz="1000" b="1" i="0" u="none" strike="noStrike" kern="1200" cap="none" spc="0" normalizeH="0" baseline="0"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sp>
          <p:nvSpPr>
            <p:cNvPr id="171" name="长方形"/>
            <p:cNvSpPr/>
            <p:nvPr/>
          </p:nvSpPr>
          <p:spPr>
            <a:xfrm>
              <a:off x="1454150" y="196151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采购立项</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72" name="长方形"/>
            <p:cNvSpPr/>
            <p:nvPr/>
          </p:nvSpPr>
          <p:spPr>
            <a:xfrm>
              <a:off x="1438738" y="2177415"/>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采购委托合同</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73" name="长方形"/>
            <p:cNvSpPr/>
            <p:nvPr/>
          </p:nvSpPr>
          <p:spPr>
            <a:xfrm>
              <a:off x="1438738" y="2392680"/>
              <a:ext cx="647700"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标段移交</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grpSp>
      <p:grpSp>
        <p:nvGrpSpPr>
          <p:cNvPr id="174" name="组合 173"/>
          <p:cNvGrpSpPr/>
          <p:nvPr/>
        </p:nvGrpSpPr>
        <p:grpSpPr>
          <a:xfrm>
            <a:off x="10798847" y="2163445"/>
            <a:ext cx="758789" cy="1501775"/>
            <a:chOff x="10716053" y="1576705"/>
            <a:chExt cx="689181" cy="1501775"/>
          </a:xfrm>
        </p:grpSpPr>
        <p:sp>
          <p:nvSpPr>
            <p:cNvPr id="177" name="矩形: 圆角 982"/>
            <p:cNvSpPr/>
            <p:nvPr/>
          </p:nvSpPr>
          <p:spPr>
            <a:xfrm>
              <a:off x="10716053" y="1586230"/>
              <a:ext cx="680927" cy="1492250"/>
            </a:xfrm>
            <a:prstGeom prst="roundRect">
              <a:avLst>
                <a:gd name="adj" fmla="val 4681"/>
              </a:avLst>
            </a:prstGeom>
            <a:solidFill>
              <a:srgbClr val="DEEBF7"/>
            </a:solidFill>
            <a:ln w="12700">
              <a:noFill/>
              <a:prstDash val="dash"/>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dirty="0">
                <a:latin typeface="微软雅黑" panose="020B0503020204020204" charset="-122"/>
                <a:ea typeface="微软雅黑" panose="020B0503020204020204" charset="-122"/>
                <a:cs typeface="+mn-ea"/>
                <a:sym typeface="+mn-lt"/>
              </a:endParaRPr>
            </a:p>
          </p:txBody>
        </p:sp>
        <p:sp>
          <p:nvSpPr>
            <p:cNvPr id="178" name="长方形"/>
            <p:cNvSpPr/>
            <p:nvPr/>
          </p:nvSpPr>
          <p:spPr>
            <a:xfrm>
              <a:off x="10760475" y="1824355"/>
              <a:ext cx="586339"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800" kern="0" dirty="0">
                  <a:solidFill>
                    <a:srgbClr val="FFFFFF"/>
                  </a:solidFill>
                  <a:latin typeface="微软雅黑" panose="020B0503020204020204" charset="-122"/>
                  <a:ea typeface="微软雅黑" panose="020B0503020204020204" charset="-122"/>
                  <a:sym typeface="+mn-lt"/>
                </a:rPr>
                <a:t>交易过程监管</a:t>
              </a:r>
              <a:endParaRPr lang="zh-CN" altLang="en-US" sz="800" kern="0" dirty="0">
                <a:solidFill>
                  <a:srgbClr val="FFFFFF"/>
                </a:solidFill>
                <a:latin typeface="微软雅黑" panose="020B0503020204020204" charset="-122"/>
                <a:ea typeface="微软雅黑" panose="020B0503020204020204" charset="-122"/>
                <a:sym typeface="+mn-lt"/>
              </a:endParaRPr>
            </a:p>
          </p:txBody>
        </p:sp>
        <p:sp>
          <p:nvSpPr>
            <p:cNvPr id="179" name="长方形"/>
            <p:cNvSpPr/>
            <p:nvPr/>
          </p:nvSpPr>
          <p:spPr>
            <a:xfrm>
              <a:off x="10760475" y="2075180"/>
              <a:ext cx="586339"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800" kern="0" dirty="0">
                  <a:solidFill>
                    <a:srgbClr val="FFFFFF"/>
                  </a:solidFill>
                  <a:latin typeface="微软雅黑" panose="020B0503020204020204" charset="-122"/>
                  <a:ea typeface="微软雅黑" panose="020B0503020204020204" charset="-122"/>
                  <a:sym typeface="+mn-lt"/>
                </a:rPr>
                <a:t>服务效能分析</a:t>
              </a:r>
              <a:endParaRPr lang="zh-CN" altLang="en-US" sz="800" kern="0" dirty="0">
                <a:solidFill>
                  <a:srgbClr val="FFFFFF"/>
                </a:solidFill>
                <a:latin typeface="微软雅黑" panose="020B0503020204020204" charset="-122"/>
                <a:ea typeface="微软雅黑" panose="020B0503020204020204" charset="-122"/>
                <a:sym typeface="+mn-lt"/>
              </a:endParaRPr>
            </a:p>
          </p:txBody>
        </p:sp>
        <p:sp>
          <p:nvSpPr>
            <p:cNvPr id="180" name="长方形"/>
            <p:cNvSpPr/>
            <p:nvPr/>
          </p:nvSpPr>
          <p:spPr>
            <a:xfrm>
              <a:off x="10760475" y="2325370"/>
              <a:ext cx="586339"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800" kern="0" dirty="0">
                  <a:solidFill>
                    <a:srgbClr val="FFFFFF"/>
                  </a:solidFill>
                  <a:latin typeface="微软雅黑" panose="020B0503020204020204" charset="-122"/>
                  <a:ea typeface="微软雅黑" panose="020B0503020204020204" charset="-122"/>
                  <a:sym typeface="+mn-lt"/>
                </a:rPr>
                <a:t>行政执法监管</a:t>
              </a:r>
              <a:endParaRPr lang="zh-CN" altLang="en-US" sz="800" kern="0" dirty="0">
                <a:solidFill>
                  <a:srgbClr val="FFFFFF"/>
                </a:solidFill>
                <a:latin typeface="微软雅黑" panose="020B0503020204020204" charset="-122"/>
                <a:ea typeface="微软雅黑" panose="020B0503020204020204" charset="-122"/>
                <a:sym typeface="+mn-lt"/>
              </a:endParaRPr>
            </a:p>
          </p:txBody>
        </p:sp>
        <p:sp>
          <p:nvSpPr>
            <p:cNvPr id="181" name="长方形"/>
            <p:cNvSpPr/>
            <p:nvPr/>
          </p:nvSpPr>
          <p:spPr>
            <a:xfrm>
              <a:off x="10760475" y="2826385"/>
              <a:ext cx="586339"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800" kern="0" dirty="0">
                  <a:solidFill>
                    <a:srgbClr val="FFFFFF"/>
                  </a:solidFill>
                  <a:latin typeface="微软雅黑" panose="020B0503020204020204" charset="-122"/>
                  <a:ea typeface="微软雅黑" panose="020B0503020204020204" charset="-122"/>
                  <a:sym typeface="+mn-lt"/>
                </a:rPr>
                <a:t>公平性审查</a:t>
              </a:r>
              <a:endParaRPr lang="zh-CN" altLang="en-US" sz="800" kern="0" dirty="0">
                <a:solidFill>
                  <a:srgbClr val="FFFFFF"/>
                </a:solidFill>
                <a:latin typeface="微软雅黑" panose="020B0503020204020204" charset="-122"/>
                <a:ea typeface="微软雅黑" panose="020B0503020204020204" charset="-122"/>
                <a:sym typeface="+mn-lt"/>
              </a:endParaRPr>
            </a:p>
          </p:txBody>
        </p:sp>
        <p:sp>
          <p:nvSpPr>
            <p:cNvPr id="182" name="长方形"/>
            <p:cNvSpPr/>
            <p:nvPr/>
          </p:nvSpPr>
          <p:spPr>
            <a:xfrm>
              <a:off x="10760475" y="2576195"/>
              <a:ext cx="586339"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800" kern="0" dirty="0">
                  <a:solidFill>
                    <a:srgbClr val="FFFFFF"/>
                  </a:solidFill>
                  <a:latin typeface="微软雅黑" panose="020B0503020204020204" charset="-122"/>
                  <a:ea typeface="微软雅黑" panose="020B0503020204020204" charset="-122"/>
                  <a:sym typeface="+mn-lt"/>
                </a:rPr>
                <a:t>串通投标分析</a:t>
              </a:r>
              <a:endParaRPr lang="zh-CN" altLang="en-US" sz="800" kern="0" dirty="0">
                <a:solidFill>
                  <a:srgbClr val="FFFFFF"/>
                </a:solidFill>
                <a:latin typeface="微软雅黑" panose="020B0503020204020204" charset="-122"/>
                <a:ea typeface="微软雅黑" panose="020B0503020204020204" charset="-122"/>
                <a:sym typeface="+mn-lt"/>
              </a:endParaRPr>
            </a:p>
          </p:txBody>
        </p:sp>
        <p:sp>
          <p:nvSpPr>
            <p:cNvPr id="183" name="文本框 182"/>
            <p:cNvSpPr txBox="1"/>
            <p:nvPr/>
          </p:nvSpPr>
          <p:spPr>
            <a:xfrm>
              <a:off x="10755815" y="1576705"/>
              <a:ext cx="649419" cy="245110"/>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rPr>
                <a:t>智慧监管</a:t>
              </a:r>
              <a:endParaRPr kumimoji="0" lang="zh-CN" altLang="en-US" sz="1000" b="1" i="0" u="none" strike="noStrike" kern="1200" cap="none" spc="0" normalizeH="0" baseline="0"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grpSp>
      <p:grpSp>
        <p:nvGrpSpPr>
          <p:cNvPr id="184" name="组合 183"/>
          <p:cNvGrpSpPr/>
          <p:nvPr/>
        </p:nvGrpSpPr>
        <p:grpSpPr>
          <a:xfrm>
            <a:off x="10034956" y="2163445"/>
            <a:ext cx="735274" cy="1501775"/>
            <a:chOff x="10716053" y="1576705"/>
            <a:chExt cx="689182" cy="1501775"/>
          </a:xfrm>
        </p:grpSpPr>
        <p:sp>
          <p:nvSpPr>
            <p:cNvPr id="185" name="矩形: 圆角 982"/>
            <p:cNvSpPr/>
            <p:nvPr/>
          </p:nvSpPr>
          <p:spPr>
            <a:xfrm>
              <a:off x="10716053" y="1586230"/>
              <a:ext cx="680927" cy="1492250"/>
            </a:xfrm>
            <a:prstGeom prst="roundRect">
              <a:avLst>
                <a:gd name="adj" fmla="val 4681"/>
              </a:avLst>
            </a:prstGeom>
            <a:solidFill>
              <a:srgbClr val="DEEBF7"/>
            </a:solidFill>
            <a:ln w="12700">
              <a:noFill/>
              <a:prstDash val="dash"/>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dirty="0">
                <a:latin typeface="微软雅黑" panose="020B0503020204020204" charset="-122"/>
                <a:ea typeface="微软雅黑" panose="020B0503020204020204" charset="-122"/>
                <a:cs typeface="+mn-ea"/>
                <a:sym typeface="+mn-lt"/>
              </a:endParaRPr>
            </a:p>
          </p:txBody>
        </p:sp>
        <p:sp>
          <p:nvSpPr>
            <p:cNvPr id="187" name="长方形"/>
            <p:cNvSpPr/>
            <p:nvPr/>
          </p:nvSpPr>
          <p:spPr>
            <a:xfrm>
              <a:off x="10760475" y="1824355"/>
              <a:ext cx="586339"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800" kern="0" dirty="0">
                  <a:solidFill>
                    <a:srgbClr val="FFFFFF"/>
                  </a:solidFill>
                  <a:latin typeface="微软雅黑" panose="020B0503020204020204" charset="-122"/>
                  <a:ea typeface="微软雅黑" panose="020B0503020204020204" charset="-122"/>
                  <a:sym typeface="+mn-lt"/>
                </a:rPr>
                <a:t>数据大屏</a:t>
              </a:r>
              <a:endParaRPr lang="zh-CN" altLang="en-US" sz="800" kern="0" dirty="0">
                <a:solidFill>
                  <a:srgbClr val="FFFFFF"/>
                </a:solidFill>
                <a:latin typeface="微软雅黑" panose="020B0503020204020204" charset="-122"/>
                <a:ea typeface="微软雅黑" panose="020B0503020204020204" charset="-122"/>
                <a:sym typeface="+mn-lt"/>
              </a:endParaRPr>
            </a:p>
          </p:txBody>
        </p:sp>
        <p:sp>
          <p:nvSpPr>
            <p:cNvPr id="188" name="长方形"/>
            <p:cNvSpPr/>
            <p:nvPr/>
          </p:nvSpPr>
          <p:spPr>
            <a:xfrm>
              <a:off x="10760475" y="2075180"/>
              <a:ext cx="586339"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800" kern="0" dirty="0">
                  <a:solidFill>
                    <a:srgbClr val="FFFFFF"/>
                  </a:solidFill>
                  <a:latin typeface="微软雅黑" panose="020B0503020204020204" charset="-122"/>
                  <a:ea typeface="微软雅黑" panose="020B0503020204020204" charset="-122"/>
                  <a:sym typeface="+mn-lt"/>
                </a:rPr>
                <a:t>采购大脑</a:t>
              </a:r>
              <a:endParaRPr lang="zh-CN" altLang="en-US" sz="800" kern="0" dirty="0">
                <a:solidFill>
                  <a:srgbClr val="FFFFFF"/>
                </a:solidFill>
                <a:latin typeface="微软雅黑" panose="020B0503020204020204" charset="-122"/>
                <a:ea typeface="微软雅黑" panose="020B0503020204020204" charset="-122"/>
                <a:sym typeface="+mn-lt"/>
              </a:endParaRPr>
            </a:p>
          </p:txBody>
        </p:sp>
        <p:sp>
          <p:nvSpPr>
            <p:cNvPr id="189" name="长方形"/>
            <p:cNvSpPr/>
            <p:nvPr/>
          </p:nvSpPr>
          <p:spPr>
            <a:xfrm>
              <a:off x="10760475" y="2325370"/>
              <a:ext cx="586339"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800" kern="0" dirty="0">
                  <a:solidFill>
                    <a:srgbClr val="FFFFFF"/>
                  </a:solidFill>
                  <a:latin typeface="微软雅黑" panose="020B0503020204020204" charset="-122"/>
                  <a:ea typeface="微软雅黑" panose="020B0503020204020204" charset="-122"/>
                  <a:sym typeface="+mn-lt"/>
                </a:rPr>
                <a:t>采购风控</a:t>
              </a:r>
              <a:endParaRPr lang="zh-CN" altLang="en-US" sz="800" kern="0" dirty="0">
                <a:solidFill>
                  <a:srgbClr val="FFFFFF"/>
                </a:solidFill>
                <a:latin typeface="微软雅黑" panose="020B0503020204020204" charset="-122"/>
                <a:ea typeface="微软雅黑" panose="020B0503020204020204" charset="-122"/>
                <a:sym typeface="+mn-lt"/>
              </a:endParaRPr>
            </a:p>
          </p:txBody>
        </p:sp>
        <p:sp>
          <p:nvSpPr>
            <p:cNvPr id="190" name="长方形"/>
            <p:cNvSpPr/>
            <p:nvPr/>
          </p:nvSpPr>
          <p:spPr>
            <a:xfrm>
              <a:off x="10760475" y="2826385"/>
              <a:ext cx="586339"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800" kern="0" dirty="0">
                  <a:solidFill>
                    <a:srgbClr val="FFFFFF"/>
                  </a:solidFill>
                  <a:latin typeface="微软雅黑" panose="020B0503020204020204" charset="-122"/>
                  <a:ea typeface="微软雅黑" panose="020B0503020204020204" charset="-122"/>
                  <a:sym typeface="+mn-lt"/>
                </a:rPr>
                <a:t>智能报表</a:t>
              </a:r>
              <a:endParaRPr lang="zh-CN" altLang="en-US" sz="800" kern="0" dirty="0">
                <a:solidFill>
                  <a:srgbClr val="FFFFFF"/>
                </a:solidFill>
                <a:latin typeface="微软雅黑" panose="020B0503020204020204" charset="-122"/>
                <a:ea typeface="微软雅黑" panose="020B0503020204020204" charset="-122"/>
                <a:sym typeface="+mn-lt"/>
              </a:endParaRPr>
            </a:p>
          </p:txBody>
        </p:sp>
        <p:sp>
          <p:nvSpPr>
            <p:cNvPr id="191" name="长方形"/>
            <p:cNvSpPr/>
            <p:nvPr/>
          </p:nvSpPr>
          <p:spPr>
            <a:xfrm>
              <a:off x="10760475" y="2576195"/>
              <a:ext cx="586339"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800" kern="0" dirty="0">
                  <a:solidFill>
                    <a:srgbClr val="FFFFFF"/>
                  </a:solidFill>
                  <a:latin typeface="微软雅黑" panose="020B0503020204020204" charset="-122"/>
                  <a:ea typeface="微软雅黑" panose="020B0503020204020204" charset="-122"/>
                  <a:sym typeface="+mn-lt"/>
                </a:rPr>
                <a:t>主题画像</a:t>
              </a:r>
              <a:endParaRPr lang="zh-CN" altLang="en-US" sz="800" kern="0" dirty="0">
                <a:solidFill>
                  <a:srgbClr val="FFFFFF"/>
                </a:solidFill>
                <a:latin typeface="微软雅黑" panose="020B0503020204020204" charset="-122"/>
                <a:ea typeface="微软雅黑" panose="020B0503020204020204" charset="-122"/>
                <a:sym typeface="+mn-lt"/>
              </a:endParaRPr>
            </a:p>
          </p:txBody>
        </p:sp>
        <p:sp>
          <p:nvSpPr>
            <p:cNvPr id="483" name="文本框 482"/>
            <p:cNvSpPr txBox="1"/>
            <p:nvPr/>
          </p:nvSpPr>
          <p:spPr>
            <a:xfrm>
              <a:off x="10764807" y="1576705"/>
              <a:ext cx="640428" cy="246221"/>
            </a:xfrm>
            <a:prstGeom prst="rect">
              <a:avLst/>
            </a:prstGeom>
            <a:noFill/>
            <a:effectLst/>
          </p:spPr>
          <p:txBody>
            <a:bodyPr wrap="squar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000" b="1" dirty="0">
                  <a:solidFill>
                    <a:srgbClr val="4472C4">
                      <a:lumMod val="75000"/>
                    </a:srgbClr>
                  </a:solidFill>
                  <a:effectLst>
                    <a:outerShdw blurRad="190500" dist="38100" dir="2700000" algn="tl">
                      <a:srgbClr val="0066FF">
                        <a:alpha val="20000"/>
                      </a:srgbClr>
                    </a:outerShdw>
                  </a:effectLst>
                  <a:latin typeface="微软雅黑" panose="020B0503020204020204" charset="-122"/>
                  <a:ea typeface="微软雅黑" panose="020B0503020204020204" charset="-122"/>
                </a:rPr>
                <a:t>大数据</a:t>
              </a:r>
              <a:endParaRPr kumimoji="0" lang="zh-CN" altLang="en-US" sz="1000" b="1" i="0" u="none" strike="noStrike" kern="1200" cap="none" spc="0" normalizeH="0" baseline="0"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endParaRPr>
            </a:p>
          </p:txBody>
        </p:sp>
      </p:grpSp>
      <p:sp>
        <p:nvSpPr>
          <p:cNvPr id="194" name="长方形"/>
          <p:cNvSpPr/>
          <p:nvPr/>
        </p:nvSpPr>
        <p:spPr>
          <a:xfrm>
            <a:off x="2371467" y="3190080"/>
            <a:ext cx="613793"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专家论证</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00" name="长方形"/>
          <p:cNvSpPr/>
          <p:nvPr/>
        </p:nvSpPr>
        <p:spPr>
          <a:xfrm>
            <a:off x="2369562" y="3388200"/>
            <a:ext cx="613793"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rPr>
              <a:t>采购征集预告</a:t>
            </a:r>
            <a:endParaRPr lang="zh-CN" altLang="en-US" sz="8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02" name="长方形"/>
          <p:cNvSpPr/>
          <p:nvPr/>
        </p:nvSpPr>
        <p:spPr>
          <a:xfrm>
            <a:off x="6587210" y="5040631"/>
            <a:ext cx="751205" cy="18161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5F5AEC"/>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kern="0" dirty="0">
                <a:solidFill>
                  <a:srgbClr val="FFFFFF"/>
                </a:solidFill>
                <a:latin typeface="微软雅黑" panose="020B0503020204020204" charset="-122"/>
                <a:ea typeface="微软雅黑" panose="020B0503020204020204" charset="-122"/>
                <a:sym typeface="+mn-lt"/>
              </a:rPr>
              <a:t>……</a:t>
            </a:r>
            <a:endParaRPr lang="zh-CN" altLang="en-US" sz="900" kern="0" dirty="0">
              <a:solidFill>
                <a:srgbClr val="FFFFFF"/>
              </a:solidFill>
              <a:latin typeface="微软雅黑" panose="020B0503020204020204" charset="-122"/>
              <a:ea typeface="微软雅黑" panose="020B0503020204020204" charset="-122"/>
              <a:sym typeface="+mn-lt"/>
            </a:endParaRPr>
          </a:p>
        </p:txBody>
      </p:sp>
      <p:sp>
        <p:nvSpPr>
          <p:cNvPr id="208" name="矩形: 圆角 408"/>
          <p:cNvSpPr/>
          <p:nvPr/>
        </p:nvSpPr>
        <p:spPr>
          <a:xfrm>
            <a:off x="850265" y="3853815"/>
            <a:ext cx="500380" cy="1551940"/>
          </a:xfrm>
          <a:prstGeom prst="roundRect">
            <a:avLst>
              <a:gd name="adj" fmla="val 13820"/>
            </a:avLst>
          </a:prstGeom>
          <a:solidFill>
            <a:srgbClr val="2E54A1"/>
          </a:solidFill>
          <a:ln w="38100" cap="flat" cmpd="sng" algn="ctr">
            <a:noFill/>
            <a:prstDash val="solid"/>
            <a:miter lim="800000"/>
          </a:ln>
          <a:effectLst/>
        </p:spPr>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prstClr val="white"/>
                </a:solidFill>
                <a:uLnTx/>
                <a:uFillTx/>
                <a:latin typeface="微软雅黑" panose="020B0503020204020204" charset="-122"/>
                <a:ea typeface="微软雅黑" panose="020B0503020204020204" charset="-122"/>
              </a:rPr>
              <a:t>支撑应用</a:t>
            </a:r>
            <a:endParaRPr kumimoji="0" lang="zh-CN" altLang="en-US" sz="1200" b="1" i="0" u="none" strike="noStrike" kern="0" cap="none" spc="0" normalizeH="0" baseline="0" noProof="0" dirty="0">
              <a:ln>
                <a:noFill/>
              </a:ln>
              <a:solidFill>
                <a:prstClr val="white"/>
              </a:solidFill>
              <a:uLnTx/>
              <a:uFillTx/>
              <a:latin typeface="微软雅黑" panose="020B0503020204020204" charset="-122"/>
              <a:ea typeface="微软雅黑" panose="020B0503020204020204" charset="-122"/>
            </a:endParaRPr>
          </a:p>
        </p:txBody>
      </p:sp>
      <p:sp>
        <p:nvSpPr>
          <p:cNvPr id="2" name="矩形 1"/>
          <p:cNvSpPr/>
          <p:nvPr/>
        </p:nvSpPr>
        <p:spPr>
          <a:xfrm>
            <a:off x="1525899" y="4242435"/>
            <a:ext cx="2850347" cy="1017745"/>
          </a:xfrm>
          <a:prstGeom prst="rect">
            <a:avLst/>
          </a:prstGeom>
          <a:noFill/>
          <a:ln w="6350">
            <a:solidFill>
              <a:srgbClr val="2E54A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4528895" y="4242435"/>
            <a:ext cx="2850347" cy="1017745"/>
          </a:xfrm>
          <a:prstGeom prst="rect">
            <a:avLst/>
          </a:prstGeom>
          <a:noFill/>
          <a:ln w="6350">
            <a:solidFill>
              <a:srgbClr val="2E54A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7504529" y="4242435"/>
            <a:ext cx="896839" cy="1017745"/>
          </a:xfrm>
          <a:prstGeom prst="rect">
            <a:avLst/>
          </a:prstGeom>
          <a:noFill/>
          <a:ln w="6350">
            <a:solidFill>
              <a:srgbClr val="2E54A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8507377" y="4242435"/>
            <a:ext cx="896839" cy="1017745"/>
          </a:xfrm>
          <a:prstGeom prst="rect">
            <a:avLst/>
          </a:prstGeom>
          <a:noFill/>
          <a:ln w="6350">
            <a:solidFill>
              <a:srgbClr val="2E54A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9513570" y="4242435"/>
            <a:ext cx="896839" cy="1017745"/>
          </a:xfrm>
          <a:prstGeom prst="rect">
            <a:avLst/>
          </a:prstGeom>
          <a:noFill/>
          <a:ln w="6350">
            <a:solidFill>
              <a:srgbClr val="2E54A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0500776" y="4242435"/>
            <a:ext cx="896839" cy="1017745"/>
          </a:xfrm>
          <a:prstGeom prst="rect">
            <a:avLst/>
          </a:prstGeom>
          <a:noFill/>
          <a:ln w="6350">
            <a:solidFill>
              <a:srgbClr val="2E54A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矩形: 圆角 291"/>
          <p:cNvSpPr/>
          <p:nvPr/>
        </p:nvSpPr>
        <p:spPr>
          <a:xfrm>
            <a:off x="545542" y="939850"/>
            <a:ext cx="9171059" cy="732771"/>
          </a:xfrm>
          <a:prstGeom prst="roundRect">
            <a:avLst>
              <a:gd name="adj" fmla="val 10655"/>
            </a:avLst>
          </a:prstGeom>
          <a:solidFill>
            <a:schemeClr val="accent1">
              <a:lumMod val="20000"/>
              <a:lumOff val="80000"/>
            </a:schemeClr>
          </a:solidFill>
          <a:ln w="12700">
            <a:noFill/>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mn-ea"/>
              <a:sym typeface="+mn-lt"/>
            </a:endParaRPr>
          </a:p>
        </p:txBody>
      </p:sp>
      <p:sp>
        <p:nvSpPr>
          <p:cNvPr id="333" name="矩形: 圆角 332"/>
          <p:cNvSpPr/>
          <p:nvPr/>
        </p:nvSpPr>
        <p:spPr>
          <a:xfrm>
            <a:off x="294641" y="1746758"/>
            <a:ext cx="9404350" cy="2948768"/>
          </a:xfrm>
          <a:prstGeom prst="roundRect">
            <a:avLst>
              <a:gd name="adj" fmla="val 1550"/>
            </a:avLst>
          </a:prstGeom>
          <a:solidFill>
            <a:schemeClr val="accent1">
              <a:lumMod val="60000"/>
              <a:lumOff val="40000"/>
            </a:schemeClr>
          </a:solidFill>
          <a:ln w="12700">
            <a:noFill/>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mn-ea"/>
              <a:sym typeface="+mn-lt"/>
            </a:endParaRPr>
          </a:p>
        </p:txBody>
      </p:sp>
      <p:sp>
        <p:nvSpPr>
          <p:cNvPr id="292" name="矩形: 圆角 291"/>
          <p:cNvSpPr/>
          <p:nvPr/>
        </p:nvSpPr>
        <p:spPr>
          <a:xfrm>
            <a:off x="240666" y="955725"/>
            <a:ext cx="713210" cy="720675"/>
          </a:xfrm>
          <a:prstGeom prst="roundRect">
            <a:avLst>
              <a:gd name="adj" fmla="val 10655"/>
            </a:avLst>
          </a:prstGeom>
          <a:solidFill>
            <a:srgbClr val="0070C0"/>
          </a:solidFill>
          <a:ln w="12700">
            <a:noFill/>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mn-ea"/>
              <a:sym typeface="+mn-lt"/>
            </a:endParaRPr>
          </a:p>
        </p:txBody>
      </p:sp>
      <p:sp>
        <p:nvSpPr>
          <p:cNvPr id="370" name="矩形: 圆角 369"/>
          <p:cNvSpPr/>
          <p:nvPr/>
        </p:nvSpPr>
        <p:spPr>
          <a:xfrm>
            <a:off x="584740" y="6060034"/>
            <a:ext cx="9121556" cy="529220"/>
          </a:xfrm>
          <a:prstGeom prst="roundRect">
            <a:avLst>
              <a:gd name="adj" fmla="val 10655"/>
            </a:avLst>
          </a:prstGeom>
          <a:solidFill>
            <a:srgbClr val="FBE5D6"/>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latin typeface="微软雅黑" panose="020B0503020204020204" charset="-122"/>
              <a:ea typeface="微软雅黑" panose="020B0503020204020204" charset="-122"/>
              <a:cs typeface="+mn-ea"/>
              <a:sym typeface="+mn-lt"/>
            </a:endParaRPr>
          </a:p>
        </p:txBody>
      </p:sp>
      <p:sp>
        <p:nvSpPr>
          <p:cNvPr id="302" name="矩形: 圆角 301"/>
          <p:cNvSpPr/>
          <p:nvPr/>
        </p:nvSpPr>
        <p:spPr>
          <a:xfrm>
            <a:off x="259769" y="6063840"/>
            <a:ext cx="707125" cy="524020"/>
          </a:xfrm>
          <a:prstGeom prst="roundRect">
            <a:avLst>
              <a:gd name="adj" fmla="val 10655"/>
            </a:avLst>
          </a:prstGeom>
          <a:solidFill>
            <a:srgbClr val="7030A0"/>
          </a:solidFill>
          <a:ln w="12700">
            <a:noFill/>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latin typeface="微软雅黑" panose="020B0503020204020204" charset="-122"/>
              <a:ea typeface="微软雅黑" panose="020B0503020204020204" charset="-122"/>
              <a:cs typeface="+mn-ea"/>
              <a:sym typeface="+mn-lt"/>
            </a:endParaRPr>
          </a:p>
        </p:txBody>
      </p:sp>
      <p:sp>
        <p:nvSpPr>
          <p:cNvPr id="384" name="矩形: 圆角 383"/>
          <p:cNvSpPr/>
          <p:nvPr/>
        </p:nvSpPr>
        <p:spPr>
          <a:xfrm>
            <a:off x="1179515" y="6164533"/>
            <a:ext cx="1056682" cy="320224"/>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云机房</a:t>
            </a:r>
            <a:endParaRPr lang="zh-CN" altLang="en-US" sz="1000" dirty="0">
              <a:latin typeface="微软雅黑" panose="020B0503020204020204" charset="-122"/>
              <a:ea typeface="微软雅黑" panose="020B0503020204020204" charset="-122"/>
              <a:cs typeface="+mn-ea"/>
              <a:sym typeface="+mn-lt"/>
            </a:endParaRPr>
          </a:p>
        </p:txBody>
      </p:sp>
      <p:sp>
        <p:nvSpPr>
          <p:cNvPr id="385" name="矩形: 圆角 384"/>
          <p:cNvSpPr/>
          <p:nvPr/>
        </p:nvSpPr>
        <p:spPr>
          <a:xfrm>
            <a:off x="2611694" y="6164533"/>
            <a:ext cx="1056682" cy="320224"/>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存储设备</a:t>
            </a:r>
            <a:endParaRPr lang="zh-CN" altLang="en-US" sz="1000" dirty="0">
              <a:latin typeface="微软雅黑" panose="020B0503020204020204" charset="-122"/>
              <a:ea typeface="微软雅黑" panose="020B0503020204020204" charset="-122"/>
              <a:cs typeface="+mn-ea"/>
              <a:sym typeface="+mn-lt"/>
            </a:endParaRPr>
          </a:p>
        </p:txBody>
      </p:sp>
      <p:sp>
        <p:nvSpPr>
          <p:cNvPr id="386" name="矩形: 圆角 385"/>
          <p:cNvSpPr/>
          <p:nvPr/>
        </p:nvSpPr>
        <p:spPr>
          <a:xfrm>
            <a:off x="4043873" y="6164533"/>
            <a:ext cx="1056682" cy="320224"/>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安全设备</a:t>
            </a:r>
            <a:endParaRPr lang="zh-CN" altLang="en-US" sz="1000" dirty="0">
              <a:latin typeface="微软雅黑" panose="020B0503020204020204" charset="-122"/>
              <a:ea typeface="微软雅黑" panose="020B0503020204020204" charset="-122"/>
              <a:cs typeface="+mn-ea"/>
              <a:sym typeface="+mn-lt"/>
            </a:endParaRPr>
          </a:p>
        </p:txBody>
      </p:sp>
      <p:sp>
        <p:nvSpPr>
          <p:cNvPr id="387" name="矩形: 圆角 386"/>
          <p:cNvSpPr/>
          <p:nvPr/>
        </p:nvSpPr>
        <p:spPr>
          <a:xfrm>
            <a:off x="5476052" y="6164533"/>
            <a:ext cx="1056682" cy="320224"/>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信创环境</a:t>
            </a:r>
            <a:endParaRPr lang="zh-CN" altLang="en-US" sz="1000" dirty="0">
              <a:latin typeface="微软雅黑" panose="020B0503020204020204" charset="-122"/>
              <a:ea typeface="微软雅黑" panose="020B0503020204020204" charset="-122"/>
              <a:cs typeface="+mn-ea"/>
              <a:sym typeface="+mn-lt"/>
            </a:endParaRPr>
          </a:p>
        </p:txBody>
      </p:sp>
      <p:sp>
        <p:nvSpPr>
          <p:cNvPr id="388" name="矩形: 圆角 387"/>
          <p:cNvSpPr/>
          <p:nvPr/>
        </p:nvSpPr>
        <p:spPr>
          <a:xfrm>
            <a:off x="6908231" y="6164533"/>
            <a:ext cx="1056682" cy="320224"/>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集成开发平台</a:t>
            </a:r>
            <a:endParaRPr lang="zh-CN" altLang="en-US" sz="1000" dirty="0">
              <a:latin typeface="微软雅黑" panose="020B0503020204020204" charset="-122"/>
              <a:ea typeface="微软雅黑" panose="020B0503020204020204" charset="-122"/>
              <a:cs typeface="+mn-ea"/>
              <a:sym typeface="+mn-lt"/>
            </a:endParaRPr>
          </a:p>
        </p:txBody>
      </p:sp>
      <p:sp>
        <p:nvSpPr>
          <p:cNvPr id="389" name="矩形: 圆角 388"/>
          <p:cNvSpPr/>
          <p:nvPr/>
        </p:nvSpPr>
        <p:spPr>
          <a:xfrm>
            <a:off x="8340410" y="6164533"/>
            <a:ext cx="1056682" cy="320224"/>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微软雅黑" panose="020B0503020204020204" charset="-122"/>
                <a:ea typeface="微软雅黑" panose="020B0503020204020204" charset="-122"/>
                <a:cs typeface="+mn-ea"/>
                <a:sym typeface="+mn-lt"/>
              </a:rPr>
              <a:t>ecloud</a:t>
            </a:r>
            <a:endParaRPr lang="zh-CN" altLang="en-US" sz="1000" dirty="0">
              <a:latin typeface="微软雅黑" panose="020B0503020204020204" charset="-122"/>
              <a:ea typeface="微软雅黑" panose="020B0503020204020204" charset="-122"/>
              <a:cs typeface="+mn-ea"/>
              <a:sym typeface="+mn-lt"/>
            </a:endParaRPr>
          </a:p>
        </p:txBody>
      </p:sp>
      <p:sp>
        <p:nvSpPr>
          <p:cNvPr id="393" name="文本框 392"/>
          <p:cNvSpPr txBox="1"/>
          <p:nvPr/>
        </p:nvSpPr>
        <p:spPr>
          <a:xfrm>
            <a:off x="208039" y="6210519"/>
            <a:ext cx="808990" cy="252026"/>
          </a:xfrm>
          <a:prstGeom prst="rect">
            <a:avLst/>
          </a:prstGeom>
          <a:noFill/>
        </p:spPr>
        <p:txBody>
          <a:bodyPr wrap="square" rtlCol="0">
            <a:spAutoFit/>
          </a:bodyPr>
          <a:lstStyle/>
          <a:p>
            <a:pPr algn="ctr"/>
            <a:r>
              <a:rPr lang="zh-CN" altLang="en-US" sz="1200" b="1" dirty="0">
                <a:solidFill>
                  <a:schemeClr val="bg1"/>
                </a:solidFill>
                <a:latin typeface="微软雅黑" panose="020B0503020204020204" charset="-122"/>
                <a:ea typeface="微软雅黑" panose="020B0503020204020204" charset="-122"/>
                <a:cs typeface="+mn-ea"/>
                <a:sym typeface="+mn-lt"/>
              </a:rPr>
              <a:t>基础层</a:t>
            </a:r>
            <a:endParaRPr lang="zh-CN" altLang="en-US" sz="1200" b="1" dirty="0">
              <a:solidFill>
                <a:schemeClr val="bg1"/>
              </a:solidFill>
              <a:latin typeface="微软雅黑" panose="020B0503020204020204" charset="-122"/>
              <a:ea typeface="微软雅黑" panose="020B0503020204020204" charset="-122"/>
              <a:cs typeface="+mn-ea"/>
              <a:sym typeface="+mn-lt"/>
            </a:endParaRPr>
          </a:p>
        </p:txBody>
      </p:sp>
      <p:sp>
        <p:nvSpPr>
          <p:cNvPr id="391" name="文本框 390"/>
          <p:cNvSpPr txBox="1"/>
          <p:nvPr/>
        </p:nvSpPr>
        <p:spPr>
          <a:xfrm>
            <a:off x="267874" y="1181227"/>
            <a:ext cx="794650" cy="245544"/>
          </a:xfrm>
          <a:prstGeom prst="rect">
            <a:avLst/>
          </a:prstGeom>
          <a:noFill/>
        </p:spPr>
        <p:txBody>
          <a:bodyPr wrap="square" rtlCol="0">
            <a:noAutofit/>
          </a:bodyPr>
          <a:lstStyle/>
          <a:p>
            <a:r>
              <a:rPr lang="zh-CN" altLang="en-US" sz="1200" b="1" dirty="0">
                <a:solidFill>
                  <a:schemeClr val="bg1"/>
                </a:solidFill>
                <a:latin typeface="微软雅黑" panose="020B0503020204020204" charset="-122"/>
                <a:ea typeface="微软雅黑" panose="020B0503020204020204" charset="-122"/>
                <a:cs typeface="+mn-ea"/>
                <a:sym typeface="+mn-lt"/>
              </a:rPr>
              <a:t>表现层</a:t>
            </a:r>
            <a:endParaRPr lang="zh-CN" altLang="en-US" sz="1200" b="1" dirty="0">
              <a:solidFill>
                <a:schemeClr val="bg1"/>
              </a:solidFill>
              <a:latin typeface="微软雅黑" panose="020B0503020204020204" charset="-122"/>
              <a:ea typeface="微软雅黑" panose="020B0503020204020204" charset="-122"/>
              <a:cs typeface="+mn-ea"/>
              <a:sym typeface="+mn-lt"/>
            </a:endParaRPr>
          </a:p>
        </p:txBody>
      </p:sp>
      <p:sp>
        <p:nvSpPr>
          <p:cNvPr id="341" name="矩形: 圆角 340"/>
          <p:cNvSpPr/>
          <p:nvPr/>
        </p:nvSpPr>
        <p:spPr>
          <a:xfrm>
            <a:off x="611356" y="5429776"/>
            <a:ext cx="9094940" cy="510361"/>
          </a:xfrm>
          <a:prstGeom prst="roundRect">
            <a:avLst>
              <a:gd name="adj" fmla="val 10655"/>
            </a:avLst>
          </a:prstGeom>
          <a:solidFill>
            <a:srgbClr val="B5CFF0"/>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latin typeface="微软雅黑" panose="020B0503020204020204" charset="-122"/>
              <a:ea typeface="微软雅黑" panose="020B0503020204020204" charset="-122"/>
              <a:cs typeface="+mn-ea"/>
              <a:sym typeface="+mn-lt"/>
            </a:endParaRPr>
          </a:p>
        </p:txBody>
      </p:sp>
      <p:sp>
        <p:nvSpPr>
          <p:cNvPr id="52" name="矩形: 圆角 300"/>
          <p:cNvSpPr/>
          <p:nvPr/>
        </p:nvSpPr>
        <p:spPr>
          <a:xfrm>
            <a:off x="267874" y="5437005"/>
            <a:ext cx="707125" cy="505395"/>
          </a:xfrm>
          <a:prstGeom prst="roundRect">
            <a:avLst>
              <a:gd name="adj" fmla="val 10655"/>
            </a:avLst>
          </a:prstGeom>
          <a:solidFill>
            <a:srgbClr val="7030A0"/>
          </a:solidFill>
          <a:ln w="12700">
            <a:noFill/>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latin typeface="微软雅黑" panose="020B0503020204020204" charset="-122"/>
              <a:ea typeface="微软雅黑" panose="020B0503020204020204" charset="-122"/>
              <a:cs typeface="+mn-ea"/>
              <a:sym typeface="+mn-lt"/>
            </a:endParaRPr>
          </a:p>
        </p:txBody>
      </p:sp>
      <p:sp>
        <p:nvSpPr>
          <p:cNvPr id="53" name="矩形: 圆角 377"/>
          <p:cNvSpPr/>
          <p:nvPr/>
        </p:nvSpPr>
        <p:spPr>
          <a:xfrm>
            <a:off x="1201589" y="5538615"/>
            <a:ext cx="1056150" cy="308814"/>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流程管理</a:t>
            </a:r>
            <a:endParaRPr lang="zh-CN" altLang="en-US" sz="1000" dirty="0">
              <a:latin typeface="微软雅黑" panose="020B0503020204020204" charset="-122"/>
              <a:ea typeface="微软雅黑" panose="020B0503020204020204" charset="-122"/>
              <a:cs typeface="+mn-ea"/>
              <a:sym typeface="+mn-lt"/>
            </a:endParaRPr>
          </a:p>
        </p:txBody>
      </p:sp>
      <p:sp>
        <p:nvSpPr>
          <p:cNvPr id="54" name="矩形: 圆角 378"/>
          <p:cNvSpPr/>
          <p:nvPr/>
        </p:nvSpPr>
        <p:spPr>
          <a:xfrm>
            <a:off x="2630868" y="5538615"/>
            <a:ext cx="1055085" cy="308814"/>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规则管理</a:t>
            </a:r>
            <a:endParaRPr lang="zh-CN" altLang="en-US" sz="1000" dirty="0">
              <a:latin typeface="微软雅黑" panose="020B0503020204020204" charset="-122"/>
              <a:ea typeface="微软雅黑" panose="020B0503020204020204" charset="-122"/>
              <a:cs typeface="+mn-ea"/>
              <a:sym typeface="+mn-lt"/>
            </a:endParaRPr>
          </a:p>
        </p:txBody>
      </p:sp>
      <p:sp>
        <p:nvSpPr>
          <p:cNvPr id="55" name="矩形: 圆角 379"/>
          <p:cNvSpPr/>
          <p:nvPr/>
        </p:nvSpPr>
        <p:spPr>
          <a:xfrm>
            <a:off x="4059082" y="5538615"/>
            <a:ext cx="1056682" cy="308814"/>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日志管理</a:t>
            </a:r>
            <a:endParaRPr lang="zh-CN" altLang="en-US" sz="1000" dirty="0">
              <a:latin typeface="微软雅黑" panose="020B0503020204020204" charset="-122"/>
              <a:ea typeface="微软雅黑" panose="020B0503020204020204" charset="-122"/>
              <a:cs typeface="+mn-ea"/>
              <a:sym typeface="+mn-lt"/>
            </a:endParaRPr>
          </a:p>
        </p:txBody>
      </p:sp>
      <p:sp>
        <p:nvSpPr>
          <p:cNvPr id="56" name="矩形: 圆角 380"/>
          <p:cNvSpPr/>
          <p:nvPr/>
        </p:nvSpPr>
        <p:spPr>
          <a:xfrm>
            <a:off x="5488893" y="5538615"/>
            <a:ext cx="1056682" cy="308814"/>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消息管理</a:t>
            </a:r>
            <a:endParaRPr lang="zh-CN" altLang="en-US" sz="1000" dirty="0">
              <a:latin typeface="微软雅黑" panose="020B0503020204020204" charset="-122"/>
              <a:ea typeface="微软雅黑" panose="020B0503020204020204" charset="-122"/>
              <a:cs typeface="+mn-ea"/>
              <a:sym typeface="+mn-lt"/>
            </a:endParaRPr>
          </a:p>
        </p:txBody>
      </p:sp>
      <p:sp>
        <p:nvSpPr>
          <p:cNvPr id="57" name="矩形: 圆角 381"/>
          <p:cNvSpPr/>
          <p:nvPr/>
        </p:nvSpPr>
        <p:spPr>
          <a:xfrm>
            <a:off x="6918704" y="5538615"/>
            <a:ext cx="1056682" cy="308814"/>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任务调度</a:t>
            </a:r>
            <a:endParaRPr lang="zh-CN" altLang="en-US" sz="1000" dirty="0">
              <a:latin typeface="微软雅黑" panose="020B0503020204020204" charset="-122"/>
              <a:ea typeface="微软雅黑" panose="020B0503020204020204" charset="-122"/>
              <a:cs typeface="+mn-ea"/>
              <a:sym typeface="+mn-lt"/>
            </a:endParaRPr>
          </a:p>
        </p:txBody>
      </p:sp>
      <p:sp>
        <p:nvSpPr>
          <p:cNvPr id="58" name="矩形: 圆角 382"/>
          <p:cNvSpPr/>
          <p:nvPr/>
        </p:nvSpPr>
        <p:spPr>
          <a:xfrm>
            <a:off x="8348515" y="5538615"/>
            <a:ext cx="1056682" cy="308814"/>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数据挖掘</a:t>
            </a:r>
            <a:endParaRPr lang="zh-CN" altLang="en-US" sz="1000" dirty="0">
              <a:latin typeface="微软雅黑" panose="020B0503020204020204" charset="-122"/>
              <a:ea typeface="微软雅黑" panose="020B0503020204020204" charset="-122"/>
              <a:cs typeface="+mn-ea"/>
              <a:sym typeface="+mn-lt"/>
            </a:endParaRPr>
          </a:p>
        </p:txBody>
      </p:sp>
      <p:sp>
        <p:nvSpPr>
          <p:cNvPr id="67" name="文本框 66"/>
          <p:cNvSpPr txBox="1"/>
          <p:nvPr/>
        </p:nvSpPr>
        <p:spPr>
          <a:xfrm>
            <a:off x="165957" y="5475476"/>
            <a:ext cx="837565" cy="389457"/>
          </a:xfrm>
          <a:prstGeom prst="rect">
            <a:avLst/>
          </a:prstGeom>
          <a:noFill/>
        </p:spPr>
        <p:txBody>
          <a:bodyPr wrap="square" rtlCol="0">
            <a:noAutofit/>
          </a:bodyPr>
          <a:lstStyle/>
          <a:p>
            <a:pPr algn="ctr"/>
            <a:r>
              <a:rPr lang="zh-CN" altLang="en-US" sz="1200" b="1" dirty="0">
                <a:solidFill>
                  <a:schemeClr val="bg1"/>
                </a:solidFill>
                <a:latin typeface="微软雅黑" panose="020B0503020204020204" charset="-122"/>
                <a:ea typeface="微软雅黑" panose="020B0503020204020204" charset="-122"/>
                <a:cs typeface="+mn-ea"/>
                <a:sym typeface="+mn-lt"/>
              </a:rPr>
              <a:t>应用</a:t>
            </a:r>
            <a:endParaRPr lang="zh-CN" altLang="en-US" sz="1200" b="1" dirty="0">
              <a:solidFill>
                <a:schemeClr val="bg1"/>
              </a:solidFill>
              <a:latin typeface="微软雅黑" panose="020B0503020204020204" charset="-122"/>
              <a:ea typeface="微软雅黑" panose="020B0503020204020204" charset="-122"/>
              <a:cs typeface="+mn-ea"/>
              <a:sym typeface="+mn-lt"/>
            </a:endParaRPr>
          </a:p>
          <a:p>
            <a:pPr algn="ctr"/>
            <a:r>
              <a:rPr lang="zh-CN" altLang="en-US" sz="1200" b="1" dirty="0">
                <a:solidFill>
                  <a:schemeClr val="bg1"/>
                </a:solidFill>
                <a:latin typeface="微软雅黑" panose="020B0503020204020204" charset="-122"/>
                <a:ea typeface="微软雅黑" panose="020B0503020204020204" charset="-122"/>
                <a:cs typeface="+mn-ea"/>
                <a:sym typeface="+mn-lt"/>
              </a:rPr>
              <a:t>支撑层</a:t>
            </a:r>
            <a:endParaRPr lang="zh-CN" altLang="en-US" sz="1200" b="1" dirty="0">
              <a:solidFill>
                <a:schemeClr val="bg1"/>
              </a:solidFill>
              <a:latin typeface="微软雅黑" panose="020B0503020204020204" charset="-122"/>
              <a:ea typeface="微软雅黑" panose="020B0503020204020204" charset="-122"/>
              <a:cs typeface="+mn-ea"/>
              <a:sym typeface="+mn-lt"/>
            </a:endParaRPr>
          </a:p>
        </p:txBody>
      </p:sp>
      <p:sp>
        <p:nvSpPr>
          <p:cNvPr id="340" name="矩形: 圆角 339"/>
          <p:cNvSpPr/>
          <p:nvPr/>
        </p:nvSpPr>
        <p:spPr>
          <a:xfrm>
            <a:off x="598977" y="4781479"/>
            <a:ext cx="9107319" cy="529219"/>
          </a:xfrm>
          <a:prstGeom prst="roundRect">
            <a:avLst>
              <a:gd name="adj" fmla="val 10655"/>
            </a:avLst>
          </a:prstGeom>
          <a:solidFill>
            <a:srgbClr val="B5CFF0"/>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latin typeface="微软雅黑" panose="020B0503020204020204" charset="-122"/>
              <a:ea typeface="微软雅黑" panose="020B0503020204020204" charset="-122"/>
              <a:cs typeface="+mn-ea"/>
              <a:sym typeface="+mn-lt"/>
            </a:endParaRPr>
          </a:p>
        </p:txBody>
      </p:sp>
      <p:sp>
        <p:nvSpPr>
          <p:cNvPr id="10" name="矩形: 圆角 291"/>
          <p:cNvSpPr/>
          <p:nvPr/>
        </p:nvSpPr>
        <p:spPr>
          <a:xfrm>
            <a:off x="255495" y="4788123"/>
            <a:ext cx="719455" cy="524019"/>
          </a:xfrm>
          <a:prstGeom prst="roundRect">
            <a:avLst>
              <a:gd name="adj" fmla="val 10655"/>
            </a:avLst>
          </a:prstGeom>
          <a:solidFill>
            <a:srgbClr val="7030A0"/>
          </a:solidFill>
          <a:ln w="12700">
            <a:noFill/>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latin typeface="微软雅黑" panose="020B0503020204020204" charset="-122"/>
              <a:ea typeface="微软雅黑" panose="020B0503020204020204" charset="-122"/>
              <a:cs typeface="+mn-ea"/>
              <a:sym typeface="+mn-lt"/>
            </a:endParaRPr>
          </a:p>
        </p:txBody>
      </p:sp>
      <p:sp>
        <p:nvSpPr>
          <p:cNvPr id="20" name="矩形: 圆角 19"/>
          <p:cNvSpPr/>
          <p:nvPr/>
        </p:nvSpPr>
        <p:spPr>
          <a:xfrm>
            <a:off x="1189845" y="4899793"/>
            <a:ext cx="1044439" cy="320224"/>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采购寻源数据</a:t>
            </a:r>
            <a:endParaRPr lang="en-US" altLang="zh-CN" sz="1000" dirty="0">
              <a:latin typeface="微软雅黑" panose="020B0503020204020204" charset="-122"/>
              <a:ea typeface="微软雅黑" panose="020B0503020204020204" charset="-122"/>
              <a:cs typeface="+mn-ea"/>
              <a:sym typeface="+mn-lt"/>
            </a:endParaRPr>
          </a:p>
        </p:txBody>
      </p:sp>
      <p:sp>
        <p:nvSpPr>
          <p:cNvPr id="21" name="矩形: 圆角 20"/>
          <p:cNvSpPr/>
          <p:nvPr/>
        </p:nvSpPr>
        <p:spPr>
          <a:xfrm>
            <a:off x="2611245" y="4899793"/>
            <a:ext cx="1055618" cy="320224"/>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物料商品数据</a:t>
            </a:r>
            <a:endParaRPr lang="zh-CN" altLang="en-US" sz="1000" dirty="0">
              <a:latin typeface="微软雅黑" panose="020B0503020204020204" charset="-122"/>
              <a:ea typeface="微软雅黑" panose="020B0503020204020204" charset="-122"/>
              <a:cs typeface="+mn-ea"/>
              <a:sym typeface="+mn-lt"/>
            </a:endParaRPr>
          </a:p>
        </p:txBody>
      </p:sp>
      <p:sp>
        <p:nvSpPr>
          <p:cNvPr id="39" name="矩形: 圆角 38"/>
          <p:cNvSpPr/>
          <p:nvPr/>
        </p:nvSpPr>
        <p:spPr>
          <a:xfrm>
            <a:off x="4043824" y="4899793"/>
            <a:ext cx="1049230" cy="320224"/>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供应商数据</a:t>
            </a:r>
            <a:endParaRPr lang="zh-CN" altLang="en-US" sz="1000" dirty="0">
              <a:latin typeface="微软雅黑" panose="020B0503020204020204" charset="-122"/>
              <a:ea typeface="微软雅黑" panose="020B0503020204020204" charset="-122"/>
              <a:cs typeface="+mn-ea"/>
              <a:sym typeface="+mn-lt"/>
            </a:endParaRPr>
          </a:p>
        </p:txBody>
      </p:sp>
      <p:sp>
        <p:nvSpPr>
          <p:cNvPr id="40" name="矩形: 圆角 39"/>
          <p:cNvSpPr/>
          <p:nvPr/>
        </p:nvSpPr>
        <p:spPr>
          <a:xfrm>
            <a:off x="5470015" y="4899793"/>
            <a:ext cx="1056150" cy="320224"/>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风险预警数据</a:t>
            </a:r>
            <a:endParaRPr lang="zh-CN" altLang="en-US" sz="1000" dirty="0">
              <a:latin typeface="微软雅黑" panose="020B0503020204020204" charset="-122"/>
              <a:ea typeface="微软雅黑" panose="020B0503020204020204" charset="-122"/>
              <a:cs typeface="+mn-ea"/>
              <a:sym typeface="+mn-lt"/>
            </a:endParaRPr>
          </a:p>
        </p:txBody>
      </p:sp>
      <p:sp>
        <p:nvSpPr>
          <p:cNvPr id="41" name="矩形: 圆角 40"/>
          <p:cNvSpPr/>
          <p:nvPr/>
        </p:nvSpPr>
        <p:spPr>
          <a:xfrm>
            <a:off x="6903126" y="4899793"/>
            <a:ext cx="1056682" cy="320224"/>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cs typeface="+mn-ea"/>
                <a:sym typeface="+mn-lt"/>
              </a:rPr>
              <a:t>开评标数据</a:t>
            </a:r>
            <a:endParaRPr lang="zh-CN" altLang="en-US" sz="1000" dirty="0">
              <a:latin typeface="微软雅黑" panose="020B0503020204020204" charset="-122"/>
              <a:ea typeface="微软雅黑" panose="020B0503020204020204" charset="-122"/>
              <a:cs typeface="+mn-ea"/>
              <a:sym typeface="+mn-lt"/>
            </a:endParaRPr>
          </a:p>
        </p:txBody>
      </p:sp>
      <p:sp>
        <p:nvSpPr>
          <p:cNvPr id="42" name="矩形: 圆角 375"/>
          <p:cNvSpPr/>
          <p:nvPr/>
        </p:nvSpPr>
        <p:spPr>
          <a:xfrm>
            <a:off x="8336770" y="4899793"/>
            <a:ext cx="1056150" cy="320224"/>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cs typeface="+mn-ea"/>
                <a:sym typeface="+mn-lt"/>
              </a:rPr>
              <a:t>专家数据</a:t>
            </a:r>
            <a:endParaRPr lang="zh-CN" altLang="en-US" sz="1000" dirty="0">
              <a:latin typeface="微软雅黑" panose="020B0503020204020204" charset="-122"/>
              <a:ea typeface="微软雅黑" panose="020B0503020204020204" charset="-122"/>
              <a:cs typeface="+mn-ea"/>
              <a:sym typeface="+mn-lt"/>
            </a:endParaRPr>
          </a:p>
        </p:txBody>
      </p:sp>
      <p:sp>
        <p:nvSpPr>
          <p:cNvPr id="45" name="文本框 44"/>
          <p:cNvSpPr txBox="1"/>
          <p:nvPr/>
        </p:nvSpPr>
        <p:spPr>
          <a:xfrm>
            <a:off x="202420" y="4832900"/>
            <a:ext cx="810260" cy="420043"/>
          </a:xfrm>
          <a:prstGeom prst="rect">
            <a:avLst/>
          </a:prstGeom>
          <a:noFill/>
        </p:spPr>
        <p:txBody>
          <a:bodyPr wrap="square" rtlCol="0">
            <a:spAutoFit/>
          </a:bodyPr>
          <a:lstStyle/>
          <a:p>
            <a:pPr algn="ctr"/>
            <a:r>
              <a:rPr lang="zh-CN" altLang="en-US" sz="1200" b="1" dirty="0">
                <a:solidFill>
                  <a:schemeClr val="bg1"/>
                </a:solidFill>
                <a:latin typeface="微软雅黑" panose="020B0503020204020204" charset="-122"/>
                <a:ea typeface="微软雅黑" panose="020B0503020204020204" charset="-122"/>
                <a:cs typeface="+mn-ea"/>
                <a:sym typeface="+mn-lt"/>
              </a:rPr>
              <a:t>应用</a:t>
            </a:r>
            <a:endParaRPr lang="zh-CN" altLang="en-US" sz="1200" b="1" dirty="0">
              <a:solidFill>
                <a:schemeClr val="bg1"/>
              </a:solidFill>
              <a:latin typeface="微软雅黑" panose="020B0503020204020204" charset="-122"/>
              <a:ea typeface="微软雅黑" panose="020B0503020204020204" charset="-122"/>
              <a:cs typeface="+mn-ea"/>
              <a:sym typeface="+mn-lt"/>
            </a:endParaRPr>
          </a:p>
          <a:p>
            <a:pPr algn="ctr"/>
            <a:r>
              <a:rPr lang="zh-CN" altLang="en-US" sz="1200" b="1" dirty="0">
                <a:solidFill>
                  <a:schemeClr val="bg1"/>
                </a:solidFill>
                <a:latin typeface="微软雅黑" panose="020B0503020204020204" charset="-122"/>
                <a:ea typeface="微软雅黑" panose="020B0503020204020204" charset="-122"/>
                <a:cs typeface="+mn-ea"/>
                <a:sym typeface="+mn-lt"/>
              </a:rPr>
              <a:t>数据层</a:t>
            </a:r>
            <a:endParaRPr lang="zh-CN" altLang="en-US" sz="1200" b="1" dirty="0">
              <a:solidFill>
                <a:schemeClr val="bg1"/>
              </a:solidFill>
              <a:latin typeface="微软雅黑" panose="020B0503020204020204" charset="-122"/>
              <a:ea typeface="微软雅黑" panose="020B0503020204020204" charset="-122"/>
              <a:cs typeface="+mn-ea"/>
              <a:sym typeface="+mn-lt"/>
            </a:endParaRPr>
          </a:p>
        </p:txBody>
      </p:sp>
      <p:sp>
        <p:nvSpPr>
          <p:cNvPr id="334" name="文本框 333"/>
          <p:cNvSpPr txBox="1"/>
          <p:nvPr/>
        </p:nvSpPr>
        <p:spPr>
          <a:xfrm>
            <a:off x="235172" y="1747027"/>
            <a:ext cx="719455" cy="2948768"/>
          </a:xfrm>
          <a:prstGeom prst="roundRect">
            <a:avLst/>
          </a:prstGeom>
          <a:solidFill>
            <a:srgbClr val="4472C4"/>
          </a:solidFill>
        </p:spPr>
        <p:txBody>
          <a:bodyPr wrap="square" rtlCol="0" anchor="ctr" anchorCtr="0">
            <a:noAutofit/>
          </a:bodyPr>
          <a:lstStyle/>
          <a:p>
            <a:pPr algn="ctr"/>
            <a:r>
              <a:rPr lang="zh-CN" altLang="en-US" sz="1200" b="1" dirty="0">
                <a:solidFill>
                  <a:schemeClr val="bg1"/>
                </a:solidFill>
                <a:latin typeface="微软雅黑" panose="020B0503020204020204" charset="-122"/>
                <a:ea typeface="微软雅黑" panose="020B0503020204020204" charset="-122"/>
                <a:cs typeface="+mn-ea"/>
                <a:sym typeface="+mn-lt"/>
              </a:rPr>
              <a:t>应用管理层</a:t>
            </a:r>
            <a:endParaRPr lang="zh-CN" altLang="en-US" sz="1200" b="1" dirty="0">
              <a:solidFill>
                <a:schemeClr val="bg1"/>
              </a:solidFill>
              <a:latin typeface="微软雅黑" panose="020B0503020204020204" charset="-122"/>
              <a:ea typeface="微软雅黑" panose="020B0503020204020204" charset="-122"/>
              <a:cs typeface="+mn-ea"/>
              <a:sym typeface="+mn-lt"/>
            </a:endParaRPr>
          </a:p>
        </p:txBody>
      </p:sp>
      <p:sp>
        <p:nvSpPr>
          <p:cNvPr id="2" name="文本框 1"/>
          <p:cNvSpPr txBox="1"/>
          <p:nvPr/>
        </p:nvSpPr>
        <p:spPr>
          <a:xfrm>
            <a:off x="2746531" y="370001"/>
            <a:ext cx="589392" cy="252377"/>
          </a:xfrm>
          <a:prstGeom prst="rect">
            <a:avLst/>
          </a:prstGeom>
          <a:noFill/>
          <a:effectLst/>
        </p:spPr>
        <p:txBody>
          <a:bodyPr wrap="none" lIns="82296" tIns="41148" rIns="82296" bIns="41148" rtlCol="0">
            <a:spAutoFit/>
          </a:bodyPr>
          <a:lstStyle/>
          <a:p>
            <a:pPr algn="ctr"/>
            <a:r>
              <a:rPr lang="zh-CN" altLang="en-US" sz="1100" b="1" dirty="0">
                <a:solidFill>
                  <a:schemeClr val="tx1"/>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供应商</a:t>
            </a:r>
            <a:endParaRPr lang="zh-CN" altLang="en-US" sz="1100" b="1" dirty="0">
              <a:solidFill>
                <a:schemeClr val="tx1"/>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3" name="文本框 2"/>
          <p:cNvSpPr txBox="1"/>
          <p:nvPr/>
        </p:nvSpPr>
        <p:spPr>
          <a:xfrm>
            <a:off x="1441303" y="370001"/>
            <a:ext cx="589392" cy="252377"/>
          </a:xfrm>
          <a:prstGeom prst="rect">
            <a:avLst/>
          </a:prstGeom>
          <a:noFill/>
          <a:effectLst/>
        </p:spPr>
        <p:txBody>
          <a:bodyPr wrap="none" lIns="82296" tIns="41148" rIns="82296" bIns="41148" rtlCol="0">
            <a:spAutoFit/>
          </a:bodyPr>
          <a:lstStyle/>
          <a:p>
            <a:pPr algn="ctr"/>
            <a:r>
              <a:rPr lang="zh-CN" altLang="en-US" sz="1100" b="1" dirty="0">
                <a:solidFill>
                  <a:schemeClr val="tx1"/>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采购人</a:t>
            </a:r>
            <a:endParaRPr lang="zh-CN" altLang="en-US" sz="1100" b="1" dirty="0">
              <a:solidFill>
                <a:schemeClr val="tx1"/>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4" name="文本框 3"/>
          <p:cNvSpPr txBox="1"/>
          <p:nvPr/>
        </p:nvSpPr>
        <p:spPr>
          <a:xfrm>
            <a:off x="4051759" y="370001"/>
            <a:ext cx="730456" cy="252377"/>
          </a:xfrm>
          <a:prstGeom prst="rect">
            <a:avLst/>
          </a:prstGeom>
          <a:noFill/>
          <a:effectLst/>
        </p:spPr>
        <p:txBody>
          <a:bodyPr wrap="none" lIns="82296" tIns="41148" rIns="82296" bIns="41148" rtlCol="0">
            <a:spAutoFit/>
          </a:bodyPr>
          <a:lstStyle/>
          <a:p>
            <a:pPr algn="ctr"/>
            <a:r>
              <a:rPr lang="zh-CN" altLang="en-US" sz="1100" b="1" dirty="0">
                <a:solidFill>
                  <a:schemeClr val="tx1"/>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评审专家</a:t>
            </a:r>
            <a:endParaRPr lang="zh-CN" altLang="en-US" sz="1100" b="1" dirty="0">
              <a:solidFill>
                <a:schemeClr val="tx1"/>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5" name="文本框 4"/>
          <p:cNvSpPr txBox="1"/>
          <p:nvPr/>
        </p:nvSpPr>
        <p:spPr>
          <a:xfrm>
            <a:off x="5498051" y="370001"/>
            <a:ext cx="730456" cy="252377"/>
          </a:xfrm>
          <a:prstGeom prst="rect">
            <a:avLst/>
          </a:prstGeom>
          <a:noFill/>
          <a:effectLst/>
        </p:spPr>
        <p:txBody>
          <a:bodyPr wrap="none" lIns="82296" tIns="41148" rIns="82296" bIns="41148" rtlCol="0">
            <a:spAutoFit/>
          </a:bodyPr>
          <a:lstStyle/>
          <a:p>
            <a:pPr algn="ctr"/>
            <a:r>
              <a:rPr lang="zh-CN" altLang="en-US" sz="1100" b="1" dirty="0">
                <a:solidFill>
                  <a:schemeClr val="tx1"/>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监管审计</a:t>
            </a:r>
            <a:endParaRPr lang="zh-CN" altLang="en-US" sz="1100" b="1" dirty="0">
              <a:solidFill>
                <a:schemeClr val="tx1"/>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cxnSp>
        <p:nvCxnSpPr>
          <p:cNvPr id="6" name="直接连接符 5"/>
          <p:cNvCxnSpPr/>
          <p:nvPr/>
        </p:nvCxnSpPr>
        <p:spPr>
          <a:xfrm>
            <a:off x="2396250" y="400639"/>
            <a:ext cx="0" cy="204967"/>
          </a:xfrm>
          <a:prstGeom prst="line">
            <a:avLst/>
          </a:prstGeom>
          <a:ln w="5715">
            <a:solidFill>
              <a:schemeClr val="bg1">
                <a:lumMod val="65000"/>
              </a:schemeClr>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706582" y="400639"/>
            <a:ext cx="0" cy="204967"/>
          </a:xfrm>
          <a:prstGeom prst="line">
            <a:avLst/>
          </a:prstGeom>
          <a:ln w="5715">
            <a:solidFill>
              <a:schemeClr val="bg1">
                <a:lumMod val="65000"/>
              </a:schemeClr>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5065993" y="400639"/>
            <a:ext cx="0" cy="204967"/>
          </a:xfrm>
          <a:prstGeom prst="line">
            <a:avLst/>
          </a:prstGeom>
          <a:ln w="5715">
            <a:solidFill>
              <a:schemeClr val="bg1">
                <a:lumMod val="65000"/>
              </a:schemeClr>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127977" y="400639"/>
            <a:ext cx="0" cy="204967"/>
          </a:xfrm>
          <a:prstGeom prst="line">
            <a:avLst/>
          </a:prstGeom>
          <a:ln w="5715">
            <a:solidFill>
              <a:schemeClr val="bg1">
                <a:lumMod val="65000"/>
              </a:schemeClr>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6610433" y="400639"/>
            <a:ext cx="0" cy="204967"/>
          </a:xfrm>
          <a:prstGeom prst="line">
            <a:avLst/>
          </a:prstGeom>
          <a:ln w="5715">
            <a:solidFill>
              <a:schemeClr val="bg1">
                <a:lumMod val="65000"/>
              </a:schemeClr>
            </a:solidFill>
            <a:prstDash val="solid"/>
          </a:ln>
          <a:effectLst/>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6803284" y="379464"/>
            <a:ext cx="730456" cy="252377"/>
          </a:xfrm>
          <a:prstGeom prst="rect">
            <a:avLst/>
          </a:prstGeom>
          <a:noFill/>
          <a:effectLst/>
        </p:spPr>
        <p:txBody>
          <a:bodyPr wrap="none" lIns="82296" tIns="41148" rIns="82296" bIns="41148" rtlCol="0">
            <a:spAutoFit/>
          </a:bodyPr>
          <a:lstStyle/>
          <a:p>
            <a:pPr algn="ctr"/>
            <a:r>
              <a:rPr lang="zh-CN" altLang="en-US" sz="1100" b="1"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财务人员</a:t>
            </a:r>
            <a:endParaRPr lang="zh-CN" altLang="en-US" sz="1100" b="1" dirty="0">
              <a:solidFill>
                <a:schemeClr val="tx1"/>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cxnSp>
        <p:nvCxnSpPr>
          <p:cNvPr id="49" name="直接连接符 48"/>
          <p:cNvCxnSpPr/>
          <p:nvPr/>
        </p:nvCxnSpPr>
        <p:spPr>
          <a:xfrm>
            <a:off x="7823537" y="400639"/>
            <a:ext cx="0" cy="204967"/>
          </a:xfrm>
          <a:prstGeom prst="line">
            <a:avLst/>
          </a:prstGeom>
          <a:ln w="5715">
            <a:solidFill>
              <a:schemeClr val="bg1">
                <a:lumMod val="65000"/>
              </a:schemeClr>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8935546" y="400639"/>
            <a:ext cx="0" cy="204967"/>
          </a:xfrm>
          <a:prstGeom prst="line">
            <a:avLst/>
          </a:prstGeom>
          <a:ln w="5715">
            <a:solidFill>
              <a:schemeClr val="bg1">
                <a:lumMod val="65000"/>
              </a:schemeClr>
            </a:solidFill>
            <a:prstDash val="solid"/>
          </a:ln>
          <a:effectLst/>
        </p:spPr>
        <p:style>
          <a:lnRef idx="1">
            <a:schemeClr val="accent1"/>
          </a:lnRef>
          <a:fillRef idx="0">
            <a:schemeClr val="accent1"/>
          </a:fillRef>
          <a:effectRef idx="0">
            <a:schemeClr val="accent1"/>
          </a:effectRef>
          <a:fontRef idx="minor">
            <a:schemeClr val="tx1"/>
          </a:fontRef>
        </p:style>
      </p:cxnSp>
      <p:sp>
        <p:nvSpPr>
          <p:cNvPr id="87" name="箭头: 下 47"/>
          <p:cNvSpPr/>
          <p:nvPr/>
        </p:nvSpPr>
        <p:spPr>
          <a:xfrm rot="10800000" flipV="1">
            <a:off x="1611695" y="659363"/>
            <a:ext cx="159017" cy="209640"/>
          </a:xfrm>
          <a:prstGeom prst="downArrow">
            <a:avLst>
              <a:gd name="adj1" fmla="val 50000"/>
              <a:gd name="adj2" fmla="val 52777"/>
            </a:avLst>
          </a:prstGeom>
          <a:gradFill>
            <a:gsLst>
              <a:gs pos="0">
                <a:srgbClr val="2855F0">
                  <a:alpha val="0"/>
                </a:srgbClr>
              </a:gs>
              <a:gs pos="100000">
                <a:srgbClr val="2855F0"/>
              </a:gs>
            </a:gsLst>
            <a:lin ang="5400000" scaled="1"/>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88" name="箭头: 下 47"/>
          <p:cNvSpPr/>
          <p:nvPr/>
        </p:nvSpPr>
        <p:spPr>
          <a:xfrm rot="10800000" flipV="1">
            <a:off x="2882210" y="659364"/>
            <a:ext cx="159017" cy="209640"/>
          </a:xfrm>
          <a:prstGeom prst="downArrow">
            <a:avLst>
              <a:gd name="adj1" fmla="val 50000"/>
              <a:gd name="adj2" fmla="val 52777"/>
            </a:avLst>
          </a:prstGeom>
          <a:gradFill>
            <a:gsLst>
              <a:gs pos="0">
                <a:srgbClr val="2855F0">
                  <a:alpha val="0"/>
                </a:srgbClr>
              </a:gs>
              <a:gs pos="100000">
                <a:srgbClr val="2855F0"/>
              </a:gs>
            </a:gsLst>
            <a:lin ang="5400000" scaled="1"/>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89" name="箭头: 下 47"/>
          <p:cNvSpPr/>
          <p:nvPr/>
        </p:nvSpPr>
        <p:spPr>
          <a:xfrm rot="10800000" flipV="1">
            <a:off x="4337478" y="659363"/>
            <a:ext cx="159017" cy="209640"/>
          </a:xfrm>
          <a:prstGeom prst="downArrow">
            <a:avLst>
              <a:gd name="adj1" fmla="val 50000"/>
              <a:gd name="adj2" fmla="val 52777"/>
            </a:avLst>
          </a:prstGeom>
          <a:gradFill>
            <a:gsLst>
              <a:gs pos="0">
                <a:srgbClr val="2855F0">
                  <a:alpha val="0"/>
                </a:srgbClr>
              </a:gs>
              <a:gs pos="100000">
                <a:srgbClr val="2855F0"/>
              </a:gs>
            </a:gsLst>
            <a:lin ang="5400000" scaled="1"/>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90" name="箭头: 下 47"/>
          <p:cNvSpPr/>
          <p:nvPr/>
        </p:nvSpPr>
        <p:spPr>
          <a:xfrm rot="10800000" flipV="1">
            <a:off x="5776300" y="659363"/>
            <a:ext cx="159017" cy="209640"/>
          </a:xfrm>
          <a:prstGeom prst="downArrow">
            <a:avLst>
              <a:gd name="adj1" fmla="val 50000"/>
              <a:gd name="adj2" fmla="val 52777"/>
            </a:avLst>
          </a:prstGeom>
          <a:gradFill>
            <a:gsLst>
              <a:gs pos="0">
                <a:srgbClr val="2855F0">
                  <a:alpha val="0"/>
                </a:srgbClr>
              </a:gs>
              <a:gs pos="100000">
                <a:srgbClr val="2855F0"/>
              </a:gs>
            </a:gsLst>
            <a:lin ang="5400000" scaled="1"/>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91" name="箭头: 下 47"/>
          <p:cNvSpPr/>
          <p:nvPr/>
        </p:nvSpPr>
        <p:spPr>
          <a:xfrm rot="10800000" flipV="1">
            <a:off x="7093109" y="659364"/>
            <a:ext cx="159017" cy="209640"/>
          </a:xfrm>
          <a:prstGeom prst="downArrow">
            <a:avLst>
              <a:gd name="adj1" fmla="val 50000"/>
              <a:gd name="adj2" fmla="val 52777"/>
            </a:avLst>
          </a:prstGeom>
          <a:gradFill>
            <a:gsLst>
              <a:gs pos="0">
                <a:srgbClr val="2855F0">
                  <a:alpha val="0"/>
                </a:srgbClr>
              </a:gs>
              <a:gs pos="100000">
                <a:srgbClr val="2855F0"/>
              </a:gs>
            </a:gsLst>
            <a:lin ang="5400000" scaled="1"/>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92" name="箭头: 下 47"/>
          <p:cNvSpPr/>
          <p:nvPr/>
        </p:nvSpPr>
        <p:spPr>
          <a:xfrm rot="10800000" flipV="1">
            <a:off x="8330409" y="659363"/>
            <a:ext cx="159017" cy="209640"/>
          </a:xfrm>
          <a:prstGeom prst="downArrow">
            <a:avLst>
              <a:gd name="adj1" fmla="val 50000"/>
              <a:gd name="adj2" fmla="val 52777"/>
            </a:avLst>
          </a:prstGeom>
          <a:gradFill>
            <a:gsLst>
              <a:gs pos="0">
                <a:srgbClr val="2855F0">
                  <a:alpha val="0"/>
                </a:srgbClr>
              </a:gs>
              <a:gs pos="100000">
                <a:srgbClr val="2855F0"/>
              </a:gs>
            </a:gsLst>
            <a:lin ang="5400000" scaled="1"/>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15" name="文本框 14"/>
          <p:cNvSpPr txBox="1"/>
          <p:nvPr/>
        </p:nvSpPr>
        <p:spPr>
          <a:xfrm>
            <a:off x="8188382" y="379464"/>
            <a:ext cx="448328" cy="252377"/>
          </a:xfrm>
          <a:prstGeom prst="rect">
            <a:avLst/>
          </a:prstGeom>
          <a:noFill/>
          <a:effectLst/>
        </p:spPr>
        <p:txBody>
          <a:bodyPr wrap="none" lIns="82296" tIns="41148" rIns="82296" bIns="41148" rtlCol="0">
            <a:spAutoFit/>
          </a:bodyPr>
          <a:lstStyle/>
          <a:p>
            <a:pPr algn="ctr"/>
            <a:r>
              <a:rPr lang="zh-CN" altLang="en-US" sz="1100" b="1" dirty="0">
                <a:solidFill>
                  <a:schemeClr val="tx1"/>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领导</a:t>
            </a:r>
            <a:endParaRPr lang="zh-CN" altLang="en-US" sz="1100" b="1" dirty="0">
              <a:solidFill>
                <a:schemeClr val="tx1"/>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grpSp>
        <p:nvGrpSpPr>
          <p:cNvPr id="106" name="组合 105"/>
          <p:cNvGrpSpPr/>
          <p:nvPr/>
        </p:nvGrpSpPr>
        <p:grpSpPr>
          <a:xfrm>
            <a:off x="6238544" y="1037763"/>
            <a:ext cx="3367370" cy="577986"/>
            <a:chOff x="6151345" y="996039"/>
            <a:chExt cx="3541768" cy="657810"/>
          </a:xfrm>
        </p:grpSpPr>
        <p:sp>
          <p:nvSpPr>
            <p:cNvPr id="82" name="矩形: 圆角 81"/>
            <p:cNvSpPr/>
            <p:nvPr/>
          </p:nvSpPr>
          <p:spPr>
            <a:xfrm>
              <a:off x="6151345" y="996039"/>
              <a:ext cx="3541768" cy="657810"/>
            </a:xfrm>
            <a:prstGeom prst="roundRect">
              <a:avLst>
                <a:gd name="adj" fmla="val 6388"/>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100">
                <a:latin typeface="微软雅黑" panose="020B0503020204020204" charset="-122"/>
                <a:ea typeface="微软雅黑" panose="020B0503020204020204" charset="-122"/>
                <a:cs typeface="+mn-ea"/>
                <a:sym typeface="+mn-lt"/>
              </a:endParaRPr>
            </a:p>
          </p:txBody>
        </p:sp>
        <p:sp>
          <p:nvSpPr>
            <p:cNvPr id="95" name="矩形: 圆角 94"/>
            <p:cNvSpPr/>
            <p:nvPr/>
          </p:nvSpPr>
          <p:spPr>
            <a:xfrm>
              <a:off x="6224556" y="1280469"/>
              <a:ext cx="823595" cy="33274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dirty="0">
                  <a:latin typeface="微软雅黑" panose="020B0503020204020204" charset="-122"/>
                  <a:ea typeface="微软雅黑" panose="020B0503020204020204" charset="-122"/>
                  <a:cs typeface="+mn-ea"/>
                  <a:sym typeface="+mn-lt"/>
                </a:rPr>
                <a:t>准入管理</a:t>
              </a:r>
              <a:endParaRPr lang="zh-CN" altLang="en-US" sz="1100" b="1" dirty="0">
                <a:latin typeface="微软雅黑" panose="020B0503020204020204" charset="-122"/>
                <a:ea typeface="微软雅黑" panose="020B0503020204020204" charset="-122"/>
                <a:cs typeface="+mn-ea"/>
                <a:sym typeface="+mn-lt"/>
              </a:endParaRPr>
            </a:p>
          </p:txBody>
        </p:sp>
        <p:sp>
          <p:nvSpPr>
            <p:cNvPr id="96" name="矩形: 圆角 95"/>
            <p:cNvSpPr/>
            <p:nvPr/>
          </p:nvSpPr>
          <p:spPr>
            <a:xfrm>
              <a:off x="7078631" y="1280469"/>
              <a:ext cx="823595" cy="33274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dirty="0">
                  <a:latin typeface="微软雅黑" panose="020B0503020204020204" charset="-122"/>
                  <a:ea typeface="微软雅黑" panose="020B0503020204020204" charset="-122"/>
                  <a:cs typeface="+mn-ea"/>
                  <a:sym typeface="+mn-lt"/>
                </a:rPr>
                <a:t>投标管理</a:t>
              </a:r>
              <a:endParaRPr lang="zh-CN" altLang="en-US" sz="1100" b="1" dirty="0">
                <a:latin typeface="微软雅黑" panose="020B0503020204020204" charset="-122"/>
                <a:ea typeface="微软雅黑" panose="020B0503020204020204" charset="-122"/>
                <a:cs typeface="+mn-ea"/>
                <a:sym typeface="+mn-lt"/>
              </a:endParaRPr>
            </a:p>
          </p:txBody>
        </p:sp>
        <p:sp>
          <p:nvSpPr>
            <p:cNvPr id="97" name="矩形: 圆角 96"/>
            <p:cNvSpPr/>
            <p:nvPr/>
          </p:nvSpPr>
          <p:spPr>
            <a:xfrm>
              <a:off x="7932071" y="1280469"/>
              <a:ext cx="823595" cy="33274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dirty="0">
                  <a:latin typeface="微软雅黑" panose="020B0503020204020204" charset="-122"/>
                  <a:ea typeface="微软雅黑" panose="020B0503020204020204" charset="-122"/>
                  <a:cs typeface="+mn-ea"/>
                  <a:sym typeface="+mn-lt"/>
                </a:rPr>
                <a:t>履约协同</a:t>
              </a:r>
              <a:endParaRPr lang="zh-CN" altLang="en-US" sz="1100" b="1" dirty="0">
                <a:latin typeface="微软雅黑" panose="020B0503020204020204" charset="-122"/>
                <a:ea typeface="微软雅黑" panose="020B0503020204020204" charset="-122"/>
                <a:cs typeface="+mn-ea"/>
                <a:sym typeface="+mn-lt"/>
              </a:endParaRPr>
            </a:p>
          </p:txBody>
        </p:sp>
        <p:sp>
          <p:nvSpPr>
            <p:cNvPr id="98" name="矩形: 圆角 97"/>
            <p:cNvSpPr/>
            <p:nvPr/>
          </p:nvSpPr>
          <p:spPr>
            <a:xfrm>
              <a:off x="8786146" y="1280469"/>
              <a:ext cx="823595" cy="33274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dirty="0">
                  <a:latin typeface="微软雅黑" panose="020B0503020204020204" charset="-122"/>
                  <a:ea typeface="微软雅黑" panose="020B0503020204020204" charset="-122"/>
                  <a:cs typeface="+mn-ea"/>
                  <a:sym typeface="+mn-lt"/>
                </a:rPr>
                <a:t>费用管理</a:t>
              </a:r>
              <a:endParaRPr lang="zh-CN" altLang="en-US" sz="1100" b="1" dirty="0">
                <a:latin typeface="微软雅黑" panose="020B0503020204020204" charset="-122"/>
                <a:ea typeface="微软雅黑" panose="020B0503020204020204" charset="-122"/>
                <a:cs typeface="+mn-ea"/>
                <a:sym typeface="+mn-lt"/>
              </a:endParaRPr>
            </a:p>
          </p:txBody>
        </p:sp>
      </p:grpSp>
      <p:grpSp>
        <p:nvGrpSpPr>
          <p:cNvPr id="105" name="组合 104"/>
          <p:cNvGrpSpPr/>
          <p:nvPr/>
        </p:nvGrpSpPr>
        <p:grpSpPr>
          <a:xfrm>
            <a:off x="1072824" y="1027463"/>
            <a:ext cx="5104084" cy="588285"/>
            <a:chOff x="1005954" y="984317"/>
            <a:chExt cx="5237825" cy="669532"/>
          </a:xfrm>
        </p:grpSpPr>
        <p:sp>
          <p:nvSpPr>
            <p:cNvPr id="81" name="矩形: 圆角 80"/>
            <p:cNvSpPr/>
            <p:nvPr/>
          </p:nvSpPr>
          <p:spPr>
            <a:xfrm>
              <a:off x="1005954" y="996040"/>
              <a:ext cx="5237825" cy="657809"/>
            </a:xfrm>
            <a:prstGeom prst="roundRect">
              <a:avLst>
                <a:gd name="adj" fmla="val 8101"/>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mn-ea"/>
                <a:sym typeface="+mn-lt"/>
              </a:endParaRPr>
            </a:p>
          </p:txBody>
        </p:sp>
        <p:sp>
          <p:nvSpPr>
            <p:cNvPr id="83" name="矩形: 圆角 82"/>
            <p:cNvSpPr/>
            <p:nvPr/>
          </p:nvSpPr>
          <p:spPr>
            <a:xfrm>
              <a:off x="1068356" y="1280469"/>
              <a:ext cx="823595" cy="33274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100" b="1" dirty="0">
                  <a:latin typeface="微软雅黑" panose="020B0503020204020204" charset="-122"/>
                  <a:ea typeface="微软雅黑" panose="020B0503020204020204" charset="-122"/>
                  <a:cs typeface="+mn-ea"/>
                  <a:sym typeface="+mn-lt"/>
                </a:rPr>
                <a:t>采购需求</a:t>
              </a:r>
              <a:endParaRPr lang="zh-CN" altLang="en-US" sz="1100" b="1" dirty="0">
                <a:latin typeface="微软雅黑" panose="020B0503020204020204" charset="-122"/>
                <a:ea typeface="微软雅黑" panose="020B0503020204020204" charset="-122"/>
                <a:cs typeface="+mn-ea"/>
                <a:sym typeface="+mn-lt"/>
              </a:endParaRPr>
            </a:p>
          </p:txBody>
        </p:sp>
        <p:sp>
          <p:nvSpPr>
            <p:cNvPr id="84" name="矩形: 圆角 83"/>
            <p:cNvSpPr/>
            <p:nvPr/>
          </p:nvSpPr>
          <p:spPr>
            <a:xfrm>
              <a:off x="1922431" y="1280469"/>
              <a:ext cx="823595" cy="33274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dirty="0">
                  <a:latin typeface="微软雅黑" panose="020B0503020204020204" charset="-122"/>
                  <a:ea typeface="微软雅黑" panose="020B0503020204020204" charset="-122"/>
                  <a:cs typeface="+mn-ea"/>
                  <a:sym typeface="+mn-lt"/>
                </a:rPr>
                <a:t>采购方案</a:t>
              </a:r>
              <a:endParaRPr lang="zh-CN" altLang="en-US" sz="1100" b="1" dirty="0">
                <a:latin typeface="微软雅黑" panose="020B0503020204020204" charset="-122"/>
                <a:ea typeface="微软雅黑" panose="020B0503020204020204" charset="-122"/>
                <a:cs typeface="+mn-ea"/>
                <a:sym typeface="+mn-lt"/>
              </a:endParaRPr>
            </a:p>
          </p:txBody>
        </p:sp>
        <p:sp>
          <p:nvSpPr>
            <p:cNvPr id="85" name="矩形: 圆角 84"/>
            <p:cNvSpPr/>
            <p:nvPr/>
          </p:nvSpPr>
          <p:spPr>
            <a:xfrm>
              <a:off x="2776506" y="1280469"/>
              <a:ext cx="823595" cy="33274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dirty="0">
                  <a:latin typeface="微软雅黑" panose="020B0503020204020204" charset="-122"/>
                  <a:ea typeface="微软雅黑" panose="020B0503020204020204" charset="-122"/>
                  <a:cs typeface="+mn-ea"/>
                  <a:sym typeface="+mn-lt"/>
                </a:rPr>
                <a:t>招标采购</a:t>
              </a:r>
              <a:endParaRPr lang="zh-CN" altLang="en-US" sz="1100" b="1" dirty="0">
                <a:latin typeface="微软雅黑" panose="020B0503020204020204" charset="-122"/>
                <a:ea typeface="微软雅黑" panose="020B0503020204020204" charset="-122"/>
                <a:cs typeface="+mn-ea"/>
                <a:sym typeface="+mn-lt"/>
              </a:endParaRPr>
            </a:p>
          </p:txBody>
        </p:sp>
        <p:sp>
          <p:nvSpPr>
            <p:cNvPr id="86" name="矩形: 圆角 85"/>
            <p:cNvSpPr/>
            <p:nvPr/>
          </p:nvSpPr>
          <p:spPr>
            <a:xfrm>
              <a:off x="3630581" y="1280469"/>
              <a:ext cx="823595" cy="33274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dirty="0">
                  <a:latin typeface="微软雅黑" panose="020B0503020204020204" charset="-122"/>
                  <a:ea typeface="微软雅黑" panose="020B0503020204020204" charset="-122"/>
                  <a:cs typeface="+mn-ea"/>
                  <a:sym typeface="+mn-lt"/>
                </a:rPr>
                <a:t>合同管理</a:t>
              </a:r>
              <a:endParaRPr lang="zh-CN" altLang="en-US" sz="1100" b="1" dirty="0">
                <a:latin typeface="微软雅黑" panose="020B0503020204020204" charset="-122"/>
                <a:ea typeface="微软雅黑" panose="020B0503020204020204" charset="-122"/>
                <a:cs typeface="+mn-ea"/>
                <a:sym typeface="+mn-lt"/>
              </a:endParaRPr>
            </a:p>
          </p:txBody>
        </p:sp>
        <p:sp>
          <p:nvSpPr>
            <p:cNvPr id="93" name="矩形: 圆角 92"/>
            <p:cNvSpPr/>
            <p:nvPr/>
          </p:nvSpPr>
          <p:spPr>
            <a:xfrm>
              <a:off x="4484656" y="1280469"/>
              <a:ext cx="823595" cy="33274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dirty="0">
                  <a:latin typeface="微软雅黑" panose="020B0503020204020204" charset="-122"/>
                  <a:ea typeface="微软雅黑" panose="020B0503020204020204" charset="-122"/>
                  <a:cs typeface="+mn-ea"/>
                  <a:sym typeface="+mn-lt"/>
                </a:rPr>
                <a:t>订单管理</a:t>
              </a:r>
              <a:endParaRPr lang="zh-CN" altLang="en-US" sz="1100" b="1" dirty="0">
                <a:latin typeface="微软雅黑" panose="020B0503020204020204" charset="-122"/>
                <a:ea typeface="微软雅黑" panose="020B0503020204020204" charset="-122"/>
                <a:cs typeface="+mn-ea"/>
                <a:sym typeface="+mn-lt"/>
              </a:endParaRPr>
            </a:p>
          </p:txBody>
        </p:sp>
        <p:sp>
          <p:nvSpPr>
            <p:cNvPr id="94" name="矩形: 圆角 93"/>
            <p:cNvSpPr/>
            <p:nvPr/>
          </p:nvSpPr>
          <p:spPr>
            <a:xfrm>
              <a:off x="5338096" y="1280469"/>
              <a:ext cx="823595" cy="33274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dirty="0">
                  <a:latin typeface="微软雅黑" panose="020B0503020204020204" charset="-122"/>
                  <a:ea typeface="微软雅黑" panose="020B0503020204020204" charset="-122"/>
                  <a:cs typeface="+mn-ea"/>
                  <a:sym typeface="+mn-lt"/>
                </a:rPr>
                <a:t>结算管理</a:t>
              </a:r>
              <a:endParaRPr lang="zh-CN" altLang="en-US" sz="1100" b="1" dirty="0">
                <a:latin typeface="微软雅黑" panose="020B0503020204020204" charset="-122"/>
                <a:ea typeface="微软雅黑" panose="020B0503020204020204" charset="-122"/>
                <a:cs typeface="+mn-ea"/>
                <a:sym typeface="+mn-lt"/>
              </a:endParaRPr>
            </a:p>
          </p:txBody>
        </p:sp>
        <p:sp>
          <p:nvSpPr>
            <p:cNvPr id="99" name="文本框 98"/>
            <p:cNvSpPr txBox="1"/>
            <p:nvPr/>
          </p:nvSpPr>
          <p:spPr>
            <a:xfrm>
              <a:off x="3030654" y="984317"/>
              <a:ext cx="1173480" cy="291465"/>
            </a:xfrm>
            <a:prstGeom prst="rect">
              <a:avLst/>
            </a:prstGeom>
            <a:noFill/>
          </p:spPr>
          <p:txBody>
            <a:bodyPr wrap="none" rtlCol="0">
              <a:spAutoFit/>
            </a:bodyPr>
            <a:lstStyle/>
            <a:p>
              <a:pPr algn="l"/>
              <a:r>
                <a:rPr lang="zh-CN" altLang="en-US" sz="1300" dirty="0">
                  <a:latin typeface="微软雅黑" panose="020B0503020204020204" charset="-122"/>
                  <a:ea typeface="微软雅黑" panose="020B0503020204020204" charset="-122"/>
                  <a:cs typeface="+mn-ea"/>
                  <a:sym typeface="+mn-lt"/>
                </a:rPr>
                <a:t>采购管理门户</a:t>
              </a:r>
              <a:endParaRPr lang="zh-CN" altLang="en-US" sz="1300" dirty="0">
                <a:latin typeface="微软雅黑" panose="020B0503020204020204" charset="-122"/>
                <a:ea typeface="微软雅黑" panose="020B0503020204020204" charset="-122"/>
                <a:cs typeface="+mn-ea"/>
                <a:sym typeface="+mn-lt"/>
              </a:endParaRPr>
            </a:p>
          </p:txBody>
        </p:sp>
      </p:grpSp>
      <p:sp>
        <p:nvSpPr>
          <p:cNvPr id="100" name="文本框 99"/>
          <p:cNvSpPr txBox="1"/>
          <p:nvPr/>
        </p:nvSpPr>
        <p:spPr>
          <a:xfrm>
            <a:off x="7239118" y="1027463"/>
            <a:ext cx="1351915" cy="292100"/>
          </a:xfrm>
          <a:prstGeom prst="rect">
            <a:avLst/>
          </a:prstGeom>
          <a:noFill/>
        </p:spPr>
        <p:txBody>
          <a:bodyPr wrap="none" rtlCol="0">
            <a:spAutoFit/>
          </a:bodyPr>
          <a:lstStyle/>
          <a:p>
            <a:r>
              <a:rPr lang="zh-CN" altLang="en-US" sz="1300" dirty="0">
                <a:latin typeface="微软雅黑" panose="020B0503020204020204" charset="-122"/>
                <a:ea typeface="微软雅黑" panose="020B0503020204020204" charset="-122"/>
                <a:cs typeface="+mn-ea"/>
                <a:sym typeface="+mn-lt"/>
              </a:rPr>
              <a:t>供应商服务门户</a:t>
            </a:r>
            <a:endParaRPr lang="zh-CN" altLang="en-US" sz="1300" dirty="0">
              <a:latin typeface="微软雅黑" panose="020B0503020204020204" charset="-122"/>
              <a:ea typeface="微软雅黑" panose="020B0503020204020204" charset="-122"/>
              <a:cs typeface="+mn-ea"/>
              <a:sym typeface="+mn-lt"/>
            </a:endParaRPr>
          </a:p>
        </p:txBody>
      </p:sp>
      <p:sp>
        <p:nvSpPr>
          <p:cNvPr id="17" name="矩形: 圆角 16"/>
          <p:cNvSpPr/>
          <p:nvPr/>
        </p:nvSpPr>
        <p:spPr>
          <a:xfrm>
            <a:off x="7011365" y="1864488"/>
            <a:ext cx="2414241" cy="1752281"/>
          </a:xfrm>
          <a:prstGeom prst="roundRect">
            <a:avLst>
              <a:gd name="adj" fmla="val 4681"/>
            </a:avLst>
          </a:prstGeom>
          <a:solidFill>
            <a:srgbClr val="DEEBF7"/>
          </a:solidFill>
          <a:ln w="12700">
            <a:noFill/>
            <a:prstDash val="dash"/>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mn-ea"/>
              <a:sym typeface="+mn-lt"/>
            </a:endParaRPr>
          </a:p>
        </p:txBody>
      </p:sp>
      <p:sp>
        <p:nvSpPr>
          <p:cNvPr id="23" name="矩形: 圆角 22"/>
          <p:cNvSpPr/>
          <p:nvPr/>
        </p:nvSpPr>
        <p:spPr>
          <a:xfrm>
            <a:off x="3510140" y="1865662"/>
            <a:ext cx="3407668" cy="1770801"/>
          </a:xfrm>
          <a:prstGeom prst="roundRect">
            <a:avLst>
              <a:gd name="adj" fmla="val 4681"/>
            </a:avLst>
          </a:prstGeom>
          <a:solidFill>
            <a:srgbClr val="DEEBF7"/>
          </a:solidFill>
          <a:ln w="12700">
            <a:noFill/>
            <a:prstDash val="dash"/>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mn-ea"/>
              <a:sym typeface="+mn-lt"/>
            </a:endParaRPr>
          </a:p>
        </p:txBody>
      </p:sp>
      <p:sp>
        <p:nvSpPr>
          <p:cNvPr id="24" name="矩形: 圆角 23"/>
          <p:cNvSpPr/>
          <p:nvPr/>
        </p:nvSpPr>
        <p:spPr>
          <a:xfrm>
            <a:off x="1061909" y="1887385"/>
            <a:ext cx="2242862" cy="1737608"/>
          </a:xfrm>
          <a:prstGeom prst="roundRect">
            <a:avLst>
              <a:gd name="adj" fmla="val 4681"/>
            </a:avLst>
          </a:prstGeom>
          <a:solidFill>
            <a:srgbClr val="DEEBF7"/>
          </a:solidFill>
          <a:ln w="12700">
            <a:noFill/>
            <a:prstDash val="dash"/>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mn-ea"/>
              <a:sym typeface="+mn-lt"/>
            </a:endParaRPr>
          </a:p>
        </p:txBody>
      </p:sp>
      <p:sp>
        <p:nvSpPr>
          <p:cNvPr id="25" name="矩形: 圆角 24"/>
          <p:cNvSpPr/>
          <p:nvPr/>
        </p:nvSpPr>
        <p:spPr>
          <a:xfrm>
            <a:off x="1114425" y="2209800"/>
            <a:ext cx="1967865" cy="1276985"/>
          </a:xfrm>
          <a:prstGeom prst="roundRect">
            <a:avLst>
              <a:gd name="adj" fmla="val 8101"/>
            </a:avLst>
          </a:prstGeom>
          <a:solidFill>
            <a:srgbClr val="EDF3FA"/>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mn-lt"/>
            </a:endParaRPr>
          </a:p>
        </p:txBody>
      </p:sp>
      <p:sp>
        <p:nvSpPr>
          <p:cNvPr id="26" name="文本框 25"/>
          <p:cNvSpPr txBox="1"/>
          <p:nvPr/>
        </p:nvSpPr>
        <p:spPr>
          <a:xfrm>
            <a:off x="1771010" y="2209730"/>
            <a:ext cx="697627" cy="246221"/>
          </a:xfrm>
          <a:prstGeom prst="rect">
            <a:avLst/>
          </a:prstGeom>
          <a:noFill/>
          <a:effectLst/>
        </p:spPr>
        <p:txBody>
          <a:bodyPr wrap="non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cs typeface="+mn-cs"/>
              </a:rPr>
              <a:t>需求管理</a:t>
            </a:r>
            <a:endParaRPr kumimoji="0" lang="zh-CN" altLang="en-US" sz="1000" b="1" i="0" u="none" strike="noStrike" kern="1200" cap="none" spc="0" normalizeH="0" baseline="0"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cs typeface="+mn-cs"/>
            </a:endParaRPr>
          </a:p>
        </p:txBody>
      </p:sp>
      <p:sp>
        <p:nvSpPr>
          <p:cNvPr id="29" name="长方形"/>
          <p:cNvSpPr/>
          <p:nvPr/>
        </p:nvSpPr>
        <p:spPr>
          <a:xfrm>
            <a:off x="1538605" y="2456306"/>
            <a:ext cx="1211913" cy="189146"/>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rPr>
              <a:t>预算管理</a:t>
            </a:r>
            <a:endParaRPr lang="zh-CN" altLang="en-US" sz="900" kern="0" dirty="0">
              <a:solidFill>
                <a:srgbClr val="FFFFFF"/>
              </a:solidFill>
              <a:latin typeface="微软雅黑" panose="020B0503020204020204" charset="-122"/>
              <a:ea typeface="微软雅黑" panose="020B0503020204020204" charset="-122"/>
            </a:endParaRPr>
          </a:p>
        </p:txBody>
      </p:sp>
      <p:sp>
        <p:nvSpPr>
          <p:cNvPr id="30" name="长方形"/>
          <p:cNvSpPr/>
          <p:nvPr/>
        </p:nvSpPr>
        <p:spPr>
          <a:xfrm>
            <a:off x="1554480" y="2830444"/>
            <a:ext cx="1211913" cy="189146"/>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rPr>
              <a:t>采购需求管理</a:t>
            </a:r>
            <a:endParaRPr lang="zh-CN" altLang="en-US" sz="900" kern="0" dirty="0">
              <a:solidFill>
                <a:srgbClr val="FFFFFF"/>
              </a:solidFill>
              <a:latin typeface="微软雅黑" panose="020B0503020204020204" charset="-122"/>
              <a:ea typeface="微软雅黑" panose="020B0503020204020204" charset="-122"/>
            </a:endParaRPr>
          </a:p>
        </p:txBody>
      </p:sp>
      <p:sp>
        <p:nvSpPr>
          <p:cNvPr id="31" name="长方形"/>
          <p:cNvSpPr/>
          <p:nvPr/>
        </p:nvSpPr>
        <p:spPr>
          <a:xfrm>
            <a:off x="1554480" y="3235062"/>
            <a:ext cx="1211913" cy="189146"/>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rPr>
              <a:t>需求池管理</a:t>
            </a:r>
            <a:endParaRPr lang="zh-CN" altLang="en-US" sz="900" kern="0" dirty="0">
              <a:solidFill>
                <a:srgbClr val="FFFFFF"/>
              </a:solidFill>
              <a:latin typeface="微软雅黑" panose="020B0503020204020204" charset="-122"/>
              <a:ea typeface="微软雅黑" panose="020B0503020204020204" charset="-122"/>
            </a:endParaRPr>
          </a:p>
        </p:txBody>
      </p:sp>
      <p:sp>
        <p:nvSpPr>
          <p:cNvPr id="38" name="矩形: 圆角 37"/>
          <p:cNvSpPr/>
          <p:nvPr/>
        </p:nvSpPr>
        <p:spPr>
          <a:xfrm>
            <a:off x="3714301" y="2209973"/>
            <a:ext cx="1033925" cy="1274298"/>
          </a:xfrm>
          <a:prstGeom prst="roundRect">
            <a:avLst>
              <a:gd name="adj" fmla="val 8101"/>
            </a:avLst>
          </a:prstGeom>
          <a:solidFill>
            <a:srgbClr val="EDF3FA"/>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mn-lt"/>
            </a:endParaRPr>
          </a:p>
        </p:txBody>
      </p:sp>
      <p:sp>
        <p:nvSpPr>
          <p:cNvPr id="73" name="文本框 72"/>
          <p:cNvSpPr txBox="1"/>
          <p:nvPr/>
        </p:nvSpPr>
        <p:spPr>
          <a:xfrm>
            <a:off x="3868825" y="2202745"/>
            <a:ext cx="697627" cy="246221"/>
          </a:xfrm>
          <a:prstGeom prst="rect">
            <a:avLst/>
          </a:prstGeom>
          <a:noFill/>
          <a:effectLst/>
        </p:spPr>
        <p:txBody>
          <a:bodyPr wrap="non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cs typeface="+mn-cs"/>
              </a:rPr>
              <a:t>招标采购</a:t>
            </a:r>
            <a:endParaRPr kumimoji="0" lang="zh-CN" altLang="en-US" sz="1000" b="1" i="0" u="none" strike="noStrike" kern="1200" cap="none" spc="0" normalizeH="0" baseline="0"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cs typeface="+mn-cs"/>
            </a:endParaRPr>
          </a:p>
        </p:txBody>
      </p:sp>
      <p:sp>
        <p:nvSpPr>
          <p:cNvPr id="101" name="长方形"/>
          <p:cNvSpPr/>
          <p:nvPr/>
        </p:nvSpPr>
        <p:spPr>
          <a:xfrm>
            <a:off x="3803251" y="2397886"/>
            <a:ext cx="841308" cy="189146"/>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rPr>
              <a:t>发标管理</a:t>
            </a:r>
            <a:endPar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8" name="长方形"/>
          <p:cNvSpPr/>
          <p:nvPr/>
        </p:nvSpPr>
        <p:spPr>
          <a:xfrm>
            <a:off x="3803251" y="2605019"/>
            <a:ext cx="841308" cy="189146"/>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rPr>
              <a:t>投标管理</a:t>
            </a:r>
            <a:endPar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9" name="长方形"/>
          <p:cNvSpPr/>
          <p:nvPr/>
        </p:nvSpPr>
        <p:spPr>
          <a:xfrm>
            <a:off x="3803251" y="2812152"/>
            <a:ext cx="841308" cy="189146"/>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rPr>
              <a:t>不见面开标</a:t>
            </a:r>
            <a:endPar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0" name="长方形"/>
          <p:cNvSpPr/>
          <p:nvPr/>
        </p:nvSpPr>
        <p:spPr>
          <a:xfrm>
            <a:off x="3803251" y="3226418"/>
            <a:ext cx="841308" cy="189146"/>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rPr>
              <a:t>定标管理</a:t>
            </a:r>
            <a:endPar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1" name="长方形"/>
          <p:cNvSpPr/>
          <p:nvPr/>
        </p:nvSpPr>
        <p:spPr>
          <a:xfrm>
            <a:off x="3803251" y="3019285"/>
            <a:ext cx="841308" cy="189146"/>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rPr>
              <a:t>智能评标</a:t>
            </a:r>
            <a:endPar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9" name="矩形: 圆角 118"/>
          <p:cNvSpPr/>
          <p:nvPr/>
        </p:nvSpPr>
        <p:spPr>
          <a:xfrm>
            <a:off x="4795941" y="2209973"/>
            <a:ext cx="1033925" cy="1276942"/>
          </a:xfrm>
          <a:prstGeom prst="roundRect">
            <a:avLst>
              <a:gd name="adj" fmla="val 8101"/>
            </a:avLst>
          </a:prstGeom>
          <a:solidFill>
            <a:srgbClr val="0DE9F3">
              <a:alpha val="30000"/>
            </a:srgbClr>
          </a:solidFill>
          <a:ln w="38100" cap="flat" cmpd="sng" algn="ctr">
            <a:noFill/>
            <a:prstDash val="solid"/>
            <a:miter lim="800000"/>
          </a:ln>
          <a:effectLst/>
        </p:spPr>
        <p:txBody>
          <a:bodyPr lIns="98755" tIns="49378" rIns="98755" bIns="49378" rtlCol="0" anchor="ctr"/>
          <a:lstStyle/>
          <a:p>
            <a:pPr algn="ctr"/>
            <a:endParaRPr lang="zh-CN" altLang="en-US" sz="1000" b="1">
              <a:latin typeface="微软雅黑" panose="020B0503020204020204" charset="-122"/>
              <a:ea typeface="微软雅黑" panose="020B0503020204020204" charset="-122"/>
              <a:cs typeface="+mn-ea"/>
              <a:sym typeface="+mn-lt"/>
            </a:endParaRPr>
          </a:p>
        </p:txBody>
      </p:sp>
      <p:sp>
        <p:nvSpPr>
          <p:cNvPr id="120" name="文本框 119"/>
          <p:cNvSpPr txBox="1"/>
          <p:nvPr/>
        </p:nvSpPr>
        <p:spPr>
          <a:xfrm>
            <a:off x="4879345" y="2202745"/>
            <a:ext cx="825867" cy="246221"/>
          </a:xfrm>
          <a:prstGeom prst="rect">
            <a:avLst/>
          </a:prstGeom>
          <a:noFill/>
          <a:effectLst/>
        </p:spPr>
        <p:txBody>
          <a:bodyPr wrap="none" rtlCol="0">
            <a:spAutoFit/>
          </a:bodyPr>
          <a:lstStyle>
            <a:defPPr>
              <a:defRPr lang="zh-CN"/>
            </a:defPPr>
            <a:lvl1pPr marR="0" lvl="0" indent="0" fontAlgn="auto">
              <a:lnSpc>
                <a:spcPct val="100000"/>
              </a:lnSpc>
              <a:spcBef>
                <a:spcPts val="0"/>
              </a:spcBef>
              <a:spcAft>
                <a:spcPts val="0"/>
              </a:spcAft>
              <a:buClrTx/>
              <a:buSzTx/>
              <a:buFontTx/>
              <a:buNone/>
              <a:defRPr kumimoji="0" sz="1000" b="1" i="0" u="none" strike="noStrike" cap="none" spc="0" normalizeH="0" baseline="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dirty="0">
                <a:solidFill>
                  <a:srgbClr val="4472C4">
                    <a:lumMod val="75000"/>
                    <a:alpha val="60000"/>
                  </a:srgbClr>
                </a:solidFill>
              </a:rPr>
              <a:t>非招标采购</a:t>
            </a:r>
            <a:endParaRPr lang="zh-CN" altLang="en-US" dirty="0">
              <a:solidFill>
                <a:srgbClr val="4472C4">
                  <a:lumMod val="75000"/>
                  <a:alpha val="60000"/>
                </a:srgbClr>
              </a:solidFill>
            </a:endParaRPr>
          </a:p>
        </p:txBody>
      </p:sp>
      <p:sp>
        <p:nvSpPr>
          <p:cNvPr id="121" name="长方形"/>
          <p:cNvSpPr/>
          <p:nvPr/>
        </p:nvSpPr>
        <p:spPr>
          <a:xfrm>
            <a:off x="4884891" y="2397886"/>
            <a:ext cx="841308" cy="189146"/>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rPr>
              <a:t>谈判采购</a:t>
            </a:r>
            <a:endPar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2" name="长方形"/>
          <p:cNvSpPr/>
          <p:nvPr/>
        </p:nvSpPr>
        <p:spPr>
          <a:xfrm>
            <a:off x="4884891" y="2685029"/>
            <a:ext cx="841308" cy="189146"/>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rPr>
              <a:t>询比采购</a:t>
            </a:r>
            <a:endPar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3" name="长方形"/>
          <p:cNvSpPr/>
          <p:nvPr/>
        </p:nvSpPr>
        <p:spPr>
          <a:xfrm>
            <a:off x="4884891" y="2949947"/>
            <a:ext cx="841308" cy="189146"/>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rPr>
              <a:t>竞价采购</a:t>
            </a:r>
            <a:endPar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4" name="长方形"/>
          <p:cNvSpPr/>
          <p:nvPr/>
        </p:nvSpPr>
        <p:spPr>
          <a:xfrm>
            <a:off x="4884891" y="3226418"/>
            <a:ext cx="841308" cy="189146"/>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rPr>
              <a:t>直接采购</a:t>
            </a:r>
            <a:endPar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6" name="矩形: 圆角 125"/>
          <p:cNvSpPr/>
          <p:nvPr/>
        </p:nvSpPr>
        <p:spPr>
          <a:xfrm>
            <a:off x="5844339" y="2207329"/>
            <a:ext cx="1033925" cy="1276942"/>
          </a:xfrm>
          <a:prstGeom prst="roundRect">
            <a:avLst>
              <a:gd name="adj" fmla="val 8101"/>
            </a:avLst>
          </a:prstGeom>
          <a:solidFill>
            <a:srgbClr val="0DE9F3">
              <a:alpha val="30000"/>
            </a:srgbClr>
          </a:solidFill>
          <a:ln w="38100" cap="flat" cmpd="sng" algn="ctr">
            <a:noFill/>
            <a:prstDash val="solid"/>
            <a:miter lim="800000"/>
          </a:ln>
          <a:effectLst/>
        </p:spPr>
        <p:txBody>
          <a:bodyPr lIns="98755" tIns="49378" rIns="98755" bIns="49378" rtlCol="0" anchor="ctr"/>
          <a:lstStyle/>
          <a:p>
            <a:pPr algn="ctr"/>
            <a:endParaRPr lang="zh-CN" altLang="en-US" sz="1000" b="1">
              <a:latin typeface="微软雅黑" panose="020B0503020204020204" charset="-122"/>
              <a:ea typeface="微软雅黑" panose="020B0503020204020204" charset="-122"/>
              <a:cs typeface="+mn-ea"/>
              <a:sym typeface="+mn-lt"/>
            </a:endParaRPr>
          </a:p>
        </p:txBody>
      </p:sp>
      <p:sp>
        <p:nvSpPr>
          <p:cNvPr id="127" name="文本框 126"/>
          <p:cNvSpPr txBox="1"/>
          <p:nvPr/>
        </p:nvSpPr>
        <p:spPr>
          <a:xfrm>
            <a:off x="5993637" y="2201461"/>
            <a:ext cx="697627" cy="246221"/>
          </a:xfrm>
          <a:prstGeom prst="rect">
            <a:avLst/>
          </a:prstGeom>
          <a:noFill/>
          <a:effectLst/>
        </p:spPr>
        <p:txBody>
          <a:bodyPr wrap="non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lvl="0" algn="l">
              <a:lnSpc>
                <a:spcPct val="100000"/>
              </a:lnSpc>
              <a:defRPr/>
            </a:pPr>
            <a:r>
              <a:rPr lang="zh-CN" altLang="en-US" sz="1000" b="1" dirty="0">
                <a:solidFill>
                  <a:srgbClr val="4472C4">
                    <a:lumMod val="75000"/>
                    <a:alpha val="60000"/>
                  </a:srgbClr>
                </a:solidFill>
                <a:effectLst>
                  <a:outerShdw blurRad="190500" dist="38100" dir="2700000" algn="tl">
                    <a:srgbClr val="0066FF">
                      <a:alpha val="20000"/>
                    </a:srgbClr>
                  </a:outerShdw>
                </a:effectLst>
                <a:latin typeface="微软雅黑" panose="020B0503020204020204" charset="-122"/>
                <a:ea typeface="微软雅黑" panose="020B0503020204020204" charset="-122"/>
              </a:rPr>
              <a:t>网上商城</a:t>
            </a:r>
            <a:endParaRPr lang="zh-CN" altLang="en-US" sz="1000" b="1" dirty="0">
              <a:solidFill>
                <a:srgbClr val="4472C4">
                  <a:lumMod val="75000"/>
                  <a:alpha val="60000"/>
                </a:srgbClr>
              </a:solidFill>
              <a:effectLst>
                <a:outerShdw blurRad="190500" dist="38100" dir="2700000" algn="tl">
                  <a:srgbClr val="0066FF">
                    <a:alpha val="20000"/>
                  </a:srgbClr>
                </a:outerShdw>
              </a:effectLst>
              <a:latin typeface="微软雅黑" panose="020B0503020204020204" charset="-122"/>
              <a:ea typeface="微软雅黑" panose="020B0503020204020204" charset="-122"/>
            </a:endParaRPr>
          </a:p>
        </p:txBody>
      </p:sp>
      <p:sp>
        <p:nvSpPr>
          <p:cNvPr id="256" name="长方形"/>
          <p:cNvSpPr/>
          <p:nvPr/>
        </p:nvSpPr>
        <p:spPr>
          <a:xfrm>
            <a:off x="5933289" y="2395242"/>
            <a:ext cx="841308" cy="189146"/>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rPr>
              <a:t>商品目录</a:t>
            </a:r>
            <a:endPar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57" name="长方形"/>
          <p:cNvSpPr/>
          <p:nvPr/>
        </p:nvSpPr>
        <p:spPr>
          <a:xfrm>
            <a:off x="5933289" y="2602375"/>
            <a:ext cx="841308" cy="189146"/>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rPr>
              <a:t>商品比价</a:t>
            </a:r>
            <a:endPar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58" name="长方形"/>
          <p:cNvSpPr/>
          <p:nvPr/>
        </p:nvSpPr>
        <p:spPr>
          <a:xfrm>
            <a:off x="5933289" y="2809508"/>
            <a:ext cx="841308" cy="189146"/>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rPr>
              <a:t>云商品库</a:t>
            </a:r>
            <a:endPar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59" name="长方形"/>
          <p:cNvSpPr/>
          <p:nvPr/>
        </p:nvSpPr>
        <p:spPr>
          <a:xfrm>
            <a:off x="5933289" y="3223774"/>
            <a:ext cx="841308" cy="189146"/>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rPr>
              <a:t>特色专区</a:t>
            </a:r>
            <a:endPar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61" name="长方形"/>
          <p:cNvSpPr/>
          <p:nvPr/>
        </p:nvSpPr>
        <p:spPr>
          <a:xfrm>
            <a:off x="5933289" y="3016641"/>
            <a:ext cx="841308" cy="189146"/>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rPr>
              <a:t>云价格检测</a:t>
            </a:r>
            <a:endPar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62" name="矩形: 圆角 261"/>
          <p:cNvSpPr/>
          <p:nvPr/>
        </p:nvSpPr>
        <p:spPr>
          <a:xfrm>
            <a:off x="7195269" y="2191043"/>
            <a:ext cx="1033925" cy="601470"/>
          </a:xfrm>
          <a:prstGeom prst="roundRect">
            <a:avLst>
              <a:gd name="adj" fmla="val 8101"/>
            </a:avLst>
          </a:prstGeom>
          <a:solidFill>
            <a:srgbClr val="EDF3FA"/>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mn-lt"/>
            </a:endParaRPr>
          </a:p>
        </p:txBody>
      </p:sp>
      <p:sp>
        <p:nvSpPr>
          <p:cNvPr id="263" name="文本框 262"/>
          <p:cNvSpPr txBox="1"/>
          <p:nvPr/>
        </p:nvSpPr>
        <p:spPr>
          <a:xfrm>
            <a:off x="7344567" y="2154695"/>
            <a:ext cx="697627" cy="246221"/>
          </a:xfrm>
          <a:prstGeom prst="rect">
            <a:avLst/>
          </a:prstGeom>
          <a:noFill/>
          <a:effectLst/>
        </p:spPr>
        <p:txBody>
          <a:bodyPr wrap="non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cs typeface="+mn-cs"/>
              </a:rPr>
              <a:t>框架协议</a:t>
            </a:r>
            <a:endParaRPr kumimoji="0" lang="zh-CN" altLang="en-US" sz="1000" b="1" i="0" u="none" strike="noStrike" kern="1200" cap="none" spc="0" normalizeH="0" baseline="0"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cs typeface="+mn-cs"/>
            </a:endParaRPr>
          </a:p>
        </p:txBody>
      </p:sp>
      <p:sp>
        <p:nvSpPr>
          <p:cNvPr id="264" name="长方形"/>
          <p:cNvSpPr/>
          <p:nvPr/>
        </p:nvSpPr>
        <p:spPr>
          <a:xfrm>
            <a:off x="7284219" y="2378956"/>
            <a:ext cx="841308" cy="189146"/>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rPr>
              <a:t>协议管理</a:t>
            </a:r>
            <a:endPar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65" name="矩形: 圆角 264"/>
          <p:cNvSpPr/>
          <p:nvPr/>
        </p:nvSpPr>
        <p:spPr>
          <a:xfrm>
            <a:off x="7195269" y="2873972"/>
            <a:ext cx="1033925" cy="601470"/>
          </a:xfrm>
          <a:prstGeom prst="roundRect">
            <a:avLst>
              <a:gd name="adj" fmla="val 8101"/>
            </a:avLst>
          </a:prstGeom>
          <a:solidFill>
            <a:srgbClr val="0DE9F3">
              <a:alpha val="30000"/>
            </a:srgbClr>
          </a:solidFill>
          <a:ln w="38100" cap="flat" cmpd="sng" algn="ctr">
            <a:noFill/>
            <a:prstDash val="solid"/>
            <a:miter lim="800000"/>
          </a:ln>
          <a:effectLst/>
        </p:spPr>
        <p:txBody>
          <a:bodyPr lIns="98755" tIns="49378" rIns="98755" bIns="49378" rtlCol="0" anchor="ctr"/>
          <a:lstStyle/>
          <a:p>
            <a:pPr algn="ctr"/>
            <a:endParaRPr lang="zh-CN" altLang="en-US" sz="1000" b="1">
              <a:solidFill>
                <a:schemeClr val="tx1"/>
              </a:solidFill>
              <a:latin typeface="微软雅黑" panose="020B0503020204020204" charset="-122"/>
              <a:ea typeface="微软雅黑" panose="020B0503020204020204" charset="-122"/>
              <a:cs typeface="+mn-ea"/>
              <a:sym typeface="+mn-lt"/>
            </a:endParaRPr>
          </a:p>
        </p:txBody>
      </p:sp>
      <p:sp>
        <p:nvSpPr>
          <p:cNvPr id="266" name="文本框 265"/>
          <p:cNvSpPr txBox="1"/>
          <p:nvPr/>
        </p:nvSpPr>
        <p:spPr>
          <a:xfrm>
            <a:off x="7344567" y="2875332"/>
            <a:ext cx="747320" cy="246221"/>
          </a:xfrm>
          <a:prstGeom prst="rect">
            <a:avLst/>
          </a:prstGeom>
          <a:noFill/>
          <a:effectLst/>
        </p:spPr>
        <p:txBody>
          <a:bodyPr wrap="none" rtlCol="0">
            <a:spAutoFit/>
          </a:bodyPr>
          <a:lstStyle>
            <a:defPPr>
              <a:defRPr lang="zh-CN"/>
            </a:defPPr>
            <a:lvl1pPr marR="0" lvl="0" indent="0" fontAlgn="auto">
              <a:lnSpc>
                <a:spcPct val="100000"/>
              </a:lnSpc>
              <a:spcBef>
                <a:spcPts val="0"/>
              </a:spcBef>
              <a:spcAft>
                <a:spcPts val="0"/>
              </a:spcAft>
              <a:buClrTx/>
              <a:buSzTx/>
              <a:buFontTx/>
              <a:buNone/>
              <a:defRPr kumimoji="0" sz="1000" b="1" i="0" u="none" strike="noStrike" cap="none" spc="0" normalizeH="0" baseline="0">
                <a:ln>
                  <a:noFill/>
                </a:ln>
                <a:solidFill>
                  <a:srgbClr val="4472C4">
                    <a:lumMod val="75000"/>
                    <a:alpha val="60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defRPr>
            </a:lvl1pPr>
          </a:lstStyle>
          <a:p>
            <a:r>
              <a:rPr lang="zh-CN" altLang="en-US" dirty="0"/>
              <a:t>合同</a:t>
            </a:r>
            <a:r>
              <a:rPr lang="en-US" altLang="zh-CN" dirty="0"/>
              <a:t>-C2P</a:t>
            </a:r>
            <a:endParaRPr lang="en-US" altLang="zh-CN" dirty="0"/>
          </a:p>
        </p:txBody>
      </p:sp>
      <p:sp>
        <p:nvSpPr>
          <p:cNvPr id="267" name="长方形"/>
          <p:cNvSpPr/>
          <p:nvPr/>
        </p:nvSpPr>
        <p:spPr>
          <a:xfrm>
            <a:off x="7284219" y="3146728"/>
            <a:ext cx="841308" cy="189146"/>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a:solidFill>
                  <a:srgbClr val="FFFFFF"/>
                </a:solidFill>
                <a:latin typeface="微软雅黑" panose="020B0503020204020204" charset="-122"/>
                <a:ea typeface="微软雅黑" panose="020B0503020204020204" charset="-122"/>
                <a:sym typeface="微软雅黑" panose="020B0503020204020204" charset="-122"/>
              </a:rPr>
              <a:t>合同管理</a:t>
            </a:r>
            <a:endPar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68" name="矩形: 圆角 267"/>
          <p:cNvSpPr/>
          <p:nvPr/>
        </p:nvSpPr>
        <p:spPr>
          <a:xfrm>
            <a:off x="8310345" y="2179734"/>
            <a:ext cx="1033925" cy="1276942"/>
          </a:xfrm>
          <a:prstGeom prst="roundRect">
            <a:avLst>
              <a:gd name="adj" fmla="val 8101"/>
            </a:avLst>
          </a:prstGeom>
          <a:solidFill>
            <a:srgbClr val="EDF3FA"/>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mn-lt"/>
            </a:endParaRPr>
          </a:p>
        </p:txBody>
      </p:sp>
      <p:sp>
        <p:nvSpPr>
          <p:cNvPr id="269" name="文本框 268"/>
          <p:cNvSpPr txBox="1"/>
          <p:nvPr/>
        </p:nvSpPr>
        <p:spPr>
          <a:xfrm>
            <a:off x="8459643" y="2143386"/>
            <a:ext cx="697627" cy="246221"/>
          </a:xfrm>
          <a:prstGeom prst="rect">
            <a:avLst/>
          </a:prstGeom>
          <a:noFill/>
          <a:effectLst/>
        </p:spPr>
        <p:txBody>
          <a:bodyPr wrap="none" rtlCol="0">
            <a:spAutoFit/>
          </a:bodyPr>
          <a:lstStyle>
            <a:defPPr>
              <a:defRPr lang="zh-CN"/>
            </a:defPPr>
            <a:lvl1pPr algn="just">
              <a:lnSpc>
                <a:spcPct val="130000"/>
              </a:lnSpc>
              <a:defRPr sz="1200">
                <a:solidFill>
                  <a:schemeClr val="tx1">
                    <a:lumMod val="100000"/>
                  </a:schemeClr>
                </a:solidFill>
                <a:effectLst/>
                <a:latin typeface="等线" panose="02010600030101010101" pitchFamily="2" charset="-122"/>
                <a:ea typeface="思源黑体 CN Normal" panose="020B0400000000000000"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cs typeface="+mn-cs"/>
              </a:rPr>
              <a:t>采购订单</a:t>
            </a:r>
            <a:endParaRPr kumimoji="0" lang="zh-CN" altLang="en-US" sz="1000" b="1" i="0" u="none" strike="noStrike" kern="1200" cap="none" spc="0" normalizeH="0" baseline="0" noProof="0" dirty="0">
              <a:ln>
                <a:noFill/>
              </a:ln>
              <a:solidFill>
                <a:srgbClr val="4472C4">
                  <a:lumMod val="75000"/>
                </a:srgbClr>
              </a:solidFill>
              <a:effectLst>
                <a:outerShdw blurRad="190500" dist="38100" dir="2700000" algn="tl">
                  <a:srgbClr val="0066FF">
                    <a:alpha val="20000"/>
                  </a:srgbClr>
                </a:outerShdw>
              </a:effectLst>
              <a:uLnTx/>
              <a:uFillTx/>
              <a:latin typeface="微软雅黑" panose="020B0503020204020204" charset="-122"/>
              <a:ea typeface="微软雅黑" panose="020B0503020204020204" charset="-122"/>
              <a:cs typeface="+mn-cs"/>
            </a:endParaRPr>
          </a:p>
        </p:txBody>
      </p:sp>
      <p:sp>
        <p:nvSpPr>
          <p:cNvPr id="270" name="长方形"/>
          <p:cNvSpPr/>
          <p:nvPr/>
        </p:nvSpPr>
        <p:spPr>
          <a:xfrm>
            <a:off x="8399295" y="2367647"/>
            <a:ext cx="841308" cy="189146"/>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rPr>
              <a:t>订单管理</a:t>
            </a:r>
            <a:endPar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71" name="长方形"/>
          <p:cNvSpPr/>
          <p:nvPr/>
        </p:nvSpPr>
        <p:spPr>
          <a:xfrm>
            <a:off x="8399295" y="2583247"/>
            <a:ext cx="841308" cy="189146"/>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rPr>
              <a:t>订单签订</a:t>
            </a:r>
            <a:endPar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72" name="长方形"/>
          <p:cNvSpPr/>
          <p:nvPr/>
        </p:nvSpPr>
        <p:spPr>
          <a:xfrm>
            <a:off x="8399295" y="2798847"/>
            <a:ext cx="841308" cy="189146"/>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rPr>
              <a:t>订单跟踪</a:t>
            </a:r>
            <a:endPar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73" name="长方形"/>
          <p:cNvSpPr/>
          <p:nvPr/>
        </p:nvSpPr>
        <p:spPr>
          <a:xfrm>
            <a:off x="8399295" y="3230047"/>
            <a:ext cx="841308" cy="189146"/>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a:solidFill>
                  <a:srgbClr val="FFFFFF"/>
                </a:solidFill>
                <a:latin typeface="微软雅黑" panose="020B0503020204020204" charset="-122"/>
                <a:ea typeface="微软雅黑" panose="020B0503020204020204" charset="-122"/>
                <a:sym typeface="微软雅黑" panose="020B0503020204020204" charset="-122"/>
              </a:rPr>
              <a:t>订单结算</a:t>
            </a:r>
            <a:endPar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74" name="长方形"/>
          <p:cNvSpPr/>
          <p:nvPr/>
        </p:nvSpPr>
        <p:spPr>
          <a:xfrm>
            <a:off x="8399295" y="3014447"/>
            <a:ext cx="841308" cy="189146"/>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0">
                <a:srgbClr val="009DD9"/>
              </a:gs>
              <a:gs pos="0">
                <a:srgbClr val="009DD9">
                  <a:lumMod val="90000"/>
                  <a:lumOff val="10000"/>
                </a:srgbClr>
              </a:gs>
            </a:gsLst>
            <a:path path="circle">
              <a:fillToRect t="100000" r="100000"/>
            </a:path>
            <a:tileRect l="-100000" b="-100000"/>
          </a:gra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rPr>
              <a:t>收货检验</a:t>
            </a:r>
            <a:endParaRPr lang="zh-CN" altLang="en-US" sz="900" kern="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75" name="文本框 274"/>
          <p:cNvSpPr txBox="1"/>
          <p:nvPr/>
        </p:nvSpPr>
        <p:spPr>
          <a:xfrm>
            <a:off x="7446964" y="1907661"/>
            <a:ext cx="1620476" cy="261610"/>
          </a:xfrm>
          <a:prstGeom prst="rect">
            <a:avLst/>
          </a:prstGeom>
          <a:noFill/>
        </p:spPr>
        <p:txBody>
          <a:bodyPr wrap="square">
            <a:spAutoFit/>
          </a:bodyPr>
          <a:lstStyle/>
          <a:p>
            <a:pPr algn="ctr"/>
            <a:r>
              <a:rPr lang="zh-CN" altLang="en-US" sz="1100" b="1" dirty="0">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采购执行</a:t>
            </a:r>
            <a:endParaRPr lang="zh-CN" altLang="en-US" sz="1100" b="1" dirty="0">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276" name="组合 275"/>
          <p:cNvGrpSpPr/>
          <p:nvPr/>
        </p:nvGrpSpPr>
        <p:grpSpPr>
          <a:xfrm>
            <a:off x="3222474" y="2732766"/>
            <a:ext cx="421022" cy="154844"/>
            <a:chOff x="-1246159" y="2812107"/>
            <a:chExt cx="223236" cy="92131"/>
          </a:xfrm>
        </p:grpSpPr>
        <p:sp>
          <p:nvSpPr>
            <p:cNvPr id="277" name="任意多边形: 形状 276"/>
            <p:cNvSpPr/>
            <p:nvPr/>
          </p:nvSpPr>
          <p:spPr>
            <a:xfrm rot="16200000">
              <a:off x="-1104550" y="2822610"/>
              <a:ext cx="92112"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p>
          </p:txBody>
        </p:sp>
        <p:sp>
          <p:nvSpPr>
            <p:cNvPr id="278" name="任意多边形: 形状 277"/>
            <p:cNvSpPr/>
            <p:nvPr/>
          </p:nvSpPr>
          <p:spPr>
            <a:xfrm rot="16200000">
              <a:off x="-1180595" y="2822596"/>
              <a:ext cx="92111"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p>
          </p:txBody>
        </p:sp>
        <p:sp>
          <p:nvSpPr>
            <p:cNvPr id="279" name="任意多边形: 形状 278"/>
            <p:cNvSpPr/>
            <p:nvPr/>
          </p:nvSpPr>
          <p:spPr>
            <a:xfrm rot="16200000">
              <a:off x="-1256643" y="2822591"/>
              <a:ext cx="92111"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p>
          </p:txBody>
        </p:sp>
      </p:grpSp>
      <p:grpSp>
        <p:nvGrpSpPr>
          <p:cNvPr id="280" name="组合 279"/>
          <p:cNvGrpSpPr/>
          <p:nvPr/>
        </p:nvGrpSpPr>
        <p:grpSpPr>
          <a:xfrm>
            <a:off x="6785413" y="2707670"/>
            <a:ext cx="421022" cy="154844"/>
            <a:chOff x="-1246159" y="2812107"/>
            <a:chExt cx="223236" cy="92131"/>
          </a:xfrm>
        </p:grpSpPr>
        <p:sp>
          <p:nvSpPr>
            <p:cNvPr id="281" name="任意多边形: 形状 280"/>
            <p:cNvSpPr/>
            <p:nvPr/>
          </p:nvSpPr>
          <p:spPr>
            <a:xfrm rot="16200000">
              <a:off x="-1104550" y="2822610"/>
              <a:ext cx="92112"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p>
          </p:txBody>
        </p:sp>
        <p:sp>
          <p:nvSpPr>
            <p:cNvPr id="282" name="任意多边形: 形状 281"/>
            <p:cNvSpPr/>
            <p:nvPr/>
          </p:nvSpPr>
          <p:spPr>
            <a:xfrm rot="16200000">
              <a:off x="-1180595" y="2822596"/>
              <a:ext cx="92111"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p>
          </p:txBody>
        </p:sp>
        <p:sp>
          <p:nvSpPr>
            <p:cNvPr id="283" name="任意多边形: 形状 282"/>
            <p:cNvSpPr/>
            <p:nvPr/>
          </p:nvSpPr>
          <p:spPr>
            <a:xfrm rot="16200000">
              <a:off x="-1256643" y="2822591"/>
              <a:ext cx="92111"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p>
          </p:txBody>
        </p:sp>
      </p:grpSp>
      <p:sp>
        <p:nvSpPr>
          <p:cNvPr id="284" name="文本框 283"/>
          <p:cNvSpPr txBox="1"/>
          <p:nvPr/>
        </p:nvSpPr>
        <p:spPr>
          <a:xfrm>
            <a:off x="4392585" y="1910073"/>
            <a:ext cx="1620476" cy="261610"/>
          </a:xfrm>
          <a:prstGeom prst="rect">
            <a:avLst/>
          </a:prstGeom>
          <a:noFill/>
        </p:spPr>
        <p:txBody>
          <a:bodyPr wrap="square">
            <a:spAutoFit/>
          </a:bodyPr>
          <a:lstStyle/>
          <a:p>
            <a:pPr algn="ctr"/>
            <a:r>
              <a:rPr lang="zh-CN" altLang="en-US" sz="1100" b="1" dirty="0">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采购交易</a:t>
            </a:r>
            <a:endParaRPr lang="zh-CN" altLang="en-US" sz="1100" b="1" dirty="0">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85" name="文本框 284"/>
          <p:cNvSpPr txBox="1"/>
          <p:nvPr/>
        </p:nvSpPr>
        <p:spPr>
          <a:xfrm>
            <a:off x="1289682" y="1904771"/>
            <a:ext cx="1620476" cy="261610"/>
          </a:xfrm>
          <a:prstGeom prst="rect">
            <a:avLst/>
          </a:prstGeom>
          <a:noFill/>
        </p:spPr>
        <p:txBody>
          <a:bodyPr wrap="square">
            <a:spAutoFit/>
          </a:bodyPr>
          <a:lstStyle/>
          <a:p>
            <a:pPr algn="ctr"/>
            <a:r>
              <a:rPr lang="zh-CN" altLang="en-US" sz="1100" b="1" dirty="0">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采购需求</a:t>
            </a:r>
            <a:endParaRPr lang="zh-CN" altLang="en-US" sz="1100" b="1" dirty="0">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47" name="组合 346"/>
          <p:cNvGrpSpPr/>
          <p:nvPr/>
        </p:nvGrpSpPr>
        <p:grpSpPr>
          <a:xfrm>
            <a:off x="1061909" y="3936051"/>
            <a:ext cx="5357941" cy="596662"/>
            <a:chOff x="1061909" y="3936051"/>
            <a:chExt cx="5357941" cy="596662"/>
          </a:xfrm>
        </p:grpSpPr>
        <p:sp>
          <p:nvSpPr>
            <p:cNvPr id="286" name="矩形: 圆角 285"/>
            <p:cNvSpPr/>
            <p:nvPr/>
          </p:nvSpPr>
          <p:spPr>
            <a:xfrm>
              <a:off x="1061909" y="3954617"/>
              <a:ext cx="5357941" cy="578096"/>
            </a:xfrm>
            <a:prstGeom prst="roundRect">
              <a:avLst>
                <a:gd name="adj" fmla="val 4681"/>
              </a:avLst>
            </a:prstGeom>
            <a:solidFill>
              <a:srgbClr val="DEEBF7"/>
            </a:solidFill>
            <a:ln w="12700">
              <a:noFill/>
              <a:prstDash val="dash"/>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mn-ea"/>
                <a:sym typeface="+mn-lt"/>
              </a:endParaRPr>
            </a:p>
          </p:txBody>
        </p:sp>
        <p:sp>
          <p:nvSpPr>
            <p:cNvPr id="299" name="文本框 298"/>
            <p:cNvSpPr txBox="1"/>
            <p:nvPr/>
          </p:nvSpPr>
          <p:spPr>
            <a:xfrm>
              <a:off x="2865428" y="3936051"/>
              <a:ext cx="1620476" cy="261610"/>
            </a:xfrm>
            <a:prstGeom prst="rect">
              <a:avLst/>
            </a:prstGeom>
            <a:noFill/>
          </p:spPr>
          <p:txBody>
            <a:bodyPr wrap="square">
              <a:spAutoFit/>
            </a:bodyPr>
            <a:lstStyle/>
            <a:p>
              <a:pPr algn="ctr"/>
              <a:r>
                <a:rPr lang="zh-CN" altLang="en-US" sz="1100" b="1" dirty="0">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支撑类应用</a:t>
              </a:r>
              <a:endParaRPr lang="zh-CN" altLang="en-US" sz="1100" b="1" dirty="0">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12" name="长方形"/>
            <p:cNvSpPr/>
            <p:nvPr/>
          </p:nvSpPr>
          <p:spPr>
            <a:xfrm>
              <a:off x="1217286" y="4221160"/>
              <a:ext cx="841308" cy="256294"/>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2F5597"/>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rPr>
                <a:t>供应商管理服务</a:t>
              </a:r>
              <a:endParaRPr lang="zh-CN" altLang="en-US" sz="900" kern="0" dirty="0">
                <a:solidFill>
                  <a:srgbClr val="FFFFFF"/>
                </a:solidFill>
                <a:latin typeface="微软雅黑" panose="020B0503020204020204" charset="-122"/>
                <a:ea typeface="微软雅黑" panose="020B0503020204020204" charset="-122"/>
              </a:endParaRPr>
            </a:p>
          </p:txBody>
        </p:sp>
        <p:sp>
          <p:nvSpPr>
            <p:cNvPr id="313" name="长方形"/>
            <p:cNvSpPr/>
            <p:nvPr/>
          </p:nvSpPr>
          <p:spPr>
            <a:xfrm>
              <a:off x="2241088" y="4221160"/>
              <a:ext cx="841308" cy="256294"/>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2F5597"/>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rPr>
                <a:t>专家管理服务</a:t>
              </a:r>
              <a:endParaRPr lang="zh-CN" altLang="en-US" sz="900" kern="0" dirty="0">
                <a:solidFill>
                  <a:srgbClr val="FFFFFF"/>
                </a:solidFill>
                <a:latin typeface="微软雅黑" panose="020B0503020204020204" charset="-122"/>
                <a:ea typeface="微软雅黑" panose="020B0503020204020204" charset="-122"/>
              </a:endParaRPr>
            </a:p>
          </p:txBody>
        </p:sp>
        <p:sp>
          <p:nvSpPr>
            <p:cNvPr id="314" name="长方形"/>
            <p:cNvSpPr/>
            <p:nvPr/>
          </p:nvSpPr>
          <p:spPr>
            <a:xfrm>
              <a:off x="3264890" y="4221160"/>
              <a:ext cx="841308" cy="256294"/>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2F5597"/>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rPr>
                <a:t>物料管理服务</a:t>
              </a:r>
              <a:endParaRPr lang="zh-CN" altLang="en-US" sz="900" kern="0" dirty="0">
                <a:solidFill>
                  <a:srgbClr val="FFFFFF"/>
                </a:solidFill>
                <a:latin typeface="微软雅黑" panose="020B0503020204020204" charset="-122"/>
                <a:ea typeface="微软雅黑" panose="020B0503020204020204" charset="-122"/>
              </a:endParaRPr>
            </a:p>
          </p:txBody>
        </p:sp>
        <p:sp>
          <p:nvSpPr>
            <p:cNvPr id="315" name="长方形"/>
            <p:cNvSpPr/>
            <p:nvPr/>
          </p:nvSpPr>
          <p:spPr>
            <a:xfrm>
              <a:off x="4288692" y="4221160"/>
              <a:ext cx="841308" cy="256294"/>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2F5597"/>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rPr>
                <a:t>合同管理服务</a:t>
              </a:r>
              <a:endParaRPr lang="en-US" altLang="zh-CN" sz="900" kern="0" dirty="0">
                <a:solidFill>
                  <a:srgbClr val="FFFFFF"/>
                </a:solidFill>
                <a:latin typeface="微软雅黑" panose="020B0503020204020204" charset="-122"/>
                <a:ea typeface="微软雅黑" panose="020B0503020204020204" charset="-122"/>
              </a:endParaRPr>
            </a:p>
          </p:txBody>
        </p:sp>
        <p:sp>
          <p:nvSpPr>
            <p:cNvPr id="316" name="长方形"/>
            <p:cNvSpPr/>
            <p:nvPr/>
          </p:nvSpPr>
          <p:spPr>
            <a:xfrm>
              <a:off x="5312496" y="4221160"/>
              <a:ext cx="841308" cy="256294"/>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2F5597"/>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rPr>
                <a:t>素材管理服务</a:t>
              </a:r>
              <a:endParaRPr lang="zh-CN" altLang="en-US" sz="900" kern="0" dirty="0">
                <a:solidFill>
                  <a:srgbClr val="FFFFFF"/>
                </a:solidFill>
                <a:latin typeface="微软雅黑" panose="020B0503020204020204" charset="-122"/>
                <a:ea typeface="微软雅黑" panose="020B0503020204020204" charset="-122"/>
              </a:endParaRPr>
            </a:p>
          </p:txBody>
        </p:sp>
      </p:grpSp>
      <p:grpSp>
        <p:nvGrpSpPr>
          <p:cNvPr id="348" name="组合 347"/>
          <p:cNvGrpSpPr/>
          <p:nvPr/>
        </p:nvGrpSpPr>
        <p:grpSpPr>
          <a:xfrm>
            <a:off x="6602344" y="3954618"/>
            <a:ext cx="2820933" cy="578096"/>
            <a:chOff x="6602344" y="3954618"/>
            <a:chExt cx="2820933" cy="578096"/>
          </a:xfrm>
        </p:grpSpPr>
        <p:sp>
          <p:nvSpPr>
            <p:cNvPr id="311" name="矩形: 圆角 310"/>
            <p:cNvSpPr/>
            <p:nvPr/>
          </p:nvSpPr>
          <p:spPr>
            <a:xfrm>
              <a:off x="6602344" y="3954618"/>
              <a:ext cx="2820933" cy="578096"/>
            </a:xfrm>
            <a:prstGeom prst="roundRect">
              <a:avLst>
                <a:gd name="adj" fmla="val 4681"/>
              </a:avLst>
            </a:prstGeom>
            <a:solidFill>
              <a:srgbClr val="DEEBF7"/>
            </a:solidFill>
            <a:ln w="12700">
              <a:noFill/>
              <a:prstDash val="dash"/>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mn-ea"/>
                <a:sym typeface="+mn-lt"/>
              </a:endParaRPr>
            </a:p>
          </p:txBody>
        </p:sp>
        <p:sp>
          <p:nvSpPr>
            <p:cNvPr id="317" name="长方形"/>
            <p:cNvSpPr/>
            <p:nvPr/>
          </p:nvSpPr>
          <p:spPr>
            <a:xfrm>
              <a:off x="6704164" y="4221160"/>
              <a:ext cx="841308" cy="256294"/>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2F5597"/>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rPr>
                <a:t>财务结算服务</a:t>
              </a:r>
              <a:endParaRPr lang="zh-CN" altLang="en-US" sz="900" kern="0" dirty="0">
                <a:solidFill>
                  <a:srgbClr val="FFFFFF"/>
                </a:solidFill>
                <a:latin typeface="微软雅黑" panose="020B0503020204020204" charset="-122"/>
                <a:ea typeface="微软雅黑" panose="020B0503020204020204" charset="-122"/>
              </a:endParaRPr>
            </a:p>
          </p:txBody>
        </p:sp>
        <p:sp>
          <p:nvSpPr>
            <p:cNvPr id="318" name="长方形"/>
            <p:cNvSpPr/>
            <p:nvPr/>
          </p:nvSpPr>
          <p:spPr>
            <a:xfrm>
              <a:off x="7613287" y="4221160"/>
              <a:ext cx="841308" cy="256294"/>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2F5597"/>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rPr>
                <a:t>监督管理服务</a:t>
              </a:r>
              <a:endParaRPr lang="zh-CN" altLang="en-US" sz="900" kern="0" dirty="0">
                <a:solidFill>
                  <a:srgbClr val="FFFFFF"/>
                </a:solidFill>
                <a:latin typeface="微软雅黑" panose="020B0503020204020204" charset="-122"/>
                <a:ea typeface="微软雅黑" panose="020B0503020204020204" charset="-122"/>
              </a:endParaRPr>
            </a:p>
          </p:txBody>
        </p:sp>
        <p:sp>
          <p:nvSpPr>
            <p:cNvPr id="319" name="长方形"/>
            <p:cNvSpPr/>
            <p:nvPr/>
          </p:nvSpPr>
          <p:spPr>
            <a:xfrm>
              <a:off x="8522410" y="4221160"/>
              <a:ext cx="841308" cy="256294"/>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solidFill>
              <a:srgbClr val="2F5597"/>
            </a:solidFill>
            <a:ln w="38100" cap="flat" cmpd="sng" algn="ctr">
              <a:noFill/>
              <a:prstDash val="solid"/>
              <a:miter lim="800000"/>
            </a:ln>
            <a:effectLst/>
          </p:spPr>
          <p:txBody>
            <a:bodyPr wrap="none" lIns="98755" tIns="49378" rIns="98755" bIns="49378"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kern="0" dirty="0">
                  <a:solidFill>
                    <a:srgbClr val="FFFFFF"/>
                  </a:solidFill>
                  <a:latin typeface="微软雅黑" panose="020B0503020204020204" charset="-122"/>
                  <a:ea typeface="微软雅黑" panose="020B0503020204020204" charset="-122"/>
                </a:rPr>
                <a:t>决策分析服务</a:t>
              </a:r>
              <a:endParaRPr lang="zh-CN" altLang="en-US" sz="900" kern="0" dirty="0">
                <a:solidFill>
                  <a:srgbClr val="FFFFFF"/>
                </a:solidFill>
                <a:latin typeface="微软雅黑" panose="020B0503020204020204" charset="-122"/>
                <a:ea typeface="微软雅黑" panose="020B0503020204020204" charset="-122"/>
              </a:endParaRPr>
            </a:p>
          </p:txBody>
        </p:sp>
        <p:sp>
          <p:nvSpPr>
            <p:cNvPr id="320" name="文本框 319"/>
            <p:cNvSpPr txBox="1"/>
            <p:nvPr/>
          </p:nvSpPr>
          <p:spPr>
            <a:xfrm>
              <a:off x="7195269" y="3959550"/>
              <a:ext cx="1620476" cy="260350"/>
            </a:xfrm>
            <a:prstGeom prst="rect">
              <a:avLst/>
            </a:prstGeom>
            <a:noFill/>
          </p:spPr>
          <p:txBody>
            <a:bodyPr wrap="square">
              <a:spAutoFit/>
            </a:bodyPr>
            <a:lstStyle/>
            <a:p>
              <a:pPr algn="ctr"/>
              <a:r>
                <a:rPr lang="zh-CN" altLang="en-US" sz="1100" b="1" dirty="0">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附加应用</a:t>
              </a:r>
              <a:endParaRPr lang="zh-CN" altLang="en-US" sz="1100" b="1" dirty="0">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
        <p:nvSpPr>
          <p:cNvPr id="324" name="矩形"/>
          <p:cNvSpPr/>
          <p:nvPr/>
        </p:nvSpPr>
        <p:spPr>
          <a:xfrm>
            <a:off x="10109962" y="945203"/>
            <a:ext cx="1940391" cy="5610338"/>
          </a:xfrm>
          <a:prstGeom prst="roundRect">
            <a:avLst>
              <a:gd name="adj" fmla="val 5527"/>
            </a:avLst>
          </a:prstGeom>
          <a:gradFill>
            <a:gsLst>
              <a:gs pos="0">
                <a:schemeClr val="bg1"/>
              </a:gs>
              <a:gs pos="100000">
                <a:schemeClr val="bg1"/>
              </a:gs>
              <a:gs pos="46000">
                <a:schemeClr val="accent1">
                  <a:lumMod val="5000"/>
                  <a:lumOff val="95000"/>
                </a:schemeClr>
              </a:gs>
            </a:gsLst>
            <a:path path="circle">
              <a:fillToRect r="100000" b="100000"/>
            </a:path>
          </a:gradFill>
          <a:ln w="11430">
            <a:solidFill>
              <a:schemeClr val="bg1">
                <a:lumMod val="75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325" name="矩形 324"/>
          <p:cNvSpPr/>
          <p:nvPr/>
        </p:nvSpPr>
        <p:spPr>
          <a:xfrm>
            <a:off x="10332043" y="1154545"/>
            <a:ext cx="1600200" cy="241998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mn-ea"/>
            </a:endParaRPr>
          </a:p>
        </p:txBody>
      </p:sp>
      <p:sp>
        <p:nvSpPr>
          <p:cNvPr id="326" name="矩形 325"/>
          <p:cNvSpPr/>
          <p:nvPr/>
        </p:nvSpPr>
        <p:spPr>
          <a:xfrm>
            <a:off x="10332678" y="3919417"/>
            <a:ext cx="1600200" cy="24447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mn-ea"/>
            </a:endParaRPr>
          </a:p>
        </p:txBody>
      </p:sp>
      <p:sp>
        <p:nvSpPr>
          <p:cNvPr id="327" name="文本框 326"/>
          <p:cNvSpPr txBox="1"/>
          <p:nvPr/>
        </p:nvSpPr>
        <p:spPr>
          <a:xfrm>
            <a:off x="10374588" y="1228840"/>
            <a:ext cx="1522730" cy="337185"/>
          </a:xfrm>
          <a:prstGeom prst="rect">
            <a:avLst/>
          </a:prstGeom>
          <a:noFill/>
        </p:spPr>
        <p:txBody>
          <a:bodyPr wrap="square" rtlCol="0">
            <a:spAutoFit/>
          </a:bodyPr>
          <a:lstStyle/>
          <a:p>
            <a:pPr algn="ctr">
              <a:buClrTx/>
              <a:buSzTx/>
              <a:buFontTx/>
            </a:pPr>
            <a:r>
              <a:rPr lang="zh-CN" altLang="en-US" sz="1600" b="1" dirty="0">
                <a:solidFill>
                  <a:srgbClr val="3860F5"/>
                </a:solidFill>
                <a:latin typeface="微软雅黑" panose="020B0503020204020204" charset="-122"/>
                <a:ea typeface="微软雅黑" panose="020B0503020204020204" charset="-122"/>
                <a:cs typeface="+mn-ea"/>
              </a:rPr>
              <a:t>内部系统对接</a:t>
            </a:r>
            <a:endParaRPr lang="zh-CN" altLang="en-US" sz="1600" b="1" dirty="0">
              <a:solidFill>
                <a:srgbClr val="3860F5"/>
              </a:solidFill>
              <a:latin typeface="微软雅黑" panose="020B0503020204020204" charset="-122"/>
              <a:ea typeface="微软雅黑" panose="020B0503020204020204" charset="-122"/>
              <a:cs typeface="+mn-ea"/>
            </a:endParaRPr>
          </a:p>
        </p:txBody>
      </p:sp>
      <p:sp>
        <p:nvSpPr>
          <p:cNvPr id="328" name="文本框 327"/>
          <p:cNvSpPr txBox="1"/>
          <p:nvPr/>
        </p:nvSpPr>
        <p:spPr>
          <a:xfrm>
            <a:off x="10374588" y="1620000"/>
            <a:ext cx="1522730" cy="275590"/>
          </a:xfrm>
          <a:prstGeom prst="rect">
            <a:avLst/>
          </a:prstGeom>
          <a:noFill/>
        </p:spPr>
        <p:txBody>
          <a:bodyPr wrap="square" rtlCol="0">
            <a:spAutoFit/>
          </a:bodyPr>
          <a:lstStyle/>
          <a:p>
            <a:pPr algn="ctr">
              <a:buClrTx/>
              <a:buSzTx/>
              <a:buFontTx/>
            </a:pPr>
            <a:r>
              <a:rPr lang="en-US" altLang="zh-CN" sz="1200" dirty="0">
                <a:solidFill>
                  <a:srgbClr val="4472C4"/>
                </a:solidFill>
                <a:latin typeface="微软雅黑" panose="020B0503020204020204" charset="-122"/>
                <a:ea typeface="微软雅黑" panose="020B0503020204020204" charset="-122"/>
                <a:cs typeface="阿里巴巴普惠体" panose="00020600040101010101" pitchFamily="18" charset="-122"/>
              </a:rPr>
              <a:t>MDM</a:t>
            </a:r>
            <a:endParaRPr lang="en-US" altLang="zh-CN" sz="1200" dirty="0">
              <a:solidFill>
                <a:srgbClr val="4472C4"/>
              </a:solidFill>
              <a:latin typeface="微软雅黑" panose="020B0503020204020204" charset="-122"/>
              <a:ea typeface="微软雅黑" panose="020B0503020204020204" charset="-122"/>
              <a:cs typeface="阿里巴巴普惠体" panose="00020600040101010101" pitchFamily="18" charset="-122"/>
            </a:endParaRPr>
          </a:p>
        </p:txBody>
      </p:sp>
      <p:sp>
        <p:nvSpPr>
          <p:cNvPr id="329" name="文本框 328"/>
          <p:cNvSpPr txBox="1"/>
          <p:nvPr/>
        </p:nvSpPr>
        <p:spPr>
          <a:xfrm>
            <a:off x="10373318" y="2020685"/>
            <a:ext cx="1522730" cy="275590"/>
          </a:xfrm>
          <a:prstGeom prst="rect">
            <a:avLst/>
          </a:prstGeom>
          <a:noFill/>
        </p:spPr>
        <p:txBody>
          <a:bodyPr wrap="square" rtlCol="0">
            <a:spAutoFit/>
          </a:bodyPr>
          <a:lstStyle>
            <a:defPPr>
              <a:defRPr lang="zh-CN"/>
            </a:defPPr>
            <a:lvl1pPr algn="ctr">
              <a:buClrTx/>
              <a:buSzTx/>
              <a:buFontTx/>
              <a:defRPr sz="1200">
                <a:solidFill>
                  <a:srgbClr val="4472C4"/>
                </a:solidFill>
                <a:latin typeface="微软雅黑" panose="020B0503020204020204" charset="-122"/>
                <a:ea typeface="微软雅黑" panose="020B0503020204020204" charset="-122"/>
                <a:cs typeface="阿里巴巴普惠体" panose="00020600040101010101" pitchFamily="18" charset="-122"/>
              </a:defRPr>
            </a:lvl1pPr>
          </a:lstStyle>
          <a:p>
            <a:r>
              <a:rPr lang="en-US" altLang="zh-CN" dirty="0"/>
              <a:t>OA</a:t>
            </a:r>
            <a:endParaRPr lang="en-US" altLang="zh-CN" dirty="0"/>
          </a:p>
        </p:txBody>
      </p:sp>
      <p:sp>
        <p:nvSpPr>
          <p:cNvPr id="330" name="文本框 329"/>
          <p:cNvSpPr txBox="1"/>
          <p:nvPr/>
        </p:nvSpPr>
        <p:spPr>
          <a:xfrm>
            <a:off x="10374588" y="2431530"/>
            <a:ext cx="1522730" cy="275590"/>
          </a:xfrm>
          <a:prstGeom prst="rect">
            <a:avLst/>
          </a:prstGeom>
          <a:noFill/>
        </p:spPr>
        <p:txBody>
          <a:bodyPr wrap="square" rtlCol="0">
            <a:spAutoFit/>
          </a:bodyPr>
          <a:lstStyle>
            <a:defPPr>
              <a:defRPr lang="zh-CN"/>
            </a:defPPr>
            <a:lvl1pPr algn="ctr">
              <a:buClrTx/>
              <a:buSzTx/>
              <a:buFontTx/>
              <a:defRPr sz="1200">
                <a:solidFill>
                  <a:srgbClr val="4472C4"/>
                </a:solidFill>
                <a:latin typeface="微软雅黑" panose="020B0503020204020204" charset="-122"/>
                <a:ea typeface="微软雅黑" panose="020B0503020204020204" charset="-122"/>
                <a:cs typeface="阿里巴巴普惠体" panose="00020600040101010101" pitchFamily="18" charset="-122"/>
              </a:defRPr>
            </a:lvl1pPr>
          </a:lstStyle>
          <a:p>
            <a:r>
              <a:rPr lang="en-US" altLang="zh-CN" dirty="0"/>
              <a:t>ERP</a:t>
            </a:r>
            <a:endParaRPr lang="en-US" altLang="zh-CN" dirty="0"/>
          </a:p>
        </p:txBody>
      </p:sp>
      <p:sp>
        <p:nvSpPr>
          <p:cNvPr id="331" name="文本框 330"/>
          <p:cNvSpPr txBox="1"/>
          <p:nvPr/>
        </p:nvSpPr>
        <p:spPr>
          <a:xfrm>
            <a:off x="10373318" y="2930005"/>
            <a:ext cx="1522730" cy="275590"/>
          </a:xfrm>
          <a:prstGeom prst="rect">
            <a:avLst/>
          </a:prstGeom>
          <a:noFill/>
        </p:spPr>
        <p:txBody>
          <a:bodyPr wrap="square" rtlCol="0">
            <a:spAutoFit/>
          </a:bodyPr>
          <a:lstStyle>
            <a:defPPr>
              <a:defRPr lang="zh-CN"/>
            </a:defPPr>
            <a:lvl1pPr algn="ctr">
              <a:buClrTx/>
              <a:buSzTx/>
              <a:buFontTx/>
              <a:defRPr sz="1200">
                <a:solidFill>
                  <a:srgbClr val="4472C4"/>
                </a:solidFill>
                <a:latin typeface="微软雅黑" panose="020B0503020204020204" charset="-122"/>
                <a:ea typeface="微软雅黑" panose="020B0503020204020204" charset="-122"/>
                <a:cs typeface="阿里巴巴普惠体" panose="00020600040101010101" pitchFamily="18" charset="-122"/>
              </a:defRPr>
            </a:lvl1pPr>
          </a:lstStyle>
          <a:p>
            <a:r>
              <a:rPr lang="zh-CN" dirty="0">
                <a:sym typeface="+mn-ea"/>
              </a:rPr>
              <a:t>财务系统</a:t>
            </a:r>
            <a:endParaRPr lang="zh-CN" dirty="0">
              <a:sym typeface="+mn-ea"/>
            </a:endParaRPr>
          </a:p>
        </p:txBody>
      </p:sp>
      <p:sp>
        <p:nvSpPr>
          <p:cNvPr id="335" name="文本框 334"/>
          <p:cNvSpPr txBox="1"/>
          <p:nvPr/>
        </p:nvSpPr>
        <p:spPr>
          <a:xfrm>
            <a:off x="10374588" y="3227820"/>
            <a:ext cx="1522730" cy="275590"/>
          </a:xfrm>
          <a:prstGeom prst="rect">
            <a:avLst/>
          </a:prstGeom>
          <a:noFill/>
        </p:spPr>
        <p:txBody>
          <a:bodyPr wrap="square" rtlCol="0">
            <a:spAutoFit/>
          </a:bodyPr>
          <a:lstStyle>
            <a:defPPr>
              <a:defRPr lang="zh-CN"/>
            </a:defPPr>
            <a:lvl1pPr algn="ctr">
              <a:buClrTx/>
              <a:buSzTx/>
              <a:buFontTx/>
              <a:defRPr sz="1200">
                <a:solidFill>
                  <a:srgbClr val="4472C4"/>
                </a:solidFill>
                <a:latin typeface="微软雅黑" panose="020B0503020204020204" charset="-122"/>
                <a:ea typeface="微软雅黑" panose="020B0503020204020204" charset="-122"/>
                <a:cs typeface="阿里巴巴普惠体" panose="00020600040101010101" pitchFamily="18" charset="-122"/>
              </a:defRPr>
            </a:lvl1pPr>
          </a:lstStyle>
          <a:p>
            <a:r>
              <a:rPr lang="en-US" dirty="0"/>
              <a:t>……</a:t>
            </a:r>
            <a:endParaRPr lang="en-US" dirty="0"/>
          </a:p>
        </p:txBody>
      </p:sp>
      <p:sp>
        <p:nvSpPr>
          <p:cNvPr id="336" name="文本框 335"/>
          <p:cNvSpPr txBox="1"/>
          <p:nvPr/>
        </p:nvSpPr>
        <p:spPr>
          <a:xfrm>
            <a:off x="10374588" y="3938467"/>
            <a:ext cx="1522730" cy="337185"/>
          </a:xfrm>
          <a:prstGeom prst="rect">
            <a:avLst/>
          </a:prstGeom>
          <a:noFill/>
        </p:spPr>
        <p:txBody>
          <a:bodyPr wrap="square" rtlCol="0">
            <a:spAutoFit/>
          </a:bodyPr>
          <a:lstStyle>
            <a:defPPr>
              <a:defRPr lang="zh-CN"/>
            </a:defPPr>
            <a:lvl1pPr algn="ctr">
              <a:buClrTx/>
              <a:buSzTx/>
              <a:buFontTx/>
              <a:defRPr sz="1600" b="1">
                <a:solidFill>
                  <a:srgbClr val="3860F5"/>
                </a:solidFill>
                <a:latin typeface="微软雅黑" panose="020B0503020204020204" charset="-122"/>
                <a:ea typeface="微软雅黑" panose="020B0503020204020204" charset="-122"/>
                <a:cs typeface="+mn-ea"/>
              </a:defRPr>
            </a:lvl1pPr>
          </a:lstStyle>
          <a:p>
            <a:r>
              <a:rPr lang="zh-CN" altLang="en-US" dirty="0"/>
              <a:t>外部系统对接</a:t>
            </a:r>
            <a:endParaRPr lang="zh-CN" altLang="en-US" dirty="0"/>
          </a:p>
        </p:txBody>
      </p:sp>
      <p:sp>
        <p:nvSpPr>
          <p:cNvPr id="337" name="文本框 336"/>
          <p:cNvSpPr txBox="1"/>
          <p:nvPr/>
        </p:nvSpPr>
        <p:spPr>
          <a:xfrm>
            <a:off x="10394273" y="4368997"/>
            <a:ext cx="1522730" cy="275590"/>
          </a:xfrm>
          <a:prstGeom prst="rect">
            <a:avLst/>
          </a:prstGeom>
          <a:noFill/>
        </p:spPr>
        <p:txBody>
          <a:bodyPr wrap="square" rtlCol="0">
            <a:spAutoFit/>
          </a:bodyPr>
          <a:lstStyle>
            <a:defPPr>
              <a:defRPr lang="zh-CN"/>
            </a:defPPr>
            <a:lvl1pPr algn="ctr">
              <a:buClrTx/>
              <a:buSzTx/>
              <a:buFontTx/>
              <a:defRPr sz="1200">
                <a:solidFill>
                  <a:srgbClr val="4472C4"/>
                </a:solidFill>
                <a:latin typeface="微软雅黑" panose="020B0503020204020204" charset="-122"/>
                <a:ea typeface="微软雅黑" panose="020B0503020204020204" charset="-122"/>
                <a:cs typeface="阿里巴巴普惠体" panose="00020600040101010101" pitchFamily="18" charset="-122"/>
              </a:defRPr>
            </a:lvl1pPr>
          </a:lstStyle>
          <a:p>
            <a:r>
              <a:rPr lang="zh-CN" altLang="en-US" dirty="0">
                <a:sym typeface="+mn-ea"/>
              </a:rPr>
              <a:t>国家公共服务平台</a:t>
            </a:r>
            <a:endParaRPr lang="zh-CN" altLang="en-US" dirty="0">
              <a:sym typeface="+mn-ea"/>
            </a:endParaRPr>
          </a:p>
        </p:txBody>
      </p:sp>
      <p:sp>
        <p:nvSpPr>
          <p:cNvPr id="338" name="文本框 337"/>
          <p:cNvSpPr txBox="1"/>
          <p:nvPr/>
        </p:nvSpPr>
        <p:spPr>
          <a:xfrm>
            <a:off x="10373318" y="4691577"/>
            <a:ext cx="1564640" cy="275590"/>
          </a:xfrm>
          <a:prstGeom prst="rect">
            <a:avLst/>
          </a:prstGeom>
          <a:noFill/>
        </p:spPr>
        <p:txBody>
          <a:bodyPr wrap="square" rtlCol="0">
            <a:spAutoFit/>
          </a:bodyPr>
          <a:lstStyle>
            <a:defPPr>
              <a:defRPr lang="zh-CN"/>
            </a:defPPr>
            <a:lvl1pPr algn="ctr">
              <a:buClrTx/>
              <a:buSzTx/>
              <a:buFontTx/>
              <a:defRPr sz="1200">
                <a:solidFill>
                  <a:srgbClr val="4472C4"/>
                </a:solidFill>
                <a:latin typeface="微软雅黑" panose="020B0503020204020204" charset="-122"/>
                <a:ea typeface="微软雅黑" panose="020B0503020204020204" charset="-122"/>
                <a:cs typeface="阿里巴巴普惠体" panose="00020600040101010101" pitchFamily="18" charset="-122"/>
              </a:defRPr>
            </a:lvl1pPr>
          </a:lstStyle>
          <a:p>
            <a:r>
              <a:rPr lang="zh-CN" altLang="en-US" dirty="0">
                <a:sym typeface="+mn-ea"/>
              </a:rPr>
              <a:t>国资委寻源询价系统</a:t>
            </a:r>
            <a:endParaRPr lang="zh-CN" altLang="en-US" dirty="0">
              <a:sym typeface="+mn-ea"/>
            </a:endParaRPr>
          </a:p>
        </p:txBody>
      </p:sp>
      <p:sp>
        <p:nvSpPr>
          <p:cNvPr id="339" name="文本框 338"/>
          <p:cNvSpPr txBox="1"/>
          <p:nvPr/>
        </p:nvSpPr>
        <p:spPr>
          <a:xfrm>
            <a:off x="10394273" y="5014157"/>
            <a:ext cx="1522730" cy="275590"/>
          </a:xfrm>
          <a:prstGeom prst="rect">
            <a:avLst/>
          </a:prstGeom>
          <a:noFill/>
        </p:spPr>
        <p:txBody>
          <a:bodyPr wrap="square" rtlCol="0">
            <a:spAutoFit/>
          </a:bodyPr>
          <a:lstStyle>
            <a:defPPr>
              <a:defRPr lang="zh-CN"/>
            </a:defPPr>
            <a:lvl1pPr algn="ctr">
              <a:buClrTx/>
              <a:buSzTx/>
              <a:buFontTx/>
              <a:defRPr sz="1200">
                <a:solidFill>
                  <a:srgbClr val="4472C4"/>
                </a:solidFill>
                <a:latin typeface="微软雅黑" panose="020B0503020204020204" charset="-122"/>
                <a:ea typeface="微软雅黑" panose="020B0503020204020204" charset="-122"/>
                <a:cs typeface="阿里巴巴普惠体" panose="00020600040101010101" pitchFamily="18" charset="-122"/>
              </a:defRPr>
            </a:lvl1pPr>
          </a:lstStyle>
          <a:p>
            <a:r>
              <a:rPr lang="zh-CN" altLang="en-US" dirty="0">
                <a:sym typeface="+mn-ea"/>
              </a:rPr>
              <a:t>金融服务机构系统</a:t>
            </a:r>
            <a:endParaRPr lang="zh-CN" altLang="en-US" dirty="0">
              <a:sym typeface="+mn-ea"/>
            </a:endParaRPr>
          </a:p>
        </p:txBody>
      </p:sp>
      <p:sp>
        <p:nvSpPr>
          <p:cNvPr id="342" name="文本框 341"/>
          <p:cNvSpPr txBox="1"/>
          <p:nvPr/>
        </p:nvSpPr>
        <p:spPr>
          <a:xfrm>
            <a:off x="10394273" y="5337372"/>
            <a:ext cx="1522730" cy="275590"/>
          </a:xfrm>
          <a:prstGeom prst="rect">
            <a:avLst/>
          </a:prstGeom>
          <a:noFill/>
        </p:spPr>
        <p:txBody>
          <a:bodyPr wrap="square" rtlCol="0">
            <a:spAutoFit/>
          </a:bodyPr>
          <a:lstStyle>
            <a:defPPr>
              <a:defRPr lang="zh-CN"/>
            </a:defPPr>
            <a:lvl1pPr algn="ctr">
              <a:buClrTx/>
              <a:buSzTx/>
              <a:buFontTx/>
              <a:defRPr sz="1200">
                <a:solidFill>
                  <a:srgbClr val="4472C4"/>
                </a:solidFill>
                <a:latin typeface="微软雅黑" panose="020B0503020204020204" charset="-122"/>
                <a:ea typeface="微软雅黑" panose="020B0503020204020204" charset="-122"/>
                <a:cs typeface="阿里巴巴普惠体" panose="00020600040101010101" pitchFamily="18" charset="-122"/>
              </a:defRPr>
            </a:lvl1pPr>
          </a:lstStyle>
          <a:p>
            <a:r>
              <a:rPr lang="zh-CN" altLang="en-US" dirty="0">
                <a:sym typeface="+mn-ea"/>
              </a:rPr>
              <a:t>国家票税系统</a:t>
            </a:r>
            <a:endParaRPr lang="zh-CN" altLang="en-US" dirty="0">
              <a:sym typeface="+mn-ea"/>
            </a:endParaRPr>
          </a:p>
        </p:txBody>
      </p:sp>
      <p:sp>
        <p:nvSpPr>
          <p:cNvPr id="343" name="文本框 342"/>
          <p:cNvSpPr txBox="1"/>
          <p:nvPr/>
        </p:nvSpPr>
        <p:spPr>
          <a:xfrm>
            <a:off x="10394273" y="5659952"/>
            <a:ext cx="1522730" cy="275590"/>
          </a:xfrm>
          <a:prstGeom prst="rect">
            <a:avLst/>
          </a:prstGeom>
          <a:noFill/>
        </p:spPr>
        <p:txBody>
          <a:bodyPr wrap="square" rtlCol="0">
            <a:spAutoFit/>
          </a:bodyPr>
          <a:lstStyle>
            <a:defPPr>
              <a:defRPr lang="zh-CN"/>
            </a:defPPr>
            <a:lvl1pPr algn="ctr">
              <a:buClrTx/>
              <a:buSzTx/>
              <a:buFontTx/>
              <a:defRPr sz="1200">
                <a:solidFill>
                  <a:srgbClr val="4472C4"/>
                </a:solidFill>
                <a:latin typeface="微软雅黑" panose="020B0503020204020204" charset="-122"/>
                <a:ea typeface="微软雅黑" panose="020B0503020204020204" charset="-122"/>
                <a:cs typeface="阿里巴巴普惠体" panose="00020600040101010101" pitchFamily="18" charset="-122"/>
              </a:defRPr>
            </a:lvl1pPr>
          </a:lstStyle>
          <a:p>
            <a:r>
              <a:rPr lang="zh-CN" altLang="en-US" dirty="0">
                <a:sym typeface="+mn-ea"/>
              </a:rPr>
              <a:t>第三方信用服务</a:t>
            </a:r>
            <a:endParaRPr lang="zh-CN" altLang="en-US" dirty="0">
              <a:sym typeface="+mn-ea"/>
            </a:endParaRPr>
          </a:p>
        </p:txBody>
      </p:sp>
      <p:sp>
        <p:nvSpPr>
          <p:cNvPr id="344" name="文本框 343"/>
          <p:cNvSpPr txBox="1"/>
          <p:nvPr/>
        </p:nvSpPr>
        <p:spPr>
          <a:xfrm>
            <a:off x="10394273" y="5983167"/>
            <a:ext cx="1522730" cy="275590"/>
          </a:xfrm>
          <a:prstGeom prst="rect">
            <a:avLst/>
          </a:prstGeom>
          <a:noFill/>
        </p:spPr>
        <p:txBody>
          <a:bodyPr wrap="square" rtlCol="0">
            <a:spAutoFit/>
          </a:bodyPr>
          <a:lstStyle>
            <a:defPPr>
              <a:defRPr lang="zh-CN"/>
            </a:defPPr>
            <a:lvl1pPr algn="ctr">
              <a:buClrTx/>
              <a:buSzTx/>
              <a:buFontTx/>
              <a:defRPr sz="1200">
                <a:solidFill>
                  <a:srgbClr val="4472C4"/>
                </a:solidFill>
                <a:latin typeface="微软雅黑" panose="020B0503020204020204" charset="-122"/>
                <a:ea typeface="微软雅黑" panose="020B0503020204020204" charset="-122"/>
                <a:cs typeface="阿里巴巴普惠体" panose="00020600040101010101" pitchFamily="18" charset="-122"/>
              </a:defRPr>
            </a:lvl1pPr>
          </a:lstStyle>
          <a:p>
            <a:r>
              <a:rPr lang="zh-CN" altLang="en-US" dirty="0">
                <a:sym typeface="+mn-ea"/>
              </a:rPr>
              <a:t>……</a:t>
            </a:r>
            <a:endParaRPr lang="zh-CN" altLang="en-US" dirty="0">
              <a:sym typeface="+mn-ea"/>
            </a:endParaRPr>
          </a:p>
        </p:txBody>
      </p:sp>
      <p:sp>
        <p:nvSpPr>
          <p:cNvPr id="346" name="文本框 345"/>
          <p:cNvSpPr txBox="1"/>
          <p:nvPr/>
        </p:nvSpPr>
        <p:spPr>
          <a:xfrm>
            <a:off x="9860302" y="945202"/>
            <a:ext cx="455865" cy="5610339"/>
          </a:xfrm>
          <a:prstGeom prst="roundRect">
            <a:avLst/>
          </a:prstGeom>
          <a:solidFill>
            <a:srgbClr val="4472C4"/>
          </a:solidFill>
        </p:spPr>
        <p:txBody>
          <a:bodyPr wrap="square" rtlCol="0" anchor="ctr" anchorCtr="0">
            <a:noAutofit/>
          </a:bodyPr>
          <a:lstStyle/>
          <a:p>
            <a:pPr algn="ctr"/>
            <a:r>
              <a:rPr lang="zh-CN" altLang="en-US" sz="1200" b="1" dirty="0">
                <a:solidFill>
                  <a:schemeClr val="bg1"/>
                </a:solidFill>
                <a:latin typeface="微软雅黑" panose="020B0503020204020204" charset="-122"/>
                <a:ea typeface="微软雅黑" panose="020B0503020204020204" charset="-122"/>
                <a:cs typeface="+mn-ea"/>
              </a:rPr>
              <a:t>统一接口管理平台</a:t>
            </a:r>
            <a:endParaRPr lang="zh-CN" altLang="en-US" sz="1200" b="1" dirty="0">
              <a:solidFill>
                <a:schemeClr val="bg1"/>
              </a:solidFill>
              <a:latin typeface="微软雅黑" panose="020B0503020204020204" charset="-122"/>
              <a:ea typeface="微软雅黑" panose="020B0503020204020204" charset="-122"/>
              <a:cs typeface="+mn-ea"/>
            </a:endParaRPr>
          </a:p>
        </p:txBody>
      </p:sp>
      <p:sp>
        <p:nvSpPr>
          <p:cNvPr id="349" name="箭头: 下 47"/>
          <p:cNvSpPr/>
          <p:nvPr/>
        </p:nvSpPr>
        <p:spPr>
          <a:xfrm flipV="1">
            <a:off x="1534916" y="3707543"/>
            <a:ext cx="205043" cy="270318"/>
          </a:xfrm>
          <a:prstGeom prst="downArrow">
            <a:avLst>
              <a:gd name="adj1" fmla="val 50000"/>
              <a:gd name="adj2" fmla="val 52777"/>
            </a:avLst>
          </a:prstGeom>
          <a:gradFill>
            <a:gsLst>
              <a:gs pos="0">
                <a:srgbClr val="2F5597">
                  <a:alpha val="0"/>
                </a:srgbClr>
              </a:gs>
              <a:gs pos="100000">
                <a:srgbClr val="2F5597"/>
              </a:gs>
            </a:gsLst>
            <a:lin ang="5400000" scaled="1"/>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351" name="箭头: 下 47"/>
          <p:cNvSpPr/>
          <p:nvPr/>
        </p:nvSpPr>
        <p:spPr>
          <a:xfrm flipV="1">
            <a:off x="5780753" y="3680284"/>
            <a:ext cx="205043" cy="270318"/>
          </a:xfrm>
          <a:prstGeom prst="downArrow">
            <a:avLst>
              <a:gd name="adj1" fmla="val 50000"/>
              <a:gd name="adj2" fmla="val 52777"/>
            </a:avLst>
          </a:prstGeom>
          <a:gradFill>
            <a:gsLst>
              <a:gs pos="0">
                <a:srgbClr val="2F5597">
                  <a:alpha val="0"/>
                </a:srgbClr>
              </a:gs>
              <a:gs pos="100000">
                <a:srgbClr val="2F5597"/>
              </a:gs>
            </a:gsLst>
            <a:lin ang="5400000" scaled="1"/>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352" name="箭头: 下 47"/>
          <p:cNvSpPr/>
          <p:nvPr/>
        </p:nvSpPr>
        <p:spPr>
          <a:xfrm flipV="1">
            <a:off x="2759613" y="3703166"/>
            <a:ext cx="205043" cy="270318"/>
          </a:xfrm>
          <a:prstGeom prst="downArrow">
            <a:avLst>
              <a:gd name="adj1" fmla="val 50000"/>
              <a:gd name="adj2" fmla="val 52777"/>
            </a:avLst>
          </a:prstGeom>
          <a:gradFill>
            <a:gsLst>
              <a:gs pos="0">
                <a:srgbClr val="2F5597">
                  <a:alpha val="0"/>
                </a:srgbClr>
              </a:gs>
              <a:gs pos="100000">
                <a:srgbClr val="2F5597"/>
              </a:gs>
            </a:gsLst>
            <a:lin ang="5400000" scaled="1"/>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353" name="箭头: 下 47"/>
          <p:cNvSpPr/>
          <p:nvPr/>
        </p:nvSpPr>
        <p:spPr>
          <a:xfrm flipV="1">
            <a:off x="4204756" y="3687681"/>
            <a:ext cx="205043" cy="270318"/>
          </a:xfrm>
          <a:prstGeom prst="downArrow">
            <a:avLst>
              <a:gd name="adj1" fmla="val 50000"/>
              <a:gd name="adj2" fmla="val 52777"/>
            </a:avLst>
          </a:prstGeom>
          <a:gradFill>
            <a:gsLst>
              <a:gs pos="0">
                <a:srgbClr val="2F5597">
                  <a:alpha val="0"/>
                </a:srgbClr>
              </a:gs>
              <a:gs pos="100000">
                <a:srgbClr val="2F5597"/>
              </a:gs>
            </a:gsLst>
            <a:lin ang="5400000" scaled="1"/>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文本框 179"/>
          <p:cNvSpPr txBox="1"/>
          <p:nvPr/>
        </p:nvSpPr>
        <p:spPr>
          <a:xfrm>
            <a:off x="9979660" y="4985385"/>
            <a:ext cx="2094865" cy="1768475"/>
          </a:xfrm>
          <a:prstGeom prst="rect">
            <a:avLst/>
          </a:prstGeom>
          <a:noFill/>
          <a:ln w="12700">
            <a:solidFill>
              <a:schemeClr val="accent1"/>
            </a:solidFill>
            <a:prstDash val="dash"/>
          </a:ln>
        </p:spPr>
        <p:txBody>
          <a:bodyPr wrap="square" rtlCol="0">
            <a:noAutofit/>
          </a:bodyPr>
          <a:lstStyle/>
          <a:p>
            <a:endParaRPr lang="zh-CN" altLang="en-US">
              <a:latin typeface="微软雅黑" panose="020B0503020204020204" charset="-122"/>
              <a:ea typeface="微软雅黑" panose="020B0503020204020204" charset="-122"/>
            </a:endParaRPr>
          </a:p>
        </p:txBody>
      </p:sp>
      <p:sp>
        <p:nvSpPr>
          <p:cNvPr id="3" name="文本框 2"/>
          <p:cNvSpPr txBox="1"/>
          <p:nvPr/>
        </p:nvSpPr>
        <p:spPr>
          <a:xfrm>
            <a:off x="4639310" y="426085"/>
            <a:ext cx="7432040" cy="4018915"/>
          </a:xfrm>
          <a:prstGeom prst="rect">
            <a:avLst/>
          </a:prstGeom>
          <a:noFill/>
          <a:ln w="12700">
            <a:solidFill>
              <a:schemeClr val="accent1"/>
            </a:solidFill>
            <a:prstDash val="dash"/>
          </a:ln>
        </p:spPr>
        <p:txBody>
          <a:bodyPr wrap="square" rtlCol="0">
            <a:noAutofit/>
          </a:bodyPr>
          <a:lstStyle/>
          <a:p>
            <a:endParaRPr lang="zh-CN" altLang="en-US">
              <a:latin typeface="微软雅黑" panose="020B0503020204020204" charset="-122"/>
              <a:ea typeface="微软雅黑" panose="020B0503020204020204" charset="-122"/>
            </a:endParaRPr>
          </a:p>
        </p:txBody>
      </p:sp>
      <p:sp>
        <p:nvSpPr>
          <p:cNvPr id="70" name="文本框 69"/>
          <p:cNvSpPr txBox="1"/>
          <p:nvPr/>
        </p:nvSpPr>
        <p:spPr>
          <a:xfrm>
            <a:off x="4639945" y="4985385"/>
            <a:ext cx="4989830" cy="1768475"/>
          </a:xfrm>
          <a:prstGeom prst="rect">
            <a:avLst/>
          </a:prstGeom>
          <a:noFill/>
          <a:ln w="12700">
            <a:solidFill>
              <a:schemeClr val="accent1"/>
            </a:solidFill>
            <a:prstDash val="dash"/>
          </a:ln>
        </p:spPr>
        <p:txBody>
          <a:bodyPr wrap="square" rtlCol="0">
            <a:noAutofit/>
          </a:bodyPr>
          <a:lstStyle/>
          <a:p>
            <a:endParaRPr lang="zh-CN" altLang="en-US">
              <a:latin typeface="微软雅黑" panose="020B0503020204020204" charset="-122"/>
              <a:ea typeface="微软雅黑" panose="020B0503020204020204" charset="-122"/>
            </a:endParaRPr>
          </a:p>
        </p:txBody>
      </p:sp>
      <p:sp>
        <p:nvSpPr>
          <p:cNvPr id="42" name="文本框 41"/>
          <p:cNvSpPr txBox="1"/>
          <p:nvPr/>
        </p:nvSpPr>
        <p:spPr>
          <a:xfrm>
            <a:off x="87630" y="254000"/>
            <a:ext cx="1273175" cy="4728845"/>
          </a:xfrm>
          <a:prstGeom prst="rect">
            <a:avLst/>
          </a:prstGeom>
          <a:noFill/>
          <a:ln w="12700">
            <a:solidFill>
              <a:schemeClr val="accent1"/>
            </a:solidFill>
            <a:prstDash val="dash"/>
          </a:ln>
        </p:spPr>
        <p:txBody>
          <a:bodyPr wrap="square" rtlCol="0">
            <a:noAutofit/>
          </a:bodyPr>
          <a:lstStyle/>
          <a:p>
            <a:endParaRPr lang="zh-CN" altLang="en-US">
              <a:latin typeface="微软雅黑" panose="020B0503020204020204" charset="-122"/>
              <a:ea typeface="微软雅黑" panose="020B0503020204020204" charset="-122"/>
            </a:endParaRPr>
          </a:p>
        </p:txBody>
      </p:sp>
      <p:sp>
        <p:nvSpPr>
          <p:cNvPr id="11" name="object 8"/>
          <p:cNvSpPr/>
          <p:nvPr/>
        </p:nvSpPr>
        <p:spPr>
          <a:xfrm>
            <a:off x="8755504" y="5587144"/>
            <a:ext cx="387861" cy="407810"/>
          </a:xfrm>
          <a:prstGeom prst="rect">
            <a:avLst/>
          </a:prstGeom>
          <a:blipFill>
            <a:blip r:embed="rId1"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14" name="object 11"/>
          <p:cNvSpPr/>
          <p:nvPr/>
        </p:nvSpPr>
        <p:spPr>
          <a:xfrm>
            <a:off x="9233489" y="5823309"/>
            <a:ext cx="216000" cy="216000"/>
          </a:xfrm>
          <a:prstGeom prst="rect">
            <a:avLst/>
          </a:prstGeom>
          <a:blipFill>
            <a:blip r:embed="rId2"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16" name="object 13"/>
          <p:cNvSpPr/>
          <p:nvPr/>
        </p:nvSpPr>
        <p:spPr>
          <a:xfrm>
            <a:off x="7784332" y="5590954"/>
            <a:ext cx="387861" cy="407810"/>
          </a:xfrm>
          <a:prstGeom prst="rect">
            <a:avLst/>
          </a:prstGeom>
          <a:blipFill>
            <a:blip r:embed="rId3"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20" name="object 17"/>
          <p:cNvSpPr/>
          <p:nvPr/>
        </p:nvSpPr>
        <p:spPr>
          <a:xfrm>
            <a:off x="1443990" y="2256790"/>
            <a:ext cx="379730" cy="386715"/>
          </a:xfrm>
          <a:prstGeom prst="rect">
            <a:avLst/>
          </a:prstGeom>
          <a:blipFill>
            <a:blip r:embed="rId4"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22" name="object 19"/>
          <p:cNvSpPr/>
          <p:nvPr/>
        </p:nvSpPr>
        <p:spPr>
          <a:xfrm>
            <a:off x="156210" y="2291080"/>
            <a:ext cx="334010" cy="334010"/>
          </a:xfrm>
          <a:prstGeom prst="rect">
            <a:avLst/>
          </a:prstGeom>
          <a:blipFill>
            <a:blip r:embed="rId5"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27" name="object 24"/>
          <p:cNvSpPr/>
          <p:nvPr/>
        </p:nvSpPr>
        <p:spPr>
          <a:xfrm>
            <a:off x="6707902" y="5579524"/>
            <a:ext cx="387861" cy="407810"/>
          </a:xfrm>
          <a:prstGeom prst="rect">
            <a:avLst/>
          </a:prstGeom>
          <a:blipFill>
            <a:blip r:embed="rId1"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29" name="object 26"/>
          <p:cNvSpPr/>
          <p:nvPr/>
        </p:nvSpPr>
        <p:spPr>
          <a:xfrm>
            <a:off x="4844087" y="5585874"/>
            <a:ext cx="387861" cy="407810"/>
          </a:xfrm>
          <a:prstGeom prst="rect">
            <a:avLst/>
          </a:prstGeom>
          <a:blipFill>
            <a:blip r:embed="rId1"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35" name="object 32"/>
          <p:cNvSpPr/>
          <p:nvPr/>
        </p:nvSpPr>
        <p:spPr>
          <a:xfrm>
            <a:off x="2387782" y="2142785"/>
            <a:ext cx="576000" cy="576000"/>
          </a:xfrm>
          <a:prstGeom prst="rect">
            <a:avLst/>
          </a:prstGeom>
          <a:blipFill>
            <a:blip r:embed="rId6"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38" name="object 36"/>
          <p:cNvSpPr txBox="1"/>
          <p:nvPr/>
        </p:nvSpPr>
        <p:spPr>
          <a:xfrm>
            <a:off x="2179173" y="347177"/>
            <a:ext cx="913926" cy="277916"/>
          </a:xfrm>
          <a:prstGeom prst="rect">
            <a:avLst/>
          </a:prstGeom>
        </p:spPr>
        <p:txBody>
          <a:bodyPr vert="horz" wrap="square" lIns="0" tIns="0" rIns="0" bIns="0" rtlCol="0">
            <a:spAutoFit/>
          </a:bodyPr>
          <a:lstStyle/>
          <a:p>
            <a:pPr marL="0" marR="0">
              <a:lnSpc>
                <a:spcPts val="1925"/>
              </a:lnSpc>
              <a:spcBef>
                <a:spcPts val="0"/>
              </a:spcBef>
              <a:spcAft>
                <a:spcPts val="0"/>
              </a:spcAft>
            </a:pPr>
            <a:r>
              <a:rPr sz="1750" spc="22" dirty="0">
                <a:solidFill>
                  <a:srgbClr val="1976D2"/>
                </a:solidFill>
                <a:latin typeface="微软雅黑" panose="020B0503020204020204" charset="-122"/>
                <a:ea typeface="微软雅黑" panose="020B0503020204020204" charset="-122"/>
                <a:cs typeface="ENLAQQ+AdobeFangsongStd-Regular,Bold" panose="02000500000000000000"/>
              </a:rPr>
              <a:t>交易专区</a:t>
            </a:r>
            <a:endParaRPr sz="1750" spc="22" dirty="0">
              <a:solidFill>
                <a:srgbClr val="1976D2"/>
              </a:solidFill>
              <a:latin typeface="微软雅黑" panose="020B0503020204020204" charset="-122"/>
              <a:ea typeface="微软雅黑" panose="020B0503020204020204" charset="-122"/>
              <a:cs typeface="ENLAQQ+AdobeFangsongStd-Regular,Bold" panose="02000500000000000000"/>
            </a:endParaRPr>
          </a:p>
        </p:txBody>
      </p:sp>
      <p:sp>
        <p:nvSpPr>
          <p:cNvPr id="39" name="object 37"/>
          <p:cNvSpPr txBox="1"/>
          <p:nvPr/>
        </p:nvSpPr>
        <p:spPr>
          <a:xfrm>
            <a:off x="256941" y="337504"/>
            <a:ext cx="913926" cy="277916"/>
          </a:xfrm>
          <a:prstGeom prst="rect">
            <a:avLst/>
          </a:prstGeom>
        </p:spPr>
        <p:txBody>
          <a:bodyPr vert="horz" wrap="square" lIns="0" tIns="0" rIns="0" bIns="0" rtlCol="0">
            <a:spAutoFit/>
          </a:bodyPr>
          <a:lstStyle/>
          <a:p>
            <a:pPr marL="0" marR="0">
              <a:lnSpc>
                <a:spcPts val="1925"/>
              </a:lnSpc>
              <a:spcBef>
                <a:spcPts val="0"/>
              </a:spcBef>
              <a:spcAft>
                <a:spcPts val="0"/>
              </a:spcAft>
            </a:pPr>
            <a:r>
              <a:rPr sz="1750" spc="22" dirty="0">
                <a:solidFill>
                  <a:srgbClr val="1976D2"/>
                </a:solidFill>
                <a:latin typeface="微软雅黑" panose="020B0503020204020204" charset="-122"/>
                <a:ea typeface="微软雅黑" panose="020B0503020204020204" charset="-122"/>
                <a:cs typeface="ENLAQQ+AdobeFangsongStd-Regular,Bold" panose="02000500000000000000"/>
              </a:rPr>
              <a:t>互联网区</a:t>
            </a:r>
            <a:endParaRPr sz="1750" spc="22" dirty="0">
              <a:solidFill>
                <a:srgbClr val="1976D2"/>
              </a:solidFill>
              <a:latin typeface="微软雅黑" panose="020B0503020204020204" charset="-122"/>
              <a:ea typeface="微软雅黑" panose="020B0503020204020204" charset="-122"/>
              <a:cs typeface="ENLAQQ+AdobeFangsongStd-Regular,Bold" panose="02000500000000000000"/>
            </a:endParaRPr>
          </a:p>
        </p:txBody>
      </p:sp>
      <p:sp>
        <p:nvSpPr>
          <p:cNvPr id="40" name="object 38"/>
          <p:cNvSpPr txBox="1"/>
          <p:nvPr/>
        </p:nvSpPr>
        <p:spPr>
          <a:xfrm>
            <a:off x="156210" y="2729865"/>
            <a:ext cx="698500" cy="180340"/>
          </a:xfrm>
          <a:prstGeom prst="rect">
            <a:avLst/>
          </a:prstGeom>
        </p:spPr>
        <p:txBody>
          <a:bodyPr vert="horz" wrap="square" lIns="0" tIns="0" rIns="0" bIns="0" rtlCol="0">
            <a:noAutofit/>
          </a:bodyPr>
          <a:lstStyle/>
          <a:p>
            <a:pPr marL="0" marR="0">
              <a:lnSpc>
                <a:spcPts val="1230"/>
              </a:lnSpc>
              <a:spcBef>
                <a:spcPts val="0"/>
              </a:spcBef>
              <a:spcAft>
                <a:spcPts val="0"/>
              </a:spcAft>
            </a:pPr>
            <a:r>
              <a:rPr sz="1150" spc="-16" dirty="0">
                <a:solidFill>
                  <a:srgbClr val="1976D2"/>
                </a:solidFill>
                <a:latin typeface="微软雅黑" panose="020B0503020204020204" charset="-122"/>
                <a:ea typeface="微软雅黑" panose="020B0503020204020204" charset="-122"/>
                <a:cs typeface="BJWQCI+AdobeFanHeitiStd-Bold" panose="02000500000000000000"/>
              </a:rPr>
              <a:t>业务用户</a:t>
            </a:r>
            <a:endParaRPr sz="115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46" name="object 20"/>
          <p:cNvSpPr/>
          <p:nvPr/>
        </p:nvSpPr>
        <p:spPr>
          <a:xfrm>
            <a:off x="2193743" y="3697040"/>
            <a:ext cx="576000" cy="576000"/>
          </a:xfrm>
          <a:prstGeom prst="rect">
            <a:avLst/>
          </a:prstGeom>
          <a:blipFill>
            <a:blip r:embed="rId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47" name="object 2"/>
          <p:cNvSpPr/>
          <p:nvPr/>
        </p:nvSpPr>
        <p:spPr>
          <a:xfrm>
            <a:off x="2691285" y="3751861"/>
            <a:ext cx="216000" cy="216000"/>
          </a:xfrm>
          <a:prstGeom prst="rect">
            <a:avLst/>
          </a:prstGeom>
          <a:blipFill>
            <a:blip r:embed="rId8"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50" name="object 38"/>
          <p:cNvSpPr txBox="1"/>
          <p:nvPr/>
        </p:nvSpPr>
        <p:spPr>
          <a:xfrm>
            <a:off x="2370455" y="2682875"/>
            <a:ext cx="616585" cy="205740"/>
          </a:xfrm>
          <a:prstGeom prst="rect">
            <a:avLst/>
          </a:prstGeom>
        </p:spPr>
        <p:txBody>
          <a:bodyPr vert="horz" wrap="square" lIns="0" tIns="0" rIns="0" bIns="0" rtlCol="0">
            <a:noAutofit/>
          </a:bodyPr>
          <a:lstStyle/>
          <a:p>
            <a:pPr marL="0" marR="0">
              <a:lnSpc>
                <a:spcPts val="1230"/>
              </a:lnSpc>
              <a:spcBef>
                <a:spcPts val="0"/>
              </a:spcBef>
              <a:spcAft>
                <a:spcPts val="0"/>
              </a:spcAft>
            </a:pPr>
            <a:r>
              <a:rPr lang="en-US" sz="900" spc="-16" dirty="0">
                <a:solidFill>
                  <a:srgbClr val="1976D2"/>
                </a:solidFill>
                <a:latin typeface="微软雅黑" panose="020B0503020204020204" charset="-122"/>
                <a:ea typeface="微软雅黑" panose="020B0503020204020204" charset="-122"/>
                <a:cs typeface="BJWQCI+AdobeFanHeitiStd-Bold" panose="02000500000000000000"/>
              </a:rPr>
              <a:t>192.168.*.</a:t>
            </a:r>
            <a:r>
              <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rPr>
              <a:t>*</a:t>
            </a:r>
            <a:endPar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cxnSp>
        <p:nvCxnSpPr>
          <p:cNvPr id="51" name="直接连接符 50"/>
          <p:cNvCxnSpPr/>
          <p:nvPr/>
        </p:nvCxnSpPr>
        <p:spPr>
          <a:xfrm flipV="1">
            <a:off x="2266950" y="2882265"/>
            <a:ext cx="799465" cy="6350"/>
          </a:xfrm>
          <a:prstGeom prst="line">
            <a:avLst/>
          </a:prstGeom>
          <a:ln w="12700">
            <a:solidFill>
              <a:schemeClr val="accent1"/>
            </a:solidFill>
          </a:ln>
        </p:spPr>
        <p:style>
          <a:lnRef idx="2">
            <a:schemeClr val="accent1"/>
          </a:lnRef>
          <a:fillRef idx="0">
            <a:srgbClr val="FFFFFF"/>
          </a:fillRef>
          <a:effectRef idx="0">
            <a:srgbClr val="FFFFFF"/>
          </a:effectRef>
          <a:fontRef idx="minor">
            <a:schemeClr val="tx1"/>
          </a:fontRef>
        </p:style>
      </p:cxnSp>
      <p:sp>
        <p:nvSpPr>
          <p:cNvPr id="52" name="object 38"/>
          <p:cNvSpPr txBox="1"/>
          <p:nvPr/>
        </p:nvSpPr>
        <p:spPr>
          <a:xfrm>
            <a:off x="2178050" y="2794635"/>
            <a:ext cx="942975" cy="191770"/>
          </a:xfrm>
          <a:prstGeom prst="rect">
            <a:avLst/>
          </a:prstGeom>
        </p:spPr>
        <p:txBody>
          <a:bodyPr vert="horz" wrap="square" lIns="0" tIns="0" rIns="0" bIns="0" rtlCol="0">
            <a:noAutofit/>
          </a:bodyPr>
          <a:lstStyle/>
          <a:p>
            <a:pPr marL="0" marR="0">
              <a:lnSpc>
                <a:spcPts val="1230"/>
              </a:lnSpc>
              <a:spcBef>
                <a:spcPts val="0"/>
              </a:spcBef>
              <a:spcAft>
                <a:spcPts val="0"/>
              </a:spcAft>
            </a:pPr>
            <a:endParaRPr lang="en-US" altLang="zh-CN" sz="900" spc="-16" dirty="0">
              <a:solidFill>
                <a:schemeClr val="tx1"/>
              </a:solidFill>
              <a:latin typeface="微软雅黑" panose="020B0503020204020204" charset="-122"/>
              <a:ea typeface="微软雅黑" panose="020B0503020204020204" charset="-122"/>
              <a:cs typeface="+mn-ea"/>
            </a:endParaRPr>
          </a:p>
        </p:txBody>
      </p:sp>
      <p:sp>
        <p:nvSpPr>
          <p:cNvPr id="53" name="object 38"/>
          <p:cNvSpPr txBox="1"/>
          <p:nvPr/>
        </p:nvSpPr>
        <p:spPr>
          <a:xfrm>
            <a:off x="2248535" y="1277620"/>
            <a:ext cx="949325" cy="156210"/>
          </a:xfrm>
          <a:prstGeom prst="rect">
            <a:avLst/>
          </a:prstGeom>
        </p:spPr>
        <p:txBody>
          <a:bodyPr vert="horz" wrap="square" lIns="0" tIns="0" rIns="0" bIns="0" rtlCol="0">
            <a:noAutofit/>
          </a:bodyPr>
          <a:lstStyle/>
          <a:p>
            <a:pPr marL="0" marR="0">
              <a:lnSpc>
                <a:spcPts val="1230"/>
              </a:lnSpc>
              <a:spcBef>
                <a:spcPts val="0"/>
              </a:spcBef>
              <a:spcAft>
                <a:spcPts val="0"/>
              </a:spcAft>
            </a:pPr>
            <a:r>
              <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rPr>
              <a:t>反向代理服务器</a:t>
            </a:r>
            <a:endPar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pic>
        <p:nvPicPr>
          <p:cNvPr id="45" name="图片 44"/>
          <p:cNvPicPr>
            <a:picLocks noChangeAspect="1"/>
          </p:cNvPicPr>
          <p:nvPr/>
        </p:nvPicPr>
        <p:blipFill>
          <a:blip r:embed="rId9"/>
          <a:stretch>
            <a:fillRect/>
          </a:stretch>
        </p:blipFill>
        <p:spPr>
          <a:xfrm>
            <a:off x="2709545" y="3968115"/>
            <a:ext cx="216000" cy="223200"/>
          </a:xfrm>
          <a:prstGeom prst="rect">
            <a:avLst/>
          </a:prstGeom>
        </p:spPr>
      </p:pic>
      <p:sp>
        <p:nvSpPr>
          <p:cNvPr id="55" name="object 26"/>
          <p:cNvSpPr/>
          <p:nvPr/>
        </p:nvSpPr>
        <p:spPr>
          <a:xfrm>
            <a:off x="5715307" y="5580794"/>
            <a:ext cx="387861" cy="407810"/>
          </a:xfrm>
          <a:prstGeom prst="rect">
            <a:avLst/>
          </a:prstGeom>
          <a:blipFill>
            <a:blip r:embed="rId1"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26" name="object 23"/>
          <p:cNvSpPr/>
          <p:nvPr/>
        </p:nvSpPr>
        <p:spPr>
          <a:xfrm>
            <a:off x="6182179" y="5823309"/>
            <a:ext cx="216000" cy="216000"/>
          </a:xfrm>
          <a:prstGeom prst="rect">
            <a:avLst/>
          </a:prstGeom>
          <a:blipFill>
            <a:blip r:embed="rId10"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56" name="object 2"/>
          <p:cNvSpPr/>
          <p:nvPr/>
        </p:nvSpPr>
        <p:spPr>
          <a:xfrm>
            <a:off x="7087870" y="5823409"/>
            <a:ext cx="314325" cy="215900"/>
          </a:xfrm>
          <a:prstGeom prst="rect">
            <a:avLst/>
          </a:prstGeom>
          <a:blipFill>
            <a:blip r:embed="rId8"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28" name="object 25"/>
          <p:cNvSpPr/>
          <p:nvPr/>
        </p:nvSpPr>
        <p:spPr>
          <a:xfrm>
            <a:off x="5251961" y="5805309"/>
            <a:ext cx="234000" cy="234000"/>
          </a:xfrm>
          <a:prstGeom prst="rect">
            <a:avLst/>
          </a:prstGeom>
          <a:blipFill>
            <a:blip r:embed="rId11"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60" name="object 38"/>
          <p:cNvSpPr txBox="1"/>
          <p:nvPr/>
        </p:nvSpPr>
        <p:spPr>
          <a:xfrm>
            <a:off x="10412871" y="4991754"/>
            <a:ext cx="1133475" cy="156210"/>
          </a:xfrm>
          <a:prstGeom prst="rect">
            <a:avLst/>
          </a:prstGeom>
        </p:spPr>
        <p:txBody>
          <a:bodyPr vert="horz" wrap="square" lIns="0" tIns="0" rIns="0" bIns="0" rtlCol="0">
            <a:noAutofit/>
          </a:bodyPr>
          <a:lstStyle/>
          <a:p>
            <a:pPr marL="0" marR="0">
              <a:lnSpc>
                <a:spcPts val="1230"/>
              </a:lnSpc>
              <a:spcBef>
                <a:spcPts val="0"/>
              </a:spcBef>
              <a:spcAft>
                <a:spcPts val="0"/>
              </a:spcAft>
            </a:pPr>
            <a:r>
              <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rPr>
              <a:t>数据库服务器集群</a:t>
            </a:r>
            <a:endPar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grpSp>
        <p:nvGrpSpPr>
          <p:cNvPr id="161" name="组合 160"/>
          <p:cNvGrpSpPr/>
          <p:nvPr/>
        </p:nvGrpSpPr>
        <p:grpSpPr>
          <a:xfrm>
            <a:off x="10293985" y="5126355"/>
            <a:ext cx="698006" cy="517544"/>
            <a:chOff x="14545" y="8912"/>
            <a:chExt cx="1099" cy="815"/>
          </a:xfrm>
        </p:grpSpPr>
        <p:sp>
          <p:nvSpPr>
            <p:cNvPr id="36" name="object 33"/>
            <p:cNvSpPr/>
            <p:nvPr/>
          </p:nvSpPr>
          <p:spPr>
            <a:xfrm>
              <a:off x="14545" y="8912"/>
              <a:ext cx="679" cy="645"/>
            </a:xfrm>
            <a:prstGeom prst="rect">
              <a:avLst/>
            </a:prstGeom>
            <a:blipFill>
              <a:blip r:embed="rId12"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18" name="object 15"/>
            <p:cNvSpPr/>
            <p:nvPr/>
          </p:nvSpPr>
          <p:spPr>
            <a:xfrm>
              <a:off x="15141" y="9006"/>
              <a:ext cx="340" cy="323"/>
            </a:xfrm>
            <a:prstGeom prst="rect">
              <a:avLst/>
            </a:prstGeom>
            <a:blipFill>
              <a:blip r:embed="rId13"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61" name="object 38"/>
            <p:cNvSpPr txBox="1"/>
            <p:nvPr/>
          </p:nvSpPr>
          <p:spPr>
            <a:xfrm>
              <a:off x="14635" y="9511"/>
              <a:ext cx="1009" cy="216"/>
            </a:xfrm>
            <a:prstGeom prst="rect">
              <a:avLst/>
            </a:prstGeom>
          </p:spPr>
          <p:txBody>
            <a:bodyPr vert="horz" wrap="square" lIns="0" tIns="0" rIns="0" bIns="0" rtlCol="0">
              <a:noAutofit/>
            </a:bodyPr>
            <a:lstStyle/>
            <a:p>
              <a:pPr marL="0" marR="0">
                <a:lnSpc>
                  <a:spcPts val="1230"/>
                </a:lnSpc>
                <a:spcBef>
                  <a:spcPts val="0"/>
                </a:spcBef>
                <a:spcAft>
                  <a:spcPts val="0"/>
                </a:spcAft>
              </a:pPr>
              <a:r>
                <a:rPr lang="en-US" sz="900" spc="-16" dirty="0">
                  <a:solidFill>
                    <a:srgbClr val="1976D2"/>
                  </a:solidFill>
                  <a:latin typeface="微软雅黑" panose="020B0503020204020204" charset="-122"/>
                  <a:ea typeface="微软雅黑" panose="020B0503020204020204" charset="-122"/>
                  <a:cs typeface="BJWQCI+AdobeFanHeitiStd-Bold" panose="02000500000000000000"/>
                </a:rPr>
                <a:t>192.168.*.</a:t>
              </a:r>
              <a:r>
                <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rPr>
                <a:t>*</a:t>
              </a:r>
              <a:endPar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grpSp>
      <p:sp>
        <p:nvSpPr>
          <p:cNvPr id="64" name="object 38"/>
          <p:cNvSpPr txBox="1"/>
          <p:nvPr/>
        </p:nvSpPr>
        <p:spPr>
          <a:xfrm>
            <a:off x="9863455" y="5716270"/>
            <a:ext cx="2332355" cy="191770"/>
          </a:xfrm>
          <a:prstGeom prst="rect">
            <a:avLst/>
          </a:prstGeom>
        </p:spPr>
        <p:txBody>
          <a:bodyPr vert="horz" wrap="square" lIns="0" tIns="0" rIns="0" bIns="0" rtlCol="0">
            <a:noAutofit/>
          </a:bodyPr>
          <a:lstStyle/>
          <a:p>
            <a:pPr marL="0" marR="0" algn="ctr">
              <a:lnSpc>
                <a:spcPct val="100000"/>
              </a:lnSpc>
              <a:spcBef>
                <a:spcPts val="0"/>
              </a:spcBef>
              <a:spcAft>
                <a:spcPts val="0"/>
              </a:spcAft>
            </a:pPr>
            <a:r>
              <a:rPr lang="zh-CN" altLang="en-US" sz="900" spc="-16" dirty="0">
                <a:solidFill>
                  <a:srgbClr val="1976D2"/>
                </a:solidFill>
                <a:latin typeface="微软雅黑" panose="020B0503020204020204" charset="-122"/>
                <a:ea typeface="微软雅黑" panose="020B0503020204020204" charset="-122"/>
                <a:cs typeface="BJWQCI+AdobeFanHeitiStd-Bold" panose="02000500000000000000"/>
                <a:sym typeface="+mn-ea"/>
              </a:rPr>
              <a:t>数据库环境：</a:t>
            </a:r>
            <a:r>
              <a:rPr lang="zh-CN" altLang="en-US" sz="900" spc="-16" dirty="0">
                <a:solidFill>
                  <a:srgbClr val="1976D2"/>
                </a:solidFill>
                <a:latin typeface="微软雅黑" panose="020B0503020204020204" charset="-122"/>
                <a:ea typeface="微软雅黑" panose="020B0503020204020204" charset="-122"/>
                <a:cs typeface="BJWQCI+AdobeFanHeitiStd-Bold" panose="02000500000000000000"/>
              </a:rPr>
              <a:t>64G/1TB，2个MySQL节点</a:t>
            </a:r>
            <a:endParaRPr lang="zh-CN" altLang="en-US" sz="900" spc="-16" dirty="0">
              <a:solidFill>
                <a:srgbClr val="1976D2"/>
              </a:solidFill>
              <a:latin typeface="微软雅黑" panose="020B0503020204020204" charset="-122"/>
              <a:ea typeface="微软雅黑" panose="020B0503020204020204" charset="-122"/>
              <a:cs typeface="BJWQCI+AdobeFanHeitiStd-Bold" panose="02000500000000000000"/>
            </a:endParaRPr>
          </a:p>
          <a:p>
            <a:pPr marL="0" marR="0" algn="ctr">
              <a:lnSpc>
                <a:spcPct val="100000"/>
              </a:lnSpc>
              <a:spcBef>
                <a:spcPts val="0"/>
              </a:spcBef>
              <a:spcAft>
                <a:spcPts val="0"/>
              </a:spcAft>
            </a:pPr>
            <a:r>
              <a:rPr lang="zh-CN" altLang="en-US" sz="900" spc="-16" dirty="0">
                <a:solidFill>
                  <a:srgbClr val="1976D2"/>
                </a:solidFill>
                <a:latin typeface="微软雅黑" panose="020B0503020204020204" charset="-122"/>
                <a:ea typeface="微软雅黑" panose="020B0503020204020204" charset="-122"/>
                <a:cs typeface="BJWQCI+AdobeFanHeitiStd-Bold" panose="02000500000000000000"/>
              </a:rPr>
              <a:t>(主从方案)</a:t>
            </a:r>
            <a:endParaRPr lang="zh-CN" altLang="en-US"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grpSp>
        <p:nvGrpSpPr>
          <p:cNvPr id="163" name="组合 162"/>
          <p:cNvGrpSpPr/>
          <p:nvPr/>
        </p:nvGrpSpPr>
        <p:grpSpPr>
          <a:xfrm>
            <a:off x="10984865" y="6142355"/>
            <a:ext cx="560705" cy="431165"/>
            <a:chOff x="15737" y="9258"/>
            <a:chExt cx="883" cy="679"/>
          </a:xfrm>
        </p:grpSpPr>
        <p:sp>
          <p:nvSpPr>
            <p:cNvPr id="17" name="object 14"/>
            <p:cNvSpPr/>
            <p:nvPr/>
          </p:nvSpPr>
          <p:spPr>
            <a:xfrm>
              <a:off x="15737" y="9258"/>
              <a:ext cx="683" cy="679"/>
            </a:xfrm>
            <a:prstGeom prst="rect">
              <a:avLst/>
            </a:prstGeom>
            <a:blipFill>
              <a:blip r:embed="rId12"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12" name="object 9"/>
            <p:cNvSpPr/>
            <p:nvPr/>
          </p:nvSpPr>
          <p:spPr>
            <a:xfrm>
              <a:off x="16270" y="9380"/>
              <a:ext cx="350" cy="212"/>
            </a:xfrm>
            <a:prstGeom prst="rect">
              <a:avLst/>
            </a:prstGeom>
            <a:blipFill>
              <a:blip r:embed="rId14"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13" name="object 10"/>
            <p:cNvSpPr/>
            <p:nvPr/>
          </p:nvSpPr>
          <p:spPr>
            <a:xfrm>
              <a:off x="16357" y="9592"/>
              <a:ext cx="214" cy="212"/>
            </a:xfrm>
            <a:prstGeom prst="rect">
              <a:avLst/>
            </a:prstGeom>
            <a:blipFill>
              <a:blip r:embed="rId15"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grpSp>
      <p:sp>
        <p:nvSpPr>
          <p:cNvPr id="71" name="object 38"/>
          <p:cNvSpPr txBox="1"/>
          <p:nvPr/>
        </p:nvSpPr>
        <p:spPr>
          <a:xfrm>
            <a:off x="4766310" y="5417820"/>
            <a:ext cx="654050" cy="156210"/>
          </a:xfrm>
          <a:prstGeom prst="rect">
            <a:avLst/>
          </a:prstGeom>
        </p:spPr>
        <p:txBody>
          <a:bodyPr vert="horz" wrap="square" lIns="0" tIns="0" rIns="0" bIns="0" rtlCol="0">
            <a:noAutofit/>
          </a:bodyPr>
          <a:lstStyle/>
          <a:p>
            <a:pPr marL="0" marR="0">
              <a:lnSpc>
                <a:spcPts val="1230"/>
              </a:lnSpc>
              <a:spcBef>
                <a:spcPts val="0"/>
              </a:spcBef>
              <a:spcAft>
                <a:spcPts val="0"/>
              </a:spcAft>
            </a:pPr>
            <a:r>
              <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rPr>
              <a:t>缓存服务器</a:t>
            </a:r>
            <a:endPar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72" name="object 38"/>
          <p:cNvSpPr txBox="1"/>
          <p:nvPr/>
        </p:nvSpPr>
        <p:spPr>
          <a:xfrm>
            <a:off x="5701030" y="5412740"/>
            <a:ext cx="654050" cy="156210"/>
          </a:xfrm>
          <a:prstGeom prst="rect">
            <a:avLst/>
          </a:prstGeom>
        </p:spPr>
        <p:txBody>
          <a:bodyPr vert="horz" wrap="square" lIns="0" tIns="0" rIns="0" bIns="0" rtlCol="0">
            <a:noAutofit/>
          </a:bodyPr>
          <a:lstStyle/>
          <a:p>
            <a:pPr marL="0" marR="0">
              <a:lnSpc>
                <a:spcPts val="1230"/>
              </a:lnSpc>
              <a:spcBef>
                <a:spcPts val="0"/>
              </a:spcBef>
              <a:spcAft>
                <a:spcPts val="0"/>
              </a:spcAft>
            </a:pPr>
            <a:r>
              <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rPr>
              <a:t>消息中间件</a:t>
            </a:r>
            <a:endPar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73" name="object 38"/>
          <p:cNvSpPr txBox="1"/>
          <p:nvPr/>
        </p:nvSpPr>
        <p:spPr>
          <a:xfrm>
            <a:off x="6484620" y="5411470"/>
            <a:ext cx="1137285" cy="156210"/>
          </a:xfrm>
          <a:prstGeom prst="rect">
            <a:avLst/>
          </a:prstGeom>
        </p:spPr>
        <p:txBody>
          <a:bodyPr vert="horz" wrap="square" lIns="0" tIns="0" rIns="0" bIns="0" rtlCol="0">
            <a:noAutofit/>
          </a:bodyPr>
          <a:lstStyle/>
          <a:p>
            <a:pPr marL="0" marR="0">
              <a:lnSpc>
                <a:spcPts val="1230"/>
              </a:lnSpc>
              <a:spcBef>
                <a:spcPts val="0"/>
              </a:spcBef>
              <a:spcAft>
                <a:spcPts val="0"/>
              </a:spcAft>
            </a:pPr>
            <a:r>
              <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rPr>
              <a:t>新点支撑服务中间件</a:t>
            </a:r>
            <a:endPar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74" name="object 38"/>
          <p:cNvSpPr txBox="1"/>
          <p:nvPr/>
        </p:nvSpPr>
        <p:spPr>
          <a:xfrm>
            <a:off x="7680325" y="5421630"/>
            <a:ext cx="974725" cy="156210"/>
          </a:xfrm>
          <a:prstGeom prst="rect">
            <a:avLst/>
          </a:prstGeom>
        </p:spPr>
        <p:txBody>
          <a:bodyPr vert="horz" wrap="square" lIns="0" tIns="0" rIns="0" bIns="0" rtlCol="0">
            <a:noAutofit/>
          </a:bodyPr>
          <a:lstStyle/>
          <a:p>
            <a:pPr marL="0" marR="0">
              <a:lnSpc>
                <a:spcPts val="1230"/>
              </a:lnSpc>
              <a:spcBef>
                <a:spcPts val="0"/>
              </a:spcBef>
              <a:spcAft>
                <a:spcPts val="0"/>
              </a:spcAft>
            </a:pPr>
            <a:r>
              <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rPr>
              <a:t>全文检索中间件</a:t>
            </a:r>
            <a:endPar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75" name="object 38"/>
          <p:cNvSpPr txBox="1"/>
          <p:nvPr/>
        </p:nvSpPr>
        <p:spPr>
          <a:xfrm>
            <a:off x="8689340" y="5419090"/>
            <a:ext cx="1006475" cy="156210"/>
          </a:xfrm>
          <a:prstGeom prst="rect">
            <a:avLst/>
          </a:prstGeom>
        </p:spPr>
        <p:txBody>
          <a:bodyPr vert="horz" wrap="square" lIns="0" tIns="0" rIns="0" bIns="0" rtlCol="0">
            <a:noAutofit/>
          </a:bodyPr>
          <a:lstStyle/>
          <a:p>
            <a:pPr marL="0" marR="0">
              <a:lnSpc>
                <a:spcPts val="1230"/>
              </a:lnSpc>
              <a:spcBef>
                <a:spcPts val="0"/>
              </a:spcBef>
              <a:spcAft>
                <a:spcPts val="0"/>
              </a:spcAft>
            </a:pPr>
            <a:r>
              <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rPr>
              <a:t>任务调度中间件</a:t>
            </a:r>
            <a:endPar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cxnSp>
        <p:nvCxnSpPr>
          <p:cNvPr id="82" name="直接连接符 81"/>
          <p:cNvCxnSpPr/>
          <p:nvPr/>
        </p:nvCxnSpPr>
        <p:spPr>
          <a:xfrm flipV="1">
            <a:off x="4682490" y="6304915"/>
            <a:ext cx="855345" cy="5080"/>
          </a:xfrm>
          <a:prstGeom prst="line">
            <a:avLst/>
          </a:prstGeom>
          <a:ln w="12700">
            <a:solidFill>
              <a:schemeClr val="accent1"/>
            </a:solidFill>
          </a:ln>
        </p:spPr>
        <p:style>
          <a:lnRef idx="2">
            <a:schemeClr val="accent1"/>
          </a:lnRef>
          <a:fillRef idx="0">
            <a:srgbClr val="FFFFFF"/>
          </a:fillRef>
          <a:effectRef idx="0">
            <a:srgbClr val="FFFFFF"/>
          </a:effectRef>
          <a:fontRef idx="minor">
            <a:schemeClr val="tx1"/>
          </a:fontRef>
        </p:style>
      </p:cxnSp>
      <p:cxnSp>
        <p:nvCxnSpPr>
          <p:cNvPr id="85" name="直接连接符 84"/>
          <p:cNvCxnSpPr/>
          <p:nvPr/>
        </p:nvCxnSpPr>
        <p:spPr>
          <a:xfrm>
            <a:off x="7649210" y="6312535"/>
            <a:ext cx="857885" cy="0"/>
          </a:xfrm>
          <a:prstGeom prst="line">
            <a:avLst/>
          </a:prstGeom>
          <a:ln w="12700">
            <a:solidFill>
              <a:schemeClr val="accent1"/>
            </a:solidFill>
          </a:ln>
        </p:spPr>
        <p:style>
          <a:lnRef idx="2">
            <a:schemeClr val="accent1"/>
          </a:lnRef>
          <a:fillRef idx="0">
            <a:srgbClr val="FFFFFF"/>
          </a:fillRef>
          <a:effectRef idx="0">
            <a:srgbClr val="FFFFFF"/>
          </a:effectRef>
          <a:fontRef idx="minor">
            <a:schemeClr val="tx1"/>
          </a:fontRef>
        </p:style>
      </p:cxnSp>
      <p:cxnSp>
        <p:nvCxnSpPr>
          <p:cNvPr id="86" name="直接连接符 85"/>
          <p:cNvCxnSpPr/>
          <p:nvPr/>
        </p:nvCxnSpPr>
        <p:spPr>
          <a:xfrm flipV="1">
            <a:off x="8631555" y="6307455"/>
            <a:ext cx="901700" cy="3810"/>
          </a:xfrm>
          <a:prstGeom prst="line">
            <a:avLst/>
          </a:prstGeom>
          <a:ln w="12700">
            <a:solidFill>
              <a:schemeClr val="accent1"/>
            </a:solidFill>
          </a:ln>
        </p:spPr>
        <p:style>
          <a:lnRef idx="2">
            <a:schemeClr val="accent1"/>
          </a:lnRef>
          <a:fillRef idx="0">
            <a:srgbClr val="FFFFFF"/>
          </a:fillRef>
          <a:effectRef idx="0">
            <a:srgbClr val="FFFFFF"/>
          </a:effectRef>
          <a:fontRef idx="minor">
            <a:schemeClr val="tx1"/>
          </a:fontRef>
        </p:style>
      </p:cxnSp>
      <p:sp>
        <p:nvSpPr>
          <p:cNvPr id="15" name="object 12"/>
          <p:cNvSpPr/>
          <p:nvPr/>
        </p:nvSpPr>
        <p:spPr>
          <a:xfrm>
            <a:off x="8241536" y="5823309"/>
            <a:ext cx="216000" cy="216000"/>
          </a:xfrm>
          <a:prstGeom prst="rect">
            <a:avLst/>
          </a:prstGeom>
          <a:blipFill>
            <a:blip r:embed="rId16"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88" name="object 38"/>
          <p:cNvSpPr txBox="1"/>
          <p:nvPr/>
        </p:nvSpPr>
        <p:spPr>
          <a:xfrm>
            <a:off x="4766310" y="6139180"/>
            <a:ext cx="640715" cy="137160"/>
          </a:xfrm>
          <a:prstGeom prst="rect">
            <a:avLst/>
          </a:prstGeom>
        </p:spPr>
        <p:txBody>
          <a:bodyPr vert="horz" wrap="square" lIns="0" tIns="0" rIns="0" bIns="0" rtlCol="0">
            <a:noAutofit/>
          </a:bodyPr>
          <a:lstStyle/>
          <a:p>
            <a:pPr marL="0" marR="0">
              <a:lnSpc>
                <a:spcPts val="1230"/>
              </a:lnSpc>
              <a:spcBef>
                <a:spcPts val="0"/>
              </a:spcBef>
              <a:spcAft>
                <a:spcPts val="0"/>
              </a:spcAft>
            </a:pPr>
            <a:r>
              <a:rPr lang="en-US" sz="900" spc="-16" dirty="0">
                <a:solidFill>
                  <a:srgbClr val="1976D2"/>
                </a:solidFill>
                <a:latin typeface="微软雅黑" panose="020B0503020204020204" charset="-122"/>
                <a:ea typeface="微软雅黑" panose="020B0503020204020204" charset="-122"/>
                <a:cs typeface="BJWQCI+AdobeFanHeitiStd-Bold" panose="02000500000000000000"/>
              </a:rPr>
              <a:t>192.168.*.</a:t>
            </a:r>
            <a:r>
              <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rPr>
              <a:t>*</a:t>
            </a:r>
            <a:endPar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89" name="object 38"/>
          <p:cNvSpPr txBox="1"/>
          <p:nvPr/>
        </p:nvSpPr>
        <p:spPr>
          <a:xfrm>
            <a:off x="5694680" y="6134100"/>
            <a:ext cx="631825" cy="137160"/>
          </a:xfrm>
          <a:prstGeom prst="rect">
            <a:avLst/>
          </a:prstGeom>
        </p:spPr>
        <p:txBody>
          <a:bodyPr vert="horz" wrap="square" lIns="0" tIns="0" rIns="0" bIns="0" rtlCol="0">
            <a:noAutofit/>
          </a:bodyPr>
          <a:lstStyle/>
          <a:p>
            <a:pPr marL="0" marR="0">
              <a:lnSpc>
                <a:spcPts val="1230"/>
              </a:lnSpc>
              <a:spcBef>
                <a:spcPts val="0"/>
              </a:spcBef>
              <a:spcAft>
                <a:spcPts val="0"/>
              </a:spcAft>
            </a:pPr>
            <a:r>
              <a:rPr lang="en-US" sz="900" spc="-16" dirty="0">
                <a:solidFill>
                  <a:srgbClr val="1976D2"/>
                </a:solidFill>
                <a:latin typeface="微软雅黑" panose="020B0503020204020204" charset="-122"/>
                <a:ea typeface="微软雅黑" panose="020B0503020204020204" charset="-122"/>
                <a:cs typeface="BJWQCI+AdobeFanHeitiStd-Bold" panose="02000500000000000000"/>
              </a:rPr>
              <a:t>192.168.*.</a:t>
            </a:r>
            <a:r>
              <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rPr>
              <a:t>*</a:t>
            </a:r>
            <a:endPar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90" name="object 38"/>
          <p:cNvSpPr txBox="1"/>
          <p:nvPr/>
        </p:nvSpPr>
        <p:spPr>
          <a:xfrm>
            <a:off x="6723380" y="6132830"/>
            <a:ext cx="598805" cy="137160"/>
          </a:xfrm>
          <a:prstGeom prst="rect">
            <a:avLst/>
          </a:prstGeom>
        </p:spPr>
        <p:txBody>
          <a:bodyPr vert="horz" wrap="square" lIns="0" tIns="0" rIns="0" bIns="0" rtlCol="0">
            <a:noAutofit/>
          </a:bodyPr>
          <a:lstStyle/>
          <a:p>
            <a:pPr marL="0" marR="0">
              <a:lnSpc>
                <a:spcPts val="1230"/>
              </a:lnSpc>
              <a:spcBef>
                <a:spcPts val="0"/>
              </a:spcBef>
              <a:spcAft>
                <a:spcPts val="0"/>
              </a:spcAft>
            </a:pPr>
            <a:r>
              <a:rPr lang="en-US" sz="900" spc="-16" dirty="0">
                <a:solidFill>
                  <a:srgbClr val="1976D2"/>
                </a:solidFill>
                <a:latin typeface="微软雅黑" panose="020B0503020204020204" charset="-122"/>
                <a:ea typeface="微软雅黑" panose="020B0503020204020204" charset="-122"/>
                <a:cs typeface="BJWQCI+AdobeFanHeitiStd-Bold" panose="02000500000000000000"/>
              </a:rPr>
              <a:t>192.168.*.</a:t>
            </a:r>
            <a:r>
              <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rPr>
              <a:t>*</a:t>
            </a:r>
            <a:endPar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91" name="object 38"/>
          <p:cNvSpPr txBox="1"/>
          <p:nvPr/>
        </p:nvSpPr>
        <p:spPr>
          <a:xfrm>
            <a:off x="7790180" y="6142990"/>
            <a:ext cx="640715" cy="137160"/>
          </a:xfrm>
          <a:prstGeom prst="rect">
            <a:avLst/>
          </a:prstGeom>
        </p:spPr>
        <p:txBody>
          <a:bodyPr vert="horz" wrap="square" lIns="0" tIns="0" rIns="0" bIns="0" rtlCol="0">
            <a:noAutofit/>
          </a:bodyPr>
          <a:lstStyle/>
          <a:p>
            <a:pPr marL="0" marR="0">
              <a:lnSpc>
                <a:spcPts val="1230"/>
              </a:lnSpc>
              <a:spcBef>
                <a:spcPts val="0"/>
              </a:spcBef>
              <a:spcAft>
                <a:spcPts val="0"/>
              </a:spcAft>
            </a:pPr>
            <a:r>
              <a:rPr lang="en-US" sz="900" spc="-16" dirty="0">
                <a:solidFill>
                  <a:srgbClr val="1976D2"/>
                </a:solidFill>
                <a:latin typeface="微软雅黑" panose="020B0503020204020204" charset="-122"/>
                <a:ea typeface="微软雅黑" panose="020B0503020204020204" charset="-122"/>
                <a:cs typeface="BJWQCI+AdobeFanHeitiStd-Bold" panose="02000500000000000000"/>
              </a:rPr>
              <a:t>192.168.*.</a:t>
            </a:r>
            <a:r>
              <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rPr>
              <a:t>*</a:t>
            </a:r>
            <a:endPar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92" name="object 38"/>
          <p:cNvSpPr txBox="1"/>
          <p:nvPr/>
        </p:nvSpPr>
        <p:spPr>
          <a:xfrm>
            <a:off x="8735060" y="6140450"/>
            <a:ext cx="662305" cy="137160"/>
          </a:xfrm>
          <a:prstGeom prst="rect">
            <a:avLst/>
          </a:prstGeom>
        </p:spPr>
        <p:txBody>
          <a:bodyPr vert="horz" wrap="square" lIns="0" tIns="0" rIns="0" bIns="0" rtlCol="0">
            <a:noAutofit/>
          </a:bodyPr>
          <a:lstStyle/>
          <a:p>
            <a:pPr marL="0" marR="0">
              <a:lnSpc>
                <a:spcPts val="1230"/>
              </a:lnSpc>
              <a:spcBef>
                <a:spcPts val="0"/>
              </a:spcBef>
              <a:spcAft>
                <a:spcPts val="0"/>
              </a:spcAft>
            </a:pPr>
            <a:r>
              <a:rPr lang="en-US" sz="900" spc="-16" dirty="0">
                <a:solidFill>
                  <a:srgbClr val="1976D2"/>
                </a:solidFill>
                <a:latin typeface="微软雅黑" panose="020B0503020204020204" charset="-122"/>
                <a:ea typeface="微软雅黑" panose="020B0503020204020204" charset="-122"/>
                <a:cs typeface="BJWQCI+AdobeFanHeitiStd-Bold" panose="02000500000000000000"/>
              </a:rPr>
              <a:t>192.168.*.</a:t>
            </a:r>
            <a:r>
              <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rPr>
              <a:t>*</a:t>
            </a:r>
            <a:endPar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107" name="object 38"/>
          <p:cNvSpPr txBox="1"/>
          <p:nvPr/>
        </p:nvSpPr>
        <p:spPr>
          <a:xfrm>
            <a:off x="2081530" y="4495165"/>
            <a:ext cx="1523365" cy="197485"/>
          </a:xfrm>
          <a:prstGeom prst="rect">
            <a:avLst/>
          </a:prstGeom>
        </p:spPr>
        <p:txBody>
          <a:bodyPr vert="horz" wrap="square" lIns="0" tIns="0" rIns="0" bIns="0" rtlCol="0">
            <a:noAutofit/>
          </a:bodyPr>
          <a:lstStyle/>
          <a:p>
            <a:pPr marL="0" marR="0">
              <a:lnSpc>
                <a:spcPts val="1230"/>
              </a:lnSpc>
              <a:spcBef>
                <a:spcPts val="0"/>
              </a:spcBef>
              <a:spcAft>
                <a:spcPts val="0"/>
              </a:spcAft>
            </a:pPr>
            <a:r>
              <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rPr>
              <a:t>ecloud平台 Docker仓库</a:t>
            </a:r>
            <a:endPar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113" name="object 38"/>
          <p:cNvSpPr txBox="1"/>
          <p:nvPr/>
        </p:nvSpPr>
        <p:spPr>
          <a:xfrm>
            <a:off x="2310765" y="4248150"/>
            <a:ext cx="614680" cy="201295"/>
          </a:xfrm>
          <a:prstGeom prst="rect">
            <a:avLst/>
          </a:prstGeom>
        </p:spPr>
        <p:txBody>
          <a:bodyPr vert="horz" wrap="square" lIns="0" tIns="0" rIns="0" bIns="0" rtlCol="0">
            <a:noAutofit/>
          </a:bodyPr>
          <a:lstStyle/>
          <a:p>
            <a:pPr marL="0" marR="0">
              <a:lnSpc>
                <a:spcPts val="1230"/>
              </a:lnSpc>
              <a:spcBef>
                <a:spcPts val="0"/>
              </a:spcBef>
              <a:spcAft>
                <a:spcPts val="0"/>
              </a:spcAft>
            </a:pPr>
            <a:r>
              <a:rPr lang="en-US" sz="900" spc="-16" dirty="0">
                <a:solidFill>
                  <a:srgbClr val="1976D2"/>
                </a:solidFill>
                <a:latin typeface="微软雅黑" panose="020B0503020204020204" charset="-122"/>
                <a:ea typeface="微软雅黑" panose="020B0503020204020204" charset="-122"/>
                <a:cs typeface="BJWQCI+AdobeFanHeitiStd-Bold" panose="02000500000000000000"/>
              </a:rPr>
              <a:t>192.168.*.</a:t>
            </a:r>
            <a:r>
              <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rPr>
              <a:t>*</a:t>
            </a:r>
            <a:endPar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cxnSp>
        <p:nvCxnSpPr>
          <p:cNvPr id="114" name="直接连接符 113"/>
          <p:cNvCxnSpPr/>
          <p:nvPr/>
        </p:nvCxnSpPr>
        <p:spPr>
          <a:xfrm>
            <a:off x="2190750" y="4408170"/>
            <a:ext cx="823595" cy="0"/>
          </a:xfrm>
          <a:prstGeom prst="line">
            <a:avLst/>
          </a:prstGeom>
          <a:ln w="12700">
            <a:solidFill>
              <a:schemeClr val="accent1"/>
            </a:solidFill>
          </a:ln>
        </p:spPr>
        <p:style>
          <a:lnRef idx="2">
            <a:schemeClr val="accent1"/>
          </a:lnRef>
          <a:fillRef idx="0">
            <a:srgbClr val="FFFFFF"/>
          </a:fillRef>
          <a:effectRef idx="0">
            <a:srgbClr val="FFFFFF"/>
          </a:effectRef>
          <a:fontRef idx="minor">
            <a:schemeClr val="tx1"/>
          </a:fontRef>
        </p:style>
      </p:cxnSp>
      <p:sp>
        <p:nvSpPr>
          <p:cNvPr id="119" name="object 38"/>
          <p:cNvSpPr txBox="1"/>
          <p:nvPr/>
        </p:nvSpPr>
        <p:spPr>
          <a:xfrm>
            <a:off x="1757680" y="4003040"/>
            <a:ext cx="433070" cy="156210"/>
          </a:xfrm>
          <a:prstGeom prst="rect">
            <a:avLst/>
          </a:prstGeom>
        </p:spPr>
        <p:txBody>
          <a:bodyPr vert="horz" wrap="square" lIns="0" tIns="0" rIns="0" bIns="0" rtlCol="0">
            <a:noAutofit/>
          </a:bodyPr>
          <a:lstStyle/>
          <a:p>
            <a:pPr marL="0" marR="0">
              <a:lnSpc>
                <a:spcPts val="1230"/>
              </a:lnSpc>
              <a:spcBef>
                <a:spcPts val="0"/>
              </a:spcBef>
              <a:spcAft>
                <a:spcPts val="0"/>
              </a:spcAft>
            </a:pPr>
            <a:r>
              <a:rPr lang="en-US" altLang="zh-CN" sz="1000" spc="-16" dirty="0">
                <a:solidFill>
                  <a:srgbClr val="1976D2"/>
                </a:solidFill>
                <a:latin typeface="微软雅黑" panose="020B0503020204020204" charset="-122"/>
                <a:ea typeface="微软雅黑" panose="020B0503020204020204" charset="-122"/>
                <a:cs typeface="BJWQCI+AdobeFanHeitiStd-Bold" panose="02000500000000000000"/>
              </a:rPr>
              <a:t>ecloud</a:t>
            </a:r>
            <a:endParaRPr lang="en-US" altLang="zh-CN"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cxnSp>
        <p:nvCxnSpPr>
          <p:cNvPr id="122" name="直接箭头连接符 121"/>
          <p:cNvCxnSpPr>
            <a:stCxn id="22" idx="3"/>
            <a:endCxn id="20" idx="1"/>
          </p:cNvCxnSpPr>
          <p:nvPr/>
        </p:nvCxnSpPr>
        <p:spPr>
          <a:xfrm flipV="1">
            <a:off x="490220" y="2450465"/>
            <a:ext cx="953770" cy="762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23" name="object 38"/>
          <p:cNvSpPr txBox="1"/>
          <p:nvPr/>
        </p:nvSpPr>
        <p:spPr>
          <a:xfrm>
            <a:off x="676910" y="2279015"/>
            <a:ext cx="638175" cy="160655"/>
          </a:xfrm>
          <a:prstGeom prst="rect">
            <a:avLst/>
          </a:prstGeom>
        </p:spPr>
        <p:txBody>
          <a:bodyPr vert="horz" wrap="square" lIns="0" tIns="0" rIns="0" bIns="0" rtlCol="0">
            <a:noAutofit/>
          </a:bodyPr>
          <a:lstStyle/>
          <a:p>
            <a:pPr marL="0" marR="0">
              <a:lnSpc>
                <a:spcPts val="1230"/>
              </a:lnSpc>
              <a:spcBef>
                <a:spcPts val="0"/>
              </a:spcBef>
              <a:spcAft>
                <a:spcPts val="0"/>
              </a:spcAft>
            </a:pPr>
            <a:r>
              <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rPr>
              <a:t>互联网访问</a:t>
            </a:r>
            <a:endPar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124" name="object 38"/>
          <p:cNvSpPr txBox="1"/>
          <p:nvPr/>
        </p:nvSpPr>
        <p:spPr>
          <a:xfrm>
            <a:off x="727075" y="2474595"/>
            <a:ext cx="616585" cy="168910"/>
          </a:xfrm>
          <a:prstGeom prst="rect">
            <a:avLst/>
          </a:prstGeom>
        </p:spPr>
        <p:txBody>
          <a:bodyPr vert="horz" wrap="square" lIns="0" tIns="0" rIns="0" bIns="0" rtlCol="0">
            <a:noAutofit/>
          </a:bodyPr>
          <a:lstStyle/>
          <a:p>
            <a:pPr marL="0" marR="0">
              <a:lnSpc>
                <a:spcPts val="1230"/>
              </a:lnSpc>
              <a:spcBef>
                <a:spcPts val="0"/>
              </a:spcBef>
              <a:spcAft>
                <a:spcPts val="0"/>
              </a:spcAft>
            </a:pPr>
            <a:r>
              <a:rPr lang="en-US" sz="900" spc="-16" dirty="0">
                <a:solidFill>
                  <a:srgbClr val="1976D2"/>
                </a:solidFill>
                <a:latin typeface="微软雅黑" panose="020B0503020204020204" charset="-122"/>
                <a:ea typeface="微软雅黑" panose="020B0503020204020204" charset="-122"/>
                <a:cs typeface="BJWQCI+AdobeFanHeitiStd-Bold" panose="02000500000000000000"/>
              </a:rPr>
              <a:t>61.155.*.</a:t>
            </a:r>
            <a:r>
              <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rPr>
              <a:t>*</a:t>
            </a:r>
            <a:endPar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132" name="上箭头 131"/>
          <p:cNvSpPr/>
          <p:nvPr/>
        </p:nvSpPr>
        <p:spPr>
          <a:xfrm rot="4560000">
            <a:off x="3771265" y="2884805"/>
            <a:ext cx="280670" cy="1311910"/>
          </a:xfrm>
          <a:prstGeom prst="upArrow">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sym typeface="+mn-ea"/>
            </a:endParaRPr>
          </a:p>
        </p:txBody>
      </p:sp>
      <p:sp>
        <p:nvSpPr>
          <p:cNvPr id="133" name="上箭头 132"/>
          <p:cNvSpPr/>
          <p:nvPr/>
        </p:nvSpPr>
        <p:spPr>
          <a:xfrm>
            <a:off x="6895465" y="4533900"/>
            <a:ext cx="280670" cy="390525"/>
          </a:xfrm>
          <a:prstGeom prst="upArrow">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sym typeface="+mn-ea"/>
            </a:endParaRPr>
          </a:p>
        </p:txBody>
      </p:sp>
      <p:sp>
        <p:nvSpPr>
          <p:cNvPr id="134" name="上箭头 133"/>
          <p:cNvSpPr/>
          <p:nvPr/>
        </p:nvSpPr>
        <p:spPr>
          <a:xfrm rot="16200000">
            <a:off x="9702800" y="5697855"/>
            <a:ext cx="197485" cy="286385"/>
          </a:xfrm>
          <a:prstGeom prst="upArrow">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35" name="object 38"/>
          <p:cNvSpPr txBox="1"/>
          <p:nvPr/>
        </p:nvSpPr>
        <p:spPr>
          <a:xfrm rot="20820000">
            <a:off x="3736975" y="3621405"/>
            <a:ext cx="417830" cy="169545"/>
          </a:xfrm>
          <a:prstGeom prst="rect">
            <a:avLst/>
          </a:prstGeom>
        </p:spPr>
        <p:txBody>
          <a:bodyPr vert="horz" wrap="square" lIns="0" tIns="0" rIns="0" bIns="0" rtlCol="0">
            <a:noAutofit/>
          </a:bodyPr>
          <a:lstStyle/>
          <a:p>
            <a:pPr marL="0" marR="0">
              <a:lnSpc>
                <a:spcPts val="1230"/>
              </a:lnSpc>
              <a:spcBef>
                <a:spcPts val="0"/>
              </a:spcBef>
              <a:spcAft>
                <a:spcPts val="0"/>
              </a:spcAft>
            </a:pPr>
            <a:r>
              <a:rPr lang="en-US" altLang="zh-CN" sz="1000" spc="-16" dirty="0">
                <a:solidFill>
                  <a:srgbClr val="1976D2"/>
                </a:solidFill>
                <a:latin typeface="微软雅黑" panose="020B0503020204020204" charset="-122"/>
                <a:ea typeface="微软雅黑" panose="020B0503020204020204" charset="-122"/>
                <a:cs typeface="BJWQCI+AdobeFanHeitiStd-Bold" panose="02000500000000000000"/>
              </a:rPr>
              <a:t>CI/CD</a:t>
            </a:r>
            <a:endParaRPr lang="en-US" altLang="zh-CN"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136" name="object 38"/>
          <p:cNvSpPr txBox="1"/>
          <p:nvPr/>
        </p:nvSpPr>
        <p:spPr>
          <a:xfrm>
            <a:off x="9753600" y="5987415"/>
            <a:ext cx="221615" cy="438150"/>
          </a:xfrm>
          <a:prstGeom prst="rect">
            <a:avLst/>
          </a:prstGeom>
          <a:ln>
            <a:noFill/>
          </a:ln>
        </p:spPr>
        <p:txBody>
          <a:bodyPr vert="mongolianVert" wrap="square" lIns="0" tIns="0" rIns="0" bIns="0" rtlCol="0">
            <a:noAutofit/>
          </a:bodyPr>
          <a:lstStyle/>
          <a:p>
            <a:pPr marL="0" marR="0">
              <a:lnSpc>
                <a:spcPts val="1230"/>
              </a:lnSpc>
              <a:spcBef>
                <a:spcPts val="0"/>
              </a:spcBef>
              <a:spcAft>
                <a:spcPts val="0"/>
              </a:spcAft>
            </a:pPr>
            <a:r>
              <a:rPr lang="zh-CN" altLang="en-US" sz="900" spc="-16" dirty="0">
                <a:solidFill>
                  <a:srgbClr val="1976D2"/>
                </a:solidFill>
                <a:latin typeface="微软雅黑" panose="020B0503020204020204" charset="-122"/>
                <a:ea typeface="微软雅黑" panose="020B0503020204020204" charset="-122"/>
                <a:cs typeface="BJWQCI+AdobeFanHeitiStd-Bold" panose="02000500000000000000"/>
              </a:rPr>
              <a:t>数据流</a:t>
            </a:r>
            <a:endParaRPr lang="zh-CN" altLang="en-US"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137" name="object 38"/>
          <p:cNvSpPr txBox="1"/>
          <p:nvPr/>
        </p:nvSpPr>
        <p:spPr>
          <a:xfrm>
            <a:off x="6350635" y="4692015"/>
            <a:ext cx="560070" cy="127635"/>
          </a:xfrm>
          <a:prstGeom prst="rect">
            <a:avLst/>
          </a:prstGeom>
        </p:spPr>
        <p:txBody>
          <a:bodyPr vert="horz" wrap="square" lIns="0" tIns="0" rIns="0" bIns="0" rtlCol="0">
            <a:noAutofit/>
          </a:bodyPr>
          <a:lstStyle/>
          <a:p>
            <a:pPr marL="0" marR="0">
              <a:lnSpc>
                <a:spcPts val="1230"/>
              </a:lnSpc>
              <a:spcBef>
                <a:spcPts val="0"/>
              </a:spcBef>
              <a:spcAft>
                <a:spcPts val="0"/>
              </a:spcAft>
            </a:pPr>
            <a:r>
              <a:rPr lang="zh-CN" altLang="en-US" sz="900" spc="-16" dirty="0">
                <a:solidFill>
                  <a:srgbClr val="1976D2"/>
                </a:solidFill>
                <a:latin typeface="微软雅黑" panose="020B0503020204020204" charset="-122"/>
                <a:ea typeface="微软雅黑" panose="020B0503020204020204" charset="-122"/>
                <a:cs typeface="BJWQCI+AdobeFanHeitiStd-Bold" panose="02000500000000000000"/>
              </a:rPr>
              <a:t>组件支撑</a:t>
            </a:r>
            <a:endParaRPr lang="zh-CN" altLang="en-US"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108" name="object 38"/>
          <p:cNvSpPr txBox="1"/>
          <p:nvPr/>
        </p:nvSpPr>
        <p:spPr>
          <a:xfrm>
            <a:off x="3283585" y="774065"/>
            <a:ext cx="836930" cy="156210"/>
          </a:xfrm>
          <a:prstGeom prst="rect">
            <a:avLst/>
          </a:prstGeom>
        </p:spPr>
        <p:txBody>
          <a:bodyPr vert="horz" wrap="square" lIns="0" tIns="0" rIns="0" bIns="0" rtlCol="0">
            <a:noAutofit/>
          </a:bodyPr>
          <a:lstStyle/>
          <a:p>
            <a:pPr marL="0" marR="0">
              <a:lnSpc>
                <a:spcPts val="1230"/>
              </a:lnSpc>
              <a:spcBef>
                <a:spcPts val="0"/>
              </a:spcBef>
              <a:spcAft>
                <a:spcPts val="0"/>
              </a:spcAft>
            </a:pPr>
            <a:r>
              <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rPr>
              <a:t>发布静态资源</a:t>
            </a:r>
            <a:endPar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142" name="object 38"/>
          <p:cNvSpPr txBox="1"/>
          <p:nvPr/>
        </p:nvSpPr>
        <p:spPr>
          <a:xfrm>
            <a:off x="6499225" y="4248150"/>
            <a:ext cx="1515110" cy="222250"/>
          </a:xfrm>
          <a:prstGeom prst="rect">
            <a:avLst/>
          </a:prstGeom>
        </p:spPr>
        <p:txBody>
          <a:bodyPr vert="horz" wrap="square" lIns="0" tIns="0" rIns="0" bIns="0" rtlCol="0">
            <a:noAutofit/>
          </a:bodyPr>
          <a:lstStyle/>
          <a:p>
            <a:pPr marL="0" marR="0">
              <a:lnSpc>
                <a:spcPts val="1230"/>
              </a:lnSpc>
              <a:spcBef>
                <a:spcPts val="0"/>
              </a:spcBef>
              <a:spcAft>
                <a:spcPts val="0"/>
              </a:spcAft>
            </a:pPr>
            <a:endParaRPr lang="zh-CN" altLang="en-US" sz="900" spc="-16" dirty="0">
              <a:solidFill>
                <a:schemeClr val="tx1"/>
              </a:solidFill>
              <a:latin typeface="微软雅黑" panose="020B0503020204020204" charset="-122"/>
              <a:ea typeface="微软雅黑" panose="020B0503020204020204" charset="-122"/>
              <a:cs typeface="+mn-ea"/>
            </a:endParaRPr>
          </a:p>
        </p:txBody>
      </p:sp>
      <p:cxnSp>
        <p:nvCxnSpPr>
          <p:cNvPr id="4" name="直接箭头连接符 3"/>
          <p:cNvCxnSpPr/>
          <p:nvPr/>
        </p:nvCxnSpPr>
        <p:spPr>
          <a:xfrm flipV="1">
            <a:off x="1823720" y="2449830"/>
            <a:ext cx="443230" cy="38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44" name="直接连接符 143"/>
          <p:cNvCxnSpPr/>
          <p:nvPr/>
        </p:nvCxnSpPr>
        <p:spPr>
          <a:xfrm flipV="1">
            <a:off x="5628640" y="6304915"/>
            <a:ext cx="855345" cy="5080"/>
          </a:xfrm>
          <a:prstGeom prst="line">
            <a:avLst/>
          </a:prstGeom>
          <a:ln w="12700">
            <a:solidFill>
              <a:schemeClr val="accent1"/>
            </a:solidFill>
          </a:ln>
        </p:spPr>
        <p:style>
          <a:lnRef idx="2">
            <a:schemeClr val="accent1"/>
          </a:lnRef>
          <a:fillRef idx="0">
            <a:srgbClr val="FFFFFF"/>
          </a:fillRef>
          <a:effectRef idx="0">
            <a:srgbClr val="FFFFFF"/>
          </a:effectRef>
          <a:fontRef idx="minor">
            <a:schemeClr val="tx1"/>
          </a:fontRef>
        </p:style>
      </p:cxnSp>
      <p:cxnSp>
        <p:nvCxnSpPr>
          <p:cNvPr id="160" name="直接连接符 159"/>
          <p:cNvCxnSpPr/>
          <p:nvPr/>
        </p:nvCxnSpPr>
        <p:spPr>
          <a:xfrm flipV="1">
            <a:off x="6612890" y="6304915"/>
            <a:ext cx="855345" cy="5080"/>
          </a:xfrm>
          <a:prstGeom prst="line">
            <a:avLst/>
          </a:prstGeom>
          <a:ln w="12700">
            <a:solidFill>
              <a:schemeClr val="accent1"/>
            </a:solidFill>
          </a:ln>
        </p:spPr>
        <p:style>
          <a:lnRef idx="2">
            <a:schemeClr val="accent1"/>
          </a:lnRef>
          <a:fillRef idx="0">
            <a:srgbClr val="FFFFFF"/>
          </a:fillRef>
          <a:effectRef idx="0">
            <a:srgbClr val="FFFFFF"/>
          </a:effectRef>
          <a:fontRef idx="minor">
            <a:schemeClr val="tx1"/>
          </a:fontRef>
        </p:style>
      </p:cxnSp>
      <p:cxnSp>
        <p:nvCxnSpPr>
          <p:cNvPr id="164" name="直接连接符 163"/>
          <p:cNvCxnSpPr/>
          <p:nvPr/>
        </p:nvCxnSpPr>
        <p:spPr>
          <a:xfrm>
            <a:off x="10151110" y="5665470"/>
            <a:ext cx="1689735" cy="1905"/>
          </a:xfrm>
          <a:prstGeom prst="line">
            <a:avLst/>
          </a:prstGeom>
          <a:ln w="12700">
            <a:solidFill>
              <a:schemeClr val="accent1"/>
            </a:solidFill>
          </a:ln>
        </p:spPr>
        <p:style>
          <a:lnRef idx="2">
            <a:schemeClr val="accent1"/>
          </a:lnRef>
          <a:fillRef idx="0">
            <a:srgbClr val="FFFFFF"/>
          </a:fillRef>
          <a:effectRef idx="0">
            <a:srgbClr val="FFFFFF"/>
          </a:effectRef>
          <a:fontRef idx="minor">
            <a:schemeClr val="tx1"/>
          </a:fontRef>
        </p:style>
      </p:cxnSp>
      <p:grpSp>
        <p:nvGrpSpPr>
          <p:cNvPr id="173" name="组合 172"/>
          <p:cNvGrpSpPr/>
          <p:nvPr/>
        </p:nvGrpSpPr>
        <p:grpSpPr>
          <a:xfrm>
            <a:off x="10991850" y="5126355"/>
            <a:ext cx="698006" cy="517544"/>
            <a:chOff x="14545" y="8912"/>
            <a:chExt cx="1099" cy="815"/>
          </a:xfrm>
        </p:grpSpPr>
        <p:sp>
          <p:nvSpPr>
            <p:cNvPr id="174" name="object 33"/>
            <p:cNvSpPr/>
            <p:nvPr/>
          </p:nvSpPr>
          <p:spPr>
            <a:xfrm>
              <a:off x="14545" y="8912"/>
              <a:ext cx="679" cy="645"/>
            </a:xfrm>
            <a:prstGeom prst="rect">
              <a:avLst/>
            </a:prstGeom>
            <a:blipFill>
              <a:blip r:embed="rId12"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175" name="object 15"/>
            <p:cNvSpPr/>
            <p:nvPr/>
          </p:nvSpPr>
          <p:spPr>
            <a:xfrm>
              <a:off x="15141" y="9006"/>
              <a:ext cx="340" cy="323"/>
            </a:xfrm>
            <a:prstGeom prst="rect">
              <a:avLst/>
            </a:prstGeom>
            <a:blipFill>
              <a:blip r:embed="rId13"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176" name="object 38"/>
            <p:cNvSpPr txBox="1"/>
            <p:nvPr/>
          </p:nvSpPr>
          <p:spPr>
            <a:xfrm>
              <a:off x="14635" y="9511"/>
              <a:ext cx="1009" cy="216"/>
            </a:xfrm>
            <a:prstGeom prst="rect">
              <a:avLst/>
            </a:prstGeom>
          </p:spPr>
          <p:txBody>
            <a:bodyPr vert="horz" wrap="square" lIns="0" tIns="0" rIns="0" bIns="0" rtlCol="0">
              <a:noAutofit/>
            </a:bodyPr>
            <a:lstStyle/>
            <a:p>
              <a:pPr marL="0" marR="0">
                <a:lnSpc>
                  <a:spcPts val="1230"/>
                </a:lnSpc>
                <a:spcBef>
                  <a:spcPts val="0"/>
                </a:spcBef>
                <a:spcAft>
                  <a:spcPts val="0"/>
                </a:spcAft>
              </a:pPr>
              <a:r>
                <a:rPr lang="en-US" sz="900" spc="-16" dirty="0">
                  <a:solidFill>
                    <a:srgbClr val="1976D2"/>
                  </a:solidFill>
                  <a:latin typeface="微软雅黑" panose="020B0503020204020204" charset="-122"/>
                  <a:ea typeface="微软雅黑" panose="020B0503020204020204" charset="-122"/>
                  <a:cs typeface="BJWQCI+AdobeFanHeitiStd-Bold" panose="02000500000000000000"/>
                </a:rPr>
                <a:t>192.168.*.</a:t>
              </a:r>
              <a:r>
                <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rPr>
                <a:t>*</a:t>
              </a:r>
              <a:endPar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grpSp>
      <p:sp>
        <p:nvSpPr>
          <p:cNvPr id="177" name="object 38"/>
          <p:cNvSpPr txBox="1"/>
          <p:nvPr/>
        </p:nvSpPr>
        <p:spPr>
          <a:xfrm>
            <a:off x="10984865" y="6536690"/>
            <a:ext cx="662305" cy="137160"/>
          </a:xfrm>
          <a:prstGeom prst="rect">
            <a:avLst/>
          </a:prstGeom>
        </p:spPr>
        <p:txBody>
          <a:bodyPr vert="horz" wrap="square" lIns="0" tIns="0" rIns="0" bIns="0" rtlCol="0">
            <a:noAutofit/>
          </a:bodyPr>
          <a:lstStyle/>
          <a:p>
            <a:pPr marL="0" marR="0">
              <a:lnSpc>
                <a:spcPts val="1230"/>
              </a:lnSpc>
              <a:spcBef>
                <a:spcPts val="0"/>
              </a:spcBef>
              <a:spcAft>
                <a:spcPts val="0"/>
              </a:spcAft>
            </a:pPr>
            <a:r>
              <a:rPr lang="en-US" sz="900" spc="-16" dirty="0">
                <a:solidFill>
                  <a:srgbClr val="1976D2"/>
                </a:solidFill>
                <a:latin typeface="微软雅黑" panose="020B0503020204020204" charset="-122"/>
                <a:ea typeface="微软雅黑" panose="020B0503020204020204" charset="-122"/>
                <a:cs typeface="BJWQCI+AdobeFanHeitiStd-Bold" panose="02000500000000000000"/>
              </a:rPr>
              <a:t>192.168.*.</a:t>
            </a:r>
            <a:r>
              <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rPr>
              <a:t>*</a:t>
            </a:r>
            <a:endPar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cxnSp>
        <p:nvCxnSpPr>
          <p:cNvPr id="178" name="直接连接符 177"/>
          <p:cNvCxnSpPr/>
          <p:nvPr/>
        </p:nvCxnSpPr>
        <p:spPr>
          <a:xfrm flipV="1">
            <a:off x="10124440" y="6689090"/>
            <a:ext cx="1743710" cy="7620"/>
          </a:xfrm>
          <a:prstGeom prst="line">
            <a:avLst/>
          </a:prstGeom>
          <a:ln w="12700">
            <a:solidFill>
              <a:schemeClr val="accent1"/>
            </a:solidFill>
          </a:ln>
        </p:spPr>
        <p:style>
          <a:lnRef idx="2">
            <a:schemeClr val="accent1"/>
          </a:lnRef>
          <a:fillRef idx="0">
            <a:srgbClr val="FFFFFF"/>
          </a:fillRef>
          <a:effectRef idx="0">
            <a:srgbClr val="FFFFFF"/>
          </a:effectRef>
          <a:fontRef idx="minor">
            <a:schemeClr val="tx1"/>
          </a:fontRef>
        </p:style>
      </p:cxnSp>
      <p:cxnSp>
        <p:nvCxnSpPr>
          <p:cNvPr id="187" name="直接连接符 186"/>
          <p:cNvCxnSpPr/>
          <p:nvPr/>
        </p:nvCxnSpPr>
        <p:spPr>
          <a:xfrm>
            <a:off x="4921885" y="3389630"/>
            <a:ext cx="7002780" cy="15240"/>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grpSp>
        <p:nvGrpSpPr>
          <p:cNvPr id="217" name="组合 216"/>
          <p:cNvGrpSpPr/>
          <p:nvPr/>
        </p:nvGrpSpPr>
        <p:grpSpPr>
          <a:xfrm>
            <a:off x="7285990" y="3648075"/>
            <a:ext cx="769620" cy="645795"/>
            <a:chOff x="7819" y="3800"/>
            <a:chExt cx="1212" cy="1017"/>
          </a:xfrm>
        </p:grpSpPr>
        <p:sp>
          <p:nvSpPr>
            <p:cNvPr id="218" name="object 34"/>
            <p:cNvSpPr/>
            <p:nvPr/>
          </p:nvSpPr>
          <p:spPr>
            <a:xfrm>
              <a:off x="7819" y="3800"/>
              <a:ext cx="907" cy="907"/>
            </a:xfrm>
            <a:prstGeom prst="rect">
              <a:avLst/>
            </a:prstGeom>
            <a:blipFill>
              <a:blip r:embed="rId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219" name="object 27"/>
            <p:cNvSpPr/>
            <p:nvPr/>
          </p:nvSpPr>
          <p:spPr>
            <a:xfrm>
              <a:off x="8537" y="3987"/>
              <a:ext cx="454" cy="454"/>
            </a:xfrm>
            <a:prstGeom prst="rect">
              <a:avLst/>
            </a:prstGeom>
            <a:blipFill>
              <a:blip r:embed="rId1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220" name="object 38"/>
            <p:cNvSpPr txBox="1"/>
            <p:nvPr/>
          </p:nvSpPr>
          <p:spPr>
            <a:xfrm>
              <a:off x="8022" y="4601"/>
              <a:ext cx="1009" cy="216"/>
            </a:xfrm>
            <a:prstGeom prst="rect">
              <a:avLst/>
            </a:prstGeom>
          </p:spPr>
          <p:txBody>
            <a:bodyPr vert="horz" wrap="square" lIns="0" tIns="0" rIns="0" bIns="0" rtlCol="0">
              <a:noAutofit/>
            </a:bodyPr>
            <a:lstStyle/>
            <a:p>
              <a:pPr marL="0" marR="0">
                <a:lnSpc>
                  <a:spcPts val="1230"/>
                </a:lnSpc>
                <a:spcBef>
                  <a:spcPts val="0"/>
                </a:spcBef>
                <a:spcAft>
                  <a:spcPts val="0"/>
                </a:spcAft>
              </a:pPr>
              <a:r>
                <a:rPr lang="en-US" sz="900" spc="-16" dirty="0">
                  <a:solidFill>
                    <a:srgbClr val="1976D2"/>
                  </a:solidFill>
                  <a:latin typeface="微软雅黑" panose="020B0503020204020204" charset="-122"/>
                  <a:ea typeface="微软雅黑" panose="020B0503020204020204" charset="-122"/>
                  <a:cs typeface="BJWQCI+AdobeFanHeitiStd-Bold" panose="02000500000000000000"/>
                </a:rPr>
                <a:t>192.168.*.</a:t>
              </a:r>
              <a:r>
                <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rPr>
                <a:t>*</a:t>
              </a:r>
              <a:endPar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grpSp>
      <p:grpSp>
        <p:nvGrpSpPr>
          <p:cNvPr id="221" name="组合 220"/>
          <p:cNvGrpSpPr/>
          <p:nvPr/>
        </p:nvGrpSpPr>
        <p:grpSpPr>
          <a:xfrm>
            <a:off x="8710930" y="3648075"/>
            <a:ext cx="769620" cy="645795"/>
            <a:chOff x="7819" y="3800"/>
            <a:chExt cx="1212" cy="1017"/>
          </a:xfrm>
        </p:grpSpPr>
        <p:sp>
          <p:nvSpPr>
            <p:cNvPr id="222" name="object 34"/>
            <p:cNvSpPr/>
            <p:nvPr/>
          </p:nvSpPr>
          <p:spPr>
            <a:xfrm>
              <a:off x="7819" y="3800"/>
              <a:ext cx="907" cy="907"/>
            </a:xfrm>
            <a:prstGeom prst="rect">
              <a:avLst/>
            </a:prstGeom>
            <a:blipFill>
              <a:blip r:embed="rId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223" name="object 27"/>
            <p:cNvSpPr/>
            <p:nvPr/>
          </p:nvSpPr>
          <p:spPr>
            <a:xfrm>
              <a:off x="8537" y="3987"/>
              <a:ext cx="454" cy="454"/>
            </a:xfrm>
            <a:prstGeom prst="rect">
              <a:avLst/>
            </a:prstGeom>
            <a:blipFill>
              <a:blip r:embed="rId1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224" name="object 38"/>
            <p:cNvSpPr txBox="1"/>
            <p:nvPr/>
          </p:nvSpPr>
          <p:spPr>
            <a:xfrm>
              <a:off x="8022" y="4601"/>
              <a:ext cx="1009" cy="216"/>
            </a:xfrm>
            <a:prstGeom prst="rect">
              <a:avLst/>
            </a:prstGeom>
          </p:spPr>
          <p:txBody>
            <a:bodyPr vert="horz" wrap="square" lIns="0" tIns="0" rIns="0" bIns="0" rtlCol="0">
              <a:noAutofit/>
            </a:bodyPr>
            <a:lstStyle/>
            <a:p>
              <a:pPr marL="0" marR="0">
                <a:lnSpc>
                  <a:spcPts val="1230"/>
                </a:lnSpc>
                <a:spcBef>
                  <a:spcPts val="0"/>
                </a:spcBef>
                <a:spcAft>
                  <a:spcPts val="0"/>
                </a:spcAft>
              </a:pPr>
              <a:r>
                <a:rPr lang="en-US" sz="900" spc="-16" dirty="0">
                  <a:solidFill>
                    <a:srgbClr val="1976D2"/>
                  </a:solidFill>
                  <a:latin typeface="微软雅黑" panose="020B0503020204020204" charset="-122"/>
                  <a:ea typeface="微软雅黑" panose="020B0503020204020204" charset="-122"/>
                  <a:cs typeface="BJWQCI+AdobeFanHeitiStd-Bold" panose="02000500000000000000"/>
                </a:rPr>
                <a:t>192.168.*.</a:t>
              </a:r>
              <a:r>
                <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rPr>
                <a:t>*</a:t>
              </a:r>
              <a:endPar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grpSp>
      <p:cxnSp>
        <p:nvCxnSpPr>
          <p:cNvPr id="226" name="直接连接符 225"/>
          <p:cNvCxnSpPr/>
          <p:nvPr/>
        </p:nvCxnSpPr>
        <p:spPr>
          <a:xfrm>
            <a:off x="7173595" y="4366260"/>
            <a:ext cx="1010920" cy="8255"/>
          </a:xfrm>
          <a:prstGeom prst="line">
            <a:avLst/>
          </a:prstGeom>
          <a:ln w="12700">
            <a:solidFill>
              <a:schemeClr val="accent1"/>
            </a:solidFill>
          </a:ln>
        </p:spPr>
        <p:style>
          <a:lnRef idx="2">
            <a:schemeClr val="accent1"/>
          </a:lnRef>
          <a:fillRef idx="0">
            <a:srgbClr val="FFFFFF"/>
          </a:fillRef>
          <a:effectRef idx="0">
            <a:srgbClr val="FFFFFF"/>
          </a:effectRef>
          <a:fontRef idx="minor">
            <a:schemeClr val="tx1"/>
          </a:fontRef>
        </p:style>
      </p:cxnSp>
      <p:cxnSp>
        <p:nvCxnSpPr>
          <p:cNvPr id="227" name="直接连接符 226"/>
          <p:cNvCxnSpPr/>
          <p:nvPr/>
        </p:nvCxnSpPr>
        <p:spPr>
          <a:xfrm>
            <a:off x="8692515" y="4382770"/>
            <a:ext cx="1010920" cy="8255"/>
          </a:xfrm>
          <a:prstGeom prst="line">
            <a:avLst/>
          </a:prstGeom>
          <a:ln w="12700">
            <a:solidFill>
              <a:schemeClr val="accent1"/>
            </a:solidFill>
          </a:ln>
        </p:spPr>
        <p:style>
          <a:lnRef idx="2">
            <a:schemeClr val="accent1"/>
          </a:lnRef>
          <a:fillRef idx="0">
            <a:srgbClr val="FFFFFF"/>
          </a:fillRef>
          <a:effectRef idx="0">
            <a:srgbClr val="FFFFFF"/>
          </a:effectRef>
          <a:fontRef idx="minor">
            <a:schemeClr val="tx1"/>
          </a:fontRef>
        </p:style>
      </p:cxnSp>
      <p:cxnSp>
        <p:nvCxnSpPr>
          <p:cNvPr id="228" name="直接箭头连接符 227"/>
          <p:cNvCxnSpPr>
            <a:stCxn id="35" idx="3"/>
          </p:cNvCxnSpPr>
          <p:nvPr/>
        </p:nvCxnSpPr>
        <p:spPr>
          <a:xfrm flipV="1">
            <a:off x="2963545" y="2427605"/>
            <a:ext cx="1795145" cy="31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16" name="object 38"/>
          <p:cNvSpPr txBox="1"/>
          <p:nvPr/>
        </p:nvSpPr>
        <p:spPr>
          <a:xfrm>
            <a:off x="8710930" y="3536315"/>
            <a:ext cx="906145" cy="162560"/>
          </a:xfrm>
          <a:prstGeom prst="rect">
            <a:avLst/>
          </a:prstGeom>
        </p:spPr>
        <p:txBody>
          <a:bodyPr vert="horz" wrap="square" lIns="0" tIns="0" rIns="0" bIns="0" rtlCol="0">
            <a:noAutofit/>
          </a:bodyPr>
          <a:lstStyle/>
          <a:p>
            <a:pPr marL="0" marR="0" algn="ctr">
              <a:lnSpc>
                <a:spcPts val="1230"/>
              </a:lnSpc>
              <a:spcBef>
                <a:spcPts val="0"/>
              </a:spcBef>
              <a:spcAft>
                <a:spcPts val="0"/>
              </a:spcAft>
            </a:pPr>
            <a:r>
              <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rPr>
              <a:t>数据交换</a:t>
            </a:r>
            <a:endPar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215" name="object 38"/>
          <p:cNvSpPr txBox="1"/>
          <p:nvPr/>
        </p:nvSpPr>
        <p:spPr>
          <a:xfrm>
            <a:off x="7285990" y="3536315"/>
            <a:ext cx="906145" cy="162560"/>
          </a:xfrm>
          <a:prstGeom prst="rect">
            <a:avLst/>
          </a:prstGeom>
        </p:spPr>
        <p:txBody>
          <a:bodyPr vert="horz" wrap="square" lIns="0" tIns="0" rIns="0" bIns="0" rtlCol="0">
            <a:noAutofit/>
          </a:bodyPr>
          <a:lstStyle/>
          <a:p>
            <a:pPr marL="0" marR="0">
              <a:lnSpc>
                <a:spcPts val="1230"/>
              </a:lnSpc>
              <a:spcBef>
                <a:spcPts val="0"/>
              </a:spcBef>
              <a:spcAft>
                <a:spcPts val="0"/>
              </a:spcAft>
            </a:pPr>
            <a:r>
              <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rPr>
              <a:t>统一支撑应用</a:t>
            </a:r>
            <a:endPar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cxnSp>
        <p:nvCxnSpPr>
          <p:cNvPr id="31" name="肘形连接符 30"/>
          <p:cNvCxnSpPr/>
          <p:nvPr/>
        </p:nvCxnSpPr>
        <p:spPr>
          <a:xfrm rot="10800000" flipV="1">
            <a:off x="2706370" y="1619885"/>
            <a:ext cx="2647950" cy="36639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grpSp>
        <p:nvGrpSpPr>
          <p:cNvPr id="32" name="组合 31"/>
          <p:cNvGrpSpPr/>
          <p:nvPr/>
        </p:nvGrpSpPr>
        <p:grpSpPr>
          <a:xfrm>
            <a:off x="10286365" y="6142355"/>
            <a:ext cx="561340" cy="431165"/>
            <a:chOff x="15737" y="9258"/>
            <a:chExt cx="884" cy="679"/>
          </a:xfrm>
        </p:grpSpPr>
        <p:sp>
          <p:nvSpPr>
            <p:cNvPr id="59" name="object 14"/>
            <p:cNvSpPr/>
            <p:nvPr/>
          </p:nvSpPr>
          <p:spPr>
            <a:xfrm>
              <a:off x="15737" y="9258"/>
              <a:ext cx="683" cy="679"/>
            </a:xfrm>
            <a:prstGeom prst="rect">
              <a:avLst/>
            </a:prstGeom>
            <a:blipFill>
              <a:blip r:embed="rId12"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62" name="object 9"/>
            <p:cNvSpPr/>
            <p:nvPr/>
          </p:nvSpPr>
          <p:spPr>
            <a:xfrm>
              <a:off x="16270" y="9380"/>
              <a:ext cx="351" cy="212"/>
            </a:xfrm>
            <a:prstGeom prst="rect">
              <a:avLst/>
            </a:prstGeom>
            <a:blipFill>
              <a:blip r:embed="rId14"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63" name="object 10"/>
            <p:cNvSpPr/>
            <p:nvPr/>
          </p:nvSpPr>
          <p:spPr>
            <a:xfrm>
              <a:off x="16357" y="9592"/>
              <a:ext cx="214" cy="212"/>
            </a:xfrm>
            <a:prstGeom prst="rect">
              <a:avLst/>
            </a:prstGeom>
            <a:blipFill>
              <a:blip r:embed="rId15"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grpSp>
      <p:sp>
        <p:nvSpPr>
          <p:cNvPr id="67" name="object 38"/>
          <p:cNvSpPr txBox="1"/>
          <p:nvPr/>
        </p:nvSpPr>
        <p:spPr>
          <a:xfrm>
            <a:off x="10286365" y="6536690"/>
            <a:ext cx="662305" cy="137160"/>
          </a:xfrm>
          <a:prstGeom prst="rect">
            <a:avLst/>
          </a:prstGeom>
        </p:spPr>
        <p:txBody>
          <a:bodyPr vert="horz" wrap="square" lIns="0" tIns="0" rIns="0" bIns="0" rtlCol="0">
            <a:noAutofit/>
          </a:bodyPr>
          <a:lstStyle/>
          <a:p>
            <a:pPr marL="0" marR="0">
              <a:lnSpc>
                <a:spcPts val="1230"/>
              </a:lnSpc>
              <a:spcBef>
                <a:spcPts val="0"/>
              </a:spcBef>
              <a:spcAft>
                <a:spcPts val="0"/>
              </a:spcAft>
            </a:pPr>
            <a:r>
              <a:rPr lang="en-US" sz="900" spc="-16" dirty="0">
                <a:solidFill>
                  <a:srgbClr val="1976D2"/>
                </a:solidFill>
                <a:latin typeface="微软雅黑" panose="020B0503020204020204" charset="-122"/>
                <a:ea typeface="微软雅黑" panose="020B0503020204020204" charset="-122"/>
                <a:cs typeface="BJWQCI+AdobeFanHeitiStd-Bold" panose="02000500000000000000"/>
              </a:rPr>
              <a:t>192.168.*.</a:t>
            </a:r>
            <a:r>
              <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rPr>
              <a:t>*</a:t>
            </a:r>
            <a:endPar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68" name="上箭头 67"/>
          <p:cNvSpPr/>
          <p:nvPr/>
        </p:nvSpPr>
        <p:spPr>
          <a:xfrm>
            <a:off x="10887075" y="4533900"/>
            <a:ext cx="280670" cy="390525"/>
          </a:xfrm>
          <a:prstGeom prst="upArrow">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sym typeface="+mn-ea"/>
            </a:endParaRPr>
          </a:p>
        </p:txBody>
      </p:sp>
      <p:sp>
        <p:nvSpPr>
          <p:cNvPr id="69" name="object 38"/>
          <p:cNvSpPr txBox="1"/>
          <p:nvPr/>
        </p:nvSpPr>
        <p:spPr>
          <a:xfrm>
            <a:off x="10342245" y="4692015"/>
            <a:ext cx="560070" cy="127635"/>
          </a:xfrm>
          <a:prstGeom prst="rect">
            <a:avLst/>
          </a:prstGeom>
        </p:spPr>
        <p:txBody>
          <a:bodyPr vert="horz" wrap="square" lIns="0" tIns="0" rIns="0" bIns="0" rtlCol="0">
            <a:noAutofit/>
          </a:bodyPr>
          <a:lstStyle/>
          <a:p>
            <a:pPr marL="0" marR="0">
              <a:lnSpc>
                <a:spcPts val="1230"/>
              </a:lnSpc>
              <a:spcBef>
                <a:spcPts val="0"/>
              </a:spcBef>
              <a:spcAft>
                <a:spcPts val="0"/>
              </a:spcAft>
            </a:pPr>
            <a:r>
              <a:rPr lang="zh-CN" altLang="en-US" sz="900" spc="-16" dirty="0">
                <a:solidFill>
                  <a:srgbClr val="1976D2"/>
                </a:solidFill>
                <a:latin typeface="微软雅黑" panose="020B0503020204020204" charset="-122"/>
                <a:ea typeface="微软雅黑" panose="020B0503020204020204" charset="-122"/>
                <a:cs typeface="BJWQCI+AdobeFanHeitiStd-Bold" panose="02000500000000000000"/>
              </a:rPr>
              <a:t>数据支撑</a:t>
            </a:r>
            <a:endParaRPr lang="zh-CN" altLang="en-US"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66" name="object 38"/>
          <p:cNvSpPr txBox="1"/>
          <p:nvPr/>
        </p:nvSpPr>
        <p:spPr>
          <a:xfrm>
            <a:off x="10522091" y="6026804"/>
            <a:ext cx="993775" cy="156210"/>
          </a:xfrm>
          <a:prstGeom prst="rect">
            <a:avLst/>
          </a:prstGeom>
        </p:spPr>
        <p:txBody>
          <a:bodyPr vert="horz" wrap="square" lIns="0" tIns="0" rIns="0" bIns="0" rtlCol="0">
            <a:noAutofit/>
          </a:bodyPr>
          <a:lstStyle/>
          <a:p>
            <a:pPr marL="0" marR="0">
              <a:lnSpc>
                <a:spcPts val="1230"/>
              </a:lnSpc>
              <a:spcBef>
                <a:spcPts val="0"/>
              </a:spcBef>
              <a:spcAft>
                <a:spcPts val="0"/>
              </a:spcAft>
            </a:pPr>
            <a:r>
              <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rPr>
              <a:t>文件存储服务器</a:t>
            </a:r>
            <a:endPar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77" name="object 34"/>
          <p:cNvSpPr/>
          <p:nvPr>
            <p:custDataLst>
              <p:tags r:id="rId18"/>
            </p:custDataLst>
          </p:nvPr>
        </p:nvSpPr>
        <p:spPr>
          <a:xfrm>
            <a:off x="6521759" y="695517"/>
            <a:ext cx="576000" cy="576000"/>
          </a:xfrm>
          <a:prstGeom prst="rect">
            <a:avLst/>
          </a:prstGeom>
          <a:blipFill>
            <a:blip r:embed="rId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78" name="object 27"/>
          <p:cNvSpPr/>
          <p:nvPr>
            <p:custDataLst>
              <p:tags r:id="rId19"/>
            </p:custDataLst>
          </p:nvPr>
        </p:nvSpPr>
        <p:spPr>
          <a:xfrm>
            <a:off x="6995877" y="811931"/>
            <a:ext cx="288000" cy="288000"/>
          </a:xfrm>
          <a:prstGeom prst="rect">
            <a:avLst/>
          </a:prstGeom>
          <a:blipFill>
            <a:blip r:embed="rId1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grpSp>
        <p:nvGrpSpPr>
          <p:cNvPr id="79" name="组合 187"/>
          <p:cNvGrpSpPr/>
          <p:nvPr/>
        </p:nvGrpSpPr>
        <p:grpSpPr>
          <a:xfrm>
            <a:off x="5382260" y="747395"/>
            <a:ext cx="776605" cy="630555"/>
            <a:chOff x="7819" y="3800"/>
            <a:chExt cx="1223" cy="993"/>
          </a:xfrm>
        </p:grpSpPr>
        <p:sp>
          <p:nvSpPr>
            <p:cNvPr id="80" name="object 34"/>
            <p:cNvSpPr/>
            <p:nvPr>
              <p:custDataLst>
                <p:tags r:id="rId20"/>
              </p:custDataLst>
            </p:nvPr>
          </p:nvSpPr>
          <p:spPr>
            <a:xfrm>
              <a:off x="7819" y="3800"/>
              <a:ext cx="907" cy="907"/>
            </a:xfrm>
            <a:prstGeom prst="rect">
              <a:avLst/>
            </a:prstGeom>
            <a:blipFill>
              <a:blip r:embed="rId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81" name="object 27"/>
            <p:cNvSpPr/>
            <p:nvPr>
              <p:custDataLst>
                <p:tags r:id="rId21"/>
              </p:custDataLst>
            </p:nvPr>
          </p:nvSpPr>
          <p:spPr>
            <a:xfrm>
              <a:off x="8537" y="3987"/>
              <a:ext cx="454" cy="454"/>
            </a:xfrm>
            <a:prstGeom prst="rect">
              <a:avLst/>
            </a:prstGeom>
            <a:blipFill>
              <a:blip r:embed="rId1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83" name="object 38"/>
            <p:cNvSpPr txBox="1"/>
            <p:nvPr>
              <p:custDataLst>
                <p:tags r:id="rId22"/>
              </p:custDataLst>
            </p:nvPr>
          </p:nvSpPr>
          <p:spPr>
            <a:xfrm>
              <a:off x="8034" y="4577"/>
              <a:ext cx="1009" cy="216"/>
            </a:xfrm>
            <a:prstGeom prst="rect">
              <a:avLst/>
            </a:prstGeom>
          </p:spPr>
          <p:txBody>
            <a:bodyPr vert="horz" wrap="square" lIns="0" tIns="0" rIns="0" bIns="0" rtlCol="0">
              <a:noAutofit/>
            </a:bodyPr>
            <a:lstStyle/>
            <a:p>
              <a:pPr marL="0" marR="0">
                <a:lnSpc>
                  <a:spcPts val="1230"/>
                </a:lnSpc>
                <a:spcBef>
                  <a:spcPts val="0"/>
                </a:spcBef>
                <a:spcAft>
                  <a:spcPts val="0"/>
                </a:spcAft>
              </a:pPr>
              <a:r>
                <a:rPr lang="en-US" sz="900" spc="-16" dirty="0">
                  <a:solidFill>
                    <a:srgbClr val="1976D2"/>
                  </a:solidFill>
                  <a:latin typeface="微软雅黑" panose="020B0503020204020204" charset="-122"/>
                  <a:ea typeface="微软雅黑" panose="020B0503020204020204" charset="-122"/>
                  <a:cs typeface="BJWQCI+AdobeFanHeitiStd-Bold" panose="02000500000000000000"/>
                </a:rPr>
                <a:t>192.168.*.</a:t>
              </a:r>
              <a:r>
                <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rPr>
                <a:t>*</a:t>
              </a:r>
              <a:endPar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grpSp>
      <p:cxnSp>
        <p:nvCxnSpPr>
          <p:cNvPr id="84" name="直接连接符 94"/>
          <p:cNvCxnSpPr/>
          <p:nvPr>
            <p:custDataLst>
              <p:tags r:id="rId23"/>
            </p:custDataLst>
          </p:nvPr>
        </p:nvCxnSpPr>
        <p:spPr>
          <a:xfrm>
            <a:off x="5295900" y="1431925"/>
            <a:ext cx="1010920" cy="8255"/>
          </a:xfrm>
          <a:prstGeom prst="line">
            <a:avLst/>
          </a:prstGeom>
          <a:ln w="12700">
            <a:solidFill>
              <a:schemeClr val="accent1"/>
            </a:solidFill>
          </a:ln>
        </p:spPr>
        <p:style>
          <a:lnRef idx="2">
            <a:schemeClr val="accent1"/>
          </a:lnRef>
          <a:fillRef idx="0">
            <a:srgbClr val="FFFFFF"/>
          </a:fillRef>
          <a:effectRef idx="0">
            <a:srgbClr val="FFFFFF"/>
          </a:effectRef>
          <a:fontRef idx="minor">
            <a:schemeClr val="tx1"/>
          </a:fontRef>
        </p:style>
      </p:cxnSp>
      <p:sp>
        <p:nvSpPr>
          <p:cNvPr id="87" name="object 38"/>
          <p:cNvSpPr txBox="1"/>
          <p:nvPr>
            <p:custDataLst>
              <p:tags r:id="rId24"/>
            </p:custDataLst>
          </p:nvPr>
        </p:nvSpPr>
        <p:spPr>
          <a:xfrm>
            <a:off x="5431155" y="608965"/>
            <a:ext cx="654050" cy="156210"/>
          </a:xfrm>
          <a:prstGeom prst="rect">
            <a:avLst/>
          </a:prstGeom>
        </p:spPr>
        <p:txBody>
          <a:bodyPr vert="horz" wrap="square" lIns="0" tIns="0" rIns="0" bIns="0" rtlCol="0">
            <a:noAutofit/>
          </a:bodyPr>
          <a:lstStyle/>
          <a:p>
            <a:pPr marL="0" marR="0">
              <a:lnSpc>
                <a:spcPts val="1230"/>
              </a:lnSpc>
              <a:spcBef>
                <a:spcPts val="0"/>
              </a:spcBef>
              <a:spcAft>
                <a:spcPts val="0"/>
              </a:spcAft>
            </a:pPr>
            <a:r>
              <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rPr>
              <a:t>网站服务器</a:t>
            </a:r>
            <a:endPar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97" name="object 38"/>
          <p:cNvSpPr txBox="1"/>
          <p:nvPr>
            <p:custDataLst>
              <p:tags r:id="rId25"/>
            </p:custDataLst>
          </p:nvPr>
        </p:nvSpPr>
        <p:spPr>
          <a:xfrm>
            <a:off x="6581140" y="1224915"/>
            <a:ext cx="640715" cy="137160"/>
          </a:xfrm>
          <a:prstGeom prst="rect">
            <a:avLst/>
          </a:prstGeom>
        </p:spPr>
        <p:txBody>
          <a:bodyPr vert="horz" wrap="square" lIns="0" tIns="0" rIns="0" bIns="0" rtlCol="0">
            <a:noAutofit/>
          </a:bodyPr>
          <a:lstStyle/>
          <a:p>
            <a:pPr marL="0" marR="0">
              <a:lnSpc>
                <a:spcPts val="1230"/>
              </a:lnSpc>
              <a:spcBef>
                <a:spcPts val="0"/>
              </a:spcBef>
              <a:spcAft>
                <a:spcPts val="0"/>
              </a:spcAft>
            </a:pPr>
            <a:r>
              <a:rPr lang="en-US" sz="900" spc="-16" dirty="0">
                <a:solidFill>
                  <a:srgbClr val="1976D2"/>
                </a:solidFill>
                <a:latin typeface="微软雅黑" panose="020B0503020204020204" charset="-122"/>
                <a:ea typeface="微软雅黑" panose="020B0503020204020204" charset="-122"/>
                <a:cs typeface="BJWQCI+AdobeFanHeitiStd-Bold" panose="02000500000000000000"/>
              </a:rPr>
              <a:t>192.168.*.</a:t>
            </a:r>
            <a:r>
              <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rPr>
              <a:t>*</a:t>
            </a:r>
            <a:endPar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cxnSp>
        <p:nvCxnSpPr>
          <p:cNvPr id="98" name="直接连接符 103"/>
          <p:cNvCxnSpPr/>
          <p:nvPr>
            <p:custDataLst>
              <p:tags r:id="rId26"/>
            </p:custDataLst>
          </p:nvPr>
        </p:nvCxnSpPr>
        <p:spPr>
          <a:xfrm>
            <a:off x="6446520" y="1420495"/>
            <a:ext cx="791210" cy="0"/>
          </a:xfrm>
          <a:prstGeom prst="line">
            <a:avLst/>
          </a:prstGeom>
          <a:ln w="12700">
            <a:solidFill>
              <a:schemeClr val="accent1"/>
            </a:solidFill>
          </a:ln>
        </p:spPr>
        <p:style>
          <a:lnRef idx="2">
            <a:schemeClr val="accent1"/>
          </a:lnRef>
          <a:fillRef idx="0">
            <a:srgbClr val="FFFFFF"/>
          </a:fillRef>
          <a:effectRef idx="0">
            <a:srgbClr val="FFFFFF"/>
          </a:effectRef>
          <a:fontRef idx="minor">
            <a:schemeClr val="tx1"/>
          </a:fontRef>
        </p:style>
      </p:cxnSp>
      <p:sp>
        <p:nvSpPr>
          <p:cNvPr id="99" name="object 38"/>
          <p:cNvSpPr txBox="1"/>
          <p:nvPr>
            <p:custDataLst>
              <p:tags r:id="rId27"/>
            </p:custDataLst>
          </p:nvPr>
        </p:nvSpPr>
        <p:spPr>
          <a:xfrm>
            <a:off x="6544310" y="590550"/>
            <a:ext cx="693420" cy="162560"/>
          </a:xfrm>
          <a:prstGeom prst="rect">
            <a:avLst/>
          </a:prstGeom>
        </p:spPr>
        <p:txBody>
          <a:bodyPr vert="horz" wrap="square" lIns="0" tIns="0" rIns="0" bIns="0" rtlCol="0">
            <a:noAutofit/>
          </a:bodyPr>
          <a:lstStyle/>
          <a:p>
            <a:pPr marL="0" marR="0">
              <a:lnSpc>
                <a:spcPts val="1230"/>
              </a:lnSpc>
              <a:spcBef>
                <a:spcPts val="0"/>
              </a:spcBef>
              <a:spcAft>
                <a:spcPts val="0"/>
              </a:spcAft>
            </a:pPr>
            <a:r>
              <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rPr>
              <a:t>业务服务器</a:t>
            </a:r>
            <a:endPar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109" name="object 34"/>
          <p:cNvSpPr/>
          <p:nvPr>
            <p:custDataLst>
              <p:tags r:id="rId28"/>
            </p:custDataLst>
          </p:nvPr>
        </p:nvSpPr>
        <p:spPr>
          <a:xfrm>
            <a:off x="7596814" y="677102"/>
            <a:ext cx="576000" cy="576000"/>
          </a:xfrm>
          <a:prstGeom prst="rect">
            <a:avLst/>
          </a:prstGeom>
          <a:blipFill>
            <a:blip r:embed="rId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120" name="object 27"/>
          <p:cNvSpPr/>
          <p:nvPr>
            <p:custDataLst>
              <p:tags r:id="rId29"/>
            </p:custDataLst>
          </p:nvPr>
        </p:nvSpPr>
        <p:spPr>
          <a:xfrm>
            <a:off x="8070932" y="793516"/>
            <a:ext cx="288000" cy="288000"/>
          </a:xfrm>
          <a:prstGeom prst="rect">
            <a:avLst/>
          </a:prstGeom>
          <a:blipFill>
            <a:blip r:embed="rId1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121" name="object 38"/>
          <p:cNvSpPr txBox="1"/>
          <p:nvPr>
            <p:custDataLst>
              <p:tags r:id="rId30"/>
            </p:custDataLst>
          </p:nvPr>
        </p:nvSpPr>
        <p:spPr>
          <a:xfrm>
            <a:off x="7656195" y="1206500"/>
            <a:ext cx="640715" cy="137160"/>
          </a:xfrm>
          <a:prstGeom prst="rect">
            <a:avLst/>
          </a:prstGeom>
        </p:spPr>
        <p:txBody>
          <a:bodyPr vert="horz" wrap="square" lIns="0" tIns="0" rIns="0" bIns="0" rtlCol="0">
            <a:noAutofit/>
          </a:bodyPr>
          <a:lstStyle/>
          <a:p>
            <a:pPr marL="0" marR="0">
              <a:lnSpc>
                <a:spcPts val="1230"/>
              </a:lnSpc>
              <a:spcBef>
                <a:spcPts val="0"/>
              </a:spcBef>
              <a:spcAft>
                <a:spcPts val="0"/>
              </a:spcAft>
            </a:pPr>
            <a:r>
              <a:rPr lang="en-US" sz="900" spc="-16" dirty="0">
                <a:solidFill>
                  <a:srgbClr val="1976D2"/>
                </a:solidFill>
                <a:latin typeface="微软雅黑" panose="020B0503020204020204" charset="-122"/>
                <a:ea typeface="微软雅黑" panose="020B0503020204020204" charset="-122"/>
                <a:cs typeface="BJWQCI+AdobeFanHeitiStd-Bold" panose="02000500000000000000"/>
              </a:rPr>
              <a:t>192.168.*.</a:t>
            </a:r>
            <a:r>
              <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rPr>
              <a:t>*</a:t>
            </a:r>
            <a:endPar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cxnSp>
        <p:nvCxnSpPr>
          <p:cNvPr id="126" name="直接连接符 103"/>
          <p:cNvCxnSpPr/>
          <p:nvPr>
            <p:custDataLst>
              <p:tags r:id="rId31"/>
            </p:custDataLst>
          </p:nvPr>
        </p:nvCxnSpPr>
        <p:spPr>
          <a:xfrm>
            <a:off x="7521575" y="1402080"/>
            <a:ext cx="791210" cy="0"/>
          </a:xfrm>
          <a:prstGeom prst="line">
            <a:avLst/>
          </a:prstGeom>
          <a:ln w="12700">
            <a:solidFill>
              <a:schemeClr val="accent1"/>
            </a:solidFill>
          </a:ln>
        </p:spPr>
        <p:style>
          <a:lnRef idx="2">
            <a:schemeClr val="accent1"/>
          </a:lnRef>
          <a:fillRef idx="0">
            <a:srgbClr val="FFFFFF"/>
          </a:fillRef>
          <a:effectRef idx="0">
            <a:srgbClr val="FFFFFF"/>
          </a:effectRef>
          <a:fontRef idx="minor">
            <a:schemeClr val="tx1"/>
          </a:fontRef>
        </p:style>
      </p:cxnSp>
      <p:sp>
        <p:nvSpPr>
          <p:cNvPr id="127" name="object 38"/>
          <p:cNvSpPr txBox="1"/>
          <p:nvPr>
            <p:custDataLst>
              <p:tags r:id="rId32"/>
            </p:custDataLst>
          </p:nvPr>
        </p:nvSpPr>
        <p:spPr>
          <a:xfrm>
            <a:off x="7596505" y="592455"/>
            <a:ext cx="693420" cy="162560"/>
          </a:xfrm>
          <a:prstGeom prst="rect">
            <a:avLst/>
          </a:prstGeom>
        </p:spPr>
        <p:txBody>
          <a:bodyPr vert="horz" wrap="square" lIns="0" tIns="0" rIns="0" bIns="0" rtlCol="0">
            <a:noAutofit/>
          </a:bodyPr>
          <a:lstStyle/>
          <a:p>
            <a:pPr marL="0" marR="0">
              <a:lnSpc>
                <a:spcPts val="1230"/>
              </a:lnSpc>
              <a:spcBef>
                <a:spcPts val="0"/>
              </a:spcBef>
              <a:spcAft>
                <a:spcPts val="0"/>
              </a:spcAft>
            </a:pPr>
            <a:r>
              <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rPr>
              <a:t>评标服务器</a:t>
            </a:r>
            <a:endPar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131" name="object 34"/>
          <p:cNvSpPr/>
          <p:nvPr>
            <p:custDataLst>
              <p:tags r:id="rId33"/>
            </p:custDataLst>
          </p:nvPr>
        </p:nvSpPr>
        <p:spPr>
          <a:xfrm>
            <a:off x="8805854" y="677102"/>
            <a:ext cx="576000" cy="576000"/>
          </a:xfrm>
          <a:prstGeom prst="rect">
            <a:avLst/>
          </a:prstGeom>
          <a:blipFill>
            <a:blip r:embed="rId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145" name="object 27"/>
          <p:cNvSpPr/>
          <p:nvPr>
            <p:custDataLst>
              <p:tags r:id="rId34"/>
            </p:custDataLst>
          </p:nvPr>
        </p:nvSpPr>
        <p:spPr>
          <a:xfrm>
            <a:off x="9279972" y="793516"/>
            <a:ext cx="288000" cy="288000"/>
          </a:xfrm>
          <a:prstGeom prst="rect">
            <a:avLst/>
          </a:prstGeom>
          <a:blipFill>
            <a:blip r:embed="rId1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146" name="object 38"/>
          <p:cNvSpPr txBox="1"/>
          <p:nvPr>
            <p:custDataLst>
              <p:tags r:id="rId35"/>
            </p:custDataLst>
          </p:nvPr>
        </p:nvSpPr>
        <p:spPr>
          <a:xfrm>
            <a:off x="8865235" y="1206500"/>
            <a:ext cx="640715" cy="137160"/>
          </a:xfrm>
          <a:prstGeom prst="rect">
            <a:avLst/>
          </a:prstGeom>
        </p:spPr>
        <p:txBody>
          <a:bodyPr vert="horz" wrap="square" lIns="0" tIns="0" rIns="0" bIns="0" rtlCol="0">
            <a:noAutofit/>
          </a:bodyPr>
          <a:lstStyle/>
          <a:p>
            <a:pPr marL="0" marR="0">
              <a:lnSpc>
                <a:spcPts val="1230"/>
              </a:lnSpc>
              <a:spcBef>
                <a:spcPts val="0"/>
              </a:spcBef>
              <a:spcAft>
                <a:spcPts val="0"/>
              </a:spcAft>
            </a:pPr>
            <a:r>
              <a:rPr lang="en-US" sz="900" spc="-16" dirty="0">
                <a:solidFill>
                  <a:srgbClr val="1976D2"/>
                </a:solidFill>
                <a:latin typeface="微软雅黑" panose="020B0503020204020204" charset="-122"/>
                <a:ea typeface="微软雅黑" panose="020B0503020204020204" charset="-122"/>
                <a:cs typeface="BJWQCI+AdobeFanHeitiStd-Bold" panose="02000500000000000000"/>
              </a:rPr>
              <a:t>192.168.*.</a:t>
            </a:r>
            <a:r>
              <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rPr>
              <a:t>*</a:t>
            </a:r>
            <a:endPar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cxnSp>
        <p:nvCxnSpPr>
          <p:cNvPr id="147" name="直接连接符 103"/>
          <p:cNvCxnSpPr/>
          <p:nvPr>
            <p:custDataLst>
              <p:tags r:id="rId36"/>
            </p:custDataLst>
          </p:nvPr>
        </p:nvCxnSpPr>
        <p:spPr>
          <a:xfrm>
            <a:off x="8730615" y="1402080"/>
            <a:ext cx="791210" cy="0"/>
          </a:xfrm>
          <a:prstGeom prst="line">
            <a:avLst/>
          </a:prstGeom>
          <a:ln w="12700">
            <a:solidFill>
              <a:schemeClr val="accent1"/>
            </a:solidFill>
          </a:ln>
        </p:spPr>
        <p:style>
          <a:lnRef idx="2">
            <a:schemeClr val="accent1"/>
          </a:lnRef>
          <a:fillRef idx="0">
            <a:srgbClr val="FFFFFF"/>
          </a:fillRef>
          <a:effectRef idx="0">
            <a:srgbClr val="FFFFFF"/>
          </a:effectRef>
          <a:fontRef idx="minor">
            <a:schemeClr val="tx1"/>
          </a:fontRef>
        </p:style>
      </p:cxnSp>
      <p:sp>
        <p:nvSpPr>
          <p:cNvPr id="148" name="object 38"/>
          <p:cNvSpPr txBox="1"/>
          <p:nvPr>
            <p:custDataLst>
              <p:tags r:id="rId37"/>
            </p:custDataLst>
          </p:nvPr>
        </p:nvSpPr>
        <p:spPr>
          <a:xfrm>
            <a:off x="8702040" y="590550"/>
            <a:ext cx="1046480" cy="201295"/>
          </a:xfrm>
          <a:prstGeom prst="rect">
            <a:avLst/>
          </a:prstGeom>
        </p:spPr>
        <p:txBody>
          <a:bodyPr vert="horz" wrap="square" lIns="0" tIns="0" rIns="0" bIns="0" rtlCol="0">
            <a:noAutofit/>
          </a:bodyPr>
          <a:lstStyle/>
          <a:p>
            <a:pPr marL="0" marR="0">
              <a:lnSpc>
                <a:spcPts val="1230"/>
              </a:lnSpc>
              <a:spcBef>
                <a:spcPts val="0"/>
              </a:spcBef>
              <a:spcAft>
                <a:spcPts val="0"/>
              </a:spcAft>
            </a:pPr>
            <a:r>
              <a:rPr lang="en-US" altLang="zh-CN" sz="1000" spc="-16" dirty="0">
                <a:solidFill>
                  <a:srgbClr val="1976D2"/>
                </a:solidFill>
                <a:latin typeface="微软雅黑" panose="020B0503020204020204" charset="-122"/>
                <a:ea typeface="微软雅黑" panose="020B0503020204020204" charset="-122"/>
                <a:cs typeface="BJWQCI+AdobeFanHeitiStd-Bold" panose="02000500000000000000"/>
              </a:rPr>
              <a:t>BS</a:t>
            </a:r>
            <a:r>
              <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rPr>
              <a:t>招标工具服务器</a:t>
            </a:r>
            <a:endPar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149" name="object 34"/>
          <p:cNvSpPr/>
          <p:nvPr>
            <p:custDataLst>
              <p:tags r:id="rId38"/>
            </p:custDataLst>
          </p:nvPr>
        </p:nvSpPr>
        <p:spPr>
          <a:xfrm>
            <a:off x="10034579" y="677102"/>
            <a:ext cx="576000" cy="576000"/>
          </a:xfrm>
          <a:prstGeom prst="rect">
            <a:avLst/>
          </a:prstGeom>
          <a:blipFill>
            <a:blip r:embed="rId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150" name="object 27"/>
          <p:cNvSpPr/>
          <p:nvPr>
            <p:custDataLst>
              <p:tags r:id="rId39"/>
            </p:custDataLst>
          </p:nvPr>
        </p:nvSpPr>
        <p:spPr>
          <a:xfrm>
            <a:off x="10508697" y="793516"/>
            <a:ext cx="288000" cy="288000"/>
          </a:xfrm>
          <a:prstGeom prst="rect">
            <a:avLst/>
          </a:prstGeom>
          <a:blipFill>
            <a:blip r:embed="rId1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151" name="object 38"/>
          <p:cNvSpPr txBox="1"/>
          <p:nvPr>
            <p:custDataLst>
              <p:tags r:id="rId40"/>
            </p:custDataLst>
          </p:nvPr>
        </p:nvSpPr>
        <p:spPr>
          <a:xfrm>
            <a:off x="10093960" y="1206500"/>
            <a:ext cx="640715" cy="137160"/>
          </a:xfrm>
          <a:prstGeom prst="rect">
            <a:avLst/>
          </a:prstGeom>
        </p:spPr>
        <p:txBody>
          <a:bodyPr vert="horz" wrap="square" lIns="0" tIns="0" rIns="0" bIns="0" rtlCol="0">
            <a:noAutofit/>
          </a:bodyPr>
          <a:lstStyle/>
          <a:p>
            <a:pPr marL="0" marR="0">
              <a:lnSpc>
                <a:spcPts val="1230"/>
              </a:lnSpc>
              <a:spcBef>
                <a:spcPts val="0"/>
              </a:spcBef>
              <a:spcAft>
                <a:spcPts val="0"/>
              </a:spcAft>
            </a:pPr>
            <a:r>
              <a:rPr lang="en-US" sz="900" spc="-16" dirty="0">
                <a:solidFill>
                  <a:srgbClr val="1976D2"/>
                </a:solidFill>
                <a:latin typeface="微软雅黑" panose="020B0503020204020204" charset="-122"/>
                <a:ea typeface="微软雅黑" panose="020B0503020204020204" charset="-122"/>
                <a:cs typeface="BJWQCI+AdobeFanHeitiStd-Bold" panose="02000500000000000000"/>
              </a:rPr>
              <a:t>192.168.*.</a:t>
            </a:r>
            <a:r>
              <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rPr>
              <a:t>*</a:t>
            </a:r>
            <a:endPar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cxnSp>
        <p:nvCxnSpPr>
          <p:cNvPr id="152" name="直接连接符 103"/>
          <p:cNvCxnSpPr/>
          <p:nvPr>
            <p:custDataLst>
              <p:tags r:id="rId41"/>
            </p:custDataLst>
          </p:nvPr>
        </p:nvCxnSpPr>
        <p:spPr>
          <a:xfrm>
            <a:off x="9959340" y="1402080"/>
            <a:ext cx="791210" cy="0"/>
          </a:xfrm>
          <a:prstGeom prst="line">
            <a:avLst/>
          </a:prstGeom>
          <a:ln w="12700">
            <a:solidFill>
              <a:schemeClr val="accent1"/>
            </a:solidFill>
          </a:ln>
        </p:spPr>
        <p:style>
          <a:lnRef idx="2">
            <a:schemeClr val="accent1"/>
          </a:lnRef>
          <a:fillRef idx="0">
            <a:srgbClr val="FFFFFF"/>
          </a:fillRef>
          <a:effectRef idx="0">
            <a:srgbClr val="FFFFFF"/>
          </a:effectRef>
          <a:fontRef idx="minor">
            <a:schemeClr val="tx1"/>
          </a:fontRef>
        </p:style>
      </p:cxnSp>
      <p:sp>
        <p:nvSpPr>
          <p:cNvPr id="153" name="object 38"/>
          <p:cNvSpPr txBox="1"/>
          <p:nvPr>
            <p:custDataLst>
              <p:tags r:id="rId42"/>
            </p:custDataLst>
          </p:nvPr>
        </p:nvSpPr>
        <p:spPr>
          <a:xfrm>
            <a:off x="9855835" y="592455"/>
            <a:ext cx="1046480" cy="185420"/>
          </a:xfrm>
          <a:prstGeom prst="rect">
            <a:avLst/>
          </a:prstGeom>
        </p:spPr>
        <p:txBody>
          <a:bodyPr vert="horz" wrap="square" lIns="0" tIns="0" rIns="0" bIns="0" rtlCol="0">
            <a:noAutofit/>
          </a:bodyPr>
          <a:lstStyle/>
          <a:p>
            <a:pPr marL="0" marR="0">
              <a:lnSpc>
                <a:spcPts val="1230"/>
              </a:lnSpc>
              <a:spcBef>
                <a:spcPts val="0"/>
              </a:spcBef>
              <a:spcAft>
                <a:spcPts val="0"/>
              </a:spcAft>
            </a:pPr>
            <a:r>
              <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rPr>
              <a:t>保证金平台服务器</a:t>
            </a:r>
            <a:endPar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154" name="object 34"/>
          <p:cNvSpPr/>
          <p:nvPr>
            <p:custDataLst>
              <p:tags r:id="rId43"/>
            </p:custDataLst>
          </p:nvPr>
        </p:nvSpPr>
        <p:spPr>
          <a:xfrm>
            <a:off x="11124239" y="677102"/>
            <a:ext cx="576000" cy="576000"/>
          </a:xfrm>
          <a:prstGeom prst="rect">
            <a:avLst/>
          </a:prstGeom>
          <a:blipFill>
            <a:blip r:embed="rId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155" name="object 27"/>
          <p:cNvSpPr/>
          <p:nvPr>
            <p:custDataLst>
              <p:tags r:id="rId44"/>
            </p:custDataLst>
          </p:nvPr>
        </p:nvSpPr>
        <p:spPr>
          <a:xfrm>
            <a:off x="11598357" y="793516"/>
            <a:ext cx="288000" cy="288000"/>
          </a:xfrm>
          <a:prstGeom prst="rect">
            <a:avLst/>
          </a:prstGeom>
          <a:blipFill>
            <a:blip r:embed="rId1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156" name="object 38"/>
          <p:cNvSpPr txBox="1"/>
          <p:nvPr>
            <p:custDataLst>
              <p:tags r:id="rId45"/>
            </p:custDataLst>
          </p:nvPr>
        </p:nvSpPr>
        <p:spPr>
          <a:xfrm>
            <a:off x="11183620" y="1206500"/>
            <a:ext cx="640715" cy="137160"/>
          </a:xfrm>
          <a:prstGeom prst="rect">
            <a:avLst/>
          </a:prstGeom>
        </p:spPr>
        <p:txBody>
          <a:bodyPr vert="horz" wrap="square" lIns="0" tIns="0" rIns="0" bIns="0" rtlCol="0">
            <a:noAutofit/>
          </a:bodyPr>
          <a:lstStyle/>
          <a:p>
            <a:pPr marL="0" marR="0">
              <a:lnSpc>
                <a:spcPts val="1230"/>
              </a:lnSpc>
              <a:spcBef>
                <a:spcPts val="0"/>
              </a:spcBef>
              <a:spcAft>
                <a:spcPts val="0"/>
              </a:spcAft>
            </a:pPr>
            <a:r>
              <a:rPr lang="en-US" sz="900" spc="-16" dirty="0">
                <a:solidFill>
                  <a:srgbClr val="1976D2"/>
                </a:solidFill>
                <a:latin typeface="微软雅黑" panose="020B0503020204020204" charset="-122"/>
                <a:ea typeface="微软雅黑" panose="020B0503020204020204" charset="-122"/>
                <a:cs typeface="BJWQCI+AdobeFanHeitiStd-Bold" panose="02000500000000000000"/>
              </a:rPr>
              <a:t>192.168.*.</a:t>
            </a:r>
            <a:r>
              <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rPr>
              <a:t>*</a:t>
            </a:r>
            <a:endPar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cxnSp>
        <p:nvCxnSpPr>
          <p:cNvPr id="157" name="直接连接符 103"/>
          <p:cNvCxnSpPr/>
          <p:nvPr>
            <p:custDataLst>
              <p:tags r:id="rId46"/>
            </p:custDataLst>
          </p:nvPr>
        </p:nvCxnSpPr>
        <p:spPr>
          <a:xfrm>
            <a:off x="11049000" y="1402080"/>
            <a:ext cx="791210" cy="0"/>
          </a:xfrm>
          <a:prstGeom prst="line">
            <a:avLst/>
          </a:prstGeom>
          <a:ln w="12700">
            <a:solidFill>
              <a:schemeClr val="accent1"/>
            </a:solidFill>
          </a:ln>
        </p:spPr>
        <p:style>
          <a:lnRef idx="2">
            <a:schemeClr val="accent1"/>
          </a:lnRef>
          <a:fillRef idx="0">
            <a:srgbClr val="FFFFFF"/>
          </a:fillRef>
          <a:effectRef idx="0">
            <a:srgbClr val="FFFFFF"/>
          </a:effectRef>
          <a:fontRef idx="minor">
            <a:schemeClr val="tx1"/>
          </a:fontRef>
        </p:style>
      </p:cxnSp>
      <p:sp>
        <p:nvSpPr>
          <p:cNvPr id="158" name="object 38"/>
          <p:cNvSpPr txBox="1"/>
          <p:nvPr>
            <p:custDataLst>
              <p:tags r:id="rId47"/>
            </p:custDataLst>
          </p:nvPr>
        </p:nvSpPr>
        <p:spPr>
          <a:xfrm>
            <a:off x="10887075" y="580390"/>
            <a:ext cx="1183640" cy="185420"/>
          </a:xfrm>
          <a:prstGeom prst="rect">
            <a:avLst/>
          </a:prstGeom>
        </p:spPr>
        <p:txBody>
          <a:bodyPr vert="horz" wrap="square" lIns="0" tIns="0" rIns="0" bIns="0" rtlCol="0">
            <a:noAutofit/>
          </a:bodyPr>
          <a:lstStyle/>
          <a:p>
            <a:pPr marL="0" marR="0">
              <a:lnSpc>
                <a:spcPts val="1230"/>
              </a:lnSpc>
              <a:spcBef>
                <a:spcPts val="0"/>
              </a:spcBef>
              <a:spcAft>
                <a:spcPts val="0"/>
              </a:spcAft>
            </a:pPr>
            <a:r>
              <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rPr>
              <a:t>统一认证平台服务器</a:t>
            </a:r>
            <a:endPar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159" name="object 34"/>
          <p:cNvSpPr/>
          <p:nvPr>
            <p:custDataLst>
              <p:tags r:id="rId48"/>
            </p:custDataLst>
          </p:nvPr>
        </p:nvSpPr>
        <p:spPr>
          <a:xfrm>
            <a:off x="6979594" y="2308417"/>
            <a:ext cx="576000" cy="576000"/>
          </a:xfrm>
          <a:prstGeom prst="rect">
            <a:avLst/>
          </a:prstGeom>
          <a:blipFill>
            <a:blip r:embed="rId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162" name="object 27"/>
          <p:cNvSpPr/>
          <p:nvPr>
            <p:custDataLst>
              <p:tags r:id="rId49"/>
            </p:custDataLst>
          </p:nvPr>
        </p:nvSpPr>
        <p:spPr>
          <a:xfrm>
            <a:off x="7453712" y="2424831"/>
            <a:ext cx="288000" cy="288000"/>
          </a:xfrm>
          <a:prstGeom prst="rect">
            <a:avLst/>
          </a:prstGeom>
          <a:blipFill>
            <a:blip r:embed="rId1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grpSp>
        <p:nvGrpSpPr>
          <p:cNvPr id="165" name="组合 187"/>
          <p:cNvGrpSpPr/>
          <p:nvPr/>
        </p:nvGrpSpPr>
        <p:grpSpPr>
          <a:xfrm>
            <a:off x="5840095" y="2360295"/>
            <a:ext cx="776605" cy="630555"/>
            <a:chOff x="7819" y="3800"/>
            <a:chExt cx="1223" cy="993"/>
          </a:xfrm>
        </p:grpSpPr>
        <p:sp>
          <p:nvSpPr>
            <p:cNvPr id="166" name="object 34"/>
            <p:cNvSpPr/>
            <p:nvPr>
              <p:custDataLst>
                <p:tags r:id="rId50"/>
              </p:custDataLst>
            </p:nvPr>
          </p:nvSpPr>
          <p:spPr>
            <a:xfrm>
              <a:off x="7819" y="3800"/>
              <a:ext cx="907" cy="907"/>
            </a:xfrm>
            <a:prstGeom prst="rect">
              <a:avLst/>
            </a:prstGeom>
            <a:blipFill>
              <a:blip r:embed="rId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167" name="object 27"/>
            <p:cNvSpPr/>
            <p:nvPr>
              <p:custDataLst>
                <p:tags r:id="rId51"/>
              </p:custDataLst>
            </p:nvPr>
          </p:nvSpPr>
          <p:spPr>
            <a:xfrm>
              <a:off x="8537" y="3987"/>
              <a:ext cx="454" cy="454"/>
            </a:xfrm>
            <a:prstGeom prst="rect">
              <a:avLst/>
            </a:prstGeom>
            <a:blipFill>
              <a:blip r:embed="rId1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168" name="object 38"/>
            <p:cNvSpPr txBox="1"/>
            <p:nvPr>
              <p:custDataLst>
                <p:tags r:id="rId52"/>
              </p:custDataLst>
            </p:nvPr>
          </p:nvSpPr>
          <p:spPr>
            <a:xfrm>
              <a:off x="8034" y="4577"/>
              <a:ext cx="1009" cy="216"/>
            </a:xfrm>
            <a:prstGeom prst="rect">
              <a:avLst/>
            </a:prstGeom>
          </p:spPr>
          <p:txBody>
            <a:bodyPr vert="horz" wrap="square" lIns="0" tIns="0" rIns="0" bIns="0" rtlCol="0">
              <a:noAutofit/>
            </a:bodyPr>
            <a:lstStyle/>
            <a:p>
              <a:pPr marL="0" marR="0">
                <a:lnSpc>
                  <a:spcPts val="1230"/>
                </a:lnSpc>
                <a:spcBef>
                  <a:spcPts val="0"/>
                </a:spcBef>
                <a:spcAft>
                  <a:spcPts val="0"/>
                </a:spcAft>
              </a:pPr>
              <a:r>
                <a:rPr lang="en-US" sz="900" spc="-16" dirty="0">
                  <a:solidFill>
                    <a:srgbClr val="1976D2"/>
                  </a:solidFill>
                  <a:latin typeface="微软雅黑" panose="020B0503020204020204" charset="-122"/>
                  <a:ea typeface="微软雅黑" panose="020B0503020204020204" charset="-122"/>
                  <a:cs typeface="BJWQCI+AdobeFanHeitiStd-Bold" panose="02000500000000000000"/>
                </a:rPr>
                <a:t>192.168.*.</a:t>
              </a:r>
              <a:r>
                <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rPr>
                <a:t>*</a:t>
              </a:r>
              <a:endPar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grpSp>
      <p:cxnSp>
        <p:nvCxnSpPr>
          <p:cNvPr id="169" name="直接连接符 94"/>
          <p:cNvCxnSpPr/>
          <p:nvPr>
            <p:custDataLst>
              <p:tags r:id="rId53"/>
            </p:custDataLst>
          </p:nvPr>
        </p:nvCxnSpPr>
        <p:spPr>
          <a:xfrm>
            <a:off x="5753735" y="3044825"/>
            <a:ext cx="1010920" cy="8255"/>
          </a:xfrm>
          <a:prstGeom prst="line">
            <a:avLst/>
          </a:prstGeom>
          <a:ln w="12700">
            <a:solidFill>
              <a:schemeClr val="accent1"/>
            </a:solidFill>
          </a:ln>
        </p:spPr>
        <p:style>
          <a:lnRef idx="2">
            <a:schemeClr val="accent1"/>
          </a:lnRef>
          <a:fillRef idx="0">
            <a:srgbClr val="FFFFFF"/>
          </a:fillRef>
          <a:effectRef idx="0">
            <a:srgbClr val="FFFFFF"/>
          </a:effectRef>
          <a:fontRef idx="minor">
            <a:schemeClr val="tx1"/>
          </a:fontRef>
        </p:style>
      </p:cxnSp>
      <p:sp>
        <p:nvSpPr>
          <p:cNvPr id="170" name="object 38"/>
          <p:cNvSpPr txBox="1"/>
          <p:nvPr>
            <p:custDataLst>
              <p:tags r:id="rId54"/>
            </p:custDataLst>
          </p:nvPr>
        </p:nvSpPr>
        <p:spPr>
          <a:xfrm>
            <a:off x="5718175" y="2219960"/>
            <a:ext cx="1046480" cy="156210"/>
          </a:xfrm>
          <a:prstGeom prst="rect">
            <a:avLst/>
          </a:prstGeom>
        </p:spPr>
        <p:txBody>
          <a:bodyPr vert="horz" wrap="square" lIns="0" tIns="0" rIns="0" bIns="0" rtlCol="0">
            <a:noAutofit/>
          </a:bodyPr>
          <a:lstStyle/>
          <a:p>
            <a:pPr marL="0" marR="0">
              <a:lnSpc>
                <a:spcPts val="1230"/>
              </a:lnSpc>
              <a:spcBef>
                <a:spcPts val="0"/>
              </a:spcBef>
              <a:spcAft>
                <a:spcPts val="0"/>
              </a:spcAft>
            </a:pPr>
            <a:r>
              <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rPr>
              <a:t>大数据应用服务器</a:t>
            </a:r>
            <a:endPar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171" name="object 38"/>
          <p:cNvSpPr txBox="1"/>
          <p:nvPr>
            <p:custDataLst>
              <p:tags r:id="rId55"/>
            </p:custDataLst>
          </p:nvPr>
        </p:nvSpPr>
        <p:spPr>
          <a:xfrm>
            <a:off x="7038975" y="2837815"/>
            <a:ext cx="640715" cy="137160"/>
          </a:xfrm>
          <a:prstGeom prst="rect">
            <a:avLst/>
          </a:prstGeom>
        </p:spPr>
        <p:txBody>
          <a:bodyPr vert="horz" wrap="square" lIns="0" tIns="0" rIns="0" bIns="0" rtlCol="0">
            <a:noAutofit/>
          </a:bodyPr>
          <a:lstStyle/>
          <a:p>
            <a:pPr marL="0" marR="0">
              <a:lnSpc>
                <a:spcPts val="1230"/>
              </a:lnSpc>
              <a:spcBef>
                <a:spcPts val="0"/>
              </a:spcBef>
              <a:spcAft>
                <a:spcPts val="0"/>
              </a:spcAft>
            </a:pPr>
            <a:r>
              <a:rPr lang="en-US" sz="900" spc="-16" dirty="0">
                <a:solidFill>
                  <a:srgbClr val="1976D2"/>
                </a:solidFill>
                <a:latin typeface="微软雅黑" panose="020B0503020204020204" charset="-122"/>
                <a:ea typeface="微软雅黑" panose="020B0503020204020204" charset="-122"/>
                <a:cs typeface="BJWQCI+AdobeFanHeitiStd-Bold" panose="02000500000000000000"/>
              </a:rPr>
              <a:t>192.168.*.</a:t>
            </a:r>
            <a:r>
              <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rPr>
              <a:t>*</a:t>
            </a:r>
            <a:endPar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cxnSp>
        <p:nvCxnSpPr>
          <p:cNvPr id="172" name="直接连接符 103"/>
          <p:cNvCxnSpPr/>
          <p:nvPr>
            <p:custDataLst>
              <p:tags r:id="rId56"/>
            </p:custDataLst>
          </p:nvPr>
        </p:nvCxnSpPr>
        <p:spPr>
          <a:xfrm>
            <a:off x="6904355" y="3033395"/>
            <a:ext cx="791210" cy="0"/>
          </a:xfrm>
          <a:prstGeom prst="line">
            <a:avLst/>
          </a:prstGeom>
          <a:ln w="12700">
            <a:solidFill>
              <a:schemeClr val="accent1"/>
            </a:solidFill>
          </a:ln>
        </p:spPr>
        <p:style>
          <a:lnRef idx="2">
            <a:schemeClr val="accent1"/>
          </a:lnRef>
          <a:fillRef idx="0">
            <a:srgbClr val="FFFFFF"/>
          </a:fillRef>
          <a:effectRef idx="0">
            <a:srgbClr val="FFFFFF"/>
          </a:effectRef>
          <a:fontRef idx="minor">
            <a:schemeClr val="tx1"/>
          </a:fontRef>
        </p:style>
      </p:cxnSp>
      <p:sp>
        <p:nvSpPr>
          <p:cNvPr id="179" name="object 38"/>
          <p:cNvSpPr txBox="1"/>
          <p:nvPr>
            <p:custDataLst>
              <p:tags r:id="rId57"/>
            </p:custDataLst>
          </p:nvPr>
        </p:nvSpPr>
        <p:spPr>
          <a:xfrm>
            <a:off x="7002145" y="2203450"/>
            <a:ext cx="693420" cy="162560"/>
          </a:xfrm>
          <a:prstGeom prst="rect">
            <a:avLst/>
          </a:prstGeom>
        </p:spPr>
        <p:txBody>
          <a:bodyPr vert="horz" wrap="square" lIns="0" tIns="0" rIns="0" bIns="0" rtlCol="0">
            <a:noAutofit/>
          </a:bodyPr>
          <a:lstStyle/>
          <a:p>
            <a:pPr marL="0" marR="0">
              <a:lnSpc>
                <a:spcPts val="1230"/>
              </a:lnSpc>
              <a:spcBef>
                <a:spcPts val="0"/>
              </a:spcBef>
              <a:spcAft>
                <a:spcPts val="0"/>
              </a:spcAft>
            </a:pPr>
            <a:r>
              <a:rPr lang="en-US" altLang="zh-CN" sz="1000" spc="-16" dirty="0">
                <a:solidFill>
                  <a:srgbClr val="1976D2"/>
                </a:solidFill>
                <a:latin typeface="微软雅黑" panose="020B0503020204020204" charset="-122"/>
                <a:ea typeface="微软雅黑" panose="020B0503020204020204" charset="-122"/>
                <a:cs typeface="BJWQCI+AdobeFanHeitiStd-Bold" panose="02000500000000000000"/>
              </a:rPr>
              <a:t>DXP</a:t>
            </a:r>
            <a:r>
              <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rPr>
              <a:t>服务器</a:t>
            </a:r>
            <a:endPar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186" name="object 34"/>
          <p:cNvSpPr/>
          <p:nvPr>
            <p:custDataLst>
              <p:tags r:id="rId58"/>
            </p:custDataLst>
          </p:nvPr>
        </p:nvSpPr>
        <p:spPr>
          <a:xfrm>
            <a:off x="8054649" y="2290002"/>
            <a:ext cx="576000" cy="576000"/>
          </a:xfrm>
          <a:prstGeom prst="rect">
            <a:avLst/>
          </a:prstGeom>
          <a:blipFill>
            <a:blip r:embed="rId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190" name="object 27"/>
          <p:cNvSpPr/>
          <p:nvPr>
            <p:custDataLst>
              <p:tags r:id="rId59"/>
            </p:custDataLst>
          </p:nvPr>
        </p:nvSpPr>
        <p:spPr>
          <a:xfrm>
            <a:off x="8528767" y="2406416"/>
            <a:ext cx="288000" cy="288000"/>
          </a:xfrm>
          <a:prstGeom prst="rect">
            <a:avLst/>
          </a:prstGeom>
          <a:blipFill>
            <a:blip r:embed="rId1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191" name="object 38"/>
          <p:cNvSpPr txBox="1"/>
          <p:nvPr>
            <p:custDataLst>
              <p:tags r:id="rId60"/>
            </p:custDataLst>
          </p:nvPr>
        </p:nvSpPr>
        <p:spPr>
          <a:xfrm>
            <a:off x="8114030" y="2819400"/>
            <a:ext cx="640715" cy="137160"/>
          </a:xfrm>
          <a:prstGeom prst="rect">
            <a:avLst/>
          </a:prstGeom>
        </p:spPr>
        <p:txBody>
          <a:bodyPr vert="horz" wrap="square" lIns="0" tIns="0" rIns="0" bIns="0" rtlCol="0">
            <a:noAutofit/>
          </a:bodyPr>
          <a:lstStyle/>
          <a:p>
            <a:pPr marL="0" marR="0">
              <a:lnSpc>
                <a:spcPts val="1230"/>
              </a:lnSpc>
              <a:spcBef>
                <a:spcPts val="0"/>
              </a:spcBef>
              <a:spcAft>
                <a:spcPts val="0"/>
              </a:spcAft>
            </a:pPr>
            <a:r>
              <a:rPr lang="en-US" sz="900" spc="-16" dirty="0">
                <a:solidFill>
                  <a:srgbClr val="1976D2"/>
                </a:solidFill>
                <a:latin typeface="微软雅黑" panose="020B0503020204020204" charset="-122"/>
                <a:ea typeface="微软雅黑" panose="020B0503020204020204" charset="-122"/>
                <a:cs typeface="BJWQCI+AdobeFanHeitiStd-Bold" panose="02000500000000000000"/>
              </a:rPr>
              <a:t>192.168.*.</a:t>
            </a:r>
            <a:r>
              <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rPr>
              <a:t>*</a:t>
            </a:r>
            <a:endPar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cxnSp>
        <p:nvCxnSpPr>
          <p:cNvPr id="199" name="直接连接符 103"/>
          <p:cNvCxnSpPr/>
          <p:nvPr>
            <p:custDataLst>
              <p:tags r:id="rId61"/>
            </p:custDataLst>
          </p:nvPr>
        </p:nvCxnSpPr>
        <p:spPr>
          <a:xfrm>
            <a:off x="7979410" y="3014980"/>
            <a:ext cx="791210" cy="0"/>
          </a:xfrm>
          <a:prstGeom prst="line">
            <a:avLst/>
          </a:prstGeom>
          <a:ln w="12700">
            <a:solidFill>
              <a:schemeClr val="accent1"/>
            </a:solidFill>
          </a:ln>
        </p:spPr>
        <p:style>
          <a:lnRef idx="2">
            <a:schemeClr val="accent1"/>
          </a:lnRef>
          <a:fillRef idx="0">
            <a:srgbClr val="FFFFFF"/>
          </a:fillRef>
          <a:effectRef idx="0">
            <a:srgbClr val="FFFFFF"/>
          </a:effectRef>
          <a:fontRef idx="minor">
            <a:schemeClr val="tx1"/>
          </a:fontRef>
        </p:style>
      </p:cxnSp>
      <p:sp>
        <p:nvSpPr>
          <p:cNvPr id="201" name="object 38"/>
          <p:cNvSpPr txBox="1"/>
          <p:nvPr>
            <p:custDataLst>
              <p:tags r:id="rId62"/>
            </p:custDataLst>
          </p:nvPr>
        </p:nvSpPr>
        <p:spPr>
          <a:xfrm>
            <a:off x="7720330" y="2205355"/>
            <a:ext cx="1273175" cy="162560"/>
          </a:xfrm>
          <a:prstGeom prst="rect">
            <a:avLst/>
          </a:prstGeom>
        </p:spPr>
        <p:txBody>
          <a:bodyPr vert="horz" wrap="square" lIns="0" tIns="0" rIns="0" bIns="0" rtlCol="0">
            <a:noAutofit/>
          </a:bodyPr>
          <a:lstStyle/>
          <a:p>
            <a:pPr marL="0" marR="0">
              <a:lnSpc>
                <a:spcPts val="1230"/>
              </a:lnSpc>
              <a:spcBef>
                <a:spcPts val="0"/>
              </a:spcBef>
              <a:spcAft>
                <a:spcPts val="0"/>
              </a:spcAft>
            </a:pPr>
            <a:r>
              <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rPr>
              <a:t>业务平台投标端服务器</a:t>
            </a:r>
            <a:endPar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202" name="object 34"/>
          <p:cNvSpPr/>
          <p:nvPr>
            <p:custDataLst>
              <p:tags r:id="rId63"/>
            </p:custDataLst>
          </p:nvPr>
        </p:nvSpPr>
        <p:spPr>
          <a:xfrm>
            <a:off x="9263689" y="2290002"/>
            <a:ext cx="576000" cy="576000"/>
          </a:xfrm>
          <a:prstGeom prst="rect">
            <a:avLst/>
          </a:prstGeom>
          <a:blipFill>
            <a:blip r:embed="rId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203" name="object 27"/>
          <p:cNvSpPr/>
          <p:nvPr>
            <p:custDataLst>
              <p:tags r:id="rId64"/>
            </p:custDataLst>
          </p:nvPr>
        </p:nvSpPr>
        <p:spPr>
          <a:xfrm>
            <a:off x="9737807" y="2406416"/>
            <a:ext cx="288000" cy="288000"/>
          </a:xfrm>
          <a:prstGeom prst="rect">
            <a:avLst/>
          </a:prstGeom>
          <a:blipFill>
            <a:blip r:embed="rId1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204" name="object 38"/>
          <p:cNvSpPr txBox="1"/>
          <p:nvPr>
            <p:custDataLst>
              <p:tags r:id="rId65"/>
            </p:custDataLst>
          </p:nvPr>
        </p:nvSpPr>
        <p:spPr>
          <a:xfrm>
            <a:off x="9323070" y="2819400"/>
            <a:ext cx="640715" cy="137160"/>
          </a:xfrm>
          <a:prstGeom prst="rect">
            <a:avLst/>
          </a:prstGeom>
        </p:spPr>
        <p:txBody>
          <a:bodyPr vert="horz" wrap="square" lIns="0" tIns="0" rIns="0" bIns="0" rtlCol="0">
            <a:noAutofit/>
          </a:bodyPr>
          <a:lstStyle/>
          <a:p>
            <a:pPr marL="0" marR="0">
              <a:lnSpc>
                <a:spcPts val="1230"/>
              </a:lnSpc>
              <a:spcBef>
                <a:spcPts val="0"/>
              </a:spcBef>
              <a:spcAft>
                <a:spcPts val="0"/>
              </a:spcAft>
            </a:pPr>
            <a:r>
              <a:rPr lang="en-US" sz="900" spc="-16" dirty="0">
                <a:solidFill>
                  <a:srgbClr val="1976D2"/>
                </a:solidFill>
                <a:latin typeface="微软雅黑" panose="020B0503020204020204" charset="-122"/>
                <a:ea typeface="微软雅黑" panose="020B0503020204020204" charset="-122"/>
                <a:cs typeface="BJWQCI+AdobeFanHeitiStd-Bold" panose="02000500000000000000"/>
              </a:rPr>
              <a:t>192.168.*.</a:t>
            </a:r>
            <a:r>
              <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rPr>
              <a:t>*</a:t>
            </a:r>
            <a:endPar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cxnSp>
        <p:nvCxnSpPr>
          <p:cNvPr id="205" name="直接连接符 103"/>
          <p:cNvCxnSpPr/>
          <p:nvPr>
            <p:custDataLst>
              <p:tags r:id="rId66"/>
            </p:custDataLst>
          </p:nvPr>
        </p:nvCxnSpPr>
        <p:spPr>
          <a:xfrm>
            <a:off x="9188450" y="3014980"/>
            <a:ext cx="791210" cy="0"/>
          </a:xfrm>
          <a:prstGeom prst="line">
            <a:avLst/>
          </a:prstGeom>
          <a:ln w="12700">
            <a:solidFill>
              <a:schemeClr val="accent1"/>
            </a:solidFill>
          </a:ln>
        </p:spPr>
        <p:style>
          <a:lnRef idx="2">
            <a:schemeClr val="accent1"/>
          </a:lnRef>
          <a:fillRef idx="0">
            <a:srgbClr val="FFFFFF"/>
          </a:fillRef>
          <a:effectRef idx="0">
            <a:srgbClr val="FFFFFF"/>
          </a:effectRef>
          <a:fontRef idx="minor">
            <a:schemeClr val="tx1"/>
          </a:fontRef>
        </p:style>
      </p:cxnSp>
      <p:sp>
        <p:nvSpPr>
          <p:cNvPr id="206" name="object 38"/>
          <p:cNvSpPr txBox="1"/>
          <p:nvPr>
            <p:custDataLst>
              <p:tags r:id="rId67"/>
            </p:custDataLst>
          </p:nvPr>
        </p:nvSpPr>
        <p:spPr>
          <a:xfrm>
            <a:off x="9159875" y="2203450"/>
            <a:ext cx="1046480" cy="201295"/>
          </a:xfrm>
          <a:prstGeom prst="rect">
            <a:avLst/>
          </a:prstGeom>
        </p:spPr>
        <p:txBody>
          <a:bodyPr vert="horz" wrap="square" lIns="0" tIns="0" rIns="0" bIns="0" rtlCol="0">
            <a:noAutofit/>
          </a:bodyPr>
          <a:lstStyle/>
          <a:p>
            <a:pPr marL="0" marR="0">
              <a:lnSpc>
                <a:spcPts val="1230"/>
              </a:lnSpc>
              <a:spcBef>
                <a:spcPts val="0"/>
              </a:spcBef>
              <a:spcAft>
                <a:spcPts val="0"/>
              </a:spcAft>
            </a:pPr>
            <a:r>
              <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rPr>
              <a:t>竞价系统服务器</a:t>
            </a:r>
            <a:endPar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
        <p:nvSpPr>
          <p:cNvPr id="207" name="object 34"/>
          <p:cNvSpPr/>
          <p:nvPr>
            <p:custDataLst>
              <p:tags r:id="rId68"/>
            </p:custDataLst>
          </p:nvPr>
        </p:nvSpPr>
        <p:spPr>
          <a:xfrm>
            <a:off x="10492414" y="2290002"/>
            <a:ext cx="576000" cy="576000"/>
          </a:xfrm>
          <a:prstGeom prst="rect">
            <a:avLst/>
          </a:prstGeom>
          <a:blipFill>
            <a:blip r:embed="rId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208" name="object 27"/>
          <p:cNvSpPr/>
          <p:nvPr>
            <p:custDataLst>
              <p:tags r:id="rId69"/>
            </p:custDataLst>
          </p:nvPr>
        </p:nvSpPr>
        <p:spPr>
          <a:xfrm>
            <a:off x="10966532" y="2406416"/>
            <a:ext cx="288000" cy="288000"/>
          </a:xfrm>
          <a:prstGeom prst="rect">
            <a:avLst/>
          </a:prstGeom>
          <a:blipFill>
            <a:blip r:embed="rId17" cstate="print"/>
            <a:stretch>
              <a:fillRect/>
            </a:stretch>
          </a:blipFill>
        </p:spPr>
        <p:txBody>
          <a:bodyPr wrap="square" lIns="0" tIns="0" rIns="0" bIns="0" rtlCol="0">
            <a:noAutofit/>
          </a:bodyPr>
          <a:lstStyle/>
          <a:p>
            <a:endParaRPr>
              <a:latin typeface="微软雅黑" panose="020B0503020204020204" charset="-122"/>
              <a:ea typeface="微软雅黑" panose="020B0503020204020204" charset="-122"/>
            </a:endParaRPr>
          </a:p>
        </p:txBody>
      </p:sp>
      <p:sp>
        <p:nvSpPr>
          <p:cNvPr id="209" name="object 38"/>
          <p:cNvSpPr txBox="1"/>
          <p:nvPr>
            <p:custDataLst>
              <p:tags r:id="rId70"/>
            </p:custDataLst>
          </p:nvPr>
        </p:nvSpPr>
        <p:spPr>
          <a:xfrm>
            <a:off x="10551795" y="2819400"/>
            <a:ext cx="640715" cy="137160"/>
          </a:xfrm>
          <a:prstGeom prst="rect">
            <a:avLst/>
          </a:prstGeom>
        </p:spPr>
        <p:txBody>
          <a:bodyPr vert="horz" wrap="square" lIns="0" tIns="0" rIns="0" bIns="0" rtlCol="0">
            <a:noAutofit/>
          </a:bodyPr>
          <a:lstStyle/>
          <a:p>
            <a:pPr marL="0" marR="0">
              <a:lnSpc>
                <a:spcPts val="1230"/>
              </a:lnSpc>
              <a:spcBef>
                <a:spcPts val="0"/>
              </a:spcBef>
              <a:spcAft>
                <a:spcPts val="0"/>
              </a:spcAft>
            </a:pPr>
            <a:r>
              <a:rPr lang="en-US" sz="900" spc="-16" dirty="0">
                <a:solidFill>
                  <a:srgbClr val="1976D2"/>
                </a:solidFill>
                <a:latin typeface="微软雅黑" panose="020B0503020204020204" charset="-122"/>
                <a:ea typeface="微软雅黑" panose="020B0503020204020204" charset="-122"/>
                <a:cs typeface="BJWQCI+AdobeFanHeitiStd-Bold" panose="02000500000000000000"/>
              </a:rPr>
              <a:t>192.168.*.</a:t>
            </a:r>
            <a:r>
              <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rPr>
              <a:t>*</a:t>
            </a:r>
            <a:endParaRPr lang="en-US" altLang="zh-CN" sz="9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cxnSp>
        <p:nvCxnSpPr>
          <p:cNvPr id="229" name="直接连接符 103"/>
          <p:cNvCxnSpPr/>
          <p:nvPr>
            <p:custDataLst>
              <p:tags r:id="rId71"/>
            </p:custDataLst>
          </p:nvPr>
        </p:nvCxnSpPr>
        <p:spPr>
          <a:xfrm>
            <a:off x="10417175" y="3014980"/>
            <a:ext cx="791210" cy="0"/>
          </a:xfrm>
          <a:prstGeom prst="line">
            <a:avLst/>
          </a:prstGeom>
          <a:ln w="12700">
            <a:solidFill>
              <a:schemeClr val="accent1"/>
            </a:solidFill>
          </a:ln>
        </p:spPr>
        <p:style>
          <a:lnRef idx="2">
            <a:schemeClr val="accent1"/>
          </a:lnRef>
          <a:fillRef idx="0">
            <a:srgbClr val="FFFFFF"/>
          </a:fillRef>
          <a:effectRef idx="0">
            <a:srgbClr val="FFFFFF"/>
          </a:effectRef>
          <a:fontRef idx="minor">
            <a:schemeClr val="tx1"/>
          </a:fontRef>
        </p:style>
      </p:cxnSp>
      <p:sp>
        <p:nvSpPr>
          <p:cNvPr id="230" name="object 38"/>
          <p:cNvSpPr txBox="1"/>
          <p:nvPr>
            <p:custDataLst>
              <p:tags r:id="rId72"/>
            </p:custDataLst>
          </p:nvPr>
        </p:nvSpPr>
        <p:spPr>
          <a:xfrm>
            <a:off x="10240010" y="2205355"/>
            <a:ext cx="1273175" cy="149860"/>
          </a:xfrm>
          <a:prstGeom prst="rect">
            <a:avLst/>
          </a:prstGeom>
        </p:spPr>
        <p:txBody>
          <a:bodyPr vert="horz" wrap="square" lIns="0" tIns="0" rIns="0" bIns="0" rtlCol="0">
            <a:noAutofit/>
          </a:bodyPr>
          <a:lstStyle/>
          <a:p>
            <a:pPr marL="0" marR="0">
              <a:lnSpc>
                <a:spcPts val="1230"/>
              </a:lnSpc>
              <a:spcBef>
                <a:spcPts val="0"/>
              </a:spcBef>
              <a:spcAft>
                <a:spcPts val="0"/>
              </a:spcAft>
            </a:pPr>
            <a:r>
              <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rPr>
              <a:t>不见面开标大厅服务器</a:t>
            </a:r>
            <a:endParaRPr lang="zh-CN" altLang="en-US" sz="1000" spc="-16" dirty="0">
              <a:solidFill>
                <a:srgbClr val="1976D2"/>
              </a:solidFill>
              <a:latin typeface="微软雅黑" panose="020B0503020204020204" charset="-122"/>
              <a:ea typeface="微软雅黑" panose="020B0503020204020204" charset="-122"/>
              <a:cs typeface="BJWQCI+AdobeFanHeitiStd-Bold" panose="0200050000000000000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文本框 110"/>
          <p:cNvSpPr txBox="1"/>
          <p:nvPr/>
        </p:nvSpPr>
        <p:spPr>
          <a:xfrm>
            <a:off x="25400" y="1452880"/>
            <a:ext cx="999490" cy="2929255"/>
          </a:xfrm>
          <a:prstGeom prst="rect">
            <a:avLst/>
          </a:prstGeom>
          <a:solidFill>
            <a:srgbClr val="4472C4"/>
          </a:solidFill>
          <a:ln>
            <a:noFill/>
          </a:ln>
        </p:spPr>
        <p:txBody>
          <a:bodyPr wrap="none" rtlCol="0" anchor="ctr" anchorCtr="0">
            <a:noAutofit/>
          </a:bodyPr>
          <a:lstStyle/>
          <a:p>
            <a:pPr lvl="0" algn="ctr">
              <a:buClrTx/>
              <a:buSzTx/>
              <a:buFontTx/>
            </a:pPr>
            <a:r>
              <a:rPr lang="zh-CN" altLang="en-US" sz="1400" b="1">
                <a:solidFill>
                  <a:schemeClr val="bg1"/>
                </a:solidFill>
                <a:latin typeface="微软雅黑" panose="020B0503020204020204" charset="-122"/>
                <a:ea typeface="微软雅黑" panose="020B0503020204020204" charset="-122"/>
                <a:sym typeface="+mn-ea"/>
              </a:rPr>
              <a:t>服务层</a:t>
            </a:r>
            <a:endParaRPr lang="zh-CN" altLang="en-US" sz="1400" b="1">
              <a:solidFill>
                <a:schemeClr val="bg1"/>
              </a:solidFill>
              <a:latin typeface="微软雅黑" panose="020B0503020204020204" charset="-122"/>
              <a:ea typeface="微软雅黑" panose="020B0503020204020204" charset="-122"/>
              <a:sym typeface="+mn-ea"/>
            </a:endParaRPr>
          </a:p>
        </p:txBody>
      </p:sp>
      <p:sp>
        <p:nvSpPr>
          <p:cNvPr id="116" name="文本框 115"/>
          <p:cNvSpPr txBox="1"/>
          <p:nvPr/>
        </p:nvSpPr>
        <p:spPr>
          <a:xfrm>
            <a:off x="25400" y="28575"/>
            <a:ext cx="998855" cy="645160"/>
          </a:xfrm>
          <a:prstGeom prst="rect">
            <a:avLst/>
          </a:prstGeom>
          <a:solidFill>
            <a:srgbClr val="4472C4"/>
          </a:solidFill>
          <a:ln>
            <a:noFill/>
          </a:ln>
        </p:spPr>
        <p:txBody>
          <a:bodyPr wrap="none" rtlCol="0" anchor="ctr" anchorCtr="0">
            <a:noAutofit/>
          </a:bodyPr>
          <a:lstStyle/>
          <a:p>
            <a:pPr lvl="0" algn="ctr">
              <a:buClrTx/>
              <a:buSzTx/>
              <a:buFontTx/>
            </a:pPr>
            <a:r>
              <a:rPr lang="zh-CN" altLang="en-US" sz="1400" b="1">
                <a:solidFill>
                  <a:schemeClr val="bg1"/>
                </a:solidFill>
                <a:latin typeface="微软雅黑" panose="020B0503020204020204" charset="-122"/>
                <a:ea typeface="微软雅黑" panose="020B0503020204020204" charset="-122"/>
                <a:sym typeface="+mn-ea"/>
              </a:rPr>
              <a:t>展现层</a:t>
            </a:r>
            <a:endParaRPr lang="zh-CN" altLang="en-US" sz="1400" b="1">
              <a:solidFill>
                <a:schemeClr val="bg1"/>
              </a:solidFill>
              <a:latin typeface="微软雅黑" panose="020B0503020204020204" charset="-122"/>
              <a:ea typeface="微软雅黑" panose="020B0503020204020204" charset="-122"/>
              <a:sym typeface="+mn-ea"/>
            </a:endParaRPr>
          </a:p>
        </p:txBody>
      </p:sp>
      <p:sp>
        <p:nvSpPr>
          <p:cNvPr id="108" name="文本框 107"/>
          <p:cNvSpPr txBox="1"/>
          <p:nvPr/>
        </p:nvSpPr>
        <p:spPr>
          <a:xfrm>
            <a:off x="26035" y="4565650"/>
            <a:ext cx="998855" cy="2255520"/>
          </a:xfrm>
          <a:prstGeom prst="rect">
            <a:avLst/>
          </a:prstGeom>
          <a:solidFill>
            <a:srgbClr val="4472C4"/>
          </a:solidFill>
          <a:ln>
            <a:noFill/>
          </a:ln>
        </p:spPr>
        <p:txBody>
          <a:bodyPr wrap="none" rtlCol="0" anchor="ctr" anchorCtr="0">
            <a:noAutofit/>
          </a:bodyPr>
          <a:lstStyle/>
          <a:p>
            <a:pPr lvl="0" algn="ctr">
              <a:buClrTx/>
              <a:buSzTx/>
              <a:buFontTx/>
            </a:pPr>
            <a:r>
              <a:rPr lang="zh-CN" altLang="en-US" sz="1400" b="1">
                <a:solidFill>
                  <a:schemeClr val="bg1"/>
                </a:solidFill>
                <a:latin typeface="微软雅黑" panose="020B0503020204020204" charset="-122"/>
                <a:ea typeface="微软雅黑" panose="020B0503020204020204" charset="-122"/>
                <a:sym typeface="+mn-ea"/>
              </a:rPr>
              <a:t>基础设施层</a:t>
            </a:r>
            <a:endParaRPr lang="zh-CN" altLang="en-US" sz="1400" b="1">
              <a:solidFill>
                <a:schemeClr val="bg1"/>
              </a:solidFill>
              <a:latin typeface="微软雅黑" panose="020B0503020204020204" charset="-122"/>
              <a:ea typeface="微软雅黑" panose="020B0503020204020204" charset="-122"/>
              <a:sym typeface="+mn-ea"/>
            </a:endParaRPr>
          </a:p>
        </p:txBody>
      </p:sp>
      <p:sp>
        <p:nvSpPr>
          <p:cNvPr id="2" name="文本框 1"/>
          <p:cNvSpPr txBox="1"/>
          <p:nvPr/>
        </p:nvSpPr>
        <p:spPr>
          <a:xfrm>
            <a:off x="25400" y="925830"/>
            <a:ext cx="999490" cy="491490"/>
          </a:xfrm>
          <a:prstGeom prst="rect">
            <a:avLst/>
          </a:prstGeom>
          <a:solidFill>
            <a:srgbClr val="4472C4"/>
          </a:solidFill>
          <a:ln>
            <a:noFill/>
          </a:ln>
        </p:spPr>
        <p:txBody>
          <a:bodyPr wrap="none" rtlCol="0" anchor="ctr" anchorCtr="0">
            <a:noAutofit/>
          </a:bodyPr>
          <a:lstStyle/>
          <a:p>
            <a:pPr lvl="0" algn="ctr">
              <a:buClrTx/>
              <a:buSzTx/>
              <a:buFontTx/>
            </a:pPr>
            <a:r>
              <a:rPr lang="zh-CN" altLang="en-US" sz="1400" b="1">
                <a:solidFill>
                  <a:schemeClr val="bg1"/>
                </a:solidFill>
                <a:latin typeface="微软雅黑" panose="020B0503020204020204" charset="-122"/>
                <a:ea typeface="微软雅黑" panose="020B0503020204020204" charset="-122"/>
                <a:sym typeface="+mn-ea"/>
              </a:rPr>
              <a:t>接入层</a:t>
            </a:r>
            <a:endParaRPr lang="zh-CN" altLang="en-US" sz="1400" b="1">
              <a:solidFill>
                <a:schemeClr val="bg1"/>
              </a:solidFill>
              <a:latin typeface="微软雅黑" panose="020B0503020204020204" charset="-122"/>
              <a:ea typeface="微软雅黑" panose="020B0503020204020204" charset="-122"/>
              <a:sym typeface="+mn-ea"/>
            </a:endParaRPr>
          </a:p>
        </p:txBody>
      </p:sp>
      <p:sp>
        <p:nvSpPr>
          <p:cNvPr id="275" name="矩形"/>
          <p:cNvSpPr/>
          <p:nvPr/>
        </p:nvSpPr>
        <p:spPr>
          <a:xfrm>
            <a:off x="1050925" y="4554855"/>
            <a:ext cx="11057890" cy="2292350"/>
          </a:xfrm>
          <a:prstGeom prst="roundRect">
            <a:avLst>
              <a:gd name="adj" fmla="val 1752"/>
            </a:avLst>
          </a:prstGeom>
          <a:solidFill>
            <a:srgbClr val="DEEBF7"/>
          </a:solidFill>
          <a:ln w="9525">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168DF0"/>
              </a:solidFill>
              <a:effectLst/>
              <a:uLnTx/>
              <a:uFillTx/>
              <a:latin typeface="微软雅黑" panose="020B0503020204020204" charset="-122"/>
              <a:ea typeface="微软雅黑" panose="020B0503020204020204" charset="-122"/>
              <a:cs typeface="阿里巴巴普惠体" panose="00020600040101010101" pitchFamily="18" charset="-122"/>
            </a:endParaRPr>
          </a:p>
        </p:txBody>
      </p:sp>
      <p:sp>
        <p:nvSpPr>
          <p:cNvPr id="273" name="矩形"/>
          <p:cNvSpPr/>
          <p:nvPr/>
        </p:nvSpPr>
        <p:spPr>
          <a:xfrm>
            <a:off x="1050925" y="1452880"/>
            <a:ext cx="11057255" cy="2973070"/>
          </a:xfrm>
          <a:prstGeom prst="roundRect">
            <a:avLst>
              <a:gd name="adj" fmla="val 1752"/>
            </a:avLst>
          </a:prstGeom>
          <a:solidFill>
            <a:srgbClr val="DEEBF7"/>
          </a:solidFill>
          <a:ln w="9525">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168DF0"/>
              </a:solidFill>
              <a:effectLst/>
              <a:uLnTx/>
              <a:uFillTx/>
              <a:latin typeface="微软雅黑" panose="020B0503020204020204" charset="-122"/>
              <a:ea typeface="微软雅黑" panose="020B0503020204020204" charset="-122"/>
              <a:cs typeface="阿里巴巴普惠体" panose="00020600040101010101" pitchFamily="18" charset="-122"/>
            </a:endParaRPr>
          </a:p>
        </p:txBody>
      </p:sp>
      <p:sp>
        <p:nvSpPr>
          <p:cNvPr id="271" name="矩形"/>
          <p:cNvSpPr/>
          <p:nvPr/>
        </p:nvSpPr>
        <p:spPr>
          <a:xfrm>
            <a:off x="1050925" y="930910"/>
            <a:ext cx="11057255" cy="485775"/>
          </a:xfrm>
          <a:prstGeom prst="roundRect">
            <a:avLst>
              <a:gd name="adj" fmla="val 1752"/>
            </a:avLst>
          </a:prstGeom>
          <a:solidFill>
            <a:srgbClr val="DEEBF7"/>
          </a:solidFill>
          <a:ln w="9525">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168DF0"/>
              </a:solidFill>
              <a:effectLst/>
              <a:uLnTx/>
              <a:uFillTx/>
              <a:latin typeface="微软雅黑" panose="020B0503020204020204" charset="-122"/>
              <a:ea typeface="微软雅黑" panose="020B0503020204020204" charset="-122"/>
              <a:cs typeface="阿里巴巴普惠体" panose="00020600040101010101" pitchFamily="18" charset="-122"/>
            </a:endParaRPr>
          </a:p>
        </p:txBody>
      </p:sp>
      <p:sp>
        <p:nvSpPr>
          <p:cNvPr id="267" name="矩形"/>
          <p:cNvSpPr/>
          <p:nvPr/>
        </p:nvSpPr>
        <p:spPr>
          <a:xfrm>
            <a:off x="1050925" y="0"/>
            <a:ext cx="11057890" cy="674370"/>
          </a:xfrm>
          <a:prstGeom prst="roundRect">
            <a:avLst>
              <a:gd name="adj" fmla="val 1752"/>
            </a:avLst>
          </a:prstGeom>
          <a:solidFill>
            <a:srgbClr val="DEEBF7"/>
          </a:solidFill>
          <a:ln w="9525">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168DF0"/>
              </a:solidFill>
              <a:effectLst/>
              <a:uLnTx/>
              <a:uFillTx/>
              <a:latin typeface="微软雅黑" panose="020B0503020204020204" charset="-122"/>
              <a:ea typeface="微软雅黑" panose="020B0503020204020204" charset="-122"/>
              <a:cs typeface="阿里巴巴普惠体" panose="00020600040101010101" pitchFamily="18" charset="-122"/>
            </a:endParaRPr>
          </a:p>
        </p:txBody>
      </p:sp>
      <p:sp>
        <p:nvSpPr>
          <p:cNvPr id="63" name="矩形 62"/>
          <p:cNvSpPr/>
          <p:nvPr/>
        </p:nvSpPr>
        <p:spPr>
          <a:xfrm>
            <a:off x="1100455" y="4030345"/>
            <a:ext cx="9833610" cy="352425"/>
          </a:xfrm>
          <a:prstGeom prst="rect">
            <a:avLst/>
          </a:prstGeom>
          <a:solidFill>
            <a:schemeClr val="bg1"/>
          </a:solidFill>
          <a:ln>
            <a:noFill/>
          </a:ln>
          <a:effectLst>
            <a:outerShdw blurRad="254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spcBef>
                <a:spcPts val="0"/>
              </a:spcBef>
              <a:buClrTx/>
              <a:buSzTx/>
              <a:buFontTx/>
            </a:pPr>
            <a:r>
              <a:rPr lang="zh-CN" altLang="en-US" sz="1200" b="1" dirty="0">
                <a:solidFill>
                  <a:schemeClr val="accent1"/>
                </a:solidFill>
                <a:latin typeface="微软雅黑" panose="020B0503020204020204" charset="-122"/>
                <a:ea typeface="微软雅黑" panose="020B0503020204020204" charset="-122"/>
                <a:sym typeface="+mn-ea"/>
              </a:rPr>
              <a:t>F9框架</a:t>
            </a:r>
            <a:r>
              <a:rPr lang="en-US" altLang="zh-CN" sz="1200" b="1" dirty="0">
                <a:solidFill>
                  <a:schemeClr val="accent1"/>
                </a:solidFill>
                <a:latin typeface="微软雅黑" panose="020B0503020204020204" charset="-122"/>
                <a:ea typeface="微软雅黑" panose="020B0503020204020204" charset="-122"/>
                <a:sym typeface="+mn-ea"/>
              </a:rPr>
              <a:t> — </a:t>
            </a:r>
            <a:r>
              <a:rPr lang="zh-CN" altLang="en-US" sz="1200" b="1" dirty="0">
                <a:solidFill>
                  <a:schemeClr val="accent1"/>
                </a:solidFill>
                <a:latin typeface="微软雅黑" panose="020B0503020204020204" charset="-122"/>
                <a:ea typeface="微软雅黑" panose="020B0503020204020204" charset="-122"/>
                <a:sym typeface="+mn-ea"/>
              </a:rPr>
              <a:t>安全可控、灵活稳定</a:t>
            </a:r>
            <a:endParaRPr lang="zh-CN" altLang="en-US" sz="1200" b="1" dirty="0">
              <a:solidFill>
                <a:schemeClr val="accent1"/>
              </a:solidFill>
              <a:latin typeface="微软雅黑" panose="020B0503020204020204" charset="-122"/>
              <a:ea typeface="微软雅黑" panose="020B0503020204020204" charset="-122"/>
              <a:sym typeface="+mn-ea"/>
            </a:endParaRPr>
          </a:p>
        </p:txBody>
      </p:sp>
      <p:sp>
        <p:nvSpPr>
          <p:cNvPr id="157" name="文本框 156"/>
          <p:cNvSpPr txBox="1"/>
          <p:nvPr/>
        </p:nvSpPr>
        <p:spPr>
          <a:xfrm>
            <a:off x="7663815" y="4079240"/>
            <a:ext cx="721995" cy="2546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epoint-dao</a:t>
            </a:r>
            <a:endParaRPr lang="en-US" altLang="zh-CN">
              <a:sym typeface="+mn-ea"/>
            </a:endParaRPr>
          </a:p>
        </p:txBody>
      </p:sp>
      <p:sp>
        <p:nvSpPr>
          <p:cNvPr id="165" name="文本框 164"/>
          <p:cNvSpPr txBox="1"/>
          <p:nvPr/>
        </p:nvSpPr>
        <p:spPr>
          <a:xfrm>
            <a:off x="6725920" y="4079240"/>
            <a:ext cx="721995" cy="2546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eflow</a:t>
            </a:r>
            <a:endParaRPr lang="en-US" altLang="zh-CN">
              <a:sym typeface="+mn-ea"/>
            </a:endParaRPr>
          </a:p>
        </p:txBody>
      </p:sp>
      <p:sp>
        <p:nvSpPr>
          <p:cNvPr id="15" name="矩形 14"/>
          <p:cNvSpPr/>
          <p:nvPr/>
        </p:nvSpPr>
        <p:spPr>
          <a:xfrm>
            <a:off x="11055985" y="4030345"/>
            <a:ext cx="1003300" cy="35242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r>
              <a:rPr lang="zh-CN" altLang="en-US" sz="900" b="1">
                <a:solidFill>
                  <a:schemeClr val="tx1"/>
                </a:solidFill>
                <a:latin typeface="微软雅黑" panose="020B0503020204020204" charset="-122"/>
                <a:ea typeface="微软雅黑" panose="020B0503020204020204" charset="-122"/>
                <a:sym typeface="+mn-ea"/>
              </a:rPr>
              <a:t>.netcore</a:t>
            </a:r>
            <a:endParaRPr lang="zh-CN" altLang="en-US" sz="900" b="1">
              <a:solidFill>
                <a:schemeClr val="tx1"/>
              </a:solidFill>
              <a:latin typeface="微软雅黑" panose="020B0503020204020204" charset="-122"/>
              <a:ea typeface="微软雅黑" panose="020B0503020204020204" charset="-122"/>
              <a:sym typeface="+mn-ea"/>
            </a:endParaRPr>
          </a:p>
        </p:txBody>
      </p:sp>
      <p:sp>
        <p:nvSpPr>
          <p:cNvPr id="17" name="文本框 16"/>
          <p:cNvSpPr txBox="1"/>
          <p:nvPr/>
        </p:nvSpPr>
        <p:spPr>
          <a:xfrm>
            <a:off x="8601710" y="4079240"/>
            <a:ext cx="721995" cy="2546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ECache</a:t>
            </a:r>
            <a:endParaRPr lang="en-US" altLang="zh-CN">
              <a:sym typeface="+mn-ea"/>
            </a:endParaRPr>
          </a:p>
        </p:txBody>
      </p:sp>
      <p:sp>
        <p:nvSpPr>
          <p:cNvPr id="19" name="文本框 18"/>
          <p:cNvSpPr txBox="1"/>
          <p:nvPr/>
        </p:nvSpPr>
        <p:spPr>
          <a:xfrm>
            <a:off x="5787390" y="4079240"/>
            <a:ext cx="722630" cy="2546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eform</a:t>
            </a:r>
            <a:endParaRPr lang="en-US" altLang="zh-CN">
              <a:sym typeface="+mn-ea"/>
            </a:endParaRPr>
          </a:p>
        </p:txBody>
      </p:sp>
      <p:sp>
        <p:nvSpPr>
          <p:cNvPr id="26" name="文本框 25"/>
          <p:cNvSpPr txBox="1"/>
          <p:nvPr/>
        </p:nvSpPr>
        <p:spPr>
          <a:xfrm>
            <a:off x="9539605" y="4079240"/>
            <a:ext cx="721995" cy="2546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EReport</a:t>
            </a:r>
            <a:endParaRPr lang="en-US" altLang="zh-CN">
              <a:sym typeface="+mn-ea"/>
            </a:endParaRPr>
          </a:p>
        </p:txBody>
      </p:sp>
      <p:sp>
        <p:nvSpPr>
          <p:cNvPr id="110" name="文本框 109"/>
          <p:cNvSpPr txBox="1"/>
          <p:nvPr/>
        </p:nvSpPr>
        <p:spPr>
          <a:xfrm>
            <a:off x="10477500" y="4079240"/>
            <a:ext cx="350520" cy="2546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a:t>
            </a:r>
            <a:endParaRPr lang="en-US" altLang="zh-CN">
              <a:sym typeface="+mn-ea"/>
            </a:endParaRPr>
          </a:p>
        </p:txBody>
      </p:sp>
      <p:sp>
        <p:nvSpPr>
          <p:cNvPr id="4" name="文本框 3"/>
          <p:cNvSpPr txBox="1"/>
          <p:nvPr/>
        </p:nvSpPr>
        <p:spPr>
          <a:xfrm>
            <a:off x="1100455" y="4587875"/>
            <a:ext cx="10939780" cy="228600"/>
          </a:xfrm>
          <a:prstGeom prst="rect">
            <a:avLst/>
          </a:prstGeom>
          <a:solidFill>
            <a:schemeClr val="accent1">
              <a:lumMod val="40000"/>
              <a:lumOff val="60000"/>
            </a:schemeClr>
          </a:solidFill>
          <a:ln>
            <a:noFill/>
          </a:ln>
        </p:spPr>
        <p:txBody>
          <a:bodyPr wrap="none" rtlCol="0" anchor="ctr" anchorCtr="0">
            <a:noAutofit/>
          </a:bodyPr>
          <a:lstStyle/>
          <a:p>
            <a:pPr algn="ctr"/>
            <a:r>
              <a:rPr lang="zh-CN" altLang="en-US" sz="1200" b="1">
                <a:solidFill>
                  <a:schemeClr val="accent1"/>
                </a:solidFill>
                <a:latin typeface="微软雅黑" panose="020B0503020204020204" charset="-122"/>
                <a:ea typeface="微软雅黑" panose="020B0503020204020204" charset="-122"/>
              </a:rPr>
              <a:t>数据层</a:t>
            </a:r>
            <a:endParaRPr lang="zh-CN" altLang="en-US" sz="1200" b="1">
              <a:solidFill>
                <a:schemeClr val="accent1"/>
              </a:solidFill>
              <a:latin typeface="微软雅黑" panose="020B0503020204020204" charset="-122"/>
              <a:ea typeface="微软雅黑" panose="020B0503020204020204" charset="-122"/>
            </a:endParaRPr>
          </a:p>
        </p:txBody>
      </p:sp>
      <p:sp>
        <p:nvSpPr>
          <p:cNvPr id="30" name="矩形: 圆角 13"/>
          <p:cNvSpPr/>
          <p:nvPr/>
        </p:nvSpPr>
        <p:spPr>
          <a:xfrm>
            <a:off x="1100455" y="4832350"/>
            <a:ext cx="5050155" cy="741045"/>
          </a:xfrm>
          <a:prstGeom prst="roundRect">
            <a:avLst>
              <a:gd name="adj" fmla="val 1522"/>
            </a:avLst>
          </a:prstGeom>
          <a:solidFill>
            <a:schemeClr val="bg1"/>
          </a:solidFill>
          <a:ln>
            <a:noFill/>
          </a:ln>
          <a:effectLst>
            <a:outerShdw blurRad="254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rtlCol="0" anchor="t"/>
          <a:lstStyle/>
          <a:p>
            <a:pPr marL="0" marR="0" lvl="0" algn="ctr" defTabSz="914400" rtl="0" eaLnBrk="1" fontAlgn="auto" latinLnBrk="0" hangingPunct="1">
              <a:lnSpc>
                <a:spcPct val="100000"/>
              </a:lnSpc>
              <a:spcBef>
                <a:spcPts val="0"/>
              </a:spcBef>
              <a:buClrTx/>
              <a:buSzTx/>
              <a:buFontTx/>
              <a:buNone/>
            </a:pPr>
            <a:r>
              <a:rPr kumimoji="0" lang="zh-CN" altLang="en-US" sz="1000" b="1" i="0" u="none" strike="noStrike" kern="1200" cap="none" spc="0" normalizeH="0" baseline="0">
                <a:solidFill>
                  <a:schemeClr val="accent1"/>
                </a:solidFill>
                <a:latin typeface="微软雅黑" panose="020B0503020204020204" charset="-122"/>
                <a:ea typeface="微软雅黑" panose="020B0503020204020204" charset="-122"/>
              </a:rPr>
              <a:t>数据库</a:t>
            </a:r>
            <a:endParaRPr kumimoji="0" lang="zh-CN" altLang="en-US" sz="1000" b="1" i="0" u="none" strike="noStrike" kern="1200" cap="none" spc="0" normalizeH="0" baseline="0">
              <a:solidFill>
                <a:schemeClr val="accent1"/>
              </a:solidFill>
              <a:latin typeface="微软雅黑" panose="020B0503020204020204" charset="-122"/>
              <a:ea typeface="微软雅黑" panose="020B0503020204020204" charset="-122"/>
            </a:endParaRPr>
          </a:p>
        </p:txBody>
      </p:sp>
      <p:sp>
        <p:nvSpPr>
          <p:cNvPr id="123" name="文本框 122"/>
          <p:cNvSpPr txBox="1"/>
          <p:nvPr/>
        </p:nvSpPr>
        <p:spPr>
          <a:xfrm>
            <a:off x="1144270" y="5155565"/>
            <a:ext cx="949325" cy="30924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t>            mysql</a:t>
            </a:r>
            <a:endParaRPr lang="en-US" altLang="zh-CN"/>
          </a:p>
        </p:txBody>
      </p:sp>
      <p:sp>
        <p:nvSpPr>
          <p:cNvPr id="3" name="文本框 2"/>
          <p:cNvSpPr txBox="1"/>
          <p:nvPr/>
        </p:nvSpPr>
        <p:spPr>
          <a:xfrm>
            <a:off x="4395470" y="5156200"/>
            <a:ext cx="800735" cy="30797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         pgsql</a:t>
            </a:r>
            <a:endParaRPr lang="en-US" altLang="zh-CN">
              <a:sym typeface="+mn-ea"/>
            </a:endParaRPr>
          </a:p>
        </p:txBody>
      </p:sp>
      <p:sp>
        <p:nvSpPr>
          <p:cNvPr id="37" name="文本框 36"/>
          <p:cNvSpPr txBox="1"/>
          <p:nvPr/>
        </p:nvSpPr>
        <p:spPr>
          <a:xfrm>
            <a:off x="2146935" y="5156200"/>
            <a:ext cx="1288415" cy="30797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     DM /     KingBase</a:t>
            </a:r>
            <a:endParaRPr lang="en-US" altLang="zh-CN">
              <a:sym typeface="+mn-ea"/>
            </a:endParaRPr>
          </a:p>
        </p:txBody>
      </p:sp>
      <p:sp>
        <p:nvSpPr>
          <p:cNvPr id="38" name="文本框 37"/>
          <p:cNvSpPr txBox="1"/>
          <p:nvPr/>
        </p:nvSpPr>
        <p:spPr>
          <a:xfrm>
            <a:off x="3481070" y="5156200"/>
            <a:ext cx="879475" cy="30797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     MongoDB</a:t>
            </a:r>
            <a:endParaRPr lang="en-US" altLang="zh-CN">
              <a:sym typeface="+mn-ea"/>
            </a:endParaRPr>
          </a:p>
        </p:txBody>
      </p:sp>
      <p:sp>
        <p:nvSpPr>
          <p:cNvPr id="39" name="文本框 38"/>
          <p:cNvSpPr txBox="1"/>
          <p:nvPr/>
        </p:nvSpPr>
        <p:spPr>
          <a:xfrm>
            <a:off x="5245100" y="5156200"/>
            <a:ext cx="863600" cy="30797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Elasticsearch </a:t>
            </a:r>
            <a:endParaRPr lang="en-US" altLang="zh-CN">
              <a:sym typeface="+mn-ea"/>
            </a:endParaRPr>
          </a:p>
        </p:txBody>
      </p:sp>
      <p:sp>
        <p:nvSpPr>
          <p:cNvPr id="14" name="矩形: 圆角 13"/>
          <p:cNvSpPr/>
          <p:nvPr/>
        </p:nvSpPr>
        <p:spPr>
          <a:xfrm>
            <a:off x="6197600" y="4832350"/>
            <a:ext cx="2809875" cy="741045"/>
          </a:xfrm>
          <a:prstGeom prst="roundRect">
            <a:avLst>
              <a:gd name="adj" fmla="val 1522"/>
            </a:avLst>
          </a:prstGeom>
          <a:solidFill>
            <a:schemeClr val="bg1"/>
          </a:solidFill>
          <a:ln>
            <a:noFill/>
          </a:ln>
          <a:effectLst>
            <a:outerShdw blurRad="254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rtlCol="0" anchor="t"/>
          <a:lstStyle/>
          <a:p>
            <a:pPr marL="0" marR="0" lvl="0" algn="ctr" defTabSz="914400" rtl="0" eaLnBrk="1" fontAlgn="auto" latinLnBrk="0" hangingPunct="1">
              <a:lnSpc>
                <a:spcPct val="100000"/>
              </a:lnSpc>
              <a:spcBef>
                <a:spcPts val="0"/>
              </a:spcBef>
              <a:buClrTx/>
              <a:buSzTx/>
              <a:buFontTx/>
              <a:buNone/>
            </a:pPr>
            <a:r>
              <a:rPr kumimoji="0" lang="zh-CN" altLang="en-US" sz="1000" b="1" i="0" u="none" strike="noStrike" kern="1200" cap="none" spc="0" normalizeH="0" baseline="0">
                <a:solidFill>
                  <a:schemeClr val="accent1"/>
                </a:solidFill>
                <a:latin typeface="微软雅黑" panose="020B0503020204020204" charset="-122"/>
                <a:ea typeface="微软雅黑" panose="020B0503020204020204" charset="-122"/>
              </a:rPr>
              <a:t>文件存储</a:t>
            </a:r>
            <a:endParaRPr kumimoji="0" lang="zh-CN" altLang="en-US" sz="1000" b="1" i="0" u="none" strike="noStrike" kern="1200" cap="none" spc="0" normalizeH="0" baseline="0">
              <a:solidFill>
                <a:schemeClr val="accent1"/>
              </a:solidFill>
              <a:latin typeface="微软雅黑" panose="020B0503020204020204" charset="-122"/>
              <a:ea typeface="微软雅黑" panose="020B0503020204020204" charset="-122"/>
            </a:endParaRPr>
          </a:p>
        </p:txBody>
      </p:sp>
      <p:sp>
        <p:nvSpPr>
          <p:cNvPr id="16" name="文本框 15"/>
          <p:cNvSpPr txBox="1"/>
          <p:nvPr/>
        </p:nvSpPr>
        <p:spPr>
          <a:xfrm>
            <a:off x="6262370" y="5167630"/>
            <a:ext cx="822960" cy="30924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         oss</a:t>
            </a:r>
            <a:endParaRPr lang="en-US" altLang="zh-CN">
              <a:sym typeface="+mn-ea"/>
            </a:endParaRPr>
          </a:p>
        </p:txBody>
      </p:sp>
      <p:sp>
        <p:nvSpPr>
          <p:cNvPr id="20" name="文本框 19"/>
          <p:cNvSpPr txBox="1"/>
          <p:nvPr/>
        </p:nvSpPr>
        <p:spPr>
          <a:xfrm>
            <a:off x="7116445" y="5169535"/>
            <a:ext cx="826770" cy="307340"/>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         nfs</a:t>
            </a:r>
            <a:endParaRPr lang="en-US" altLang="zh-CN">
              <a:sym typeface="+mn-ea"/>
            </a:endParaRPr>
          </a:p>
        </p:txBody>
      </p:sp>
      <p:sp>
        <p:nvSpPr>
          <p:cNvPr id="21" name="文本框 20"/>
          <p:cNvSpPr txBox="1"/>
          <p:nvPr/>
        </p:nvSpPr>
        <p:spPr>
          <a:xfrm>
            <a:off x="7995285" y="5169535"/>
            <a:ext cx="956945" cy="307340"/>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epointfileserver</a:t>
            </a:r>
            <a:endParaRPr lang="en-US" altLang="zh-CN" dirty="0">
              <a:sym typeface="+mn-ea"/>
            </a:endParaRPr>
          </a:p>
        </p:txBody>
      </p:sp>
      <p:grpSp>
        <p:nvGrpSpPr>
          <p:cNvPr id="40" name="组合 39"/>
          <p:cNvGrpSpPr/>
          <p:nvPr/>
        </p:nvGrpSpPr>
        <p:grpSpPr>
          <a:xfrm>
            <a:off x="9032241" y="4832350"/>
            <a:ext cx="3002304" cy="741045"/>
            <a:chOff x="14067" y="11737"/>
            <a:chExt cx="4559" cy="1036"/>
          </a:xfrm>
        </p:grpSpPr>
        <p:sp>
          <p:nvSpPr>
            <p:cNvPr id="24" name="矩形: 圆角 13"/>
            <p:cNvSpPr/>
            <p:nvPr/>
          </p:nvSpPr>
          <p:spPr>
            <a:xfrm>
              <a:off x="14067" y="11737"/>
              <a:ext cx="4559" cy="1036"/>
            </a:xfrm>
            <a:prstGeom prst="roundRect">
              <a:avLst>
                <a:gd name="adj" fmla="val 1522"/>
              </a:avLst>
            </a:prstGeom>
            <a:solidFill>
              <a:schemeClr val="bg1"/>
            </a:solidFill>
            <a:ln>
              <a:noFill/>
            </a:ln>
            <a:effectLst>
              <a:outerShdw blurRad="254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rtlCol="0" anchor="t"/>
            <a:lstStyle/>
            <a:p>
              <a:pPr marL="0" marR="0" lvl="0" algn="ctr" defTabSz="914400" rtl="0" eaLnBrk="1" fontAlgn="auto" latinLnBrk="0" hangingPunct="1">
                <a:lnSpc>
                  <a:spcPct val="100000"/>
                </a:lnSpc>
                <a:spcBef>
                  <a:spcPts val="0"/>
                </a:spcBef>
                <a:buClrTx/>
                <a:buSzTx/>
                <a:buFontTx/>
                <a:buNone/>
              </a:pPr>
              <a:r>
                <a:rPr kumimoji="0" lang="zh-CN" altLang="en-US" sz="1000" b="1" i="0" u="none" strike="noStrike" kern="1200" cap="none" spc="0" normalizeH="0" baseline="0">
                  <a:solidFill>
                    <a:schemeClr val="accent1"/>
                  </a:solidFill>
                  <a:latin typeface="微软雅黑" panose="020B0503020204020204" charset="-122"/>
                  <a:ea typeface="微软雅黑" panose="020B0503020204020204" charset="-122"/>
                </a:rPr>
                <a:t>缓存</a:t>
              </a:r>
              <a:endParaRPr kumimoji="0" lang="zh-CN" altLang="en-US" sz="1000" b="1" i="0" u="none" strike="noStrike" kern="1200" cap="none" spc="0" normalizeH="0" baseline="0">
                <a:solidFill>
                  <a:schemeClr val="accent1"/>
                </a:solidFill>
                <a:latin typeface="微软雅黑" panose="020B0503020204020204" charset="-122"/>
                <a:ea typeface="微软雅黑" panose="020B0503020204020204" charset="-122"/>
              </a:endParaRPr>
            </a:p>
          </p:txBody>
        </p:sp>
        <p:sp>
          <p:nvSpPr>
            <p:cNvPr id="25" name="文本框 24"/>
            <p:cNvSpPr txBox="1"/>
            <p:nvPr/>
          </p:nvSpPr>
          <p:spPr>
            <a:xfrm>
              <a:off x="14144" y="12189"/>
              <a:ext cx="1393" cy="432"/>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         redis</a:t>
              </a:r>
              <a:endParaRPr lang="en-US" altLang="zh-CN">
                <a:sym typeface="+mn-ea"/>
              </a:endParaRPr>
            </a:p>
          </p:txBody>
        </p:sp>
        <p:sp>
          <p:nvSpPr>
            <p:cNvPr id="27" name="文本框 26"/>
            <p:cNvSpPr txBox="1"/>
            <p:nvPr/>
          </p:nvSpPr>
          <p:spPr>
            <a:xfrm>
              <a:off x="15616" y="12190"/>
              <a:ext cx="1394" cy="431"/>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        rabbitmq</a:t>
              </a:r>
              <a:endParaRPr lang="en-US" altLang="zh-CN" dirty="0">
                <a:sym typeface="+mn-ea"/>
              </a:endParaRPr>
            </a:p>
          </p:txBody>
        </p:sp>
        <p:sp>
          <p:nvSpPr>
            <p:cNvPr id="29" name="文本框 28"/>
            <p:cNvSpPr txBox="1"/>
            <p:nvPr/>
          </p:nvSpPr>
          <p:spPr>
            <a:xfrm>
              <a:off x="17089" y="12190"/>
              <a:ext cx="1453" cy="431"/>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       kafka</a:t>
              </a:r>
              <a:endParaRPr lang="en-US" altLang="zh-CN" dirty="0">
                <a:sym typeface="+mn-ea"/>
              </a:endParaRPr>
            </a:p>
          </p:txBody>
        </p:sp>
      </p:grpSp>
      <p:sp>
        <p:nvSpPr>
          <p:cNvPr id="60" name="文本框 59"/>
          <p:cNvSpPr txBox="1"/>
          <p:nvPr/>
        </p:nvSpPr>
        <p:spPr>
          <a:xfrm>
            <a:off x="1100455" y="5608955"/>
            <a:ext cx="10939145" cy="228600"/>
          </a:xfrm>
          <a:prstGeom prst="rect">
            <a:avLst/>
          </a:prstGeom>
          <a:solidFill>
            <a:schemeClr val="accent1">
              <a:lumMod val="40000"/>
              <a:lumOff val="60000"/>
            </a:schemeClr>
          </a:solidFill>
          <a:ln>
            <a:noFill/>
          </a:ln>
        </p:spPr>
        <p:txBody>
          <a:bodyPr wrap="none" rtlCol="0" anchor="ctr" anchorCtr="0">
            <a:noAutofit/>
          </a:bodyPr>
          <a:lstStyle/>
          <a:p>
            <a:pPr algn="ctr"/>
            <a:r>
              <a:rPr lang="en-US" altLang="zh-CN" sz="1200" b="1">
                <a:solidFill>
                  <a:schemeClr val="accent1"/>
                </a:solidFill>
                <a:latin typeface="微软雅黑" panose="020B0503020204020204" charset="-122"/>
                <a:ea typeface="微软雅黑" panose="020B0503020204020204" charset="-122"/>
              </a:rPr>
              <a:t>CI/CD</a:t>
            </a:r>
            <a:endParaRPr lang="en-US" altLang="zh-CN" sz="1200" b="1">
              <a:solidFill>
                <a:schemeClr val="accent1"/>
              </a:solidFill>
              <a:latin typeface="微软雅黑" panose="020B0503020204020204" charset="-122"/>
              <a:ea typeface="微软雅黑" panose="020B0503020204020204" charset="-122"/>
            </a:endParaRPr>
          </a:p>
        </p:txBody>
      </p:sp>
      <p:sp>
        <p:nvSpPr>
          <p:cNvPr id="5" name="矩形: 圆角 13"/>
          <p:cNvSpPr/>
          <p:nvPr/>
        </p:nvSpPr>
        <p:spPr>
          <a:xfrm>
            <a:off x="1085215" y="965835"/>
            <a:ext cx="10973435" cy="416560"/>
          </a:xfrm>
          <a:prstGeom prst="roundRect">
            <a:avLst>
              <a:gd name="adj" fmla="val 1522"/>
            </a:avLst>
          </a:prstGeom>
          <a:solidFill>
            <a:schemeClr val="bg1"/>
          </a:solidFill>
          <a:ln>
            <a:noFill/>
          </a:ln>
          <a:effectLst>
            <a:outerShdw blurRad="254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rtlCol="0" anchor="t"/>
          <a:lstStyle/>
          <a:p>
            <a:pPr marL="0" marR="0" lvl="0" algn="ctr" defTabSz="914400" rtl="0" eaLnBrk="1" fontAlgn="auto" latinLnBrk="0" hangingPunct="1">
              <a:lnSpc>
                <a:spcPct val="100000"/>
              </a:lnSpc>
              <a:spcBef>
                <a:spcPts val="0"/>
              </a:spcBef>
              <a:buClrTx/>
              <a:buSzTx/>
              <a:buFontTx/>
              <a:buNone/>
            </a:pPr>
            <a:endParaRPr kumimoji="0" lang="zh-CN" altLang="en-US" sz="1200" b="1" i="0" u="none" strike="noStrike" kern="1200" cap="none" spc="0" normalizeH="0" baseline="0">
              <a:solidFill>
                <a:srgbClr val="00B050"/>
              </a:solidFill>
              <a:latin typeface="微软雅黑" panose="020B0503020204020204" charset="-122"/>
              <a:ea typeface="微软雅黑" panose="020B0503020204020204" charset="-122"/>
            </a:endParaRPr>
          </a:p>
        </p:txBody>
      </p:sp>
      <p:sp>
        <p:nvSpPr>
          <p:cNvPr id="6" name="文本框 5"/>
          <p:cNvSpPr txBox="1"/>
          <p:nvPr/>
        </p:nvSpPr>
        <p:spPr>
          <a:xfrm>
            <a:off x="1908175" y="1039495"/>
            <a:ext cx="970280" cy="274320"/>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a:t>反向代理</a:t>
            </a:r>
            <a:endParaRPr lang="zh-CN" altLang="en-US"/>
          </a:p>
        </p:txBody>
      </p:sp>
      <p:sp>
        <p:nvSpPr>
          <p:cNvPr id="7" name="文本框 6"/>
          <p:cNvSpPr txBox="1"/>
          <p:nvPr/>
        </p:nvSpPr>
        <p:spPr>
          <a:xfrm>
            <a:off x="3482340" y="1039495"/>
            <a:ext cx="904875" cy="274320"/>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t>CDN</a:t>
            </a:r>
            <a:endParaRPr lang="en-US" altLang="zh-CN"/>
          </a:p>
        </p:txBody>
      </p:sp>
      <p:sp>
        <p:nvSpPr>
          <p:cNvPr id="8" name="文本框 7"/>
          <p:cNvSpPr txBox="1"/>
          <p:nvPr/>
        </p:nvSpPr>
        <p:spPr>
          <a:xfrm>
            <a:off x="5245100" y="1039495"/>
            <a:ext cx="904875" cy="274320"/>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a:t>动态路由</a:t>
            </a:r>
            <a:endParaRPr lang="zh-CN" altLang="en-US"/>
          </a:p>
        </p:txBody>
      </p:sp>
      <p:sp>
        <p:nvSpPr>
          <p:cNvPr id="9" name="文本框 8"/>
          <p:cNvSpPr txBox="1"/>
          <p:nvPr/>
        </p:nvSpPr>
        <p:spPr>
          <a:xfrm>
            <a:off x="7008495" y="1039495"/>
            <a:ext cx="904875" cy="274320"/>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a:t>身份代理</a:t>
            </a:r>
            <a:endParaRPr lang="zh-CN" altLang="en-US"/>
          </a:p>
        </p:txBody>
      </p:sp>
      <p:sp>
        <p:nvSpPr>
          <p:cNvPr id="10" name="文本框 9"/>
          <p:cNvSpPr txBox="1"/>
          <p:nvPr/>
        </p:nvSpPr>
        <p:spPr>
          <a:xfrm>
            <a:off x="8771890" y="1039495"/>
            <a:ext cx="904875" cy="274320"/>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a:t>安全防护</a:t>
            </a:r>
            <a:endParaRPr lang="zh-CN" altLang="en-US"/>
          </a:p>
        </p:txBody>
      </p:sp>
      <p:sp>
        <p:nvSpPr>
          <p:cNvPr id="11" name="文本框 10"/>
          <p:cNvSpPr txBox="1"/>
          <p:nvPr/>
        </p:nvSpPr>
        <p:spPr>
          <a:xfrm>
            <a:off x="10534650" y="1039495"/>
            <a:ext cx="904875" cy="274320"/>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t>API</a:t>
            </a:r>
            <a:endParaRPr lang="en-US" altLang="zh-CN"/>
          </a:p>
        </p:txBody>
      </p:sp>
      <p:pic>
        <p:nvPicPr>
          <p:cNvPr id="12" name="图片 11"/>
          <p:cNvPicPr>
            <a:picLocks noChangeAspect="1"/>
          </p:cNvPicPr>
          <p:nvPr/>
        </p:nvPicPr>
        <p:blipFill>
          <a:blip r:embed="rId1"/>
          <a:srcRect l="17064" t="17619" r="80116" b="35052"/>
          <a:stretch>
            <a:fillRect/>
          </a:stretch>
        </p:blipFill>
        <p:spPr>
          <a:xfrm>
            <a:off x="1652270" y="997585"/>
            <a:ext cx="255905" cy="320675"/>
          </a:xfrm>
          <a:prstGeom prst="rect">
            <a:avLst/>
          </a:prstGeom>
        </p:spPr>
      </p:pic>
      <p:pic>
        <p:nvPicPr>
          <p:cNvPr id="13" name="图片 12"/>
          <p:cNvPicPr>
            <a:picLocks noChangeAspect="1"/>
          </p:cNvPicPr>
          <p:nvPr/>
        </p:nvPicPr>
        <p:blipFill>
          <a:blip r:embed="rId1"/>
          <a:srcRect l="31737" t="21743" r="65471" b="33271"/>
          <a:stretch>
            <a:fillRect/>
          </a:stretch>
        </p:blipFill>
        <p:spPr>
          <a:xfrm>
            <a:off x="3227705" y="1024255"/>
            <a:ext cx="253365" cy="304800"/>
          </a:xfrm>
          <a:prstGeom prst="rect">
            <a:avLst/>
          </a:prstGeom>
        </p:spPr>
      </p:pic>
      <p:pic>
        <p:nvPicPr>
          <p:cNvPr id="18" name="图片 17"/>
          <p:cNvPicPr>
            <a:picLocks noChangeAspect="1"/>
          </p:cNvPicPr>
          <p:nvPr/>
        </p:nvPicPr>
        <p:blipFill>
          <a:blip r:embed="rId1"/>
          <a:srcRect l="46260" t="17432" r="50913" b="32990"/>
          <a:stretch>
            <a:fillRect/>
          </a:stretch>
        </p:blipFill>
        <p:spPr>
          <a:xfrm>
            <a:off x="4987925" y="993140"/>
            <a:ext cx="256540" cy="335915"/>
          </a:xfrm>
          <a:prstGeom prst="rect">
            <a:avLst/>
          </a:prstGeom>
        </p:spPr>
      </p:pic>
      <p:pic>
        <p:nvPicPr>
          <p:cNvPr id="22" name="图片 21"/>
          <p:cNvPicPr>
            <a:picLocks noChangeAspect="1"/>
          </p:cNvPicPr>
          <p:nvPr/>
        </p:nvPicPr>
        <p:blipFill>
          <a:blip r:embed="rId1"/>
          <a:srcRect l="60404" t="25773" r="36375" b="38800"/>
          <a:stretch>
            <a:fillRect/>
          </a:stretch>
        </p:blipFill>
        <p:spPr>
          <a:xfrm>
            <a:off x="6716395" y="1056640"/>
            <a:ext cx="292100" cy="240030"/>
          </a:xfrm>
          <a:prstGeom prst="rect">
            <a:avLst/>
          </a:prstGeom>
        </p:spPr>
      </p:pic>
      <p:pic>
        <p:nvPicPr>
          <p:cNvPr id="23" name="图片 22"/>
          <p:cNvPicPr>
            <a:picLocks noChangeAspect="1"/>
          </p:cNvPicPr>
          <p:nvPr/>
        </p:nvPicPr>
        <p:blipFill>
          <a:blip r:embed="rId1"/>
          <a:srcRect l="75542" t="23899" r="22096" b="39644"/>
          <a:stretch>
            <a:fillRect/>
          </a:stretch>
        </p:blipFill>
        <p:spPr>
          <a:xfrm>
            <a:off x="8557260" y="1045210"/>
            <a:ext cx="213995" cy="247015"/>
          </a:xfrm>
          <a:prstGeom prst="rect">
            <a:avLst/>
          </a:prstGeom>
        </p:spPr>
      </p:pic>
      <p:pic>
        <p:nvPicPr>
          <p:cNvPr id="131" name="图片 130"/>
          <p:cNvPicPr>
            <a:picLocks noChangeAspect="1"/>
          </p:cNvPicPr>
          <p:nvPr/>
        </p:nvPicPr>
        <p:blipFill>
          <a:blip r:embed="rId1"/>
          <a:srcRect l="89908" t="23243" r="7415" b="36270"/>
          <a:stretch>
            <a:fillRect/>
          </a:stretch>
        </p:blipFill>
        <p:spPr>
          <a:xfrm>
            <a:off x="10292715" y="1039495"/>
            <a:ext cx="243205" cy="274320"/>
          </a:xfrm>
          <a:prstGeom prst="rect">
            <a:avLst/>
          </a:prstGeom>
        </p:spPr>
      </p:pic>
      <p:sp>
        <p:nvSpPr>
          <p:cNvPr id="34" name="矩形: 圆角 13"/>
          <p:cNvSpPr/>
          <p:nvPr/>
        </p:nvSpPr>
        <p:spPr>
          <a:xfrm>
            <a:off x="1085215" y="28575"/>
            <a:ext cx="3053080" cy="604520"/>
          </a:xfrm>
          <a:prstGeom prst="roundRect">
            <a:avLst>
              <a:gd name="adj" fmla="val 1522"/>
            </a:avLst>
          </a:prstGeom>
          <a:solidFill>
            <a:schemeClr val="bg1"/>
          </a:solidFill>
          <a:ln>
            <a:noFill/>
          </a:ln>
          <a:effectLst>
            <a:outerShdw blurRad="254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rtlCol="0" anchor="t" anchorCtr="0"/>
          <a:lstStyle/>
          <a:p>
            <a:pPr algn="l"/>
            <a:r>
              <a:rPr lang="en-US" altLang="zh-CN" sz="1200" b="1" dirty="0">
                <a:solidFill>
                  <a:schemeClr val="accent1"/>
                </a:solidFill>
                <a:latin typeface="微软雅黑" panose="020B0503020204020204" charset="-122"/>
                <a:ea typeface="微软雅黑" panose="020B0503020204020204" charset="-122"/>
                <a:sym typeface="+mn-ea"/>
              </a:rPr>
              <a:t> </a:t>
            </a:r>
            <a:r>
              <a:rPr lang="zh-CN" altLang="en-US" sz="1200" b="1">
                <a:solidFill>
                  <a:schemeClr val="accent1"/>
                </a:solidFill>
                <a:latin typeface="微软雅黑" panose="020B0503020204020204" charset="-122"/>
                <a:ea typeface="微软雅黑" panose="020B0503020204020204" charset="-122"/>
                <a:sym typeface="+mn-ea"/>
              </a:rPr>
              <a:t>WEB</a:t>
            </a:r>
            <a:endParaRPr kumimoji="0" lang="zh-CN" altLang="en-US" sz="1200" b="1" i="0" u="none" strike="noStrike" kern="1200" cap="none" spc="0" normalizeH="0" baseline="0">
              <a:solidFill>
                <a:schemeClr val="accent1"/>
              </a:solidFill>
              <a:latin typeface="微软雅黑" panose="020B0503020204020204" charset="-122"/>
              <a:ea typeface="微软雅黑" panose="020B0503020204020204" charset="-122"/>
              <a:sym typeface="+mn-ea"/>
            </a:endParaRPr>
          </a:p>
        </p:txBody>
      </p:sp>
      <p:pic>
        <p:nvPicPr>
          <p:cNvPr id="57" name="图片 56"/>
          <p:cNvPicPr/>
          <p:nvPr/>
        </p:nvPicPr>
        <p:blipFill>
          <a:blip r:embed="rId2"/>
          <a:srcRect l="12695" r="12002" b="26599"/>
          <a:stretch>
            <a:fillRect/>
          </a:stretch>
        </p:blipFill>
        <p:spPr>
          <a:xfrm>
            <a:off x="2679700" y="92075"/>
            <a:ext cx="202565" cy="135255"/>
          </a:xfrm>
          <a:prstGeom prst="rect">
            <a:avLst/>
          </a:prstGeom>
        </p:spPr>
      </p:pic>
      <p:pic>
        <p:nvPicPr>
          <p:cNvPr id="58" name="图片 57" descr="edge1"/>
          <p:cNvPicPr>
            <a:picLocks noChangeAspect="1"/>
          </p:cNvPicPr>
          <p:nvPr/>
        </p:nvPicPr>
        <p:blipFill>
          <a:blip r:embed="rId3"/>
          <a:stretch>
            <a:fillRect/>
          </a:stretch>
        </p:blipFill>
        <p:spPr>
          <a:xfrm>
            <a:off x="1697990" y="50165"/>
            <a:ext cx="327025" cy="231140"/>
          </a:xfrm>
          <a:prstGeom prst="rect">
            <a:avLst/>
          </a:prstGeom>
        </p:spPr>
      </p:pic>
      <p:pic>
        <p:nvPicPr>
          <p:cNvPr id="59" name="图片 58" descr="谷歌4391"/>
          <p:cNvPicPr>
            <a:picLocks noChangeAspect="1"/>
          </p:cNvPicPr>
          <p:nvPr/>
        </p:nvPicPr>
        <p:blipFill>
          <a:blip r:embed="rId4"/>
          <a:stretch>
            <a:fillRect/>
          </a:stretch>
        </p:blipFill>
        <p:spPr>
          <a:xfrm>
            <a:off x="2155825" y="50165"/>
            <a:ext cx="309245" cy="231140"/>
          </a:xfrm>
          <a:prstGeom prst="rect">
            <a:avLst/>
          </a:prstGeom>
        </p:spPr>
      </p:pic>
      <p:sp>
        <p:nvSpPr>
          <p:cNvPr id="62" name="矩形: 圆角 13"/>
          <p:cNvSpPr/>
          <p:nvPr/>
        </p:nvSpPr>
        <p:spPr>
          <a:xfrm>
            <a:off x="4197350" y="28575"/>
            <a:ext cx="4707255" cy="604520"/>
          </a:xfrm>
          <a:prstGeom prst="roundRect">
            <a:avLst>
              <a:gd name="adj" fmla="val 1522"/>
            </a:avLst>
          </a:prstGeom>
          <a:solidFill>
            <a:schemeClr val="bg1"/>
          </a:solidFill>
          <a:ln>
            <a:noFill/>
          </a:ln>
          <a:effectLst>
            <a:outerShdw blurRad="254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rtlCol="0" anchor="t" anchorCtr="0"/>
          <a:lstStyle/>
          <a:p>
            <a:pPr algn="l"/>
            <a:r>
              <a:rPr lang="zh-CN" altLang="en-US" sz="1200" b="1">
                <a:solidFill>
                  <a:schemeClr val="accent1"/>
                </a:solidFill>
                <a:latin typeface="微软雅黑" panose="020B0503020204020204" charset="-122"/>
                <a:ea typeface="微软雅黑" panose="020B0503020204020204" charset="-122"/>
                <a:sym typeface="+mn-ea"/>
              </a:rPr>
              <a:t> 移动端</a:t>
            </a:r>
            <a:endParaRPr kumimoji="0" lang="zh-CN" altLang="en-US" sz="1200" b="1" i="0" u="none" strike="noStrike" kern="1200" cap="none" spc="0" normalizeH="0" baseline="0">
              <a:solidFill>
                <a:schemeClr val="accent1"/>
              </a:solidFill>
              <a:latin typeface="微软雅黑" panose="020B0503020204020204" charset="-122"/>
              <a:ea typeface="微软雅黑" panose="020B0503020204020204" charset="-122"/>
              <a:sym typeface="+mn-ea"/>
            </a:endParaRPr>
          </a:p>
        </p:txBody>
      </p:sp>
      <p:pic>
        <p:nvPicPr>
          <p:cNvPr id="84" name="图片 83"/>
          <p:cNvPicPr/>
          <p:nvPr/>
        </p:nvPicPr>
        <p:blipFill>
          <a:blip r:embed="rId5"/>
          <a:stretch>
            <a:fillRect/>
          </a:stretch>
        </p:blipFill>
        <p:spPr>
          <a:xfrm>
            <a:off x="5554980" y="91440"/>
            <a:ext cx="168275" cy="165100"/>
          </a:xfrm>
          <a:prstGeom prst="rect">
            <a:avLst/>
          </a:prstGeom>
        </p:spPr>
      </p:pic>
      <p:pic>
        <p:nvPicPr>
          <p:cNvPr id="85" name="图片 84"/>
          <p:cNvPicPr/>
          <p:nvPr>
            <p:custDataLst>
              <p:tags r:id="rId6"/>
            </p:custDataLst>
          </p:nvPr>
        </p:nvPicPr>
        <p:blipFill>
          <a:blip r:embed="rId7"/>
          <a:stretch>
            <a:fillRect/>
          </a:stretch>
        </p:blipFill>
        <p:spPr>
          <a:xfrm>
            <a:off x="5116830" y="91440"/>
            <a:ext cx="168275" cy="165100"/>
          </a:xfrm>
          <a:prstGeom prst="rect">
            <a:avLst/>
          </a:prstGeom>
        </p:spPr>
      </p:pic>
      <p:pic>
        <p:nvPicPr>
          <p:cNvPr id="89" name="图片 88"/>
          <p:cNvPicPr/>
          <p:nvPr>
            <p:custDataLst>
              <p:tags r:id="rId8"/>
            </p:custDataLst>
          </p:nvPr>
        </p:nvPicPr>
        <p:blipFill>
          <a:blip r:embed="rId9"/>
          <a:stretch>
            <a:fillRect/>
          </a:stretch>
        </p:blipFill>
        <p:spPr>
          <a:xfrm>
            <a:off x="6011545" y="96520"/>
            <a:ext cx="159385" cy="159385"/>
          </a:xfrm>
          <a:prstGeom prst="rect">
            <a:avLst/>
          </a:prstGeom>
        </p:spPr>
      </p:pic>
      <p:sp>
        <p:nvSpPr>
          <p:cNvPr id="117" name="矩形: 圆角 13"/>
          <p:cNvSpPr/>
          <p:nvPr/>
        </p:nvSpPr>
        <p:spPr>
          <a:xfrm>
            <a:off x="8951595" y="28575"/>
            <a:ext cx="3107690" cy="604520"/>
          </a:xfrm>
          <a:prstGeom prst="roundRect">
            <a:avLst>
              <a:gd name="adj" fmla="val 1522"/>
            </a:avLst>
          </a:prstGeom>
          <a:solidFill>
            <a:schemeClr val="bg1"/>
          </a:solidFill>
          <a:ln>
            <a:noFill/>
          </a:ln>
          <a:effectLst>
            <a:outerShdw blurRad="254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rtlCol="0" anchor="t" anchorCtr="0"/>
          <a:lstStyle/>
          <a:p>
            <a:pPr algn="l"/>
            <a:r>
              <a:rPr kumimoji="0" lang="zh-CN" altLang="en-US" sz="1200" b="1" i="0" u="none" strike="noStrike" kern="1200" cap="none" spc="0" normalizeH="0" baseline="0">
                <a:solidFill>
                  <a:schemeClr val="accent1"/>
                </a:solidFill>
                <a:latin typeface="微软雅黑" panose="020B0503020204020204" charset="-122"/>
                <a:ea typeface="微软雅黑" panose="020B0503020204020204" charset="-122"/>
              </a:rPr>
              <a:t>桌面</a:t>
            </a:r>
            <a:endParaRPr kumimoji="0" lang="zh-CN" altLang="en-US" sz="1200" b="1" i="0" u="none" strike="noStrike" kern="1200" cap="none" spc="0" normalizeH="0" baseline="0">
              <a:solidFill>
                <a:schemeClr val="accent1"/>
              </a:solidFill>
              <a:latin typeface="微软雅黑" panose="020B0503020204020204" charset="-122"/>
              <a:ea typeface="微软雅黑" panose="020B0503020204020204" charset="-122"/>
            </a:endParaRPr>
          </a:p>
        </p:txBody>
      </p:sp>
      <p:sp>
        <p:nvSpPr>
          <p:cNvPr id="118" name="文本框 117"/>
          <p:cNvSpPr txBox="1"/>
          <p:nvPr/>
        </p:nvSpPr>
        <p:spPr>
          <a:xfrm>
            <a:off x="9140825" y="314325"/>
            <a:ext cx="904875" cy="274320"/>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err="1">
                <a:sym typeface="+mn-ea"/>
              </a:rPr>
              <a:t>           </a:t>
            </a:r>
            <a:r>
              <a:rPr lang="en-US" altLang="zh-CN">
                <a:sym typeface="+mn-ea"/>
              </a:rPr>
              <a:t>QT</a:t>
            </a:r>
            <a:endParaRPr lang="en-US" altLang="zh-CN"/>
          </a:p>
        </p:txBody>
      </p:sp>
      <p:sp>
        <p:nvSpPr>
          <p:cNvPr id="119" name="文本框 118"/>
          <p:cNvSpPr txBox="1"/>
          <p:nvPr/>
        </p:nvSpPr>
        <p:spPr>
          <a:xfrm>
            <a:off x="10166985" y="314643"/>
            <a:ext cx="905510" cy="27368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dirty="0">
                <a:sym typeface="+mn-ea"/>
              </a:rPr>
              <a:t>          </a:t>
            </a:r>
            <a:r>
              <a:rPr lang="en-US" altLang="zh-CN">
                <a:sym typeface="+mn-ea"/>
              </a:rPr>
              <a:t>.NET</a:t>
            </a:r>
            <a:endParaRPr lang="en-US" altLang="zh-CN">
              <a:sym typeface="+mn-ea"/>
            </a:endParaRPr>
          </a:p>
        </p:txBody>
      </p:sp>
      <p:sp>
        <p:nvSpPr>
          <p:cNvPr id="130" name="文本框 129"/>
          <p:cNvSpPr txBox="1"/>
          <p:nvPr/>
        </p:nvSpPr>
        <p:spPr>
          <a:xfrm>
            <a:off x="11193780" y="314643"/>
            <a:ext cx="746125" cy="27368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err="1">
                <a:sym typeface="+mn-ea"/>
              </a:rPr>
              <a:t>       </a:t>
            </a:r>
            <a:r>
              <a:rPr lang="en-US" altLang="zh-CN">
                <a:sym typeface="+mn-ea"/>
              </a:rPr>
              <a:t>DSkin</a:t>
            </a:r>
            <a:endParaRPr lang="en-US" altLang="zh-CN">
              <a:sym typeface="+mn-ea"/>
            </a:endParaRPr>
          </a:p>
        </p:txBody>
      </p:sp>
      <p:pic>
        <p:nvPicPr>
          <p:cNvPr id="139" name="图片 138"/>
          <p:cNvPicPr>
            <a:picLocks noChangeAspect="1"/>
          </p:cNvPicPr>
          <p:nvPr/>
        </p:nvPicPr>
        <p:blipFill>
          <a:blip r:embed="rId10"/>
          <a:srcRect l="6012" t="18978" r="57688"/>
          <a:stretch>
            <a:fillRect/>
          </a:stretch>
        </p:blipFill>
        <p:spPr>
          <a:xfrm>
            <a:off x="11193780" y="345440"/>
            <a:ext cx="199390" cy="211455"/>
          </a:xfrm>
          <a:prstGeom prst="rect">
            <a:avLst/>
          </a:prstGeom>
        </p:spPr>
      </p:pic>
      <p:sp>
        <p:nvSpPr>
          <p:cNvPr id="220" name="文本框 219"/>
          <p:cNvSpPr txBox="1"/>
          <p:nvPr>
            <p:custDataLst>
              <p:tags r:id="rId11"/>
            </p:custDataLst>
          </p:nvPr>
        </p:nvSpPr>
        <p:spPr>
          <a:xfrm>
            <a:off x="1100455" y="1485265"/>
            <a:ext cx="2611120" cy="291465"/>
          </a:xfrm>
          <a:prstGeom prst="rect">
            <a:avLst/>
          </a:prstGeom>
          <a:solidFill>
            <a:schemeClr val="accent1">
              <a:lumMod val="40000"/>
              <a:lumOff val="60000"/>
            </a:schemeClr>
          </a:solidFill>
          <a:ln>
            <a:noFill/>
          </a:ln>
        </p:spPr>
        <p:txBody>
          <a:bodyPr wrap="none" rtlCol="0" anchor="ctr" anchorCtr="0">
            <a:noAutofit/>
          </a:bodyPr>
          <a:lstStyle/>
          <a:p>
            <a:pPr algn="ctr"/>
            <a:r>
              <a:rPr lang="zh-CN" altLang="en-US" sz="1200" b="1">
                <a:solidFill>
                  <a:schemeClr val="accent1"/>
                </a:solidFill>
                <a:latin typeface="微软雅黑" panose="020B0503020204020204" charset="-122"/>
                <a:ea typeface="微软雅黑" panose="020B0503020204020204" charset="-122"/>
              </a:rPr>
              <a:t>微服务</a:t>
            </a:r>
            <a:endParaRPr lang="zh-CN" altLang="en-US" sz="1200" b="1">
              <a:solidFill>
                <a:schemeClr val="accent1"/>
              </a:solidFill>
              <a:latin typeface="微软雅黑" panose="020B0503020204020204" charset="-122"/>
              <a:ea typeface="微软雅黑" panose="020B0503020204020204" charset="-122"/>
            </a:endParaRPr>
          </a:p>
        </p:txBody>
      </p:sp>
      <p:sp>
        <p:nvSpPr>
          <p:cNvPr id="221" name="矩形: 圆角 13"/>
          <p:cNvSpPr/>
          <p:nvPr>
            <p:custDataLst>
              <p:tags r:id="rId12"/>
            </p:custDataLst>
          </p:nvPr>
        </p:nvSpPr>
        <p:spPr>
          <a:xfrm>
            <a:off x="1100455" y="1796415"/>
            <a:ext cx="2611120" cy="1854200"/>
          </a:xfrm>
          <a:prstGeom prst="roundRect">
            <a:avLst>
              <a:gd name="adj" fmla="val 1522"/>
            </a:avLst>
          </a:prstGeom>
          <a:solidFill>
            <a:schemeClr val="bg1"/>
          </a:solidFill>
          <a:ln>
            <a:noFill/>
          </a:ln>
          <a:effectLst>
            <a:outerShdw blurRad="254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rtlCol="0" anchor="t"/>
          <a:lstStyle/>
          <a:p>
            <a:pPr marL="0" marR="0" lvl="0" algn="ctr" defTabSz="914400" rtl="0" eaLnBrk="1" fontAlgn="auto" latinLnBrk="0" hangingPunct="1">
              <a:lnSpc>
                <a:spcPct val="100000"/>
              </a:lnSpc>
              <a:spcBef>
                <a:spcPts val="0"/>
              </a:spcBef>
              <a:buClrTx/>
              <a:buSzTx/>
              <a:buFontTx/>
              <a:buNone/>
            </a:pPr>
            <a:endParaRPr kumimoji="0" lang="zh-CN" altLang="en-US" sz="1200" b="1" i="0" u="none" strike="noStrike" kern="1200" cap="none" spc="0" normalizeH="0" baseline="0">
              <a:solidFill>
                <a:srgbClr val="00B050"/>
              </a:solidFill>
              <a:latin typeface="微软雅黑" panose="020B0503020204020204" charset="-122"/>
              <a:ea typeface="微软雅黑" panose="020B0503020204020204" charset="-122"/>
            </a:endParaRPr>
          </a:p>
        </p:txBody>
      </p:sp>
      <p:sp>
        <p:nvSpPr>
          <p:cNvPr id="222" name="文本框 221"/>
          <p:cNvSpPr txBox="1"/>
          <p:nvPr>
            <p:custDataLst>
              <p:tags r:id="rId13"/>
            </p:custDataLst>
          </p:nvPr>
        </p:nvSpPr>
        <p:spPr>
          <a:xfrm>
            <a:off x="1158875" y="1832610"/>
            <a:ext cx="1022985" cy="331470"/>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err="1">
                <a:sym typeface="+mn-ea"/>
              </a:rPr>
              <a:t>注册</a:t>
            </a:r>
            <a:r>
              <a:rPr lang="zh-CN" altLang="en-US">
                <a:sym typeface="+mn-ea"/>
              </a:rPr>
              <a:t>发现</a:t>
            </a:r>
            <a:endParaRPr lang="en-US" altLang="zh-CN" dirty="0"/>
          </a:p>
          <a:p>
            <a:r>
              <a:rPr lang="en-US" altLang="zh-CN">
                <a:sym typeface="+mn-ea"/>
              </a:rPr>
              <a:t>nacos</a:t>
            </a:r>
            <a:endParaRPr lang="en-US" altLang="zh-CN" dirty="0"/>
          </a:p>
        </p:txBody>
      </p:sp>
      <p:sp>
        <p:nvSpPr>
          <p:cNvPr id="223" name="文本框 222"/>
          <p:cNvSpPr txBox="1"/>
          <p:nvPr>
            <p:custDataLst>
              <p:tags r:id="rId14"/>
            </p:custDataLst>
          </p:nvPr>
        </p:nvSpPr>
        <p:spPr>
          <a:xfrm>
            <a:off x="2247900" y="1832610"/>
            <a:ext cx="1412875" cy="331470"/>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dirty="0">
                <a:sym typeface="+mn-ea"/>
              </a:rPr>
              <a:t>微</a:t>
            </a:r>
            <a:r>
              <a:rPr lang="zh-CN" altLang="en-US">
                <a:sym typeface="+mn-ea"/>
              </a:rPr>
              <a:t>服务网关</a:t>
            </a:r>
            <a:endParaRPr lang="en-US" altLang="zh-CN" dirty="0"/>
          </a:p>
          <a:p>
            <a:r>
              <a:rPr lang="zh-CN" altLang="en-US" dirty="0">
                <a:sym typeface="+mn-ea"/>
              </a:rPr>
              <a:t>spring </a:t>
            </a:r>
            <a:r>
              <a:rPr lang="zh-CN" altLang="en-US">
                <a:sym typeface="+mn-ea"/>
              </a:rPr>
              <a:t>cloud gateway</a:t>
            </a:r>
            <a:endParaRPr lang="en-US" altLang="zh-CN" dirty="0"/>
          </a:p>
        </p:txBody>
      </p:sp>
      <p:sp>
        <p:nvSpPr>
          <p:cNvPr id="224" name="文本框 223"/>
          <p:cNvSpPr txBox="1"/>
          <p:nvPr>
            <p:custDataLst>
              <p:tags r:id="rId15"/>
            </p:custDataLst>
          </p:nvPr>
        </p:nvSpPr>
        <p:spPr>
          <a:xfrm>
            <a:off x="1158875" y="2250440"/>
            <a:ext cx="1022985" cy="3308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dirty="0">
                <a:sym typeface="+mn-ea"/>
              </a:rPr>
              <a:t>熔断</a:t>
            </a:r>
            <a:r>
              <a:rPr lang="zh-CN" altLang="en-US">
                <a:sym typeface="+mn-ea"/>
              </a:rPr>
              <a:t>限流</a:t>
            </a:r>
            <a:endParaRPr lang="en-US" altLang="zh-CN" dirty="0"/>
          </a:p>
          <a:p>
            <a:r>
              <a:rPr lang="en-US" altLang="zh-CN">
                <a:sym typeface="+mn-ea"/>
              </a:rPr>
              <a:t>sentinel</a:t>
            </a:r>
            <a:endParaRPr lang="en-US" altLang="zh-CN"/>
          </a:p>
        </p:txBody>
      </p:sp>
      <p:sp>
        <p:nvSpPr>
          <p:cNvPr id="225" name="文本框 224"/>
          <p:cNvSpPr txBox="1"/>
          <p:nvPr>
            <p:custDataLst>
              <p:tags r:id="rId16"/>
            </p:custDataLst>
          </p:nvPr>
        </p:nvSpPr>
        <p:spPr>
          <a:xfrm>
            <a:off x="2247900" y="2251075"/>
            <a:ext cx="1412875" cy="3308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a:sym typeface="+mn-ea"/>
              </a:rPr>
              <a:t>服务调用</a:t>
            </a:r>
            <a:endParaRPr lang="en-US" altLang="zh-CN" dirty="0"/>
          </a:p>
          <a:p>
            <a:r>
              <a:rPr lang="zh-CN" altLang="en-US">
                <a:sym typeface="+mn-ea"/>
              </a:rPr>
              <a:t>openfeign</a:t>
            </a:r>
            <a:endParaRPr lang="en-US" altLang="zh-CN"/>
          </a:p>
        </p:txBody>
      </p:sp>
      <p:sp>
        <p:nvSpPr>
          <p:cNvPr id="226" name="文本框 225"/>
          <p:cNvSpPr txBox="1"/>
          <p:nvPr>
            <p:custDataLst>
              <p:tags r:id="rId17"/>
            </p:custDataLst>
          </p:nvPr>
        </p:nvSpPr>
        <p:spPr>
          <a:xfrm>
            <a:off x="2247900" y="2668905"/>
            <a:ext cx="1412875" cy="3308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a:sym typeface="+mn-ea"/>
              </a:rPr>
              <a:t>负载均衡</a:t>
            </a:r>
            <a:endParaRPr lang="en-US" altLang="zh-CN" dirty="0"/>
          </a:p>
          <a:p>
            <a:r>
              <a:rPr lang="zh-CN" altLang="en-US">
                <a:sym typeface="+mn-ea"/>
              </a:rPr>
              <a:t>ribbon</a:t>
            </a:r>
            <a:endParaRPr lang="en-US" altLang="zh-CN"/>
          </a:p>
        </p:txBody>
      </p:sp>
      <p:sp>
        <p:nvSpPr>
          <p:cNvPr id="227" name="文本框 226"/>
          <p:cNvSpPr txBox="1"/>
          <p:nvPr>
            <p:custDataLst>
              <p:tags r:id="rId18"/>
            </p:custDataLst>
          </p:nvPr>
        </p:nvSpPr>
        <p:spPr>
          <a:xfrm>
            <a:off x="1158240" y="3084830"/>
            <a:ext cx="1022985" cy="3308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dirty="0">
                <a:sym typeface="+mn-ea"/>
              </a:rPr>
              <a:t>分</a:t>
            </a:r>
            <a:r>
              <a:rPr lang="zh-CN" altLang="en-US">
                <a:sym typeface="+mn-ea"/>
              </a:rPr>
              <a:t>部署追踪</a:t>
            </a:r>
            <a:endParaRPr lang="en-US" altLang="zh-CN" dirty="0"/>
          </a:p>
          <a:p>
            <a:r>
              <a:rPr lang="en-US" altLang="zh-CN">
                <a:sym typeface="+mn-ea"/>
              </a:rPr>
              <a:t>Sleuth+Zipkin</a:t>
            </a:r>
            <a:endParaRPr lang="en-US" altLang="zh-CN" dirty="0">
              <a:sym typeface="+mn-ea"/>
            </a:endParaRPr>
          </a:p>
        </p:txBody>
      </p:sp>
      <p:sp>
        <p:nvSpPr>
          <p:cNvPr id="228" name="文本框 227"/>
          <p:cNvSpPr txBox="1"/>
          <p:nvPr>
            <p:custDataLst>
              <p:tags r:id="rId19"/>
            </p:custDataLst>
          </p:nvPr>
        </p:nvSpPr>
        <p:spPr>
          <a:xfrm>
            <a:off x="1158875" y="2667635"/>
            <a:ext cx="1022985" cy="3308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a:sym typeface="+mn-ea"/>
              </a:rPr>
              <a:t>链路追踪</a:t>
            </a:r>
            <a:endParaRPr lang="en-US" altLang="zh-CN" dirty="0">
              <a:sym typeface="+mn-ea"/>
            </a:endParaRPr>
          </a:p>
          <a:p>
            <a:r>
              <a:rPr lang="en-US" altLang="zh-CN">
                <a:sym typeface="+mn-ea"/>
              </a:rPr>
              <a:t>Pinpoint</a:t>
            </a:r>
            <a:endParaRPr lang="en-US" altLang="zh-CN" dirty="0"/>
          </a:p>
        </p:txBody>
      </p:sp>
      <p:grpSp>
        <p:nvGrpSpPr>
          <p:cNvPr id="277" name="组合 276"/>
          <p:cNvGrpSpPr/>
          <p:nvPr/>
        </p:nvGrpSpPr>
        <p:grpSpPr>
          <a:xfrm>
            <a:off x="3744350" y="1484630"/>
            <a:ext cx="2107359" cy="2165350"/>
            <a:chOff x="6460" y="2518"/>
            <a:chExt cx="3027" cy="3410"/>
          </a:xfrm>
        </p:grpSpPr>
        <p:sp>
          <p:nvSpPr>
            <p:cNvPr id="229" name="文本框 228"/>
            <p:cNvSpPr txBox="1"/>
            <p:nvPr>
              <p:custDataLst>
                <p:tags r:id="rId20"/>
              </p:custDataLst>
            </p:nvPr>
          </p:nvSpPr>
          <p:spPr>
            <a:xfrm>
              <a:off x="6460" y="2518"/>
              <a:ext cx="3027" cy="459"/>
            </a:xfrm>
            <a:prstGeom prst="rect">
              <a:avLst/>
            </a:prstGeom>
            <a:solidFill>
              <a:schemeClr val="accent1">
                <a:lumMod val="40000"/>
                <a:lumOff val="60000"/>
              </a:schemeClr>
            </a:solidFill>
            <a:ln>
              <a:noFill/>
            </a:ln>
          </p:spPr>
          <p:txBody>
            <a:bodyPr wrap="none" rtlCol="0" anchor="ctr" anchorCtr="0">
              <a:noAutofit/>
            </a:bodyPr>
            <a:lstStyle/>
            <a:p>
              <a:pPr algn="ctr">
                <a:buClrTx/>
                <a:buSzTx/>
                <a:buFontTx/>
              </a:pPr>
              <a:r>
                <a:rPr lang="zh-CN" altLang="en-US" sz="1200" b="1">
                  <a:solidFill>
                    <a:schemeClr val="accent1"/>
                  </a:solidFill>
                  <a:latin typeface="微软雅黑" panose="020B0503020204020204" charset="-122"/>
                  <a:ea typeface="微软雅黑" panose="020B0503020204020204" charset="-122"/>
                </a:rPr>
                <a:t>大数据</a:t>
              </a:r>
              <a:r>
                <a:rPr lang="zh-CN" altLang="en-US" sz="1200" b="1">
                  <a:solidFill>
                    <a:schemeClr val="accent1"/>
                  </a:solidFill>
                  <a:latin typeface="微软雅黑" panose="020B0503020204020204" charset="-122"/>
                  <a:ea typeface="微软雅黑" panose="020B0503020204020204" charset="-122"/>
                  <a:sym typeface="+mn-ea"/>
                </a:rPr>
                <a:t>平台</a:t>
              </a:r>
              <a:endParaRPr lang="zh-CN" altLang="en-US" sz="1200" b="1">
                <a:solidFill>
                  <a:schemeClr val="accent1"/>
                </a:solidFill>
                <a:latin typeface="微软雅黑" panose="020B0503020204020204" charset="-122"/>
                <a:ea typeface="微软雅黑" panose="020B0503020204020204" charset="-122"/>
                <a:sym typeface="+mn-ea"/>
              </a:endParaRPr>
            </a:p>
          </p:txBody>
        </p:sp>
        <p:sp>
          <p:nvSpPr>
            <p:cNvPr id="230" name="矩形: 圆角 13"/>
            <p:cNvSpPr/>
            <p:nvPr>
              <p:custDataLst>
                <p:tags r:id="rId21"/>
              </p:custDataLst>
            </p:nvPr>
          </p:nvSpPr>
          <p:spPr>
            <a:xfrm>
              <a:off x="6460" y="3008"/>
              <a:ext cx="3027" cy="2920"/>
            </a:xfrm>
            <a:prstGeom prst="roundRect">
              <a:avLst>
                <a:gd name="adj" fmla="val 1522"/>
              </a:avLst>
            </a:prstGeom>
            <a:solidFill>
              <a:schemeClr val="bg1"/>
            </a:solidFill>
            <a:ln>
              <a:noFill/>
            </a:ln>
            <a:effectLst>
              <a:outerShdw blurRad="254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rtlCol="0" anchor="t"/>
            <a:lstStyle/>
            <a:p>
              <a:pPr marL="0" marR="0" lvl="0" algn="ctr" defTabSz="914400" rtl="0" eaLnBrk="1" fontAlgn="auto" latinLnBrk="0" hangingPunct="1">
                <a:lnSpc>
                  <a:spcPct val="100000"/>
                </a:lnSpc>
                <a:spcBef>
                  <a:spcPts val="0"/>
                </a:spcBef>
                <a:buClrTx/>
                <a:buSzTx/>
                <a:buFontTx/>
                <a:buNone/>
              </a:pPr>
              <a:endParaRPr kumimoji="0" lang="zh-CN" altLang="en-US" sz="1200" b="1" i="0" u="none" strike="noStrike" kern="1200" cap="none" spc="0" normalizeH="0" baseline="0">
                <a:solidFill>
                  <a:srgbClr val="00B050"/>
                </a:solidFill>
                <a:latin typeface="微软雅黑" panose="020B0503020204020204" charset="-122"/>
                <a:ea typeface="微软雅黑" panose="020B0503020204020204" charset="-122"/>
              </a:endParaRPr>
            </a:p>
          </p:txBody>
        </p:sp>
        <p:sp>
          <p:nvSpPr>
            <p:cNvPr id="231" name="文本框 230"/>
            <p:cNvSpPr txBox="1"/>
            <p:nvPr>
              <p:custDataLst>
                <p:tags r:id="rId22"/>
              </p:custDataLst>
            </p:nvPr>
          </p:nvSpPr>
          <p:spPr>
            <a:xfrm>
              <a:off x="6853" y="3065"/>
              <a:ext cx="2176" cy="522"/>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a:sym typeface="+mn-ea"/>
                </a:rPr>
                <a:t>数据采集器</a:t>
              </a:r>
              <a:endParaRPr lang="en-US" altLang="zh-CN" dirty="0"/>
            </a:p>
            <a:p>
              <a:r>
                <a:rPr lang="en-US" altLang="zh-CN" err="1">
                  <a:sym typeface="+mn-ea"/>
                </a:rPr>
                <a:t>Filebeat</a:t>
              </a:r>
              <a:r>
                <a:rPr lang="zh-CN" altLang="en-US">
                  <a:sym typeface="+mn-ea"/>
                </a:rPr>
                <a:t>、</a:t>
              </a:r>
              <a:r>
                <a:rPr lang="en-US" altLang="zh-CN">
                  <a:sym typeface="+mn-ea"/>
                </a:rPr>
                <a:t>Logstash</a:t>
              </a:r>
              <a:endParaRPr lang="en-US" altLang="zh-CN" dirty="0"/>
            </a:p>
          </p:txBody>
        </p:sp>
        <p:sp>
          <p:nvSpPr>
            <p:cNvPr id="232" name="文本框 231"/>
            <p:cNvSpPr txBox="1"/>
            <p:nvPr>
              <p:custDataLst>
                <p:tags r:id="rId23"/>
              </p:custDataLst>
            </p:nvPr>
          </p:nvSpPr>
          <p:spPr>
            <a:xfrm>
              <a:off x="6853" y="3629"/>
              <a:ext cx="2176" cy="521"/>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a:sym typeface="+mn-ea"/>
                </a:rPr>
                <a:t>数据接入</a:t>
              </a:r>
              <a:endParaRPr lang="en-US" altLang="zh-CN"/>
            </a:p>
            <a:p>
              <a:r>
                <a:rPr lang="en-US" altLang="zh-CN">
                  <a:sym typeface="+mn-ea"/>
                </a:rPr>
                <a:t>CDC</a:t>
              </a:r>
              <a:r>
                <a:rPr lang="zh-CN" altLang="en-US">
                  <a:sym typeface="+mn-ea"/>
                </a:rPr>
                <a:t>、</a:t>
              </a:r>
              <a:r>
                <a:rPr lang="en-US" altLang="zh-CN">
                  <a:sym typeface="+mn-ea"/>
                </a:rPr>
                <a:t>DataX</a:t>
              </a:r>
              <a:endParaRPr lang="en-US" altLang="zh-CN"/>
            </a:p>
          </p:txBody>
        </p:sp>
        <p:sp>
          <p:nvSpPr>
            <p:cNvPr id="233" name="文本框 232"/>
            <p:cNvSpPr txBox="1"/>
            <p:nvPr>
              <p:custDataLst>
                <p:tags r:id="rId24"/>
              </p:custDataLst>
            </p:nvPr>
          </p:nvSpPr>
          <p:spPr>
            <a:xfrm>
              <a:off x="6853" y="4192"/>
              <a:ext cx="2176" cy="521"/>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a:sym typeface="+mn-ea"/>
                </a:rPr>
                <a:t>数据集成</a:t>
              </a:r>
              <a:endParaRPr lang="en-US" altLang="zh-CN"/>
            </a:p>
            <a:p>
              <a:r>
                <a:rPr lang="en-US" altLang="zh-CN">
                  <a:sym typeface="+mn-ea"/>
                </a:rPr>
                <a:t>DXP</a:t>
              </a:r>
              <a:endParaRPr lang="en-US" altLang="zh-CN"/>
            </a:p>
          </p:txBody>
        </p:sp>
        <p:sp>
          <p:nvSpPr>
            <p:cNvPr id="234" name="文本框 233"/>
            <p:cNvSpPr txBox="1"/>
            <p:nvPr>
              <p:custDataLst>
                <p:tags r:id="rId25"/>
              </p:custDataLst>
            </p:nvPr>
          </p:nvSpPr>
          <p:spPr>
            <a:xfrm>
              <a:off x="6853" y="4755"/>
              <a:ext cx="2176" cy="521"/>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a:sym typeface="+mn-ea"/>
                </a:rPr>
                <a:t>数据治理</a:t>
              </a:r>
              <a:endParaRPr lang="en-US" altLang="zh-CN"/>
            </a:p>
            <a:p>
              <a:r>
                <a:rPr lang="en-US" altLang="zh-CN">
                  <a:sym typeface="+mn-ea"/>
                </a:rPr>
                <a:t>EDC</a:t>
              </a:r>
              <a:endParaRPr lang="en-US" altLang="zh-CN"/>
            </a:p>
          </p:txBody>
        </p:sp>
        <p:sp>
          <p:nvSpPr>
            <p:cNvPr id="235" name="文本框 234"/>
            <p:cNvSpPr txBox="1"/>
            <p:nvPr>
              <p:custDataLst>
                <p:tags r:id="rId26"/>
              </p:custDataLst>
            </p:nvPr>
          </p:nvSpPr>
          <p:spPr>
            <a:xfrm>
              <a:off x="6853" y="5318"/>
              <a:ext cx="2176" cy="521"/>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a:sym typeface="+mn-ea"/>
                </a:rPr>
                <a:t>数据分析</a:t>
              </a:r>
              <a:endParaRPr lang="en-US" altLang="zh-CN"/>
            </a:p>
            <a:p>
              <a:r>
                <a:rPr lang="en-US" altLang="zh-CN">
                  <a:sym typeface="+mn-ea"/>
                </a:rPr>
                <a:t>Spark</a:t>
              </a:r>
              <a:r>
                <a:rPr lang="zh-CN" altLang="en-US">
                  <a:sym typeface="+mn-ea"/>
                </a:rPr>
                <a:t>、</a:t>
              </a:r>
              <a:r>
                <a:rPr lang="en-US" altLang="zh-CN">
                  <a:sym typeface="+mn-ea"/>
                </a:rPr>
                <a:t>Livy</a:t>
              </a:r>
              <a:endParaRPr lang="en-US" altLang="zh-CN"/>
            </a:p>
          </p:txBody>
        </p:sp>
      </p:grpSp>
      <p:sp>
        <p:nvSpPr>
          <p:cNvPr id="236" name="左右箭头 235"/>
          <p:cNvSpPr/>
          <p:nvPr/>
        </p:nvSpPr>
        <p:spPr>
          <a:xfrm>
            <a:off x="5839460" y="2317115"/>
            <a:ext cx="358140" cy="160655"/>
          </a:xfrm>
          <a:prstGeom prst="leftRightArrow">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37" name="文本框 236"/>
          <p:cNvSpPr txBox="1"/>
          <p:nvPr>
            <p:custDataLst>
              <p:tags r:id="rId27"/>
            </p:custDataLst>
          </p:nvPr>
        </p:nvSpPr>
        <p:spPr>
          <a:xfrm>
            <a:off x="6191250" y="1484630"/>
            <a:ext cx="1698625" cy="291465"/>
          </a:xfrm>
          <a:prstGeom prst="rect">
            <a:avLst/>
          </a:prstGeom>
          <a:solidFill>
            <a:schemeClr val="accent1">
              <a:lumMod val="40000"/>
              <a:lumOff val="60000"/>
            </a:schemeClr>
          </a:solidFill>
          <a:ln>
            <a:noFill/>
          </a:ln>
        </p:spPr>
        <p:txBody>
          <a:bodyPr wrap="none" rtlCol="0" anchor="ctr" anchorCtr="0">
            <a:noAutofit/>
          </a:bodyPr>
          <a:lstStyle/>
          <a:p>
            <a:pPr algn="ctr"/>
            <a:r>
              <a:rPr lang="en-US" altLang="zh-CN" sz="1200" b="1" dirty="0" err="1">
                <a:solidFill>
                  <a:schemeClr val="accent1"/>
                </a:solidFill>
                <a:latin typeface="微软雅黑" panose="020B0503020204020204" charset="-122"/>
                <a:ea typeface="微软雅黑" panose="020B0503020204020204" charset="-122"/>
                <a:sym typeface="+mn-ea"/>
              </a:rPr>
              <a:t>Mlops</a:t>
            </a:r>
            <a:r>
              <a:rPr lang="zh-CN" altLang="en-US" sz="1200" b="1" dirty="0">
                <a:solidFill>
                  <a:schemeClr val="accent1"/>
                </a:solidFill>
                <a:latin typeface="微软雅黑" panose="020B0503020204020204" charset="-122"/>
                <a:ea typeface="微软雅黑" panose="020B0503020204020204" charset="-122"/>
                <a:sym typeface="+mn-ea"/>
              </a:rPr>
              <a:t>平台</a:t>
            </a:r>
            <a:endParaRPr lang="zh-CN" altLang="en-US" sz="1200" b="1" dirty="0">
              <a:solidFill>
                <a:schemeClr val="accent1"/>
              </a:solidFill>
              <a:latin typeface="微软雅黑" panose="020B0503020204020204" charset="-122"/>
              <a:ea typeface="微软雅黑" panose="020B0503020204020204" charset="-122"/>
              <a:sym typeface="+mn-ea"/>
            </a:endParaRPr>
          </a:p>
        </p:txBody>
      </p:sp>
      <p:sp>
        <p:nvSpPr>
          <p:cNvPr id="238" name="矩形: 圆角 13"/>
          <p:cNvSpPr/>
          <p:nvPr>
            <p:custDataLst>
              <p:tags r:id="rId28"/>
            </p:custDataLst>
          </p:nvPr>
        </p:nvSpPr>
        <p:spPr>
          <a:xfrm>
            <a:off x="6191250" y="1798955"/>
            <a:ext cx="1697990" cy="2190750"/>
          </a:xfrm>
          <a:prstGeom prst="roundRect">
            <a:avLst>
              <a:gd name="adj" fmla="val 1522"/>
            </a:avLst>
          </a:prstGeom>
          <a:solidFill>
            <a:schemeClr val="bg1"/>
          </a:solidFill>
          <a:ln>
            <a:noFill/>
          </a:ln>
          <a:effectLst>
            <a:outerShdw blurRad="254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rtlCol="0" anchor="t"/>
          <a:lstStyle/>
          <a:p>
            <a:pPr marL="0" marR="0" lvl="0" algn="ctr" defTabSz="914400" rtl="0" eaLnBrk="1" fontAlgn="auto" latinLnBrk="0" hangingPunct="1">
              <a:lnSpc>
                <a:spcPct val="100000"/>
              </a:lnSpc>
              <a:spcBef>
                <a:spcPts val="0"/>
              </a:spcBef>
              <a:buClrTx/>
              <a:buSzTx/>
              <a:buFontTx/>
              <a:buNone/>
            </a:pPr>
            <a:endParaRPr kumimoji="0" lang="zh-CN" altLang="en-US" sz="1200" b="1" i="0" u="none" strike="noStrike" kern="1200" cap="none" spc="0" normalizeH="0" baseline="0">
              <a:solidFill>
                <a:srgbClr val="00B050"/>
              </a:solidFill>
              <a:latin typeface="微软雅黑" panose="020B0503020204020204" charset="-122"/>
              <a:ea typeface="微软雅黑" panose="020B0503020204020204" charset="-122"/>
            </a:endParaRPr>
          </a:p>
        </p:txBody>
      </p:sp>
      <p:sp>
        <p:nvSpPr>
          <p:cNvPr id="239" name="文本框 238"/>
          <p:cNvSpPr txBox="1"/>
          <p:nvPr>
            <p:custDataLst>
              <p:tags r:id="rId29"/>
            </p:custDataLst>
          </p:nvPr>
        </p:nvSpPr>
        <p:spPr>
          <a:xfrm>
            <a:off x="6315710" y="1858645"/>
            <a:ext cx="1412875" cy="331470"/>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a:sym typeface="+mn-ea"/>
              </a:rPr>
              <a:t>自然语言处理</a:t>
            </a:r>
            <a:endParaRPr lang="en-US" altLang="zh-CN" dirty="0"/>
          </a:p>
          <a:p>
            <a:r>
              <a:rPr lang="en-US" altLang="zh-CN">
                <a:sym typeface="+mn-ea"/>
              </a:rPr>
              <a:t>NLP</a:t>
            </a:r>
            <a:endParaRPr lang="en-US" altLang="zh-CN"/>
          </a:p>
        </p:txBody>
      </p:sp>
      <p:sp>
        <p:nvSpPr>
          <p:cNvPr id="240" name="文本框 239"/>
          <p:cNvSpPr txBox="1"/>
          <p:nvPr>
            <p:custDataLst>
              <p:tags r:id="rId30"/>
            </p:custDataLst>
          </p:nvPr>
        </p:nvSpPr>
        <p:spPr>
          <a:xfrm>
            <a:off x="6315710" y="2278380"/>
            <a:ext cx="1412875" cy="3308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a:sym typeface="+mn-ea"/>
              </a:rPr>
              <a:t>深度学习</a:t>
            </a:r>
            <a:endParaRPr lang="en-US" altLang="zh-CN" dirty="0"/>
          </a:p>
          <a:p>
            <a:r>
              <a:rPr lang="en-US" altLang="zh-CN" err="1">
                <a:sym typeface="+mn-ea"/>
              </a:rPr>
              <a:t>Pytorch</a:t>
            </a:r>
            <a:r>
              <a:rPr lang="zh-CN" altLang="en-US">
                <a:sym typeface="+mn-ea"/>
              </a:rPr>
              <a:t>、</a:t>
            </a:r>
            <a:r>
              <a:rPr lang="en-US" altLang="zh-CN">
                <a:sym typeface="+mn-ea"/>
              </a:rPr>
              <a:t> TensorFlow</a:t>
            </a:r>
            <a:endParaRPr lang="en-US" altLang="zh-CN" dirty="0">
              <a:sym typeface="+mn-ea"/>
            </a:endParaRPr>
          </a:p>
        </p:txBody>
      </p:sp>
      <p:sp>
        <p:nvSpPr>
          <p:cNvPr id="241" name="文本框 240"/>
          <p:cNvSpPr txBox="1"/>
          <p:nvPr>
            <p:custDataLst>
              <p:tags r:id="rId31"/>
            </p:custDataLst>
          </p:nvPr>
        </p:nvSpPr>
        <p:spPr>
          <a:xfrm>
            <a:off x="6315710" y="2697480"/>
            <a:ext cx="1412875" cy="3308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dirty="0">
                <a:sym typeface="+mn-ea"/>
              </a:rPr>
              <a:t>大语言模型</a:t>
            </a:r>
            <a:endParaRPr lang="zh-CN" altLang="en-US" dirty="0"/>
          </a:p>
          <a:p>
            <a:r>
              <a:rPr lang="zh-CN" altLang="en-US" dirty="0">
                <a:sym typeface="+mn-ea"/>
              </a:rPr>
              <a:t>LLM</a:t>
            </a:r>
            <a:endParaRPr lang="zh-CN" altLang="en-US" dirty="0">
              <a:sym typeface="+mn-ea"/>
            </a:endParaRPr>
          </a:p>
        </p:txBody>
      </p:sp>
      <p:sp>
        <p:nvSpPr>
          <p:cNvPr id="242" name="文本框 241"/>
          <p:cNvSpPr txBox="1"/>
          <p:nvPr>
            <p:custDataLst>
              <p:tags r:id="rId32"/>
            </p:custDataLst>
          </p:nvPr>
        </p:nvSpPr>
        <p:spPr>
          <a:xfrm>
            <a:off x="6315710" y="3116580"/>
            <a:ext cx="1412875" cy="3308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dirty="0">
                <a:sym typeface="+mn-ea"/>
              </a:rPr>
              <a:t>索</a:t>
            </a:r>
            <a:r>
              <a:rPr lang="zh-CN" altLang="en-US">
                <a:sym typeface="+mn-ea"/>
              </a:rPr>
              <a:t>增强生成</a:t>
            </a:r>
            <a:endParaRPr lang="en-US" altLang="zh-CN" dirty="0"/>
          </a:p>
          <a:p>
            <a:r>
              <a:rPr lang="en-US" altLang="zh-CN">
                <a:sym typeface="+mn-ea"/>
              </a:rPr>
              <a:t>RAG</a:t>
            </a:r>
            <a:endParaRPr lang="en-US" altLang="zh-CN" dirty="0">
              <a:sym typeface="+mn-ea"/>
            </a:endParaRPr>
          </a:p>
        </p:txBody>
      </p:sp>
      <p:sp>
        <p:nvSpPr>
          <p:cNvPr id="243" name="文本框 242"/>
          <p:cNvSpPr txBox="1"/>
          <p:nvPr>
            <p:custDataLst>
              <p:tags r:id="rId33"/>
            </p:custDataLst>
          </p:nvPr>
        </p:nvSpPr>
        <p:spPr>
          <a:xfrm>
            <a:off x="6315710" y="3535680"/>
            <a:ext cx="1412875" cy="421640"/>
          </a:xfrm>
          <a:prstGeom prst="rect">
            <a:avLst/>
          </a:prstGeom>
          <a:gradFill>
            <a:gsLst>
              <a:gs pos="0">
                <a:schemeClr val="accent1">
                  <a:lumMod val="5000"/>
                  <a:lumOff val="95000"/>
                </a:schemeClr>
              </a:gs>
              <a:gs pos="76000">
                <a:srgbClr val="DEF4F8"/>
              </a:gs>
            </a:gsLst>
            <a:lin ang="5400000" scaled="0"/>
          </a:gra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endParaRPr lang="en-US" altLang="zh-CN" sz="900" b="1">
              <a:solidFill>
                <a:schemeClr val="tx1"/>
              </a:solidFill>
              <a:latin typeface="微软雅黑" panose="020B0503020204020204" charset="-122"/>
              <a:ea typeface="微软雅黑" panose="020B0503020204020204" charset="-122"/>
            </a:endParaRPr>
          </a:p>
        </p:txBody>
      </p:sp>
      <p:sp>
        <p:nvSpPr>
          <p:cNvPr id="244" name="文本框 243"/>
          <p:cNvSpPr txBox="1"/>
          <p:nvPr>
            <p:custDataLst>
              <p:tags r:id="rId34"/>
            </p:custDataLst>
          </p:nvPr>
        </p:nvSpPr>
        <p:spPr>
          <a:xfrm>
            <a:off x="7922260" y="1485265"/>
            <a:ext cx="4132580" cy="290830"/>
          </a:xfrm>
          <a:prstGeom prst="rect">
            <a:avLst/>
          </a:prstGeom>
          <a:solidFill>
            <a:schemeClr val="accent1">
              <a:lumMod val="40000"/>
              <a:lumOff val="60000"/>
            </a:schemeClr>
          </a:solidFill>
          <a:ln>
            <a:noFill/>
          </a:ln>
        </p:spPr>
        <p:txBody>
          <a:bodyPr wrap="none" rtlCol="0" anchor="ctr" anchorCtr="0">
            <a:noAutofit/>
          </a:bodyPr>
          <a:lstStyle/>
          <a:p>
            <a:pPr algn="ctr"/>
            <a:r>
              <a:rPr lang="zh-CN" altLang="en-US" sz="1200" b="1">
                <a:solidFill>
                  <a:schemeClr val="accent1"/>
                </a:solidFill>
                <a:latin typeface="微软雅黑" panose="020B0503020204020204" charset="-122"/>
                <a:ea typeface="微软雅黑" panose="020B0503020204020204" charset="-122"/>
              </a:rPr>
              <a:t>支撑服务</a:t>
            </a:r>
            <a:endParaRPr lang="zh-CN" altLang="en-US" sz="1200" b="1">
              <a:solidFill>
                <a:schemeClr val="accent1"/>
              </a:solidFill>
              <a:latin typeface="微软雅黑" panose="020B0503020204020204" charset="-122"/>
              <a:ea typeface="微软雅黑" panose="020B0503020204020204" charset="-122"/>
            </a:endParaRPr>
          </a:p>
        </p:txBody>
      </p:sp>
      <p:sp>
        <p:nvSpPr>
          <p:cNvPr id="245" name="矩形: 圆角 13"/>
          <p:cNvSpPr/>
          <p:nvPr>
            <p:custDataLst>
              <p:tags r:id="rId35"/>
            </p:custDataLst>
          </p:nvPr>
        </p:nvSpPr>
        <p:spPr>
          <a:xfrm>
            <a:off x="7922260" y="1795780"/>
            <a:ext cx="4132580" cy="2193925"/>
          </a:xfrm>
          <a:prstGeom prst="roundRect">
            <a:avLst>
              <a:gd name="adj" fmla="val 1522"/>
            </a:avLst>
          </a:prstGeom>
          <a:solidFill>
            <a:schemeClr val="bg1"/>
          </a:solidFill>
          <a:ln>
            <a:noFill/>
          </a:ln>
          <a:effectLst>
            <a:outerShdw blurRad="254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rtlCol="0" anchor="t"/>
          <a:lstStyle/>
          <a:p>
            <a:pPr marL="0" marR="0" lvl="0" algn="ctr" defTabSz="914400" rtl="0" eaLnBrk="1" fontAlgn="auto" latinLnBrk="0" hangingPunct="1">
              <a:lnSpc>
                <a:spcPct val="100000"/>
              </a:lnSpc>
              <a:spcBef>
                <a:spcPts val="0"/>
              </a:spcBef>
              <a:buClrTx/>
              <a:buSzTx/>
              <a:buFontTx/>
              <a:buNone/>
            </a:pPr>
            <a:endParaRPr kumimoji="0" lang="zh-CN" altLang="en-US" sz="1200" b="1" i="0" u="none" strike="noStrike" kern="1200" cap="none" spc="0" normalizeH="0" baseline="0">
              <a:solidFill>
                <a:srgbClr val="00B050"/>
              </a:solidFill>
              <a:latin typeface="微软雅黑" panose="020B0503020204020204" charset="-122"/>
              <a:ea typeface="微软雅黑" panose="020B0503020204020204" charset="-122"/>
            </a:endParaRPr>
          </a:p>
        </p:txBody>
      </p:sp>
      <p:sp>
        <p:nvSpPr>
          <p:cNvPr id="246" name="文本框 245"/>
          <p:cNvSpPr txBox="1"/>
          <p:nvPr>
            <p:custDataLst>
              <p:tags r:id="rId36"/>
            </p:custDataLst>
          </p:nvPr>
        </p:nvSpPr>
        <p:spPr>
          <a:xfrm>
            <a:off x="7983220" y="1857375"/>
            <a:ext cx="1289050" cy="3308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a:sym typeface="+mn-ea"/>
              </a:rPr>
              <a:t>接入授权</a:t>
            </a:r>
            <a:endParaRPr lang="en-US" altLang="zh-CN">
              <a:sym typeface="+mn-ea"/>
            </a:endParaRPr>
          </a:p>
          <a:p>
            <a:r>
              <a:rPr lang="en-US" altLang="zh-CN">
                <a:sym typeface="+mn-ea"/>
              </a:rPr>
              <a:t>Oauth2</a:t>
            </a:r>
            <a:r>
              <a:rPr lang="zh-CN" altLang="en-US">
                <a:sym typeface="+mn-ea"/>
              </a:rPr>
              <a:t>、</a:t>
            </a:r>
            <a:r>
              <a:rPr lang="en-US" altLang="zh-CN">
                <a:sym typeface="+mn-ea"/>
              </a:rPr>
              <a:t>shiro</a:t>
            </a:r>
            <a:endParaRPr lang="en-US" altLang="zh-CN"/>
          </a:p>
        </p:txBody>
      </p:sp>
      <p:sp>
        <p:nvSpPr>
          <p:cNvPr id="247" name="文本框 246"/>
          <p:cNvSpPr txBox="1"/>
          <p:nvPr>
            <p:custDataLst>
              <p:tags r:id="rId37"/>
            </p:custDataLst>
          </p:nvPr>
        </p:nvSpPr>
        <p:spPr>
          <a:xfrm>
            <a:off x="9339580" y="1857375"/>
            <a:ext cx="1287780" cy="3308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a:sym typeface="+mn-ea"/>
              </a:rPr>
              <a:t>安全防护</a:t>
            </a:r>
            <a:endParaRPr lang="en-US" altLang="zh-CN">
              <a:sym typeface="+mn-ea"/>
            </a:endParaRPr>
          </a:p>
          <a:p>
            <a:r>
              <a:rPr lang="en-US" altLang="zh-CN">
                <a:sym typeface="+mn-ea"/>
              </a:rPr>
              <a:t>RASP</a:t>
            </a:r>
            <a:r>
              <a:rPr lang="zh-CN" altLang="en-US">
                <a:sym typeface="+mn-ea"/>
              </a:rPr>
              <a:t>、 </a:t>
            </a:r>
            <a:r>
              <a:rPr lang="en-US" altLang="zh-CN">
                <a:sym typeface="+mn-ea"/>
              </a:rPr>
              <a:t>ESecurity</a:t>
            </a:r>
            <a:endParaRPr lang="en-US" altLang="zh-CN"/>
          </a:p>
        </p:txBody>
      </p:sp>
      <p:sp>
        <p:nvSpPr>
          <p:cNvPr id="248" name="文本框 247"/>
          <p:cNvSpPr txBox="1"/>
          <p:nvPr>
            <p:custDataLst>
              <p:tags r:id="rId38"/>
            </p:custDataLst>
          </p:nvPr>
        </p:nvSpPr>
        <p:spPr>
          <a:xfrm>
            <a:off x="7983220" y="2416810"/>
            <a:ext cx="1289050" cy="3308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a:sym typeface="+mn-ea"/>
              </a:rPr>
              <a:t>任务调度</a:t>
            </a:r>
            <a:endParaRPr lang="en-US" altLang="zh-CN">
              <a:sym typeface="+mn-ea"/>
            </a:endParaRPr>
          </a:p>
          <a:p>
            <a:r>
              <a:rPr lang="en-US" altLang="zh-CN">
                <a:sym typeface="+mn-ea"/>
              </a:rPr>
              <a:t>XXL-JOb</a:t>
            </a:r>
            <a:r>
              <a:rPr lang="zh-CN" altLang="en-US">
                <a:sym typeface="+mn-ea"/>
              </a:rPr>
              <a:t>、</a:t>
            </a:r>
            <a:r>
              <a:rPr lang="en-US" altLang="zh-CN">
                <a:sym typeface="+mn-ea"/>
              </a:rPr>
              <a:t>Quartz</a:t>
            </a:r>
            <a:endParaRPr lang="en-US" altLang="zh-CN"/>
          </a:p>
        </p:txBody>
      </p:sp>
      <p:sp>
        <p:nvSpPr>
          <p:cNvPr id="249" name="文本框 248"/>
          <p:cNvSpPr txBox="1"/>
          <p:nvPr>
            <p:custDataLst>
              <p:tags r:id="rId39"/>
            </p:custDataLst>
          </p:nvPr>
        </p:nvSpPr>
        <p:spPr>
          <a:xfrm>
            <a:off x="9339580" y="2416810"/>
            <a:ext cx="1287780" cy="3308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a:sym typeface="+mn-ea"/>
              </a:rPr>
              <a:t>文档处理</a:t>
            </a:r>
            <a:endParaRPr lang="en-US" altLang="zh-CN">
              <a:sym typeface="+mn-ea"/>
            </a:endParaRPr>
          </a:p>
          <a:p>
            <a:r>
              <a:rPr lang="en-US" altLang="zh-CN">
                <a:sym typeface="+mn-ea"/>
              </a:rPr>
              <a:t>PDFBox</a:t>
            </a:r>
            <a:r>
              <a:rPr lang="zh-CN" altLang="en-US">
                <a:sym typeface="+mn-ea"/>
              </a:rPr>
              <a:t>、</a:t>
            </a:r>
            <a:r>
              <a:rPr lang="en-US" altLang="zh-CN">
                <a:sym typeface="+mn-ea"/>
              </a:rPr>
              <a:t>Aspose</a:t>
            </a:r>
            <a:endParaRPr lang="en-US" altLang="zh-CN"/>
          </a:p>
        </p:txBody>
      </p:sp>
      <p:sp>
        <p:nvSpPr>
          <p:cNvPr id="250" name="文本框 249"/>
          <p:cNvSpPr txBox="1"/>
          <p:nvPr>
            <p:custDataLst>
              <p:tags r:id="rId40"/>
            </p:custDataLst>
          </p:nvPr>
        </p:nvSpPr>
        <p:spPr>
          <a:xfrm>
            <a:off x="9339580" y="2976245"/>
            <a:ext cx="1287780" cy="3308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a:sym typeface="+mn-ea"/>
              </a:rPr>
              <a:t>应用缓存</a:t>
            </a:r>
            <a:endParaRPr lang="en-US" altLang="zh-CN">
              <a:sym typeface="+mn-ea"/>
            </a:endParaRPr>
          </a:p>
          <a:p>
            <a:r>
              <a:rPr lang="en-US" altLang="zh-CN">
                <a:sym typeface="+mn-ea"/>
              </a:rPr>
              <a:t>caffenie</a:t>
            </a:r>
            <a:endParaRPr lang="en-US" altLang="zh-CN"/>
          </a:p>
        </p:txBody>
      </p:sp>
      <p:sp>
        <p:nvSpPr>
          <p:cNvPr id="251" name="文本框 250"/>
          <p:cNvSpPr txBox="1"/>
          <p:nvPr>
            <p:custDataLst>
              <p:tags r:id="rId41"/>
            </p:custDataLst>
          </p:nvPr>
        </p:nvSpPr>
        <p:spPr>
          <a:xfrm>
            <a:off x="7983220" y="3535680"/>
            <a:ext cx="1289050" cy="3308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a:sym typeface="+mn-ea"/>
              </a:rPr>
              <a:t>富文本编辑</a:t>
            </a:r>
            <a:endParaRPr lang="en-US" altLang="zh-CN">
              <a:sym typeface="+mn-ea"/>
            </a:endParaRPr>
          </a:p>
          <a:p>
            <a:r>
              <a:rPr lang="en-US" altLang="zh-CN">
                <a:sym typeface="+mn-ea"/>
              </a:rPr>
              <a:t>Ueditor</a:t>
            </a:r>
            <a:r>
              <a:rPr lang="zh-CN" altLang="en-US">
                <a:sym typeface="+mn-ea"/>
              </a:rPr>
              <a:t>、</a:t>
            </a:r>
            <a:r>
              <a:rPr lang="en-US" altLang="zh-CN">
                <a:sym typeface="+mn-ea"/>
              </a:rPr>
              <a:t>NTKO</a:t>
            </a:r>
            <a:endParaRPr lang="en-US" altLang="zh-CN" dirty="0">
              <a:sym typeface="+mn-ea"/>
            </a:endParaRPr>
          </a:p>
        </p:txBody>
      </p:sp>
      <p:sp>
        <p:nvSpPr>
          <p:cNvPr id="252" name="文本框 251"/>
          <p:cNvSpPr txBox="1"/>
          <p:nvPr>
            <p:custDataLst>
              <p:tags r:id="rId42"/>
            </p:custDataLst>
          </p:nvPr>
        </p:nvSpPr>
        <p:spPr>
          <a:xfrm>
            <a:off x="7983220" y="2976245"/>
            <a:ext cx="1289050" cy="3308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a:sym typeface="+mn-ea"/>
              </a:rPr>
              <a:t>加解密</a:t>
            </a:r>
            <a:endParaRPr lang="en-US" altLang="zh-CN">
              <a:sym typeface="+mn-ea"/>
            </a:endParaRPr>
          </a:p>
          <a:p>
            <a:r>
              <a:rPr lang="zh-CN" altLang="en-US">
                <a:sym typeface="+mn-ea"/>
              </a:rPr>
              <a:t>bcprov 、 </a:t>
            </a:r>
            <a:r>
              <a:rPr lang="en-US" altLang="zh-CN">
                <a:sym typeface="+mn-ea"/>
              </a:rPr>
              <a:t>EpointCA</a:t>
            </a:r>
            <a:endParaRPr lang="en-US" altLang="zh-CN" dirty="0" err="1">
              <a:sym typeface="+mn-ea"/>
            </a:endParaRPr>
          </a:p>
        </p:txBody>
      </p:sp>
      <p:sp>
        <p:nvSpPr>
          <p:cNvPr id="253" name="文本框 252"/>
          <p:cNvSpPr txBox="1"/>
          <p:nvPr>
            <p:custDataLst>
              <p:tags r:id="rId43"/>
            </p:custDataLst>
          </p:nvPr>
        </p:nvSpPr>
        <p:spPr>
          <a:xfrm>
            <a:off x="10695940" y="1857375"/>
            <a:ext cx="1287780" cy="3308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a:sym typeface="+mn-ea"/>
              </a:rPr>
              <a:t>日志</a:t>
            </a:r>
            <a:endParaRPr lang="en-US" altLang="zh-CN">
              <a:sym typeface="+mn-ea"/>
            </a:endParaRPr>
          </a:p>
          <a:p>
            <a:r>
              <a:rPr lang="en-US" altLang="zh-CN">
                <a:sym typeface="+mn-ea"/>
              </a:rPr>
              <a:t>log4j2</a:t>
            </a:r>
            <a:endParaRPr lang="en-US" altLang="zh-CN" dirty="0">
              <a:sym typeface="+mn-ea"/>
            </a:endParaRPr>
          </a:p>
        </p:txBody>
      </p:sp>
      <p:sp>
        <p:nvSpPr>
          <p:cNvPr id="254" name="文本框 253"/>
          <p:cNvSpPr txBox="1"/>
          <p:nvPr>
            <p:custDataLst>
              <p:tags r:id="rId44"/>
            </p:custDataLst>
          </p:nvPr>
        </p:nvSpPr>
        <p:spPr>
          <a:xfrm>
            <a:off x="9339580" y="3535680"/>
            <a:ext cx="1287780" cy="3308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dirty="0">
                <a:sym typeface="+mn-ea"/>
              </a:rPr>
              <a:t>分片</a:t>
            </a:r>
            <a:r>
              <a:rPr lang="zh-CN" altLang="en-US">
                <a:sym typeface="+mn-ea"/>
              </a:rPr>
              <a:t>上传</a:t>
            </a:r>
            <a:endParaRPr lang="en-US" altLang="zh-CN">
              <a:sym typeface="+mn-ea"/>
            </a:endParaRPr>
          </a:p>
          <a:p>
            <a:r>
              <a:rPr lang="en-US" altLang="zh-CN">
                <a:sym typeface="+mn-ea"/>
              </a:rPr>
              <a:t>webuploader</a:t>
            </a:r>
            <a:endParaRPr lang="en-US" altLang="zh-CN"/>
          </a:p>
        </p:txBody>
      </p:sp>
      <p:sp>
        <p:nvSpPr>
          <p:cNvPr id="255" name="文本框 254"/>
          <p:cNvSpPr txBox="1"/>
          <p:nvPr>
            <p:custDataLst>
              <p:tags r:id="rId45"/>
            </p:custDataLst>
          </p:nvPr>
        </p:nvSpPr>
        <p:spPr>
          <a:xfrm>
            <a:off x="10695940" y="2416810"/>
            <a:ext cx="1287780" cy="3308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a:sym typeface="+mn-ea"/>
              </a:rPr>
              <a:t>连接池</a:t>
            </a:r>
            <a:endParaRPr lang="en-US" altLang="zh-CN"/>
          </a:p>
          <a:p>
            <a:r>
              <a:rPr lang="en-US" altLang="zh-CN">
                <a:sym typeface="+mn-ea"/>
              </a:rPr>
              <a:t>D</a:t>
            </a:r>
            <a:r>
              <a:rPr lang="zh-CN" altLang="en-US">
                <a:sym typeface="+mn-ea"/>
              </a:rPr>
              <a:t>ruid、</a:t>
            </a:r>
            <a:r>
              <a:rPr lang="en-US" altLang="zh-CN">
                <a:sym typeface="+mn-ea"/>
              </a:rPr>
              <a:t>jedis</a:t>
            </a:r>
            <a:endParaRPr lang="en-US" altLang="zh-CN"/>
          </a:p>
        </p:txBody>
      </p:sp>
      <p:sp>
        <p:nvSpPr>
          <p:cNvPr id="256" name="文本框 255"/>
          <p:cNvSpPr txBox="1"/>
          <p:nvPr>
            <p:custDataLst>
              <p:tags r:id="rId46"/>
            </p:custDataLst>
          </p:nvPr>
        </p:nvSpPr>
        <p:spPr>
          <a:xfrm>
            <a:off x="10695940" y="2976245"/>
            <a:ext cx="1287780" cy="3308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a:sym typeface="+mn-ea"/>
              </a:rPr>
              <a:t>即时通信</a:t>
            </a:r>
            <a:endParaRPr lang="en-US" altLang="zh-CN"/>
          </a:p>
          <a:p>
            <a:r>
              <a:rPr lang="en-US" altLang="zh-CN">
                <a:sym typeface="+mn-ea"/>
              </a:rPr>
              <a:t>SocketIO</a:t>
            </a:r>
            <a:endParaRPr lang="en-US" altLang="zh-CN"/>
          </a:p>
        </p:txBody>
      </p:sp>
      <p:sp>
        <p:nvSpPr>
          <p:cNvPr id="257" name="文本框 256"/>
          <p:cNvSpPr txBox="1"/>
          <p:nvPr>
            <p:custDataLst>
              <p:tags r:id="rId47"/>
            </p:custDataLst>
          </p:nvPr>
        </p:nvSpPr>
        <p:spPr>
          <a:xfrm>
            <a:off x="10695940" y="3535680"/>
            <a:ext cx="1287780" cy="3308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zh-CN" altLang="en-US">
                <a:sym typeface="+mn-ea"/>
              </a:rPr>
              <a:t>序列化</a:t>
            </a:r>
            <a:endParaRPr lang="en-US" altLang="zh-CN"/>
          </a:p>
          <a:p>
            <a:r>
              <a:rPr lang="en-US" altLang="zh-CN">
                <a:sym typeface="+mn-ea"/>
              </a:rPr>
              <a:t>fast</a:t>
            </a:r>
            <a:r>
              <a:rPr lang="zh-CN" altLang="en-US">
                <a:sym typeface="+mn-ea"/>
              </a:rPr>
              <a:t>json</a:t>
            </a:r>
            <a:endParaRPr lang="en-US" altLang="zh-CN"/>
          </a:p>
        </p:txBody>
      </p:sp>
      <p:sp>
        <p:nvSpPr>
          <p:cNvPr id="258" name="矩形 257"/>
          <p:cNvSpPr/>
          <p:nvPr>
            <p:custDataLst>
              <p:tags r:id="rId48"/>
            </p:custDataLst>
          </p:nvPr>
        </p:nvSpPr>
        <p:spPr>
          <a:xfrm>
            <a:off x="1100455" y="3698875"/>
            <a:ext cx="2611120" cy="290830"/>
          </a:xfrm>
          <a:prstGeom prst="rect">
            <a:avLst/>
          </a:prstGeom>
          <a:solidFill>
            <a:schemeClr val="bg1"/>
          </a:solidFill>
          <a:ln>
            <a:noFill/>
          </a:ln>
          <a:effectLst>
            <a:outerShdw blurRad="254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lstStyle/>
          <a:p>
            <a:pPr lvl="0" algn="ctr">
              <a:buClrTx/>
              <a:buSzTx/>
              <a:buFontTx/>
            </a:pPr>
            <a:r>
              <a:rPr lang="en-US" altLang="zh-CN" sz="1000" b="1" dirty="0">
                <a:solidFill>
                  <a:schemeClr val="tx1"/>
                </a:solidFill>
                <a:latin typeface="微软雅黑" panose="020B0503020204020204" charset="-122"/>
                <a:ea typeface="微软雅黑" panose="020B0503020204020204" charset="-122"/>
                <a:sym typeface="+mn-ea"/>
              </a:rPr>
              <a:t>SpringCloud</a:t>
            </a:r>
            <a:endParaRPr lang="en-US" altLang="zh-CN" sz="1000" b="1" dirty="0">
              <a:solidFill>
                <a:schemeClr val="tx1"/>
              </a:solidFill>
              <a:latin typeface="微软雅黑" panose="020B0503020204020204" charset="-122"/>
              <a:ea typeface="微软雅黑" panose="020B0503020204020204" charset="-122"/>
              <a:sym typeface="+mn-ea"/>
            </a:endParaRPr>
          </a:p>
        </p:txBody>
      </p:sp>
      <p:sp>
        <p:nvSpPr>
          <p:cNvPr id="259" name="矩形 258"/>
          <p:cNvSpPr/>
          <p:nvPr>
            <p:custDataLst>
              <p:tags r:id="rId49"/>
            </p:custDataLst>
          </p:nvPr>
        </p:nvSpPr>
        <p:spPr>
          <a:xfrm>
            <a:off x="3744595" y="3698875"/>
            <a:ext cx="2107565" cy="290830"/>
          </a:xfrm>
          <a:prstGeom prst="rect">
            <a:avLst/>
          </a:prstGeom>
          <a:solidFill>
            <a:schemeClr val="bg1"/>
          </a:solidFill>
          <a:ln>
            <a:noFill/>
          </a:ln>
          <a:effectLst>
            <a:outerShdw blurRad="254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lstStyle/>
          <a:p>
            <a:pPr lvl="0" algn="ctr">
              <a:buClrTx/>
              <a:buSzTx/>
              <a:buFontTx/>
            </a:pPr>
            <a:r>
              <a:rPr lang="en-US" altLang="zh-CN" sz="1000" b="1" dirty="0">
                <a:solidFill>
                  <a:schemeClr val="tx1"/>
                </a:solidFill>
                <a:latin typeface="微软雅黑" panose="020B0503020204020204" charset="-122"/>
                <a:ea typeface="微软雅黑" panose="020B0503020204020204" charset="-122"/>
                <a:sym typeface="+mn-ea"/>
              </a:rPr>
              <a:t>        StarRocks\ Hbase、Hive</a:t>
            </a:r>
            <a:endParaRPr lang="en-US" altLang="zh-CN" sz="1000" b="1" dirty="0">
              <a:solidFill>
                <a:schemeClr val="tx1"/>
              </a:solidFill>
              <a:latin typeface="微软雅黑" panose="020B0503020204020204" charset="-122"/>
              <a:ea typeface="微软雅黑" panose="020B0503020204020204" charset="-122"/>
              <a:sym typeface="+mn-ea"/>
            </a:endParaRPr>
          </a:p>
        </p:txBody>
      </p:sp>
      <p:sp>
        <p:nvSpPr>
          <p:cNvPr id="261" name="左右箭头 260"/>
          <p:cNvSpPr/>
          <p:nvPr/>
        </p:nvSpPr>
        <p:spPr>
          <a:xfrm>
            <a:off x="5839460" y="2998470"/>
            <a:ext cx="358140" cy="160655"/>
          </a:xfrm>
          <a:prstGeom prst="leftRightArrow">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68" name="左右箭头 267"/>
          <p:cNvSpPr/>
          <p:nvPr/>
        </p:nvSpPr>
        <p:spPr>
          <a:xfrm rot="16200000">
            <a:off x="3870325" y="707390"/>
            <a:ext cx="248285" cy="187325"/>
          </a:xfrm>
          <a:prstGeom prst="leftRightArrow">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69" name="左右箭头 268"/>
          <p:cNvSpPr/>
          <p:nvPr/>
        </p:nvSpPr>
        <p:spPr>
          <a:xfrm rot="16200000">
            <a:off x="8945245" y="707390"/>
            <a:ext cx="248285" cy="187325"/>
          </a:xfrm>
          <a:prstGeom prst="leftRightArrow">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70" name="文本框 269"/>
          <p:cNvSpPr txBox="1"/>
          <p:nvPr/>
        </p:nvSpPr>
        <p:spPr>
          <a:xfrm>
            <a:off x="4304030" y="685800"/>
            <a:ext cx="4155440" cy="229870"/>
          </a:xfrm>
          <a:prstGeom prst="rect">
            <a:avLst/>
          </a:prstGeom>
          <a:noFill/>
        </p:spPr>
        <p:txBody>
          <a:bodyPr wrap="square" rtlCol="0">
            <a:spAutoFit/>
          </a:bodyPr>
          <a:lstStyle/>
          <a:p>
            <a:pPr algn="ctr"/>
            <a:r>
              <a:rPr lang="en-US" altLang="zh-CN" sz="900" b="1">
                <a:solidFill>
                  <a:schemeClr val="accent1">
                    <a:lumMod val="75000"/>
                  </a:schemeClr>
                </a:solidFill>
                <a:latin typeface="微软雅黑" panose="020B0503020204020204" charset="-122"/>
                <a:ea typeface="微软雅黑" panose="020B0503020204020204" charset="-122"/>
              </a:rPr>
              <a:t>HTTPS/WebSocket </a:t>
            </a:r>
            <a:endParaRPr lang="en-US" altLang="zh-CN" sz="900" b="1">
              <a:solidFill>
                <a:schemeClr val="accent1">
                  <a:lumMod val="75000"/>
                </a:schemeClr>
              </a:solidFill>
              <a:latin typeface="微软雅黑" panose="020B0503020204020204" charset="-122"/>
              <a:ea typeface="微软雅黑" panose="020B0503020204020204" charset="-122"/>
            </a:endParaRPr>
          </a:p>
        </p:txBody>
      </p:sp>
      <p:pic>
        <p:nvPicPr>
          <p:cNvPr id="284" name="图片 283"/>
          <p:cNvPicPr>
            <a:picLocks noChangeAspect="1"/>
          </p:cNvPicPr>
          <p:nvPr/>
        </p:nvPicPr>
        <p:blipFill>
          <a:blip r:embed="rId50"/>
          <a:stretch>
            <a:fillRect/>
          </a:stretch>
        </p:blipFill>
        <p:spPr>
          <a:xfrm>
            <a:off x="1142365" y="5182870"/>
            <a:ext cx="390525" cy="255270"/>
          </a:xfrm>
          <a:prstGeom prst="rect">
            <a:avLst/>
          </a:prstGeom>
        </p:spPr>
      </p:pic>
      <p:pic>
        <p:nvPicPr>
          <p:cNvPr id="285" name="图片 284"/>
          <p:cNvPicPr>
            <a:picLocks noChangeAspect="1"/>
          </p:cNvPicPr>
          <p:nvPr/>
        </p:nvPicPr>
        <p:blipFill>
          <a:blip r:embed="rId51"/>
          <a:stretch>
            <a:fillRect/>
          </a:stretch>
        </p:blipFill>
        <p:spPr>
          <a:xfrm>
            <a:off x="9088120" y="5175885"/>
            <a:ext cx="280035" cy="265430"/>
          </a:xfrm>
          <a:prstGeom prst="rect">
            <a:avLst/>
          </a:prstGeom>
        </p:spPr>
      </p:pic>
      <p:pic>
        <p:nvPicPr>
          <p:cNvPr id="286" name="图片 285"/>
          <p:cNvPicPr>
            <a:picLocks noChangeAspect="1"/>
          </p:cNvPicPr>
          <p:nvPr/>
        </p:nvPicPr>
        <p:blipFill>
          <a:blip r:embed="rId52"/>
          <a:stretch>
            <a:fillRect/>
          </a:stretch>
        </p:blipFill>
        <p:spPr>
          <a:xfrm>
            <a:off x="10058400" y="5179695"/>
            <a:ext cx="270510" cy="276225"/>
          </a:xfrm>
          <a:prstGeom prst="rect">
            <a:avLst/>
          </a:prstGeom>
        </p:spPr>
      </p:pic>
      <p:pic>
        <p:nvPicPr>
          <p:cNvPr id="287" name="图片 286"/>
          <p:cNvPicPr>
            <a:picLocks noChangeAspect="1"/>
          </p:cNvPicPr>
          <p:nvPr/>
        </p:nvPicPr>
        <p:blipFill>
          <a:blip r:embed="rId53"/>
          <a:stretch>
            <a:fillRect/>
          </a:stretch>
        </p:blipFill>
        <p:spPr>
          <a:xfrm>
            <a:off x="7148830" y="5184775"/>
            <a:ext cx="292100" cy="268605"/>
          </a:xfrm>
          <a:prstGeom prst="rect">
            <a:avLst/>
          </a:prstGeom>
        </p:spPr>
      </p:pic>
      <p:pic>
        <p:nvPicPr>
          <p:cNvPr id="292" name="图片 291"/>
          <p:cNvPicPr>
            <a:picLocks noChangeAspect="1"/>
          </p:cNvPicPr>
          <p:nvPr/>
        </p:nvPicPr>
        <p:blipFill>
          <a:blip r:embed="rId54"/>
          <a:stretch>
            <a:fillRect/>
          </a:stretch>
        </p:blipFill>
        <p:spPr>
          <a:xfrm>
            <a:off x="6287770" y="5204460"/>
            <a:ext cx="309880" cy="225425"/>
          </a:xfrm>
          <a:prstGeom prst="rect">
            <a:avLst/>
          </a:prstGeom>
        </p:spPr>
      </p:pic>
      <p:grpSp>
        <p:nvGrpSpPr>
          <p:cNvPr id="158" name="组合 157"/>
          <p:cNvGrpSpPr/>
          <p:nvPr/>
        </p:nvGrpSpPr>
        <p:grpSpPr>
          <a:xfrm>
            <a:off x="1100455" y="5852160"/>
            <a:ext cx="1245235" cy="969645"/>
            <a:chOff x="2023" y="13457"/>
            <a:chExt cx="1592" cy="1418"/>
          </a:xfrm>
        </p:grpSpPr>
        <p:sp>
          <p:nvSpPr>
            <p:cNvPr id="69" name="矩形: 圆角 13"/>
            <p:cNvSpPr/>
            <p:nvPr/>
          </p:nvSpPr>
          <p:spPr>
            <a:xfrm>
              <a:off x="2023" y="13457"/>
              <a:ext cx="1593" cy="1418"/>
            </a:xfrm>
            <a:prstGeom prst="roundRect">
              <a:avLst>
                <a:gd name="adj" fmla="val 1522"/>
              </a:avLst>
            </a:prstGeom>
            <a:solidFill>
              <a:schemeClr val="bg1"/>
            </a:solidFill>
            <a:ln>
              <a:noFill/>
            </a:ln>
            <a:effectLst>
              <a:outerShdw blurRad="254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rtlCol="0" anchor="t"/>
            <a:lstStyle/>
            <a:p>
              <a:pPr marL="0" marR="0" lvl="0" algn="ctr" defTabSz="914400" rtl="0" eaLnBrk="1" fontAlgn="auto" latinLnBrk="0" hangingPunct="1">
                <a:lnSpc>
                  <a:spcPct val="100000"/>
                </a:lnSpc>
                <a:spcBef>
                  <a:spcPts val="0"/>
                </a:spcBef>
                <a:buClrTx/>
                <a:buSzTx/>
                <a:buFontTx/>
                <a:buNone/>
              </a:pPr>
              <a:r>
                <a:rPr kumimoji="0" lang="zh-CN" altLang="en-US" sz="1000" b="1" i="0" u="none" strike="noStrike" kern="1200" cap="none" spc="0" normalizeH="0" baseline="0">
                  <a:solidFill>
                    <a:schemeClr val="accent1"/>
                  </a:solidFill>
                  <a:latin typeface="微软雅黑" panose="020B0503020204020204" charset="-122"/>
                  <a:ea typeface="微软雅黑" panose="020B0503020204020204" charset="-122"/>
                </a:rPr>
                <a:t>源码管理</a:t>
              </a:r>
              <a:endParaRPr kumimoji="0" lang="zh-CN" altLang="en-US" sz="1000" b="1" i="0" u="none" strike="noStrike" kern="1200" cap="none" spc="0" normalizeH="0" baseline="0">
                <a:solidFill>
                  <a:schemeClr val="accent1"/>
                </a:solidFill>
                <a:latin typeface="微软雅黑" panose="020B0503020204020204" charset="-122"/>
                <a:ea typeface="微软雅黑" panose="020B0503020204020204" charset="-122"/>
              </a:endParaRPr>
            </a:p>
          </p:txBody>
        </p:sp>
        <p:sp>
          <p:nvSpPr>
            <p:cNvPr id="71" name="文本框 70"/>
            <p:cNvSpPr txBox="1"/>
            <p:nvPr/>
          </p:nvSpPr>
          <p:spPr>
            <a:xfrm>
              <a:off x="2123" y="13909"/>
              <a:ext cx="1393" cy="432"/>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t>          git</a:t>
              </a:r>
              <a:endParaRPr lang="en-US" altLang="zh-CN"/>
            </a:p>
          </p:txBody>
        </p:sp>
        <p:sp>
          <p:nvSpPr>
            <p:cNvPr id="73" name="文本框 72"/>
            <p:cNvSpPr txBox="1"/>
            <p:nvPr/>
          </p:nvSpPr>
          <p:spPr>
            <a:xfrm>
              <a:off x="2123" y="14385"/>
              <a:ext cx="1394" cy="431"/>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          svn</a:t>
              </a:r>
              <a:endParaRPr lang="en-US" altLang="zh-CN">
                <a:sym typeface="+mn-ea"/>
              </a:endParaRPr>
            </a:p>
          </p:txBody>
        </p:sp>
      </p:grpSp>
      <p:grpSp>
        <p:nvGrpSpPr>
          <p:cNvPr id="156" name="组合 155"/>
          <p:cNvGrpSpPr/>
          <p:nvPr/>
        </p:nvGrpSpPr>
        <p:grpSpPr>
          <a:xfrm>
            <a:off x="2382520" y="5852160"/>
            <a:ext cx="2387600" cy="969645"/>
            <a:chOff x="3716" y="13457"/>
            <a:chExt cx="3052" cy="1418"/>
          </a:xfrm>
        </p:grpSpPr>
        <p:sp>
          <p:nvSpPr>
            <p:cNvPr id="106" name="矩形: 圆角 13"/>
            <p:cNvSpPr/>
            <p:nvPr/>
          </p:nvSpPr>
          <p:spPr>
            <a:xfrm>
              <a:off x="3716" y="13457"/>
              <a:ext cx="3053" cy="1418"/>
            </a:xfrm>
            <a:prstGeom prst="roundRect">
              <a:avLst>
                <a:gd name="adj" fmla="val 1522"/>
              </a:avLst>
            </a:prstGeom>
            <a:solidFill>
              <a:schemeClr val="bg1"/>
            </a:solidFill>
            <a:ln>
              <a:noFill/>
            </a:ln>
            <a:effectLst>
              <a:outerShdw blurRad="254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rtlCol="0" anchor="t"/>
            <a:lstStyle/>
            <a:p>
              <a:pPr marL="0" marR="0" lvl="0" algn="ctr" defTabSz="914400" rtl="0" eaLnBrk="1" fontAlgn="auto" latinLnBrk="0" hangingPunct="1">
                <a:lnSpc>
                  <a:spcPct val="100000"/>
                </a:lnSpc>
                <a:spcBef>
                  <a:spcPts val="0"/>
                </a:spcBef>
                <a:buClrTx/>
                <a:buSzTx/>
                <a:buFontTx/>
                <a:buNone/>
              </a:pPr>
              <a:r>
                <a:rPr kumimoji="0" lang="zh-CN" altLang="en-US" sz="1000" b="1" i="0" u="none" strike="noStrike" kern="1200" cap="none" spc="0" normalizeH="0" baseline="0">
                  <a:solidFill>
                    <a:schemeClr val="accent1"/>
                  </a:solidFill>
                  <a:latin typeface="微软雅黑" panose="020B0503020204020204" charset="-122"/>
                  <a:ea typeface="微软雅黑" panose="020B0503020204020204" charset="-122"/>
                </a:rPr>
                <a:t>构建</a:t>
              </a:r>
              <a:endParaRPr kumimoji="0" lang="zh-CN" altLang="en-US" sz="1000" b="1" i="0" u="none" strike="noStrike" kern="1200" cap="none" spc="0" normalizeH="0" baseline="0">
                <a:solidFill>
                  <a:schemeClr val="accent1"/>
                </a:solidFill>
                <a:latin typeface="微软雅黑" panose="020B0503020204020204" charset="-122"/>
                <a:ea typeface="微软雅黑" panose="020B0503020204020204" charset="-122"/>
              </a:endParaRPr>
            </a:p>
          </p:txBody>
        </p:sp>
        <p:sp>
          <p:nvSpPr>
            <p:cNvPr id="107" name="文本框 106"/>
            <p:cNvSpPr txBox="1"/>
            <p:nvPr/>
          </p:nvSpPr>
          <p:spPr>
            <a:xfrm>
              <a:off x="3816" y="13909"/>
              <a:ext cx="1393" cy="432"/>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err="1">
                  <a:sym typeface="+mn-ea"/>
                </a:rPr>
                <a:t>       </a:t>
              </a:r>
              <a:r>
                <a:rPr lang="en-US" altLang="zh-CN">
                  <a:sym typeface="+mn-ea"/>
                </a:rPr>
                <a:t>jekins</a:t>
              </a:r>
              <a:endParaRPr lang="en-US" altLang="zh-CN"/>
            </a:p>
          </p:txBody>
        </p:sp>
        <p:sp>
          <p:nvSpPr>
            <p:cNvPr id="109" name="文本框 108"/>
            <p:cNvSpPr txBox="1"/>
            <p:nvPr/>
          </p:nvSpPr>
          <p:spPr>
            <a:xfrm>
              <a:off x="3816" y="14385"/>
              <a:ext cx="1394" cy="431"/>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         sonarqube</a:t>
              </a:r>
              <a:endParaRPr lang="en-US" altLang="zh-CN" dirty="0">
                <a:sym typeface="+mn-ea"/>
              </a:endParaRPr>
            </a:p>
          </p:txBody>
        </p:sp>
        <p:sp>
          <p:nvSpPr>
            <p:cNvPr id="112" name="文本框 111"/>
            <p:cNvSpPr txBox="1"/>
            <p:nvPr/>
          </p:nvSpPr>
          <p:spPr>
            <a:xfrm>
              <a:off x="5275" y="13909"/>
              <a:ext cx="1393" cy="432"/>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          webpack</a:t>
              </a:r>
              <a:endParaRPr lang="en-US" altLang="zh-CN" dirty="0"/>
            </a:p>
          </p:txBody>
        </p:sp>
        <p:sp>
          <p:nvSpPr>
            <p:cNvPr id="113" name="文本框 112"/>
            <p:cNvSpPr txBox="1"/>
            <p:nvPr/>
          </p:nvSpPr>
          <p:spPr>
            <a:xfrm>
              <a:off x="5275" y="14385"/>
              <a:ext cx="1394" cy="431"/>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          maven</a:t>
              </a:r>
              <a:endParaRPr lang="en-US" altLang="zh-CN">
                <a:sym typeface="+mn-ea"/>
              </a:endParaRPr>
            </a:p>
          </p:txBody>
        </p:sp>
      </p:grpSp>
      <p:grpSp>
        <p:nvGrpSpPr>
          <p:cNvPr id="155" name="组合 154"/>
          <p:cNvGrpSpPr/>
          <p:nvPr/>
        </p:nvGrpSpPr>
        <p:grpSpPr>
          <a:xfrm>
            <a:off x="4806315" y="5852160"/>
            <a:ext cx="2387600" cy="969645"/>
            <a:chOff x="6893" y="13457"/>
            <a:chExt cx="3052" cy="1418"/>
          </a:xfrm>
        </p:grpSpPr>
        <p:sp>
          <p:nvSpPr>
            <p:cNvPr id="114" name="矩形: 圆角 13"/>
            <p:cNvSpPr/>
            <p:nvPr/>
          </p:nvSpPr>
          <p:spPr>
            <a:xfrm>
              <a:off x="6893" y="13457"/>
              <a:ext cx="3053" cy="1418"/>
            </a:xfrm>
            <a:prstGeom prst="roundRect">
              <a:avLst>
                <a:gd name="adj" fmla="val 1522"/>
              </a:avLst>
            </a:prstGeom>
            <a:solidFill>
              <a:schemeClr val="bg1"/>
            </a:solidFill>
            <a:ln>
              <a:noFill/>
            </a:ln>
            <a:effectLst>
              <a:outerShdw blurRad="254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rtlCol="0" anchor="t"/>
            <a:lstStyle/>
            <a:p>
              <a:pPr marL="0" marR="0" lvl="0" algn="ctr" defTabSz="914400" rtl="0" eaLnBrk="1" fontAlgn="auto" latinLnBrk="0" hangingPunct="1">
                <a:lnSpc>
                  <a:spcPct val="100000"/>
                </a:lnSpc>
                <a:spcBef>
                  <a:spcPts val="0"/>
                </a:spcBef>
                <a:buClrTx/>
                <a:buSzTx/>
                <a:buFontTx/>
                <a:buNone/>
              </a:pPr>
              <a:r>
                <a:rPr kumimoji="0" lang="zh-CN" altLang="en-US" sz="1000" b="1" i="0" u="none" strike="noStrike" kern="1200" cap="none" spc="0" normalizeH="0" baseline="0">
                  <a:solidFill>
                    <a:schemeClr val="accent1"/>
                  </a:solidFill>
                  <a:latin typeface="微软雅黑" panose="020B0503020204020204" charset="-122"/>
                  <a:ea typeface="微软雅黑" panose="020B0503020204020204" charset="-122"/>
                </a:rPr>
                <a:t>测试</a:t>
              </a:r>
              <a:endParaRPr kumimoji="0" lang="zh-CN" altLang="en-US" sz="1000" b="1" i="0" u="none" strike="noStrike" kern="1200" cap="none" spc="0" normalizeH="0" baseline="0">
                <a:solidFill>
                  <a:schemeClr val="accent1"/>
                </a:solidFill>
                <a:latin typeface="微软雅黑" panose="020B0503020204020204" charset="-122"/>
                <a:ea typeface="微软雅黑" panose="020B0503020204020204" charset="-122"/>
              </a:endParaRPr>
            </a:p>
          </p:txBody>
        </p:sp>
        <p:sp>
          <p:nvSpPr>
            <p:cNvPr id="115" name="文本框 114"/>
            <p:cNvSpPr txBox="1"/>
            <p:nvPr/>
          </p:nvSpPr>
          <p:spPr>
            <a:xfrm>
              <a:off x="6993" y="13909"/>
              <a:ext cx="1393" cy="432"/>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err="1">
                  <a:sym typeface="+mn-ea"/>
                </a:rPr>
                <a:t>            </a:t>
              </a:r>
              <a:r>
                <a:rPr lang="en-US" altLang="zh-CN">
                  <a:sym typeface="+mn-ea"/>
                </a:rPr>
                <a:t>junit</a:t>
              </a:r>
              <a:endParaRPr lang="en-US" altLang="zh-CN"/>
            </a:p>
          </p:txBody>
        </p:sp>
        <p:sp>
          <p:nvSpPr>
            <p:cNvPr id="120" name="文本框 119"/>
            <p:cNvSpPr txBox="1"/>
            <p:nvPr/>
          </p:nvSpPr>
          <p:spPr>
            <a:xfrm>
              <a:off x="6993" y="14385"/>
              <a:ext cx="1394" cy="431"/>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err="1">
                  <a:sym typeface="+mn-ea"/>
                </a:rPr>
                <a:t>         </a:t>
              </a:r>
              <a:r>
                <a:rPr lang="en-US" altLang="zh-CN">
                  <a:sym typeface="+mn-ea"/>
                </a:rPr>
                <a:t>EpointATS</a:t>
              </a:r>
              <a:endParaRPr lang="en-US" altLang="zh-CN">
                <a:sym typeface="+mn-ea"/>
              </a:endParaRPr>
            </a:p>
          </p:txBody>
        </p:sp>
        <p:sp>
          <p:nvSpPr>
            <p:cNvPr id="121" name="文本框 120"/>
            <p:cNvSpPr txBox="1"/>
            <p:nvPr/>
          </p:nvSpPr>
          <p:spPr>
            <a:xfrm>
              <a:off x="8452" y="13909"/>
              <a:ext cx="1393" cy="432"/>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err="1">
                  <a:sym typeface="+mn-ea"/>
                </a:rPr>
                <a:t>        </a:t>
              </a:r>
              <a:r>
                <a:rPr lang="en-US" altLang="zh-CN">
                  <a:sym typeface="+mn-ea"/>
                </a:rPr>
                <a:t>Selenium</a:t>
              </a:r>
              <a:endParaRPr lang="en-US" altLang="zh-CN" dirty="0" err="1"/>
            </a:p>
          </p:txBody>
        </p:sp>
        <p:sp>
          <p:nvSpPr>
            <p:cNvPr id="128" name="文本框 127"/>
            <p:cNvSpPr txBox="1"/>
            <p:nvPr/>
          </p:nvSpPr>
          <p:spPr>
            <a:xfrm>
              <a:off x="8452" y="14385"/>
              <a:ext cx="1394" cy="431"/>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          jmeter</a:t>
              </a:r>
              <a:endParaRPr lang="en-US" altLang="zh-CN" dirty="0">
                <a:sym typeface="+mn-ea"/>
              </a:endParaRPr>
            </a:p>
          </p:txBody>
        </p:sp>
      </p:grpSp>
      <p:grpSp>
        <p:nvGrpSpPr>
          <p:cNvPr id="154" name="组合 153"/>
          <p:cNvGrpSpPr/>
          <p:nvPr/>
        </p:nvGrpSpPr>
        <p:grpSpPr>
          <a:xfrm>
            <a:off x="7230110" y="5852160"/>
            <a:ext cx="2387600" cy="969645"/>
            <a:chOff x="10146" y="13457"/>
            <a:chExt cx="3052" cy="1418"/>
          </a:xfrm>
        </p:grpSpPr>
        <p:sp>
          <p:nvSpPr>
            <p:cNvPr id="136" name="矩形: 圆角 13"/>
            <p:cNvSpPr/>
            <p:nvPr/>
          </p:nvSpPr>
          <p:spPr>
            <a:xfrm>
              <a:off x="10146" y="13457"/>
              <a:ext cx="3053" cy="1418"/>
            </a:xfrm>
            <a:prstGeom prst="roundRect">
              <a:avLst>
                <a:gd name="adj" fmla="val 1522"/>
              </a:avLst>
            </a:prstGeom>
            <a:solidFill>
              <a:schemeClr val="bg1"/>
            </a:solidFill>
            <a:ln>
              <a:noFill/>
            </a:ln>
            <a:effectLst>
              <a:outerShdw blurRad="254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rtlCol="0" anchor="t"/>
            <a:lstStyle/>
            <a:p>
              <a:pPr marL="0" marR="0" lvl="0" algn="ctr" defTabSz="914400" rtl="0" eaLnBrk="1" fontAlgn="auto" latinLnBrk="0" hangingPunct="1">
                <a:lnSpc>
                  <a:spcPct val="100000"/>
                </a:lnSpc>
                <a:spcBef>
                  <a:spcPts val="0"/>
                </a:spcBef>
                <a:buClrTx/>
                <a:buSzTx/>
                <a:buFontTx/>
                <a:buNone/>
              </a:pPr>
              <a:r>
                <a:rPr kumimoji="0" lang="zh-CN" altLang="en-US" sz="1000" b="1" i="0" u="none" strike="noStrike" kern="1200" cap="none" spc="0" normalizeH="0" baseline="0">
                  <a:solidFill>
                    <a:schemeClr val="accent1"/>
                  </a:solidFill>
                  <a:latin typeface="微软雅黑" panose="020B0503020204020204" charset="-122"/>
                  <a:ea typeface="微软雅黑" panose="020B0503020204020204" charset="-122"/>
                </a:rPr>
                <a:t>部署</a:t>
              </a:r>
              <a:r>
                <a:rPr kumimoji="0" lang="en-US" altLang="zh-CN" sz="1000" b="1" i="0" u="none" strike="noStrike" kern="1200" cap="none" spc="0" normalizeH="0" baseline="0">
                  <a:solidFill>
                    <a:schemeClr val="accent1"/>
                  </a:solidFill>
                  <a:latin typeface="微软雅黑" panose="020B0503020204020204" charset="-122"/>
                  <a:ea typeface="微软雅黑" panose="020B0503020204020204" charset="-122"/>
                </a:rPr>
                <a:t>/</a:t>
              </a:r>
              <a:r>
                <a:rPr kumimoji="0" lang="zh-CN" altLang="en-US" sz="1000" b="1" i="0" u="none" strike="noStrike" kern="1200" cap="none" spc="0" normalizeH="0" baseline="0">
                  <a:solidFill>
                    <a:schemeClr val="accent1"/>
                  </a:solidFill>
                  <a:latin typeface="微软雅黑" panose="020B0503020204020204" charset="-122"/>
                  <a:ea typeface="微软雅黑" panose="020B0503020204020204" charset="-122"/>
                </a:rPr>
                <a:t>运行</a:t>
              </a:r>
              <a:endParaRPr kumimoji="0" lang="zh-CN" altLang="en-US" sz="1000" b="1" i="0" u="none" strike="noStrike" kern="1200" cap="none" spc="0" normalizeH="0" baseline="0">
                <a:solidFill>
                  <a:schemeClr val="accent1"/>
                </a:solidFill>
                <a:latin typeface="微软雅黑" panose="020B0503020204020204" charset="-122"/>
                <a:ea typeface="微软雅黑" panose="020B0503020204020204" charset="-122"/>
              </a:endParaRPr>
            </a:p>
          </p:txBody>
        </p:sp>
        <p:sp>
          <p:nvSpPr>
            <p:cNvPr id="138" name="文本框 137"/>
            <p:cNvSpPr txBox="1"/>
            <p:nvPr/>
          </p:nvSpPr>
          <p:spPr>
            <a:xfrm>
              <a:off x="10246" y="13909"/>
              <a:ext cx="1393" cy="432"/>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             ecloud</a:t>
              </a:r>
              <a:endParaRPr lang="en-US" altLang="zh-CN" dirty="0"/>
            </a:p>
          </p:txBody>
        </p:sp>
        <p:sp>
          <p:nvSpPr>
            <p:cNvPr id="140" name="文本框 139"/>
            <p:cNvSpPr txBox="1"/>
            <p:nvPr/>
          </p:nvSpPr>
          <p:spPr>
            <a:xfrm>
              <a:off x="10246" y="14385"/>
              <a:ext cx="1394" cy="431"/>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             docker</a:t>
              </a:r>
              <a:endParaRPr lang="en-US" altLang="zh-CN">
                <a:sym typeface="+mn-ea"/>
              </a:endParaRPr>
            </a:p>
          </p:txBody>
        </p:sp>
        <p:sp>
          <p:nvSpPr>
            <p:cNvPr id="143" name="文本框 142"/>
            <p:cNvSpPr txBox="1"/>
            <p:nvPr/>
          </p:nvSpPr>
          <p:spPr>
            <a:xfrm>
              <a:off x="11705" y="13909"/>
              <a:ext cx="1393" cy="432"/>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err="1">
                  <a:sym typeface="+mn-ea"/>
                </a:rPr>
                <a:t>              </a:t>
              </a:r>
              <a:r>
                <a:rPr lang="en-US" altLang="zh-CN">
                  <a:sym typeface="+mn-ea"/>
                </a:rPr>
                <a:t>tongweb</a:t>
              </a:r>
              <a:endParaRPr lang="en-US" altLang="zh-CN" dirty="0" err="1"/>
            </a:p>
          </p:txBody>
        </p:sp>
        <p:sp>
          <p:nvSpPr>
            <p:cNvPr id="145" name="文本框 144"/>
            <p:cNvSpPr txBox="1"/>
            <p:nvPr/>
          </p:nvSpPr>
          <p:spPr>
            <a:xfrm>
              <a:off x="11705" y="14385"/>
              <a:ext cx="1394" cy="431"/>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          tomcat</a:t>
              </a:r>
              <a:endParaRPr lang="en-US" altLang="zh-CN">
                <a:sym typeface="+mn-ea"/>
              </a:endParaRPr>
            </a:p>
          </p:txBody>
        </p:sp>
      </p:grpSp>
      <p:grpSp>
        <p:nvGrpSpPr>
          <p:cNvPr id="153" name="组合 152"/>
          <p:cNvGrpSpPr/>
          <p:nvPr/>
        </p:nvGrpSpPr>
        <p:grpSpPr>
          <a:xfrm>
            <a:off x="9653269" y="5852160"/>
            <a:ext cx="2388382" cy="969645"/>
            <a:chOff x="13399" y="13457"/>
            <a:chExt cx="3053" cy="1418"/>
          </a:xfrm>
        </p:grpSpPr>
        <p:sp>
          <p:nvSpPr>
            <p:cNvPr id="148" name="矩形: 圆角 13"/>
            <p:cNvSpPr/>
            <p:nvPr/>
          </p:nvSpPr>
          <p:spPr>
            <a:xfrm>
              <a:off x="13399" y="13457"/>
              <a:ext cx="3053" cy="1418"/>
            </a:xfrm>
            <a:prstGeom prst="roundRect">
              <a:avLst>
                <a:gd name="adj" fmla="val 1522"/>
              </a:avLst>
            </a:prstGeom>
            <a:solidFill>
              <a:schemeClr val="bg1"/>
            </a:solidFill>
            <a:ln>
              <a:noFill/>
            </a:ln>
            <a:effectLst>
              <a:outerShdw blurRad="254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rtlCol="0" anchor="t"/>
            <a:lstStyle/>
            <a:p>
              <a:pPr marL="0" marR="0" lvl="0" algn="ctr" defTabSz="914400" rtl="0" eaLnBrk="1" fontAlgn="auto" latinLnBrk="0" hangingPunct="1">
                <a:lnSpc>
                  <a:spcPct val="100000"/>
                </a:lnSpc>
                <a:spcBef>
                  <a:spcPts val="0"/>
                </a:spcBef>
                <a:buClrTx/>
                <a:buSzTx/>
                <a:buFontTx/>
                <a:buNone/>
              </a:pPr>
              <a:r>
                <a:rPr kumimoji="0" lang="zh-CN" sz="1000" b="1" i="0" u="none" strike="noStrike" kern="1200" cap="none" spc="0" normalizeH="0" baseline="0">
                  <a:solidFill>
                    <a:schemeClr val="accent1"/>
                  </a:solidFill>
                  <a:latin typeface="微软雅黑" panose="020B0503020204020204" charset="-122"/>
                  <a:ea typeface="微软雅黑" panose="020B0503020204020204" charset="-122"/>
                </a:rPr>
                <a:t>监控</a:t>
              </a:r>
              <a:endParaRPr kumimoji="0" lang="zh-CN" sz="1000" b="1" i="0" u="none" strike="noStrike" kern="1200" cap="none" spc="0" normalizeH="0" baseline="0">
                <a:solidFill>
                  <a:schemeClr val="accent1"/>
                </a:solidFill>
                <a:latin typeface="微软雅黑" panose="020B0503020204020204" charset="-122"/>
                <a:ea typeface="微软雅黑" panose="020B0503020204020204" charset="-122"/>
              </a:endParaRPr>
            </a:p>
          </p:txBody>
        </p:sp>
        <p:sp>
          <p:nvSpPr>
            <p:cNvPr id="149" name="文本框 148"/>
            <p:cNvSpPr txBox="1"/>
            <p:nvPr/>
          </p:nvSpPr>
          <p:spPr>
            <a:xfrm>
              <a:off x="13499" y="13909"/>
              <a:ext cx="1393" cy="432"/>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err="1">
                  <a:sym typeface="+mn-ea"/>
                </a:rPr>
                <a:t>        </a:t>
              </a:r>
              <a:r>
                <a:rPr lang="en-US" altLang="zh-CN">
                  <a:sym typeface="+mn-ea"/>
                </a:rPr>
                <a:t>ECCollect</a:t>
              </a:r>
              <a:endParaRPr lang="en-US" altLang="zh-CN"/>
            </a:p>
          </p:txBody>
        </p:sp>
        <p:sp>
          <p:nvSpPr>
            <p:cNvPr id="150" name="文本框 149"/>
            <p:cNvSpPr txBox="1"/>
            <p:nvPr/>
          </p:nvSpPr>
          <p:spPr>
            <a:xfrm>
              <a:off x="13499" y="14385"/>
              <a:ext cx="1394" cy="431"/>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err="1">
                  <a:sym typeface="+mn-ea"/>
                </a:rPr>
                <a:t>        </a:t>
              </a:r>
              <a:r>
                <a:rPr lang="en-US" altLang="zh-CN">
                  <a:sym typeface="+mn-ea"/>
                </a:rPr>
                <a:t>pinpoint</a:t>
              </a:r>
              <a:endParaRPr lang="en-US" altLang="zh-CN">
                <a:sym typeface="+mn-ea"/>
              </a:endParaRPr>
            </a:p>
          </p:txBody>
        </p:sp>
        <p:sp>
          <p:nvSpPr>
            <p:cNvPr id="151" name="文本框 150"/>
            <p:cNvSpPr txBox="1"/>
            <p:nvPr/>
          </p:nvSpPr>
          <p:spPr>
            <a:xfrm>
              <a:off x="14958" y="13909"/>
              <a:ext cx="1393" cy="432"/>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dirty="0">
                  <a:sym typeface="+mn-ea"/>
                </a:rPr>
                <a:t>        </a:t>
              </a:r>
              <a:r>
                <a:rPr lang="en-US" altLang="zh-CN" dirty="0" err="1">
                  <a:sym typeface="+mn-ea"/>
                </a:rPr>
                <a:t>ECReport</a:t>
              </a:r>
              <a:endParaRPr lang="en-US" altLang="zh-CN" dirty="0"/>
            </a:p>
          </p:txBody>
        </p:sp>
        <p:sp>
          <p:nvSpPr>
            <p:cNvPr id="51" name="文本框 50"/>
            <p:cNvSpPr txBox="1"/>
            <p:nvPr/>
          </p:nvSpPr>
          <p:spPr>
            <a:xfrm>
              <a:off x="14958" y="14379"/>
              <a:ext cx="1393" cy="432"/>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dirty="0">
                  <a:sym typeface="+mn-ea"/>
                </a:rPr>
                <a:t>        …….</a:t>
              </a:r>
              <a:endParaRPr lang="en-US" altLang="zh-CN" dirty="0"/>
            </a:p>
          </p:txBody>
        </p:sp>
      </p:grpSp>
      <p:pic>
        <p:nvPicPr>
          <p:cNvPr id="1093" name="Picture 1093"/>
          <p:cNvPicPr/>
          <p:nvPr/>
        </p:nvPicPr>
        <p:blipFill>
          <a:blip r:embed="rId55"/>
          <a:srcRect l="14044" r="11707" b="32375"/>
          <a:stretch>
            <a:fillRect/>
          </a:stretch>
        </p:blipFill>
        <p:spPr>
          <a:xfrm>
            <a:off x="7329170" y="6518275"/>
            <a:ext cx="367030" cy="226695"/>
          </a:xfrm>
          <a:prstGeom prst="rect">
            <a:avLst/>
          </a:prstGeom>
        </p:spPr>
      </p:pic>
      <p:pic>
        <p:nvPicPr>
          <p:cNvPr id="282" name="图片 281"/>
          <p:cNvPicPr>
            <a:picLocks noChangeAspect="1"/>
          </p:cNvPicPr>
          <p:nvPr/>
        </p:nvPicPr>
        <p:blipFill>
          <a:blip r:embed="rId56"/>
          <a:stretch>
            <a:fillRect/>
          </a:stretch>
        </p:blipFill>
        <p:spPr>
          <a:xfrm>
            <a:off x="1210945" y="6198870"/>
            <a:ext cx="288925" cy="241935"/>
          </a:xfrm>
          <a:prstGeom prst="rect">
            <a:avLst/>
          </a:prstGeom>
        </p:spPr>
      </p:pic>
      <p:pic>
        <p:nvPicPr>
          <p:cNvPr id="293" name="图片 292"/>
          <p:cNvPicPr>
            <a:picLocks noChangeAspect="1"/>
          </p:cNvPicPr>
          <p:nvPr/>
        </p:nvPicPr>
        <p:blipFill>
          <a:blip r:embed="rId57"/>
          <a:stretch>
            <a:fillRect/>
          </a:stretch>
        </p:blipFill>
        <p:spPr>
          <a:xfrm>
            <a:off x="3611245" y="6189980"/>
            <a:ext cx="269240" cy="262255"/>
          </a:xfrm>
          <a:prstGeom prst="rect">
            <a:avLst/>
          </a:prstGeom>
        </p:spPr>
      </p:pic>
      <p:pic>
        <p:nvPicPr>
          <p:cNvPr id="294" name="图片 293"/>
          <p:cNvPicPr>
            <a:picLocks noChangeAspect="1"/>
          </p:cNvPicPr>
          <p:nvPr/>
        </p:nvPicPr>
        <p:blipFill>
          <a:blip r:embed="rId58"/>
          <a:stretch>
            <a:fillRect/>
          </a:stretch>
        </p:blipFill>
        <p:spPr>
          <a:xfrm>
            <a:off x="3632835" y="6497955"/>
            <a:ext cx="247650" cy="261620"/>
          </a:xfrm>
          <a:prstGeom prst="rect">
            <a:avLst/>
          </a:prstGeom>
        </p:spPr>
      </p:pic>
      <p:pic>
        <p:nvPicPr>
          <p:cNvPr id="295" name="图片 294"/>
          <p:cNvPicPr>
            <a:picLocks noChangeAspect="1"/>
          </p:cNvPicPr>
          <p:nvPr/>
        </p:nvPicPr>
        <p:blipFill>
          <a:blip r:embed="rId59"/>
          <a:stretch>
            <a:fillRect/>
          </a:stretch>
        </p:blipFill>
        <p:spPr>
          <a:xfrm>
            <a:off x="2475230" y="6541770"/>
            <a:ext cx="327660" cy="170180"/>
          </a:xfrm>
          <a:prstGeom prst="rect">
            <a:avLst/>
          </a:prstGeom>
        </p:spPr>
      </p:pic>
      <p:pic>
        <p:nvPicPr>
          <p:cNvPr id="296" name="图片 295"/>
          <p:cNvPicPr>
            <a:picLocks noChangeAspect="1"/>
          </p:cNvPicPr>
          <p:nvPr/>
        </p:nvPicPr>
        <p:blipFill>
          <a:blip r:embed="rId60"/>
          <a:stretch>
            <a:fillRect/>
          </a:stretch>
        </p:blipFill>
        <p:spPr>
          <a:xfrm>
            <a:off x="2468880" y="6205220"/>
            <a:ext cx="240030" cy="233680"/>
          </a:xfrm>
          <a:prstGeom prst="rect">
            <a:avLst/>
          </a:prstGeom>
        </p:spPr>
      </p:pic>
      <p:grpSp>
        <p:nvGrpSpPr>
          <p:cNvPr id="31" name="组合 30"/>
          <p:cNvGrpSpPr/>
          <p:nvPr/>
        </p:nvGrpSpPr>
        <p:grpSpPr>
          <a:xfrm rot="16200000" flipV="1">
            <a:off x="2327275" y="3615055"/>
            <a:ext cx="153035" cy="101600"/>
            <a:chOff x="-1246159" y="2812107"/>
            <a:chExt cx="223236" cy="92131"/>
          </a:xfrm>
        </p:grpSpPr>
        <p:sp>
          <p:nvSpPr>
            <p:cNvPr id="32" name="任意多边形: 形状 515"/>
            <p:cNvSpPr/>
            <p:nvPr/>
          </p:nvSpPr>
          <p:spPr>
            <a:xfrm rot="16200000">
              <a:off x="-1104550" y="2822610"/>
              <a:ext cx="92112"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84125" tIns="42062" rIns="84125" bIns="42062" rtlCol="0" anchor="ctr">
              <a:noAutofit/>
            </a:bodyPr>
            <a:lstStyle/>
            <a:p>
              <a:pPr algn="ctr"/>
              <a:endParaRPr lang="zh-CN" altLang="en-US" sz="1655"/>
            </a:p>
          </p:txBody>
        </p:sp>
        <p:sp>
          <p:nvSpPr>
            <p:cNvPr id="33" name="任意多边形: 形状 516"/>
            <p:cNvSpPr/>
            <p:nvPr/>
          </p:nvSpPr>
          <p:spPr>
            <a:xfrm rot="16200000">
              <a:off x="-1180595" y="2822596"/>
              <a:ext cx="92111"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84125" tIns="42062" rIns="84125" bIns="42062" rtlCol="0" anchor="ctr">
              <a:noAutofit/>
            </a:bodyPr>
            <a:lstStyle/>
            <a:p>
              <a:pPr algn="ctr"/>
              <a:endParaRPr lang="zh-CN" altLang="en-US" sz="1655"/>
            </a:p>
          </p:txBody>
        </p:sp>
        <p:sp>
          <p:nvSpPr>
            <p:cNvPr id="36" name="任意多边形: 形状 517"/>
            <p:cNvSpPr/>
            <p:nvPr/>
          </p:nvSpPr>
          <p:spPr>
            <a:xfrm rot="16200000">
              <a:off x="-1256643" y="2822591"/>
              <a:ext cx="92111"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84125" tIns="42062" rIns="84125" bIns="42062" rtlCol="0" anchor="ctr">
              <a:noAutofit/>
            </a:bodyPr>
            <a:lstStyle/>
            <a:p>
              <a:pPr algn="ctr"/>
              <a:endParaRPr lang="zh-CN" altLang="en-US" sz="1655"/>
            </a:p>
          </p:txBody>
        </p:sp>
      </p:grpSp>
      <p:grpSp>
        <p:nvGrpSpPr>
          <p:cNvPr id="44" name="组合 43"/>
          <p:cNvGrpSpPr/>
          <p:nvPr/>
        </p:nvGrpSpPr>
        <p:grpSpPr>
          <a:xfrm rot="16200000" flipV="1">
            <a:off x="4721860" y="3615055"/>
            <a:ext cx="153035" cy="101600"/>
            <a:chOff x="-1246159" y="2812107"/>
            <a:chExt cx="223236" cy="92131"/>
          </a:xfrm>
        </p:grpSpPr>
        <p:sp>
          <p:nvSpPr>
            <p:cNvPr id="45" name="任意多边形: 形状 515"/>
            <p:cNvSpPr/>
            <p:nvPr/>
          </p:nvSpPr>
          <p:spPr>
            <a:xfrm rot="16200000">
              <a:off x="-1104550" y="2822610"/>
              <a:ext cx="92112"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84125" tIns="42062" rIns="84125" bIns="42062" rtlCol="0" anchor="ctr">
              <a:noAutofit/>
            </a:bodyPr>
            <a:lstStyle/>
            <a:p>
              <a:pPr algn="ctr"/>
              <a:endParaRPr lang="zh-CN" altLang="en-US" sz="1655"/>
            </a:p>
          </p:txBody>
        </p:sp>
        <p:sp>
          <p:nvSpPr>
            <p:cNvPr id="46" name="任意多边形: 形状 516"/>
            <p:cNvSpPr/>
            <p:nvPr/>
          </p:nvSpPr>
          <p:spPr>
            <a:xfrm rot="16200000">
              <a:off x="-1180595" y="2822596"/>
              <a:ext cx="92111"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84125" tIns="42062" rIns="84125" bIns="42062" rtlCol="0" anchor="ctr">
              <a:noAutofit/>
            </a:bodyPr>
            <a:lstStyle/>
            <a:p>
              <a:pPr algn="ctr"/>
              <a:endParaRPr lang="zh-CN" altLang="en-US" sz="1655"/>
            </a:p>
          </p:txBody>
        </p:sp>
        <p:sp>
          <p:nvSpPr>
            <p:cNvPr id="47" name="任意多边形: 形状 517"/>
            <p:cNvSpPr/>
            <p:nvPr/>
          </p:nvSpPr>
          <p:spPr>
            <a:xfrm rot="16200000">
              <a:off x="-1256643" y="2822591"/>
              <a:ext cx="92111"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84125" tIns="42062" rIns="84125" bIns="42062" rtlCol="0" anchor="ctr">
              <a:noAutofit/>
            </a:bodyPr>
            <a:lstStyle/>
            <a:p>
              <a:pPr algn="ctr"/>
              <a:endParaRPr lang="zh-CN" altLang="en-US" sz="1655"/>
            </a:p>
          </p:txBody>
        </p:sp>
      </p:grpSp>
      <p:sp>
        <p:nvSpPr>
          <p:cNvPr id="48" name="文本框 47"/>
          <p:cNvSpPr txBox="1"/>
          <p:nvPr/>
        </p:nvSpPr>
        <p:spPr>
          <a:xfrm>
            <a:off x="1178560" y="290830"/>
            <a:ext cx="2959100" cy="320040"/>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vertOverflow="overflow" horzOverflow="overflow" vert="horz" wrap="none" numCol="1" spcCol="0" rtlCol="0" fromWordArt="0" anchor="ctr" anchorCtr="0" forceAA="0" compatLnSpc="1">
            <a:noAutofit/>
          </a:bodyPr>
          <a:lstStyle/>
          <a:p>
            <a:pPr algn="l"/>
            <a:r>
              <a:rPr lang="zh-CN" altLang="en-US" sz="900" b="1">
                <a:solidFill>
                  <a:schemeClr val="tx1"/>
                </a:solidFill>
                <a:latin typeface="微软雅黑" panose="020B0503020204020204" charset="-122"/>
                <a:ea typeface="微软雅黑" panose="020B0503020204020204" charset="-122"/>
                <a:sym typeface="+mn-ea"/>
              </a:rPr>
              <a:t>epoint-fui</a:t>
            </a:r>
            <a:endParaRPr lang="zh-CN" altLang="en-US" sz="900" b="1">
              <a:solidFill>
                <a:schemeClr val="tx1"/>
              </a:solidFill>
              <a:latin typeface="微软雅黑" panose="020B0503020204020204" charset="-122"/>
              <a:ea typeface="微软雅黑" panose="020B0503020204020204" charset="-122"/>
              <a:sym typeface="+mn-ea"/>
            </a:endParaRPr>
          </a:p>
        </p:txBody>
      </p:sp>
      <p:sp>
        <p:nvSpPr>
          <p:cNvPr id="49" name="文本框 48"/>
          <p:cNvSpPr txBox="1"/>
          <p:nvPr/>
        </p:nvSpPr>
        <p:spPr>
          <a:xfrm>
            <a:off x="4267200" y="290830"/>
            <a:ext cx="4609465" cy="320040"/>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vertOverflow="overflow" horzOverflow="overflow" vert="horz" wrap="none" numCol="1" spcCol="0" rtlCol="0" fromWordArt="0" anchor="ctr" anchorCtr="0" forceAA="0" compatLnSpc="1">
            <a:noAutofit/>
          </a:bodyPr>
          <a:lstStyle/>
          <a:p>
            <a:pPr algn="l"/>
            <a:r>
              <a:rPr lang="zh-CN" altLang="en-US" sz="900" b="1">
                <a:solidFill>
                  <a:schemeClr val="tx1"/>
                </a:solidFill>
                <a:latin typeface="微软雅黑" panose="020B0503020204020204" charset="-122"/>
                <a:ea typeface="微软雅黑" panose="020B0503020204020204" charset="-122"/>
                <a:sym typeface="+mn-ea"/>
              </a:rPr>
              <a:t>epoint-f</a:t>
            </a:r>
            <a:r>
              <a:rPr lang="en-US" altLang="zh-CN" sz="900" b="1">
                <a:solidFill>
                  <a:schemeClr val="tx1"/>
                </a:solidFill>
                <a:latin typeface="微软雅黑" panose="020B0503020204020204" charset="-122"/>
                <a:ea typeface="微软雅黑" panose="020B0503020204020204" charset="-122"/>
                <a:sym typeface="+mn-ea"/>
              </a:rPr>
              <a:t>m</a:t>
            </a:r>
            <a:r>
              <a:rPr lang="zh-CN" altLang="en-US" sz="900" b="1">
                <a:solidFill>
                  <a:schemeClr val="tx1"/>
                </a:solidFill>
                <a:latin typeface="微软雅黑" panose="020B0503020204020204" charset="-122"/>
                <a:ea typeface="微软雅黑" panose="020B0503020204020204" charset="-122"/>
                <a:sym typeface="+mn-ea"/>
              </a:rPr>
              <a:t>ui</a:t>
            </a:r>
            <a:endParaRPr lang="zh-CN" altLang="en-US" sz="900" b="1">
              <a:solidFill>
                <a:schemeClr val="tx1"/>
              </a:solidFill>
              <a:latin typeface="微软雅黑" panose="020B0503020204020204" charset="-122"/>
              <a:ea typeface="微软雅黑" panose="020B0503020204020204" charset="-122"/>
              <a:sym typeface="+mn-ea"/>
            </a:endParaRPr>
          </a:p>
        </p:txBody>
      </p:sp>
      <p:sp>
        <p:nvSpPr>
          <p:cNvPr id="52" name="文本框 51"/>
          <p:cNvSpPr txBox="1"/>
          <p:nvPr/>
        </p:nvSpPr>
        <p:spPr>
          <a:xfrm>
            <a:off x="4848860" y="4079240"/>
            <a:ext cx="722630" cy="2546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EGo</a:t>
            </a:r>
            <a:endParaRPr lang="en-US" altLang="zh-CN">
              <a:sym typeface="+mn-ea"/>
            </a:endParaRPr>
          </a:p>
        </p:txBody>
      </p:sp>
      <p:pic>
        <p:nvPicPr>
          <p:cNvPr id="54" name="图片 53" descr="标志-01"/>
          <p:cNvPicPr>
            <a:picLocks noChangeAspect="1"/>
          </p:cNvPicPr>
          <p:nvPr/>
        </p:nvPicPr>
        <p:blipFill>
          <a:blip r:embed="rId61"/>
          <a:stretch>
            <a:fillRect/>
          </a:stretch>
        </p:blipFill>
        <p:spPr>
          <a:xfrm>
            <a:off x="3916680" y="4096703"/>
            <a:ext cx="604520" cy="219710"/>
          </a:xfrm>
          <a:prstGeom prst="rect">
            <a:avLst/>
          </a:prstGeom>
        </p:spPr>
      </p:pic>
      <p:pic>
        <p:nvPicPr>
          <p:cNvPr id="55" name="图片 54"/>
          <p:cNvPicPr>
            <a:picLocks noChangeAspect="1"/>
          </p:cNvPicPr>
          <p:nvPr/>
        </p:nvPicPr>
        <p:blipFill>
          <a:blip r:embed="rId62"/>
          <a:stretch>
            <a:fillRect/>
          </a:stretch>
        </p:blipFill>
        <p:spPr>
          <a:xfrm>
            <a:off x="6462395" y="3558540"/>
            <a:ext cx="222885" cy="227965"/>
          </a:xfrm>
          <a:prstGeom prst="rect">
            <a:avLst/>
          </a:prstGeom>
        </p:spPr>
      </p:pic>
      <p:sp>
        <p:nvSpPr>
          <p:cNvPr id="35" name="文本框 34"/>
          <p:cNvSpPr txBox="1"/>
          <p:nvPr/>
        </p:nvSpPr>
        <p:spPr>
          <a:xfrm>
            <a:off x="2017395" y="314325"/>
            <a:ext cx="1024890" cy="274320"/>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r>
              <a:rPr lang="en-US" altLang="zh-CN" sz="900" b="1" dirty="0" err="1">
                <a:solidFill>
                  <a:schemeClr val="tx1"/>
                </a:solidFill>
                <a:latin typeface="微软雅黑" panose="020B0503020204020204" charset="-122"/>
                <a:ea typeface="微软雅黑" panose="020B0503020204020204" charset="-122"/>
                <a:sym typeface="+mn-ea"/>
              </a:rPr>
              <a:t>              miniui</a:t>
            </a:r>
            <a:endParaRPr lang="en-US" altLang="zh-CN" sz="900" b="1">
              <a:solidFill>
                <a:schemeClr val="tx1"/>
              </a:solidFill>
              <a:latin typeface="微软雅黑" panose="020B0503020204020204" charset="-122"/>
              <a:ea typeface="微软雅黑" panose="020B0503020204020204" charset="-122"/>
            </a:endParaRPr>
          </a:p>
        </p:txBody>
      </p:sp>
      <p:sp>
        <p:nvSpPr>
          <p:cNvPr id="42" name="文本框 41"/>
          <p:cNvSpPr txBox="1"/>
          <p:nvPr/>
        </p:nvSpPr>
        <p:spPr>
          <a:xfrm>
            <a:off x="3168015" y="314960"/>
            <a:ext cx="920750" cy="273685"/>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vertOverflow="overflow" horzOverflow="overflow" vert="horz" wrap="none" numCol="1" spcCol="0" rtlCol="0" fromWordArt="0" anchor="ctr" anchorCtr="0" forceAA="0" compatLnSpc="1">
            <a:noAutofit/>
          </a:bodyPr>
          <a:lstStyle/>
          <a:p>
            <a:pPr algn="ctr"/>
            <a:r>
              <a:rPr lang="en-US" altLang="zh-CN" sz="900" b="1">
                <a:solidFill>
                  <a:schemeClr val="tx1"/>
                </a:solidFill>
                <a:latin typeface="微软雅黑" panose="020B0503020204020204" charset="-122"/>
                <a:ea typeface="微软雅黑" panose="020B0503020204020204" charset="-122"/>
                <a:sym typeface="+mn-ea"/>
              </a:rPr>
              <a:t>               jquery</a:t>
            </a:r>
            <a:endParaRPr lang="en-US" altLang="zh-CN" sz="900" b="1">
              <a:solidFill>
                <a:schemeClr val="tx1"/>
              </a:solidFill>
              <a:latin typeface="微软雅黑" panose="020B0503020204020204" charset="-122"/>
              <a:ea typeface="微软雅黑" panose="020B0503020204020204" charset="-122"/>
              <a:sym typeface="+mn-ea"/>
            </a:endParaRPr>
          </a:p>
        </p:txBody>
      </p:sp>
      <p:pic>
        <p:nvPicPr>
          <p:cNvPr id="290" name="图片 289"/>
          <p:cNvPicPr>
            <a:picLocks noChangeAspect="1"/>
          </p:cNvPicPr>
          <p:nvPr/>
        </p:nvPicPr>
        <p:blipFill>
          <a:blip r:embed="rId63"/>
          <a:stretch>
            <a:fillRect/>
          </a:stretch>
        </p:blipFill>
        <p:spPr>
          <a:xfrm>
            <a:off x="2033905" y="353695"/>
            <a:ext cx="461010" cy="185420"/>
          </a:xfrm>
          <a:prstGeom prst="rect">
            <a:avLst/>
          </a:prstGeom>
        </p:spPr>
      </p:pic>
      <p:pic>
        <p:nvPicPr>
          <p:cNvPr id="291" name="图片 290"/>
          <p:cNvPicPr>
            <a:picLocks noChangeAspect="1"/>
          </p:cNvPicPr>
          <p:nvPr/>
        </p:nvPicPr>
        <p:blipFill>
          <a:blip r:embed="rId64"/>
          <a:stretch>
            <a:fillRect/>
          </a:stretch>
        </p:blipFill>
        <p:spPr>
          <a:xfrm>
            <a:off x="3179445" y="358140"/>
            <a:ext cx="460375" cy="188595"/>
          </a:xfrm>
          <a:prstGeom prst="rect">
            <a:avLst/>
          </a:prstGeom>
        </p:spPr>
      </p:pic>
      <p:sp>
        <p:nvSpPr>
          <p:cNvPr id="90" name="文本框 89"/>
          <p:cNvSpPr txBox="1"/>
          <p:nvPr/>
        </p:nvSpPr>
        <p:spPr>
          <a:xfrm>
            <a:off x="5223510" y="314325"/>
            <a:ext cx="682625" cy="274320"/>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r>
              <a:rPr lang="en-US" altLang="zh-CN" sz="900" b="1">
                <a:solidFill>
                  <a:schemeClr val="tx1"/>
                </a:solidFill>
                <a:latin typeface="微软雅黑" panose="020B0503020204020204" charset="-122"/>
                <a:ea typeface="微软雅黑" panose="020B0503020204020204" charset="-122"/>
                <a:sym typeface="+mn-ea"/>
              </a:rPr>
              <a:t>            vue</a:t>
            </a:r>
            <a:endParaRPr lang="en-US" altLang="zh-CN" sz="900" b="1">
              <a:solidFill>
                <a:schemeClr val="tx1"/>
              </a:solidFill>
              <a:latin typeface="微软雅黑" panose="020B0503020204020204" charset="-122"/>
              <a:ea typeface="微软雅黑" panose="020B0503020204020204" charset="-122"/>
            </a:endParaRPr>
          </a:p>
        </p:txBody>
      </p:sp>
      <p:sp>
        <p:nvSpPr>
          <p:cNvPr id="103" name="文本框 102"/>
          <p:cNvSpPr txBox="1"/>
          <p:nvPr/>
        </p:nvSpPr>
        <p:spPr>
          <a:xfrm>
            <a:off x="6757035" y="314960"/>
            <a:ext cx="983615" cy="273685"/>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vertOverflow="overflow" horzOverflow="overflow" vert="horz" wrap="none" numCol="1" spcCol="0" rtlCol="0" fromWordArt="0" anchor="ctr" anchorCtr="0" forceAA="0" compatLnSpc="1">
            <a:noAutofit/>
          </a:bodyPr>
          <a:lstStyle/>
          <a:p>
            <a:pPr algn="ctr"/>
            <a:r>
              <a:rPr lang="en-US" altLang="zh-CN" sz="900" b="1">
                <a:solidFill>
                  <a:schemeClr val="tx1"/>
                </a:solidFill>
                <a:latin typeface="微软雅黑" panose="020B0503020204020204" charset="-122"/>
                <a:ea typeface="微软雅黑" panose="020B0503020204020204" charset="-122"/>
                <a:sym typeface="+mn-ea"/>
              </a:rPr>
              <a:t>              jquery</a:t>
            </a:r>
            <a:endParaRPr lang="en-US" altLang="zh-CN" sz="900" b="1">
              <a:solidFill>
                <a:schemeClr val="tx1"/>
              </a:solidFill>
              <a:latin typeface="微软雅黑" panose="020B0503020204020204" charset="-122"/>
              <a:ea typeface="微软雅黑" panose="020B0503020204020204" charset="-122"/>
              <a:sym typeface="+mn-ea"/>
            </a:endParaRPr>
          </a:p>
        </p:txBody>
      </p:sp>
      <p:sp>
        <p:nvSpPr>
          <p:cNvPr id="104" name="文本框 103"/>
          <p:cNvSpPr txBox="1"/>
          <p:nvPr/>
        </p:nvSpPr>
        <p:spPr>
          <a:xfrm>
            <a:off x="5948680" y="314325"/>
            <a:ext cx="774700" cy="274320"/>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r>
              <a:rPr lang="en-US" altLang="zh-CN" sz="900" b="1">
                <a:solidFill>
                  <a:schemeClr val="tx1"/>
                </a:solidFill>
                <a:latin typeface="微软雅黑" panose="020B0503020204020204" charset="-122"/>
                <a:ea typeface="微软雅黑" panose="020B0503020204020204" charset="-122"/>
                <a:sym typeface="+mn-ea"/>
              </a:rPr>
              <a:t>         uniapp</a:t>
            </a:r>
            <a:endParaRPr lang="en-US" altLang="zh-CN" sz="900" b="1">
              <a:solidFill>
                <a:schemeClr val="tx1"/>
              </a:solidFill>
              <a:latin typeface="微软雅黑" panose="020B0503020204020204" charset="-122"/>
              <a:ea typeface="微软雅黑" panose="020B0503020204020204" charset="-122"/>
            </a:endParaRPr>
          </a:p>
        </p:txBody>
      </p:sp>
      <p:sp>
        <p:nvSpPr>
          <p:cNvPr id="105" name="文本框 104"/>
          <p:cNvSpPr txBox="1"/>
          <p:nvPr/>
        </p:nvSpPr>
        <p:spPr>
          <a:xfrm>
            <a:off x="7776210" y="314960"/>
            <a:ext cx="1060450" cy="273685"/>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vertOverflow="overflow" horzOverflow="overflow" vert="horz" wrap="none" numCol="1" spcCol="0" rtlCol="0" fromWordArt="0" anchor="ctr" anchorCtr="0" forceAA="0" compatLnSpc="1">
            <a:noAutofit/>
          </a:bodyPr>
          <a:lstStyle/>
          <a:p>
            <a:pPr algn="ctr"/>
            <a:r>
              <a:rPr lang="en-US" altLang="zh-CN" sz="900" b="1" dirty="0">
                <a:solidFill>
                  <a:schemeClr val="tx1"/>
                </a:solidFill>
                <a:latin typeface="微软雅黑" panose="020B0503020204020204" charset="-122"/>
                <a:ea typeface="微软雅黑" panose="020B0503020204020204" charset="-122"/>
                <a:sym typeface="+mn-ea"/>
              </a:rPr>
              <a:t>            Node.js</a:t>
            </a:r>
            <a:endParaRPr lang="en-US" altLang="zh-CN" sz="900" b="1">
              <a:solidFill>
                <a:schemeClr val="tx1"/>
              </a:solidFill>
              <a:latin typeface="微软雅黑" panose="020B0503020204020204" charset="-122"/>
              <a:ea typeface="微软雅黑" panose="020B0503020204020204" charset="-122"/>
              <a:sym typeface="+mn-ea"/>
            </a:endParaRPr>
          </a:p>
        </p:txBody>
      </p:sp>
      <p:pic>
        <p:nvPicPr>
          <p:cNvPr id="288" name="图片 287"/>
          <p:cNvPicPr>
            <a:picLocks noChangeAspect="1"/>
          </p:cNvPicPr>
          <p:nvPr/>
        </p:nvPicPr>
        <p:blipFill>
          <a:blip r:embed="rId65"/>
          <a:stretch>
            <a:fillRect/>
          </a:stretch>
        </p:blipFill>
        <p:spPr>
          <a:xfrm>
            <a:off x="5226685" y="368935"/>
            <a:ext cx="368300" cy="158750"/>
          </a:xfrm>
          <a:prstGeom prst="rect">
            <a:avLst/>
          </a:prstGeom>
        </p:spPr>
      </p:pic>
      <p:pic>
        <p:nvPicPr>
          <p:cNvPr id="289" name="图片 288"/>
          <p:cNvPicPr>
            <a:picLocks noChangeAspect="1"/>
          </p:cNvPicPr>
          <p:nvPr/>
        </p:nvPicPr>
        <p:blipFill>
          <a:blip r:embed="rId66"/>
          <a:stretch>
            <a:fillRect/>
          </a:stretch>
        </p:blipFill>
        <p:spPr>
          <a:xfrm>
            <a:off x="5939790" y="327660"/>
            <a:ext cx="267335" cy="256540"/>
          </a:xfrm>
          <a:prstGeom prst="rect">
            <a:avLst/>
          </a:prstGeom>
        </p:spPr>
      </p:pic>
      <p:pic>
        <p:nvPicPr>
          <p:cNvPr id="28" name="图片 27"/>
          <p:cNvPicPr>
            <a:picLocks noChangeAspect="1"/>
          </p:cNvPicPr>
          <p:nvPr/>
        </p:nvPicPr>
        <p:blipFill>
          <a:blip r:embed="rId67"/>
          <a:stretch>
            <a:fillRect/>
          </a:stretch>
        </p:blipFill>
        <p:spPr>
          <a:xfrm>
            <a:off x="1130300" y="3726815"/>
            <a:ext cx="231140" cy="231140"/>
          </a:xfrm>
          <a:prstGeom prst="rect">
            <a:avLst/>
          </a:prstGeom>
        </p:spPr>
      </p:pic>
      <p:pic>
        <p:nvPicPr>
          <p:cNvPr id="41" name="图片 40"/>
          <p:cNvPicPr>
            <a:picLocks noChangeAspect="1"/>
          </p:cNvPicPr>
          <p:nvPr/>
        </p:nvPicPr>
        <p:blipFill>
          <a:blip r:embed="rId68"/>
          <a:stretch>
            <a:fillRect/>
          </a:stretch>
        </p:blipFill>
        <p:spPr>
          <a:xfrm>
            <a:off x="3761105" y="3719195"/>
            <a:ext cx="251460" cy="247650"/>
          </a:xfrm>
          <a:prstGeom prst="rect">
            <a:avLst/>
          </a:prstGeom>
        </p:spPr>
      </p:pic>
      <p:pic>
        <p:nvPicPr>
          <p:cNvPr id="43" name="图片 42" descr="15368961625550f0a007cd5"/>
          <p:cNvPicPr>
            <a:picLocks noChangeAspect="1"/>
          </p:cNvPicPr>
          <p:nvPr/>
        </p:nvPicPr>
        <p:blipFill>
          <a:blip r:embed="rId69"/>
          <a:srcRect l="31593" t="7955" r="29863" b="36570"/>
          <a:stretch>
            <a:fillRect/>
          </a:stretch>
        </p:blipFill>
        <p:spPr>
          <a:xfrm>
            <a:off x="11037570" y="5177155"/>
            <a:ext cx="172720" cy="270510"/>
          </a:xfrm>
          <a:prstGeom prst="rect">
            <a:avLst/>
          </a:prstGeom>
        </p:spPr>
      </p:pic>
      <p:pic>
        <p:nvPicPr>
          <p:cNvPr id="64" name="图片 63"/>
          <p:cNvPicPr>
            <a:picLocks noChangeAspect="1"/>
          </p:cNvPicPr>
          <p:nvPr/>
        </p:nvPicPr>
        <p:blipFill>
          <a:blip r:embed="rId70"/>
          <a:stretch>
            <a:fillRect/>
          </a:stretch>
        </p:blipFill>
        <p:spPr>
          <a:xfrm>
            <a:off x="7378700" y="6198870"/>
            <a:ext cx="236220" cy="228600"/>
          </a:xfrm>
          <a:prstGeom prst="rect">
            <a:avLst/>
          </a:prstGeom>
        </p:spPr>
      </p:pic>
      <p:pic>
        <p:nvPicPr>
          <p:cNvPr id="65" name="图片 64"/>
          <p:cNvPicPr>
            <a:picLocks noChangeAspect="1"/>
          </p:cNvPicPr>
          <p:nvPr/>
        </p:nvPicPr>
        <p:blipFill>
          <a:blip r:embed="rId70"/>
          <a:stretch>
            <a:fillRect/>
          </a:stretch>
        </p:blipFill>
        <p:spPr>
          <a:xfrm>
            <a:off x="4914900" y="6520815"/>
            <a:ext cx="236220" cy="228600"/>
          </a:xfrm>
          <a:prstGeom prst="rect">
            <a:avLst/>
          </a:prstGeom>
        </p:spPr>
      </p:pic>
      <p:pic>
        <p:nvPicPr>
          <p:cNvPr id="66" name="图片 65"/>
          <p:cNvPicPr>
            <a:picLocks noChangeAspect="1"/>
          </p:cNvPicPr>
          <p:nvPr/>
        </p:nvPicPr>
        <p:blipFill>
          <a:blip r:embed="rId71"/>
          <a:stretch>
            <a:fillRect/>
          </a:stretch>
        </p:blipFill>
        <p:spPr>
          <a:xfrm>
            <a:off x="1208405" y="6541770"/>
            <a:ext cx="302895" cy="201930"/>
          </a:xfrm>
          <a:prstGeom prst="rect">
            <a:avLst/>
          </a:prstGeom>
        </p:spPr>
      </p:pic>
      <p:pic>
        <p:nvPicPr>
          <p:cNvPr id="67" name="图片 66"/>
          <p:cNvPicPr>
            <a:picLocks noChangeAspect="1"/>
          </p:cNvPicPr>
          <p:nvPr/>
        </p:nvPicPr>
        <p:blipFill>
          <a:blip r:embed="rId72"/>
          <a:stretch>
            <a:fillRect/>
          </a:stretch>
        </p:blipFill>
        <p:spPr>
          <a:xfrm>
            <a:off x="8459470" y="6521450"/>
            <a:ext cx="343535" cy="238125"/>
          </a:xfrm>
          <a:prstGeom prst="rect">
            <a:avLst/>
          </a:prstGeom>
        </p:spPr>
      </p:pic>
      <p:pic>
        <p:nvPicPr>
          <p:cNvPr id="68" name="图片 67"/>
          <p:cNvPicPr>
            <a:picLocks noChangeAspect="1"/>
          </p:cNvPicPr>
          <p:nvPr/>
        </p:nvPicPr>
        <p:blipFill>
          <a:blip r:embed="rId73"/>
          <a:stretch>
            <a:fillRect/>
          </a:stretch>
        </p:blipFill>
        <p:spPr>
          <a:xfrm>
            <a:off x="8459470" y="6222365"/>
            <a:ext cx="466725" cy="173355"/>
          </a:xfrm>
          <a:prstGeom prst="rect">
            <a:avLst/>
          </a:prstGeom>
        </p:spPr>
      </p:pic>
      <p:pic>
        <p:nvPicPr>
          <p:cNvPr id="70" name="图片 69"/>
          <p:cNvPicPr>
            <a:picLocks noChangeAspect="1"/>
          </p:cNvPicPr>
          <p:nvPr/>
        </p:nvPicPr>
        <p:blipFill>
          <a:blip r:embed="rId74"/>
          <a:stretch>
            <a:fillRect/>
          </a:stretch>
        </p:blipFill>
        <p:spPr>
          <a:xfrm>
            <a:off x="3494405" y="5168265"/>
            <a:ext cx="165100" cy="275590"/>
          </a:xfrm>
          <a:prstGeom prst="rect">
            <a:avLst/>
          </a:prstGeom>
        </p:spPr>
      </p:pic>
      <p:pic>
        <p:nvPicPr>
          <p:cNvPr id="72" name="图片 71"/>
          <p:cNvPicPr>
            <a:picLocks noChangeAspect="1"/>
          </p:cNvPicPr>
          <p:nvPr/>
        </p:nvPicPr>
        <p:blipFill>
          <a:blip r:embed="rId75"/>
          <a:stretch>
            <a:fillRect/>
          </a:stretch>
        </p:blipFill>
        <p:spPr>
          <a:xfrm>
            <a:off x="4420235" y="5194935"/>
            <a:ext cx="243840" cy="246380"/>
          </a:xfrm>
          <a:prstGeom prst="rect">
            <a:avLst/>
          </a:prstGeom>
        </p:spPr>
      </p:pic>
      <p:pic>
        <p:nvPicPr>
          <p:cNvPr id="74" name="图片 73"/>
          <p:cNvPicPr>
            <a:picLocks noChangeAspect="1"/>
          </p:cNvPicPr>
          <p:nvPr/>
        </p:nvPicPr>
        <p:blipFill>
          <a:blip r:embed="rId76"/>
          <a:stretch>
            <a:fillRect/>
          </a:stretch>
        </p:blipFill>
        <p:spPr>
          <a:xfrm>
            <a:off x="2154555" y="5219700"/>
            <a:ext cx="170180" cy="182245"/>
          </a:xfrm>
          <a:prstGeom prst="rect">
            <a:avLst/>
          </a:prstGeom>
        </p:spPr>
      </p:pic>
      <p:pic>
        <p:nvPicPr>
          <p:cNvPr id="75" name="图片 74"/>
          <p:cNvPicPr>
            <a:picLocks noChangeAspect="1"/>
          </p:cNvPicPr>
          <p:nvPr/>
        </p:nvPicPr>
        <p:blipFill>
          <a:blip r:embed="rId77"/>
          <a:stretch>
            <a:fillRect/>
          </a:stretch>
        </p:blipFill>
        <p:spPr>
          <a:xfrm>
            <a:off x="2649220" y="5227320"/>
            <a:ext cx="154305" cy="156210"/>
          </a:xfrm>
          <a:prstGeom prst="rect">
            <a:avLst/>
          </a:prstGeom>
        </p:spPr>
      </p:pic>
      <p:pic>
        <p:nvPicPr>
          <p:cNvPr id="76" name="图片 75"/>
          <p:cNvPicPr>
            <a:picLocks noChangeAspect="1"/>
          </p:cNvPicPr>
          <p:nvPr/>
        </p:nvPicPr>
        <p:blipFill>
          <a:blip r:embed="rId64"/>
          <a:stretch>
            <a:fillRect/>
          </a:stretch>
        </p:blipFill>
        <p:spPr>
          <a:xfrm>
            <a:off x="6783705" y="363220"/>
            <a:ext cx="460375" cy="188595"/>
          </a:xfrm>
          <a:prstGeom prst="rect">
            <a:avLst/>
          </a:prstGeom>
        </p:spPr>
      </p:pic>
      <p:pic>
        <p:nvPicPr>
          <p:cNvPr id="77" name="图片 76"/>
          <p:cNvPicPr>
            <a:picLocks noChangeAspect="1"/>
          </p:cNvPicPr>
          <p:nvPr/>
        </p:nvPicPr>
        <p:blipFill>
          <a:blip r:embed="rId78"/>
          <a:stretch>
            <a:fillRect/>
          </a:stretch>
        </p:blipFill>
        <p:spPr>
          <a:xfrm>
            <a:off x="7793355" y="363220"/>
            <a:ext cx="408940" cy="158750"/>
          </a:xfrm>
          <a:prstGeom prst="rect">
            <a:avLst/>
          </a:prstGeom>
        </p:spPr>
      </p:pic>
      <p:pic>
        <p:nvPicPr>
          <p:cNvPr id="78" name="图片 77"/>
          <p:cNvPicPr>
            <a:picLocks noChangeAspect="1"/>
          </p:cNvPicPr>
          <p:nvPr/>
        </p:nvPicPr>
        <p:blipFill>
          <a:blip r:embed="rId79"/>
          <a:stretch>
            <a:fillRect/>
          </a:stretch>
        </p:blipFill>
        <p:spPr>
          <a:xfrm>
            <a:off x="9171940" y="351790"/>
            <a:ext cx="289560" cy="209550"/>
          </a:xfrm>
          <a:prstGeom prst="rect">
            <a:avLst/>
          </a:prstGeom>
        </p:spPr>
      </p:pic>
      <p:pic>
        <p:nvPicPr>
          <p:cNvPr id="79" name="图片 78"/>
          <p:cNvPicPr>
            <a:picLocks noChangeAspect="1"/>
          </p:cNvPicPr>
          <p:nvPr/>
        </p:nvPicPr>
        <p:blipFill>
          <a:blip r:embed="rId80"/>
          <a:stretch>
            <a:fillRect/>
          </a:stretch>
        </p:blipFill>
        <p:spPr>
          <a:xfrm>
            <a:off x="10194290" y="349250"/>
            <a:ext cx="370205" cy="210185"/>
          </a:xfrm>
          <a:prstGeom prst="rect">
            <a:avLst/>
          </a:prstGeom>
        </p:spPr>
      </p:pic>
      <p:pic>
        <p:nvPicPr>
          <p:cNvPr id="80" name="图片 79"/>
          <p:cNvPicPr>
            <a:picLocks noChangeAspect="1"/>
          </p:cNvPicPr>
          <p:nvPr/>
        </p:nvPicPr>
        <p:blipFill>
          <a:blip r:embed="rId81"/>
          <a:stretch>
            <a:fillRect/>
          </a:stretch>
        </p:blipFill>
        <p:spPr>
          <a:xfrm>
            <a:off x="4933315" y="6251575"/>
            <a:ext cx="365760" cy="122555"/>
          </a:xfrm>
          <a:prstGeom prst="rect">
            <a:avLst/>
          </a:prstGeom>
        </p:spPr>
      </p:pic>
      <p:pic>
        <p:nvPicPr>
          <p:cNvPr id="81" name="图片 80"/>
          <p:cNvPicPr>
            <a:picLocks noChangeAspect="1"/>
          </p:cNvPicPr>
          <p:nvPr/>
        </p:nvPicPr>
        <p:blipFill>
          <a:blip r:embed="rId82"/>
          <a:srcRect t="2259"/>
          <a:stretch>
            <a:fillRect/>
          </a:stretch>
        </p:blipFill>
        <p:spPr>
          <a:xfrm>
            <a:off x="6050915" y="6205220"/>
            <a:ext cx="211455" cy="215900"/>
          </a:xfrm>
          <a:prstGeom prst="rect">
            <a:avLst/>
          </a:prstGeom>
        </p:spPr>
      </p:pic>
      <p:grpSp>
        <p:nvGrpSpPr>
          <p:cNvPr id="86" name="组合 85"/>
          <p:cNvGrpSpPr/>
          <p:nvPr/>
        </p:nvGrpSpPr>
        <p:grpSpPr>
          <a:xfrm>
            <a:off x="6060440" y="6497955"/>
            <a:ext cx="188595" cy="275590"/>
            <a:chOff x="7125" y="7505"/>
            <a:chExt cx="879" cy="1710"/>
          </a:xfrm>
        </p:grpSpPr>
        <p:pic>
          <p:nvPicPr>
            <p:cNvPr id="82" name="图片 81" descr="J5"/>
            <p:cNvPicPr>
              <a:picLocks noChangeAspect="1"/>
            </p:cNvPicPr>
            <p:nvPr/>
          </p:nvPicPr>
          <p:blipFill>
            <a:blip r:embed="rId83"/>
            <a:srcRect l="3092" t="33484" r="80373" b="34257"/>
            <a:stretch>
              <a:fillRect/>
            </a:stretch>
          </p:blipFill>
          <p:spPr>
            <a:xfrm>
              <a:off x="7125" y="7505"/>
              <a:ext cx="877" cy="1711"/>
            </a:xfrm>
            <a:prstGeom prst="rect">
              <a:avLst/>
            </a:prstGeom>
          </p:spPr>
        </p:pic>
        <p:sp>
          <p:nvSpPr>
            <p:cNvPr id="83" name="矩形 82"/>
            <p:cNvSpPr/>
            <p:nvPr/>
          </p:nvSpPr>
          <p:spPr>
            <a:xfrm>
              <a:off x="7824" y="8924"/>
              <a:ext cx="180" cy="28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pic>
        <p:nvPicPr>
          <p:cNvPr id="87" name="图片 86"/>
          <p:cNvPicPr>
            <a:picLocks noChangeAspect="1"/>
          </p:cNvPicPr>
          <p:nvPr/>
        </p:nvPicPr>
        <p:blipFill>
          <a:blip r:embed="rId84"/>
          <a:stretch>
            <a:fillRect/>
          </a:stretch>
        </p:blipFill>
        <p:spPr>
          <a:xfrm>
            <a:off x="9761220" y="6508115"/>
            <a:ext cx="233680" cy="251460"/>
          </a:xfrm>
          <a:prstGeom prst="rect">
            <a:avLst/>
          </a:prstGeom>
        </p:spPr>
      </p:pic>
      <p:pic>
        <p:nvPicPr>
          <p:cNvPr id="88" name="图片 87"/>
          <p:cNvPicPr>
            <a:picLocks noChangeAspect="1"/>
          </p:cNvPicPr>
          <p:nvPr/>
        </p:nvPicPr>
        <p:blipFill>
          <a:blip r:embed="rId70"/>
          <a:stretch>
            <a:fillRect/>
          </a:stretch>
        </p:blipFill>
        <p:spPr>
          <a:xfrm>
            <a:off x="9761220" y="6192520"/>
            <a:ext cx="236220" cy="228600"/>
          </a:xfrm>
          <a:prstGeom prst="rect">
            <a:avLst/>
          </a:prstGeom>
        </p:spPr>
      </p:pic>
      <p:pic>
        <p:nvPicPr>
          <p:cNvPr id="91" name="图片 90"/>
          <p:cNvPicPr>
            <a:picLocks noChangeAspect="1"/>
          </p:cNvPicPr>
          <p:nvPr/>
        </p:nvPicPr>
        <p:blipFill>
          <a:blip r:embed="rId70"/>
          <a:stretch>
            <a:fillRect/>
          </a:stretch>
        </p:blipFill>
        <p:spPr>
          <a:xfrm>
            <a:off x="10885805" y="6189980"/>
            <a:ext cx="236220" cy="228600"/>
          </a:xfrm>
          <a:prstGeom prst="rect">
            <a:avLst/>
          </a:prstGeom>
        </p:spPr>
      </p:pic>
      <p:pic>
        <p:nvPicPr>
          <p:cNvPr id="93" name="图片 92"/>
          <p:cNvPicPr>
            <a:picLocks noChangeAspect="1"/>
          </p:cNvPicPr>
          <p:nvPr/>
        </p:nvPicPr>
        <p:blipFill>
          <a:blip r:embed="rId85"/>
          <a:srcRect l="4530" t="32786" r="70878" b="22027"/>
          <a:stretch>
            <a:fillRect/>
          </a:stretch>
        </p:blipFill>
        <p:spPr>
          <a:xfrm>
            <a:off x="7003733" y="3558540"/>
            <a:ext cx="248920" cy="227965"/>
          </a:xfrm>
          <a:prstGeom prst="rect">
            <a:avLst/>
          </a:prstGeom>
        </p:spPr>
      </p:pic>
      <p:sp>
        <p:nvSpPr>
          <p:cNvPr id="94" name="文本框 93"/>
          <p:cNvSpPr txBox="1"/>
          <p:nvPr/>
        </p:nvSpPr>
        <p:spPr>
          <a:xfrm>
            <a:off x="6263640" y="3752215"/>
            <a:ext cx="648335" cy="229870"/>
          </a:xfrm>
          <a:prstGeom prst="rect">
            <a:avLst/>
          </a:prstGeom>
          <a:noFill/>
        </p:spPr>
        <p:txBody>
          <a:bodyPr wrap="square" rtlCol="0">
            <a:spAutoFit/>
          </a:bodyPr>
          <a:lstStyle/>
          <a:p>
            <a:pPr algn="ctr"/>
            <a:r>
              <a:rPr lang="zh-CN" altLang="en-US" sz="900" b="1"/>
              <a:t>通义千问</a:t>
            </a:r>
            <a:endParaRPr lang="zh-CN" altLang="en-US" sz="900" b="1"/>
          </a:p>
        </p:txBody>
      </p:sp>
      <p:sp>
        <p:nvSpPr>
          <p:cNvPr id="95" name="文本框 94"/>
          <p:cNvSpPr txBox="1"/>
          <p:nvPr/>
        </p:nvSpPr>
        <p:spPr>
          <a:xfrm>
            <a:off x="6804025" y="3752215"/>
            <a:ext cx="648335" cy="229870"/>
          </a:xfrm>
          <a:prstGeom prst="rect">
            <a:avLst/>
          </a:prstGeom>
          <a:noFill/>
        </p:spPr>
        <p:txBody>
          <a:bodyPr wrap="square" rtlCol="0">
            <a:spAutoFit/>
          </a:bodyPr>
          <a:lstStyle/>
          <a:p>
            <a:pPr algn="ctr"/>
            <a:r>
              <a:rPr lang="zh-CN" altLang="en-US" sz="900" b="1"/>
              <a:t>文心一言</a:t>
            </a:r>
            <a:endParaRPr lang="zh-CN" altLang="en-US" sz="900" b="1"/>
          </a:p>
        </p:txBody>
      </p:sp>
      <p:sp>
        <p:nvSpPr>
          <p:cNvPr id="96" name="文本框 95"/>
          <p:cNvSpPr txBox="1"/>
          <p:nvPr/>
        </p:nvSpPr>
        <p:spPr>
          <a:xfrm>
            <a:off x="7416165" y="3620135"/>
            <a:ext cx="324485" cy="229870"/>
          </a:xfrm>
          <a:prstGeom prst="rect">
            <a:avLst/>
          </a:prstGeom>
          <a:noFill/>
        </p:spPr>
        <p:txBody>
          <a:bodyPr wrap="square" rtlCol="0">
            <a:spAutoFit/>
          </a:bodyPr>
          <a:lstStyle/>
          <a:p>
            <a:pPr algn="ctr"/>
            <a:r>
              <a:rPr lang="en-US" altLang="zh-CN" sz="900" b="1"/>
              <a:t>...</a:t>
            </a:r>
            <a:endParaRPr lang="en-US" altLang="zh-CN" sz="900" b="1"/>
          </a:p>
        </p:txBody>
      </p:sp>
      <p:sp>
        <p:nvSpPr>
          <p:cNvPr id="50" name="文本框 49"/>
          <p:cNvSpPr txBox="1"/>
          <p:nvPr>
            <p:custDataLst>
              <p:tags r:id="rId86"/>
            </p:custDataLst>
          </p:nvPr>
        </p:nvSpPr>
        <p:spPr>
          <a:xfrm>
            <a:off x="2247900" y="3084830"/>
            <a:ext cx="1412875" cy="33083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none" rtlCol="0" anchor="ctr" anchorCtr="0">
            <a:noAutofit/>
          </a:bodyPr>
          <a:lstStyle>
            <a:defPPr>
              <a:defRPr lang="zh-CN"/>
            </a:defPPr>
            <a:lvl1pPr algn="ctr">
              <a:defRPr sz="900" b="1">
                <a:solidFill>
                  <a:schemeClr val="tx1"/>
                </a:solidFill>
                <a:latin typeface="微软雅黑" panose="020B0503020204020204" charset="-122"/>
                <a:ea typeface="微软雅黑" panose="020B0503020204020204" charset="-122"/>
              </a:defRPr>
            </a:lvl1pPr>
          </a:lstStyle>
          <a:p>
            <a:r>
              <a:rPr lang="en-US" altLang="zh-CN">
                <a:sym typeface="+mn-ea"/>
              </a:rPr>
              <a:t>……</a:t>
            </a:r>
            <a:endParaRPr lang="en-US" altLang="zh-C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8049149" y="647924"/>
            <a:ext cx="2626382" cy="2300494"/>
          </a:xfrm>
          <a:prstGeom prst="rect">
            <a:avLst/>
          </a:prstGeom>
          <a:solidFill>
            <a:schemeClr val="accent1">
              <a:lumMod val="20000"/>
              <a:lumOff val="80000"/>
              <a:alpha val="45000"/>
            </a:schemeClr>
          </a:solidFill>
          <a:ln>
            <a:solidFill>
              <a:srgbClr val="5F5A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矩形 134"/>
          <p:cNvSpPr/>
          <p:nvPr/>
        </p:nvSpPr>
        <p:spPr>
          <a:xfrm>
            <a:off x="1134414" y="2213655"/>
            <a:ext cx="6804790" cy="1333194"/>
          </a:xfrm>
          <a:prstGeom prst="rect">
            <a:avLst/>
          </a:prstGeom>
          <a:solidFill>
            <a:srgbClr val="EDF3FA"/>
          </a:solidFill>
          <a:ln w="19050">
            <a:solidFill>
              <a:srgbClr val="5AC0E7"/>
            </a:solidFill>
            <a:prstDash val="dash"/>
          </a:ln>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endParaRPr lang="zh-CN" altLang="en-US" sz="1000">
              <a:solidFill>
                <a:prstClr val="black"/>
              </a:solidFill>
              <a:latin typeface="微软雅黑" panose="020B0503020204020204" charset="-122"/>
              <a:ea typeface="微软雅黑" panose="020B0503020204020204" charset="-122"/>
            </a:endParaRPr>
          </a:p>
        </p:txBody>
      </p:sp>
      <p:sp>
        <p:nvSpPr>
          <p:cNvPr id="237" name="圆角矩形 51"/>
          <p:cNvSpPr/>
          <p:nvPr/>
        </p:nvSpPr>
        <p:spPr>
          <a:xfrm>
            <a:off x="1116513" y="656241"/>
            <a:ext cx="6822691" cy="437908"/>
          </a:xfrm>
          <a:prstGeom prst="roundRect">
            <a:avLst>
              <a:gd name="adj" fmla="val 8178"/>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81" name="圆角矩形 3"/>
          <p:cNvSpPr/>
          <p:nvPr>
            <p:custDataLst>
              <p:tags r:id="rId1"/>
            </p:custDataLst>
          </p:nvPr>
        </p:nvSpPr>
        <p:spPr>
          <a:xfrm>
            <a:off x="8111272" y="701313"/>
            <a:ext cx="2499810" cy="351147"/>
          </a:xfrm>
          <a:prstGeom prst="round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dirty="0">
                <a:solidFill>
                  <a:prstClr val="white"/>
                </a:solidFill>
                <a:latin typeface="微软雅黑" panose="020B0503020204020204" charset="-122"/>
                <a:ea typeface="微软雅黑" panose="020B0503020204020204" charset="-122"/>
                <a:cs typeface="微软雅黑" panose="020B0503020204020204" charset="-122"/>
                <a:sym typeface="阿里巴巴普惠体" panose="00020600040101010101" pitchFamily="18" charset="-122"/>
              </a:rPr>
              <a:t>运维管理</a:t>
            </a:r>
            <a:endParaRPr lang="zh-CN" altLang="en-US" sz="1200" b="1" dirty="0">
              <a:solidFill>
                <a:prstClr val="white"/>
              </a:solidFill>
              <a:latin typeface="微软雅黑" panose="020B0503020204020204" charset="-122"/>
              <a:ea typeface="微软雅黑" panose="020B0503020204020204" charset="-122"/>
              <a:cs typeface="微软雅黑" panose="020B0503020204020204" charset="-122"/>
              <a:sym typeface="阿里巴巴普惠体" panose="00020600040101010101" pitchFamily="18" charset="-122"/>
            </a:endParaRPr>
          </a:p>
        </p:txBody>
      </p:sp>
      <p:pic>
        <p:nvPicPr>
          <p:cNvPr id="14" name="图片 13"/>
          <p:cNvPicPr>
            <a:picLocks noChangeAspect="1"/>
          </p:cNvPicPr>
          <p:nvPr/>
        </p:nvPicPr>
        <p:blipFill>
          <a:blip r:embed="rId2">
            <a:clrChange>
              <a:clrFrom>
                <a:srgbClr val="FFFFFF"/>
              </a:clrFrom>
              <a:clrTo>
                <a:srgbClr val="FFFFFF">
                  <a:alpha val="0"/>
                </a:srgbClr>
              </a:clrTo>
            </a:clrChange>
            <a:lum bright="70000" contrast="-70000"/>
          </a:blip>
          <a:stretch>
            <a:fillRect/>
          </a:stretch>
        </p:blipFill>
        <p:spPr>
          <a:xfrm>
            <a:off x="8481667" y="661451"/>
            <a:ext cx="404682" cy="412646"/>
          </a:xfrm>
          <a:prstGeom prst="rect">
            <a:avLst/>
          </a:prstGeom>
        </p:spPr>
      </p:pic>
      <p:grpSp>
        <p:nvGrpSpPr>
          <p:cNvPr id="41" name="组合 40"/>
          <p:cNvGrpSpPr/>
          <p:nvPr/>
        </p:nvGrpSpPr>
        <p:grpSpPr>
          <a:xfrm>
            <a:off x="1707762" y="701313"/>
            <a:ext cx="5357922" cy="359260"/>
            <a:chOff x="486717" y="-1136021"/>
            <a:chExt cx="4247236" cy="284787"/>
          </a:xfrm>
        </p:grpSpPr>
        <p:grpSp>
          <p:nvGrpSpPr>
            <p:cNvPr id="39" name="组合 38"/>
            <p:cNvGrpSpPr/>
            <p:nvPr/>
          </p:nvGrpSpPr>
          <p:grpSpPr>
            <a:xfrm>
              <a:off x="486717" y="-1131269"/>
              <a:ext cx="954837" cy="280035"/>
              <a:chOff x="486717" y="-1131269"/>
              <a:chExt cx="954837" cy="280035"/>
            </a:xfrm>
          </p:grpSpPr>
          <p:sp>
            <p:nvSpPr>
              <p:cNvPr id="24" name="圆角矩形 3"/>
              <p:cNvSpPr/>
              <p:nvPr>
                <p:custDataLst>
                  <p:tags r:id="rId3"/>
                </p:custDataLst>
              </p:nvPr>
            </p:nvSpPr>
            <p:spPr>
              <a:xfrm>
                <a:off x="486717" y="-1131269"/>
                <a:ext cx="954837" cy="280035"/>
              </a:xfrm>
              <a:prstGeom prst="rect">
                <a:avLst/>
              </a:prstGeom>
              <a:solidFill>
                <a:srgbClr val="8FAAD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5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阿里巴巴普惠体" panose="00020600040101010101" pitchFamily="18" charset="-122"/>
                  </a:rPr>
                  <a:t>PC</a:t>
                </a:r>
                <a:r>
                  <a:rPr kumimoji="0" lang="zh-CN" altLang="en-US" sz="105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阿里巴巴普惠体" panose="00020600040101010101" pitchFamily="18" charset="-122"/>
                  </a:rPr>
                  <a:t>电脑</a:t>
                </a:r>
                <a:endParaRPr kumimoji="0" lang="zh-CN" altLang="en-US" sz="105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阿里巴巴普惠体" panose="00020600040101010101" pitchFamily="18" charset="-122"/>
                </a:endParaRPr>
              </a:p>
            </p:txBody>
          </p:sp>
          <p:pic>
            <p:nvPicPr>
              <p:cNvPr id="26" name="图片 25"/>
              <p:cNvPicPr>
                <a:picLocks noChangeAspect="1"/>
              </p:cNvPicPr>
              <p:nvPr/>
            </p:nvPicPr>
            <p:blipFill>
              <a:blip r:embed="rId4">
                <a:clrChange>
                  <a:clrFrom>
                    <a:srgbClr val="FFFFFF"/>
                  </a:clrFrom>
                  <a:clrTo>
                    <a:srgbClr val="FFFFFF">
                      <a:alpha val="0"/>
                    </a:srgbClr>
                  </a:clrTo>
                </a:clrChange>
                <a:duotone>
                  <a:prstClr val="black"/>
                  <a:schemeClr val="accent1">
                    <a:tint val="45000"/>
                    <a:satMod val="400000"/>
                  </a:schemeClr>
                </a:duotone>
              </a:blip>
              <a:srcRect l="17971" t="23585" r="17255" b="23295"/>
              <a:stretch>
                <a:fillRect/>
              </a:stretch>
            </p:blipFill>
            <p:spPr>
              <a:xfrm>
                <a:off x="979746" y="-1112553"/>
                <a:ext cx="409144" cy="254888"/>
              </a:xfrm>
              <a:prstGeom prst="rect">
                <a:avLst/>
              </a:prstGeom>
            </p:spPr>
          </p:pic>
        </p:grpSp>
        <p:grpSp>
          <p:nvGrpSpPr>
            <p:cNvPr id="40" name="组合 39"/>
            <p:cNvGrpSpPr/>
            <p:nvPr/>
          </p:nvGrpSpPr>
          <p:grpSpPr>
            <a:xfrm>
              <a:off x="1441553" y="-1136021"/>
              <a:ext cx="3292400" cy="284787"/>
              <a:chOff x="486716" y="-759726"/>
              <a:chExt cx="3292400" cy="284787"/>
            </a:xfrm>
          </p:grpSpPr>
          <p:sp>
            <p:nvSpPr>
              <p:cNvPr id="35" name="圆角矩形 3"/>
              <p:cNvSpPr/>
              <p:nvPr>
                <p:custDataLst>
                  <p:tags r:id="rId5"/>
                </p:custDataLst>
              </p:nvPr>
            </p:nvSpPr>
            <p:spPr>
              <a:xfrm>
                <a:off x="486716" y="-754976"/>
                <a:ext cx="1006445" cy="280035"/>
              </a:xfrm>
              <a:prstGeom prst="rect">
                <a:avLst/>
              </a:prstGeom>
              <a:solidFill>
                <a:srgbClr val="8FAAD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050" b="1" dirty="0">
                    <a:solidFill>
                      <a:prstClr val="white"/>
                    </a:solidFill>
                    <a:latin typeface="微软雅黑" panose="020B0503020204020204" charset="-122"/>
                    <a:ea typeface="微软雅黑" panose="020B0503020204020204" charset="-122"/>
                    <a:cs typeface="微软雅黑" panose="020B0503020204020204" charset="-122"/>
                    <a:sym typeface="阿里巴巴普惠体" panose="00020600040101010101" pitchFamily="18" charset="-122"/>
                  </a:rPr>
                  <a:t>移动设备</a:t>
                </a:r>
                <a:endParaRPr kumimoji="0" lang="zh-CN" altLang="en-US" sz="105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阿里巴巴普惠体" panose="00020600040101010101" pitchFamily="18" charset="-122"/>
                </a:endParaRPr>
              </a:p>
            </p:txBody>
          </p:sp>
          <p:pic>
            <p:nvPicPr>
              <p:cNvPr id="27" name="图片 26"/>
              <p:cNvPicPr>
                <a:picLocks noChangeAspect="1"/>
              </p:cNvPicPr>
              <p:nvPr/>
            </p:nvPicPr>
            <p:blipFill>
              <a:blip r:embed="rId6">
                <a:clrChange>
                  <a:clrFrom>
                    <a:srgbClr val="FFFFFF"/>
                  </a:clrFrom>
                  <a:clrTo>
                    <a:srgbClr val="FFFFFF">
                      <a:alpha val="0"/>
                    </a:srgbClr>
                  </a:clrTo>
                </a:clrChange>
                <a:duotone>
                  <a:prstClr val="black"/>
                  <a:schemeClr val="accent1">
                    <a:tint val="45000"/>
                    <a:satMod val="400000"/>
                  </a:schemeClr>
                </a:duotone>
              </a:blip>
              <a:srcRect l="26988" t="16737" r="25212" b="17523"/>
              <a:stretch>
                <a:fillRect/>
              </a:stretch>
            </p:blipFill>
            <p:spPr>
              <a:xfrm>
                <a:off x="1111607" y="-754974"/>
                <a:ext cx="145422" cy="280035"/>
              </a:xfrm>
              <a:prstGeom prst="rect">
                <a:avLst/>
              </a:prstGeom>
            </p:spPr>
          </p:pic>
          <p:sp>
            <p:nvSpPr>
              <p:cNvPr id="240" name="圆角矩形 3"/>
              <p:cNvSpPr/>
              <p:nvPr>
                <p:custDataLst>
                  <p:tags r:id="rId7"/>
                </p:custDataLst>
              </p:nvPr>
            </p:nvSpPr>
            <p:spPr>
              <a:xfrm>
                <a:off x="2719468" y="-759726"/>
                <a:ext cx="1059648" cy="280035"/>
              </a:xfrm>
              <a:prstGeom prst="rect">
                <a:avLst/>
              </a:prstGeom>
              <a:solidFill>
                <a:srgbClr val="8FAAD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阿里巴巴普惠体" panose="00020600040101010101" pitchFamily="18" charset="-122"/>
                  </a:rPr>
                  <a:t>专用设备</a:t>
                </a:r>
                <a:endParaRPr kumimoji="0" lang="zh-CN" altLang="en-US" sz="105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阿里巴巴普惠体" panose="00020600040101010101" pitchFamily="18" charset="-122"/>
                </a:endParaRPr>
              </a:p>
            </p:txBody>
          </p:sp>
        </p:grpSp>
      </p:grpSp>
      <p:sp>
        <p:nvSpPr>
          <p:cNvPr id="43" name="圆角矩形 19"/>
          <p:cNvSpPr/>
          <p:nvPr/>
        </p:nvSpPr>
        <p:spPr>
          <a:xfrm>
            <a:off x="1116513" y="1504995"/>
            <a:ext cx="3513774" cy="609634"/>
          </a:xfrm>
          <a:prstGeom prst="roundRect">
            <a:avLst>
              <a:gd name="adj" fmla="val 6695"/>
            </a:avLst>
          </a:prstGeom>
          <a:solidFill>
            <a:srgbClr val="CCE5FF"/>
          </a:solidFill>
          <a:ln>
            <a:noFill/>
          </a:ln>
        </p:spPr>
        <p:txBody>
          <a:bodyPr wrap="square" rtlCol="0">
            <a:noAutofit/>
          </a:bodyPr>
          <a:lstStyle/>
          <a:p>
            <a:pPr algn="ctr"/>
            <a:r>
              <a:rPr lang="en-US" altLang="zh-CN" sz="1400" b="1" kern="0">
                <a:solidFill>
                  <a:srgbClr val="000000"/>
                </a:solidFill>
                <a:latin typeface="微软雅黑" panose="020B0503020204020204" charset="-122"/>
                <a:ea typeface="微软雅黑" panose="020B0503020204020204" charset="-122"/>
                <a:cs typeface="+mn-ea"/>
              </a:rPr>
              <a:t> </a:t>
            </a:r>
            <a:endParaRPr lang="zh-CN" altLang="en-US" sz="1400" b="1" kern="0">
              <a:solidFill>
                <a:srgbClr val="000000"/>
              </a:solidFill>
              <a:latin typeface="微软雅黑" panose="020B0503020204020204" charset="-122"/>
              <a:ea typeface="微软雅黑" panose="020B0503020204020204" charset="-122"/>
              <a:cs typeface="+mn-ea"/>
            </a:endParaRPr>
          </a:p>
        </p:txBody>
      </p:sp>
      <p:sp>
        <p:nvSpPr>
          <p:cNvPr id="50" name="文本框 49"/>
          <p:cNvSpPr txBox="1"/>
          <p:nvPr>
            <p:custDataLst>
              <p:tags r:id="rId8"/>
            </p:custDataLst>
          </p:nvPr>
        </p:nvSpPr>
        <p:spPr>
          <a:xfrm>
            <a:off x="1327421" y="2257300"/>
            <a:ext cx="1353515" cy="267012"/>
          </a:xfrm>
          <a:prstGeom prst="rect">
            <a:avLst/>
          </a:prstGeom>
          <a:noFill/>
          <a:ln>
            <a:noFill/>
          </a:ln>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a:defRPr/>
            </a:pPr>
            <a:r>
              <a:rPr lang="zh-CN" altLang="en-US" sz="1100" b="1" kern="0" dirty="0">
                <a:latin typeface="微软雅黑" panose="020B0503020204020204" charset="-122"/>
                <a:ea typeface="微软雅黑" panose="020B0503020204020204" charset="-122"/>
                <a:sym typeface="+mn-ea"/>
              </a:rPr>
              <a:t>通用安全防御体系</a:t>
            </a:r>
            <a:endParaRPr lang="zh-CN" altLang="en-US" sz="1100" b="1" kern="0" dirty="0">
              <a:latin typeface="微软雅黑" panose="020B0503020204020204" charset="-122"/>
              <a:ea typeface="微软雅黑" panose="020B0503020204020204" charset="-122"/>
              <a:sym typeface="+mn-ea"/>
            </a:endParaRPr>
          </a:p>
        </p:txBody>
      </p:sp>
      <p:sp>
        <p:nvSpPr>
          <p:cNvPr id="90" name="矩形 89"/>
          <p:cNvSpPr/>
          <p:nvPr/>
        </p:nvSpPr>
        <p:spPr>
          <a:xfrm>
            <a:off x="8111581" y="1575111"/>
            <a:ext cx="2503712" cy="536161"/>
          </a:xfrm>
          <a:prstGeom prst="rect">
            <a:avLst/>
          </a:prstGeom>
          <a:gradFill>
            <a:gsLst>
              <a:gs pos="0">
                <a:srgbClr val="FFFFFF"/>
              </a:gs>
              <a:gs pos="100000">
                <a:srgbClr val="FFFFFF"/>
              </a:gs>
              <a:gs pos="46000">
                <a:srgbClr val="009DD9">
                  <a:lumMod val="4000"/>
                  <a:lumOff val="96000"/>
                </a:srgbClr>
              </a:gs>
            </a:gsLst>
            <a:path path="circle">
              <a:fillToRect r="100000" b="100000"/>
            </a:path>
          </a:gradFill>
          <a:ln w="12700" cap="flat" cmpd="sng" algn="ctr">
            <a:solidFill>
              <a:schemeClr val="tx1"/>
            </a:solidFill>
            <a:prstDash val="dash"/>
            <a:miter lim="800000"/>
          </a:ln>
          <a:effectLst/>
        </p:spPr>
        <p:txBody>
          <a:bodyPr wrap="square" rtlCol="0" anchor="ctr">
            <a:noAutofit/>
          </a:bodyPr>
          <a:lstStyle/>
          <a:p>
            <a:pPr algn="ctr"/>
            <a:endParaRPr lang="zh-CN" altLang="en-US" sz="2000" kern="0">
              <a:solidFill>
                <a:srgbClr val="FFFFFF"/>
              </a:solidFill>
              <a:latin typeface="微软雅黑" panose="020B0503020204020204" charset="-122"/>
              <a:ea typeface="微软雅黑" panose="020B0503020204020204" charset="-122"/>
            </a:endParaRPr>
          </a:p>
        </p:txBody>
      </p:sp>
      <p:sp>
        <p:nvSpPr>
          <p:cNvPr id="91" name="圆角矩形 4"/>
          <p:cNvSpPr/>
          <p:nvPr/>
        </p:nvSpPr>
        <p:spPr>
          <a:xfrm>
            <a:off x="9463336" y="1708956"/>
            <a:ext cx="918708" cy="293012"/>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50">
                <a:solidFill>
                  <a:schemeClr val="tx1"/>
                </a:solidFill>
                <a:latin typeface="微软雅黑" panose="020B0503020204020204" charset="-122"/>
                <a:ea typeface="微软雅黑" panose="020B0503020204020204" charset="-122"/>
              </a:rPr>
              <a:t>堡垒机</a:t>
            </a:r>
            <a:endParaRPr lang="zh-CN" altLang="en-US" sz="1050">
              <a:solidFill>
                <a:schemeClr val="tx1"/>
              </a:solidFill>
              <a:latin typeface="微软雅黑" panose="020B0503020204020204" charset="-122"/>
              <a:ea typeface="微软雅黑" panose="020B0503020204020204" charset="-122"/>
            </a:endParaRPr>
          </a:p>
        </p:txBody>
      </p:sp>
      <p:sp>
        <p:nvSpPr>
          <p:cNvPr id="92" name="圆角矩形 31"/>
          <p:cNvSpPr/>
          <p:nvPr/>
        </p:nvSpPr>
        <p:spPr>
          <a:xfrm>
            <a:off x="8097460" y="2327838"/>
            <a:ext cx="2513622" cy="550040"/>
          </a:xfrm>
          <a:prstGeom prst="roundRect">
            <a:avLst>
              <a:gd name="adj" fmla="val 7321"/>
            </a:avLst>
          </a:prstGeom>
          <a:solidFill>
            <a:srgbClr val="CCE5FF"/>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endParaRPr lang="zh-CN" altLang="en-US" sz="1400">
              <a:solidFill>
                <a:schemeClr val="tx1"/>
              </a:solidFill>
              <a:latin typeface="微软雅黑" panose="020B0503020204020204" charset="-122"/>
              <a:ea typeface="微软雅黑" panose="020B0503020204020204" charset="-122"/>
            </a:endParaRPr>
          </a:p>
        </p:txBody>
      </p:sp>
      <p:sp>
        <p:nvSpPr>
          <p:cNvPr id="93" name="下箭头 47"/>
          <p:cNvSpPr/>
          <p:nvPr/>
        </p:nvSpPr>
        <p:spPr>
          <a:xfrm>
            <a:off x="9256679" y="2134838"/>
            <a:ext cx="207465" cy="207326"/>
          </a:xfrm>
          <a:prstGeom prst="downArrow">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000">
              <a:latin typeface="微软雅黑" panose="020B0503020204020204" charset="-122"/>
              <a:ea typeface="微软雅黑" panose="020B0503020204020204" charset="-122"/>
            </a:endParaRPr>
          </a:p>
        </p:txBody>
      </p:sp>
      <p:sp>
        <p:nvSpPr>
          <p:cNvPr id="94" name="圆角矩形 53"/>
          <p:cNvSpPr/>
          <p:nvPr/>
        </p:nvSpPr>
        <p:spPr>
          <a:xfrm>
            <a:off x="9428745" y="2498835"/>
            <a:ext cx="1070820" cy="293012"/>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运维监控平台</a:t>
            </a:r>
            <a:endParaRPr lang="zh-CN" altLang="en-US" sz="1050" dirty="0">
              <a:solidFill>
                <a:schemeClr val="tx1"/>
              </a:solidFill>
              <a:latin typeface="微软雅黑" panose="020B0503020204020204" charset="-122"/>
              <a:ea typeface="微软雅黑" panose="020B0503020204020204" charset="-122"/>
            </a:endParaRPr>
          </a:p>
        </p:txBody>
      </p:sp>
      <p:sp>
        <p:nvSpPr>
          <p:cNvPr id="95" name="圆角矩形 56"/>
          <p:cNvSpPr/>
          <p:nvPr/>
        </p:nvSpPr>
        <p:spPr>
          <a:xfrm>
            <a:off x="8185859" y="2498835"/>
            <a:ext cx="1070820" cy="293012"/>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集成开发平台</a:t>
            </a:r>
            <a:endParaRPr lang="zh-CN" altLang="en-US" sz="1050" dirty="0">
              <a:solidFill>
                <a:schemeClr val="tx1"/>
              </a:solidFill>
              <a:latin typeface="微软雅黑" panose="020B0503020204020204" charset="-122"/>
              <a:ea typeface="微软雅黑" panose="020B0503020204020204" charset="-122"/>
            </a:endParaRPr>
          </a:p>
        </p:txBody>
      </p:sp>
      <p:sp>
        <p:nvSpPr>
          <p:cNvPr id="96" name="圆角矩形 21"/>
          <p:cNvSpPr/>
          <p:nvPr/>
        </p:nvSpPr>
        <p:spPr>
          <a:xfrm>
            <a:off x="8280954" y="1728687"/>
            <a:ext cx="918708" cy="293012"/>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050" dirty="0">
                <a:solidFill>
                  <a:schemeClr val="tx1"/>
                </a:solidFill>
                <a:latin typeface="微软雅黑" panose="020B0503020204020204" charset="-122"/>
                <a:ea typeface="微软雅黑" panose="020B0503020204020204" charset="-122"/>
              </a:rPr>
              <a:t>VPN</a:t>
            </a:r>
            <a:endParaRPr lang="en-US" altLang="zh-CN" sz="1050" dirty="0">
              <a:solidFill>
                <a:schemeClr val="tx1"/>
              </a:solidFill>
              <a:latin typeface="微软雅黑" panose="020B0503020204020204" charset="-122"/>
              <a:ea typeface="微软雅黑" panose="020B0503020204020204" charset="-122"/>
            </a:endParaRPr>
          </a:p>
        </p:txBody>
      </p:sp>
      <p:sp>
        <p:nvSpPr>
          <p:cNvPr id="60" name="圆角矩形 19"/>
          <p:cNvSpPr/>
          <p:nvPr/>
        </p:nvSpPr>
        <p:spPr>
          <a:xfrm>
            <a:off x="5033619" y="1528187"/>
            <a:ext cx="2905585" cy="589889"/>
          </a:xfrm>
          <a:prstGeom prst="roundRect">
            <a:avLst>
              <a:gd name="adj" fmla="val 6695"/>
            </a:avLst>
          </a:prstGeom>
          <a:solidFill>
            <a:srgbClr val="CCE5FF"/>
          </a:solidFill>
          <a:ln>
            <a:noFill/>
          </a:ln>
        </p:spPr>
        <p:txBody>
          <a:bodyPr wrap="square" rtlCol="0">
            <a:noAutofit/>
          </a:bodyPr>
          <a:lstStyle/>
          <a:p>
            <a:pPr algn="ctr"/>
            <a:r>
              <a:rPr lang="en-US" altLang="zh-CN" sz="1400" b="1" kern="0">
                <a:solidFill>
                  <a:srgbClr val="000000"/>
                </a:solidFill>
                <a:latin typeface="微软雅黑" panose="020B0503020204020204" charset="-122"/>
                <a:ea typeface="微软雅黑" panose="020B0503020204020204" charset="-122"/>
                <a:cs typeface="+mn-ea"/>
              </a:rPr>
              <a:t> </a:t>
            </a:r>
            <a:endParaRPr lang="zh-CN" altLang="en-US" sz="1400" b="1" kern="0">
              <a:solidFill>
                <a:srgbClr val="000000"/>
              </a:solidFill>
              <a:latin typeface="微软雅黑" panose="020B0503020204020204" charset="-122"/>
              <a:ea typeface="微软雅黑" panose="020B0503020204020204" charset="-122"/>
              <a:cs typeface="+mn-ea"/>
            </a:endParaRPr>
          </a:p>
        </p:txBody>
      </p:sp>
      <p:sp>
        <p:nvSpPr>
          <p:cNvPr id="69" name="文本框 68"/>
          <p:cNvSpPr txBox="1"/>
          <p:nvPr>
            <p:custDataLst>
              <p:tags r:id="rId9"/>
            </p:custDataLst>
          </p:nvPr>
        </p:nvSpPr>
        <p:spPr>
          <a:xfrm>
            <a:off x="5914070" y="1566403"/>
            <a:ext cx="1259444" cy="267012"/>
          </a:xfrm>
          <a:prstGeom prst="rect">
            <a:avLst/>
          </a:prstGeom>
          <a:noFill/>
          <a:ln>
            <a:noFill/>
          </a:ln>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a:defRPr/>
            </a:pPr>
            <a:r>
              <a:rPr lang="zh-CN" altLang="en-US" sz="1100" b="1" kern="0" dirty="0">
                <a:latin typeface="微软雅黑" panose="020B0503020204020204" charset="-122"/>
                <a:ea typeface="微软雅黑" panose="020B0503020204020204" charset="-122"/>
                <a:sym typeface="+mn-ea"/>
              </a:rPr>
              <a:t>可信接入</a:t>
            </a:r>
            <a:endParaRPr lang="zh-CN" altLang="en-US" sz="1100" b="1" kern="0" dirty="0">
              <a:latin typeface="微软雅黑" panose="020B0503020204020204" charset="-122"/>
              <a:ea typeface="微软雅黑" panose="020B0503020204020204" charset="-122"/>
              <a:sym typeface="+mn-ea"/>
            </a:endParaRPr>
          </a:p>
        </p:txBody>
      </p:sp>
      <p:sp>
        <p:nvSpPr>
          <p:cNvPr id="99" name="圆角矩形 56"/>
          <p:cNvSpPr/>
          <p:nvPr/>
        </p:nvSpPr>
        <p:spPr>
          <a:xfrm>
            <a:off x="5220278" y="1805137"/>
            <a:ext cx="774303" cy="220171"/>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身份验证</a:t>
            </a:r>
            <a:endParaRPr lang="zh-CN" altLang="en-US" sz="1050" dirty="0">
              <a:solidFill>
                <a:schemeClr val="tx1"/>
              </a:solidFill>
              <a:latin typeface="微软雅黑" panose="020B0503020204020204" charset="-122"/>
              <a:ea typeface="微软雅黑" panose="020B0503020204020204" charset="-122"/>
            </a:endParaRPr>
          </a:p>
        </p:txBody>
      </p:sp>
      <p:sp>
        <p:nvSpPr>
          <p:cNvPr id="106" name="圆角矩形 56"/>
          <p:cNvSpPr/>
          <p:nvPr/>
        </p:nvSpPr>
        <p:spPr>
          <a:xfrm>
            <a:off x="6082980" y="1805137"/>
            <a:ext cx="774303" cy="220171"/>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加密通信</a:t>
            </a:r>
            <a:endParaRPr lang="zh-CN" altLang="en-US" sz="1050" dirty="0">
              <a:solidFill>
                <a:schemeClr val="tx1"/>
              </a:solidFill>
              <a:latin typeface="微软雅黑" panose="020B0503020204020204" charset="-122"/>
              <a:ea typeface="微软雅黑" panose="020B0503020204020204" charset="-122"/>
            </a:endParaRPr>
          </a:p>
        </p:txBody>
      </p:sp>
      <p:sp>
        <p:nvSpPr>
          <p:cNvPr id="107" name="圆角矩形 56"/>
          <p:cNvSpPr/>
          <p:nvPr/>
        </p:nvSpPr>
        <p:spPr>
          <a:xfrm>
            <a:off x="6956702" y="1805137"/>
            <a:ext cx="774303" cy="220171"/>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设备认证</a:t>
            </a:r>
            <a:endParaRPr lang="zh-CN" altLang="en-US" sz="1050" dirty="0">
              <a:solidFill>
                <a:schemeClr val="tx1"/>
              </a:solidFill>
              <a:latin typeface="微软雅黑" panose="020B0503020204020204" charset="-122"/>
              <a:ea typeface="微软雅黑" panose="020B0503020204020204" charset="-122"/>
            </a:endParaRPr>
          </a:p>
        </p:txBody>
      </p:sp>
      <p:sp>
        <p:nvSpPr>
          <p:cNvPr id="108" name="圆角矩形 56"/>
          <p:cNvSpPr/>
          <p:nvPr/>
        </p:nvSpPr>
        <p:spPr>
          <a:xfrm>
            <a:off x="1250475" y="1805137"/>
            <a:ext cx="774303" cy="220171"/>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授权鉴权</a:t>
            </a:r>
            <a:endParaRPr lang="zh-CN" altLang="en-US" sz="1050" dirty="0">
              <a:solidFill>
                <a:schemeClr val="tx1"/>
              </a:solidFill>
              <a:latin typeface="微软雅黑" panose="020B0503020204020204" charset="-122"/>
              <a:ea typeface="微软雅黑" panose="020B0503020204020204" charset="-122"/>
            </a:endParaRPr>
          </a:p>
        </p:txBody>
      </p:sp>
      <p:sp>
        <p:nvSpPr>
          <p:cNvPr id="109" name="圆角矩形 56"/>
          <p:cNvSpPr/>
          <p:nvPr/>
        </p:nvSpPr>
        <p:spPr>
          <a:xfrm>
            <a:off x="2932678" y="1805137"/>
            <a:ext cx="774303" cy="220171"/>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日志审计</a:t>
            </a:r>
            <a:endParaRPr lang="zh-CN" altLang="en-US" sz="1050" dirty="0">
              <a:solidFill>
                <a:schemeClr val="tx1"/>
              </a:solidFill>
              <a:latin typeface="微软雅黑" panose="020B0503020204020204" charset="-122"/>
              <a:ea typeface="微软雅黑" panose="020B0503020204020204" charset="-122"/>
            </a:endParaRPr>
          </a:p>
        </p:txBody>
      </p:sp>
      <p:sp>
        <p:nvSpPr>
          <p:cNvPr id="114" name="圆角矩形 56"/>
          <p:cNvSpPr/>
          <p:nvPr/>
        </p:nvSpPr>
        <p:spPr>
          <a:xfrm>
            <a:off x="3773780" y="1805137"/>
            <a:ext cx="774303" cy="220171"/>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监控报警</a:t>
            </a:r>
            <a:endParaRPr lang="zh-CN" altLang="en-US" sz="1050" dirty="0">
              <a:solidFill>
                <a:schemeClr val="tx1"/>
              </a:solidFill>
              <a:latin typeface="微软雅黑" panose="020B0503020204020204" charset="-122"/>
              <a:ea typeface="微软雅黑" panose="020B0503020204020204" charset="-122"/>
            </a:endParaRPr>
          </a:p>
        </p:txBody>
      </p:sp>
      <p:sp>
        <p:nvSpPr>
          <p:cNvPr id="120" name="圆角矩形 56"/>
          <p:cNvSpPr/>
          <p:nvPr/>
        </p:nvSpPr>
        <p:spPr>
          <a:xfrm>
            <a:off x="2091577" y="1805137"/>
            <a:ext cx="774303" cy="220171"/>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访问控制</a:t>
            </a:r>
            <a:endParaRPr lang="zh-CN" altLang="en-US" sz="1050" dirty="0">
              <a:solidFill>
                <a:schemeClr val="tx1"/>
              </a:solidFill>
              <a:latin typeface="微软雅黑" panose="020B0503020204020204" charset="-122"/>
              <a:ea typeface="微软雅黑" panose="020B0503020204020204" charset="-122"/>
            </a:endParaRPr>
          </a:p>
        </p:txBody>
      </p:sp>
      <p:sp>
        <p:nvSpPr>
          <p:cNvPr id="136" name="长方形"/>
          <p:cNvSpPr/>
          <p:nvPr/>
        </p:nvSpPr>
        <p:spPr>
          <a:xfrm>
            <a:off x="1363901" y="2575388"/>
            <a:ext cx="285464" cy="9153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solidFill>
                  <a:prstClr val="white"/>
                </a:solidFill>
                <a:latin typeface="微软雅黑" panose="020B0503020204020204" charset="-122"/>
                <a:ea typeface="微软雅黑" panose="020B0503020204020204" charset="-122"/>
              </a:rPr>
              <a:t>自定义头防御</a:t>
            </a:r>
            <a:endParaRPr lang="zh-CN" altLang="en-US" sz="900" dirty="0">
              <a:solidFill>
                <a:prstClr val="white"/>
              </a:solidFill>
              <a:latin typeface="微软雅黑" panose="020B0503020204020204" charset="-122"/>
              <a:ea typeface="微软雅黑" panose="020B0503020204020204" charset="-122"/>
            </a:endParaRPr>
          </a:p>
        </p:txBody>
      </p:sp>
      <p:sp>
        <p:nvSpPr>
          <p:cNvPr id="137" name="长方形"/>
          <p:cNvSpPr/>
          <p:nvPr/>
        </p:nvSpPr>
        <p:spPr>
          <a:xfrm>
            <a:off x="1918483" y="2575388"/>
            <a:ext cx="285464" cy="9153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solidFill>
                  <a:prstClr val="white"/>
                </a:solidFill>
                <a:latin typeface="微软雅黑" panose="020B0503020204020204" charset="-122"/>
                <a:ea typeface="微软雅黑" panose="020B0503020204020204" charset="-122"/>
              </a:rPr>
              <a:t>跨站脚本防御</a:t>
            </a:r>
            <a:endParaRPr lang="zh-CN" altLang="en-US" sz="900" dirty="0">
              <a:solidFill>
                <a:prstClr val="white"/>
              </a:solidFill>
              <a:latin typeface="微软雅黑" panose="020B0503020204020204" charset="-122"/>
              <a:ea typeface="微软雅黑" panose="020B0503020204020204" charset="-122"/>
            </a:endParaRPr>
          </a:p>
        </p:txBody>
      </p:sp>
      <p:sp>
        <p:nvSpPr>
          <p:cNvPr id="138" name="长方形"/>
          <p:cNvSpPr/>
          <p:nvPr/>
        </p:nvSpPr>
        <p:spPr>
          <a:xfrm>
            <a:off x="2473064" y="2575388"/>
            <a:ext cx="285464" cy="9153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pt-BR" altLang="zh-CN" sz="900">
                <a:solidFill>
                  <a:prstClr val="white"/>
                </a:solidFill>
                <a:latin typeface="微软雅黑" panose="020B0503020204020204" charset="-122"/>
                <a:ea typeface="微软雅黑" panose="020B0503020204020204" charset="-122"/>
              </a:rPr>
              <a:t>c</a:t>
            </a:r>
            <a:br>
              <a:rPr lang="pt-BR" altLang="zh-CN" sz="900">
                <a:solidFill>
                  <a:prstClr val="white"/>
                </a:solidFill>
                <a:latin typeface="微软雅黑" panose="020B0503020204020204" charset="-122"/>
                <a:ea typeface="微软雅黑" panose="020B0503020204020204" charset="-122"/>
              </a:rPr>
            </a:br>
            <a:r>
              <a:rPr lang="pt-BR" altLang="zh-CN" sz="900">
                <a:solidFill>
                  <a:prstClr val="white"/>
                </a:solidFill>
                <a:latin typeface="微软雅黑" panose="020B0503020204020204" charset="-122"/>
                <a:ea typeface="微软雅黑" panose="020B0503020204020204" charset="-122"/>
              </a:rPr>
              <a:t>s</a:t>
            </a:r>
            <a:br>
              <a:rPr lang="pt-BR" altLang="zh-CN" sz="900">
                <a:solidFill>
                  <a:prstClr val="white"/>
                </a:solidFill>
                <a:latin typeface="微软雅黑" panose="020B0503020204020204" charset="-122"/>
                <a:ea typeface="微软雅黑" panose="020B0503020204020204" charset="-122"/>
              </a:rPr>
            </a:br>
            <a:r>
              <a:rPr lang="pt-BR" altLang="zh-CN" sz="900">
                <a:solidFill>
                  <a:prstClr val="white"/>
                </a:solidFill>
                <a:latin typeface="微软雅黑" panose="020B0503020204020204" charset="-122"/>
                <a:ea typeface="微软雅黑" panose="020B0503020204020204" charset="-122"/>
              </a:rPr>
              <a:t>r</a:t>
            </a:r>
            <a:br>
              <a:rPr lang="pt-BR" altLang="zh-CN" sz="900">
                <a:solidFill>
                  <a:prstClr val="white"/>
                </a:solidFill>
                <a:latin typeface="微软雅黑" panose="020B0503020204020204" charset="-122"/>
                <a:ea typeface="微软雅黑" panose="020B0503020204020204" charset="-122"/>
              </a:rPr>
            </a:br>
            <a:r>
              <a:rPr lang="pt-BR" altLang="zh-CN" sz="900">
                <a:solidFill>
                  <a:prstClr val="white"/>
                </a:solidFill>
                <a:latin typeface="微软雅黑" panose="020B0503020204020204" charset="-122"/>
                <a:ea typeface="微软雅黑" panose="020B0503020204020204" charset="-122"/>
              </a:rPr>
              <a:t>f</a:t>
            </a:r>
            <a:br>
              <a:rPr lang="pt-BR" altLang="zh-CN" sz="900" dirty="0">
                <a:solidFill>
                  <a:prstClr val="white"/>
                </a:solidFill>
                <a:latin typeface="微软雅黑" panose="020B0503020204020204" charset="-122"/>
                <a:ea typeface="微软雅黑" panose="020B0503020204020204" charset="-122"/>
              </a:rPr>
            </a:br>
            <a:r>
              <a:rPr lang="zh-CN" altLang="pt-BR" sz="900" dirty="0">
                <a:solidFill>
                  <a:prstClr val="white"/>
                </a:solidFill>
                <a:latin typeface="微软雅黑" panose="020B0503020204020204" charset="-122"/>
                <a:ea typeface="微软雅黑" panose="020B0503020204020204" charset="-122"/>
              </a:rPr>
              <a:t>防御</a:t>
            </a:r>
            <a:endParaRPr lang="zh-CN" altLang="en-US" sz="900" dirty="0">
              <a:solidFill>
                <a:prstClr val="white"/>
              </a:solidFill>
              <a:latin typeface="微软雅黑" panose="020B0503020204020204" charset="-122"/>
              <a:ea typeface="微软雅黑" panose="020B0503020204020204" charset="-122"/>
            </a:endParaRPr>
          </a:p>
        </p:txBody>
      </p:sp>
      <p:sp>
        <p:nvSpPr>
          <p:cNvPr id="139" name="长方形"/>
          <p:cNvSpPr/>
          <p:nvPr/>
        </p:nvSpPr>
        <p:spPr>
          <a:xfrm>
            <a:off x="3582228" y="2575388"/>
            <a:ext cx="285464" cy="9153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dirty="0" err="1">
                <a:solidFill>
                  <a:prstClr val="white"/>
                </a:solidFill>
                <a:latin typeface="微软雅黑" panose="020B0503020204020204" charset="-122"/>
                <a:ea typeface="微软雅黑" panose="020B0503020204020204" charset="-122"/>
              </a:rPr>
              <a:t>url</a:t>
            </a:r>
            <a:br>
              <a:rPr lang="en-US" altLang="zh-CN" sz="900" dirty="0">
                <a:solidFill>
                  <a:prstClr val="white"/>
                </a:solidFill>
                <a:latin typeface="微软雅黑" panose="020B0503020204020204" charset="-122"/>
                <a:ea typeface="微软雅黑" panose="020B0503020204020204" charset="-122"/>
              </a:rPr>
            </a:br>
            <a:r>
              <a:rPr lang="zh-CN" altLang="en-US" sz="900" dirty="0">
                <a:solidFill>
                  <a:prstClr val="white"/>
                </a:solidFill>
                <a:latin typeface="微软雅黑" panose="020B0503020204020204" charset="-122"/>
                <a:ea typeface="微软雅黑" panose="020B0503020204020204" charset="-122"/>
              </a:rPr>
              <a:t>防御</a:t>
            </a:r>
            <a:endParaRPr lang="zh-CN" altLang="en-US" sz="900" dirty="0">
              <a:solidFill>
                <a:prstClr val="white"/>
              </a:solidFill>
              <a:latin typeface="微软雅黑" panose="020B0503020204020204" charset="-122"/>
              <a:ea typeface="微软雅黑" panose="020B0503020204020204" charset="-122"/>
            </a:endParaRPr>
          </a:p>
        </p:txBody>
      </p:sp>
      <p:sp>
        <p:nvSpPr>
          <p:cNvPr id="140" name="长方形"/>
          <p:cNvSpPr/>
          <p:nvPr/>
        </p:nvSpPr>
        <p:spPr>
          <a:xfrm>
            <a:off x="4136809" y="2575388"/>
            <a:ext cx="285464" cy="9153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pt-BR" altLang="zh-CN" sz="900" dirty="0">
                <a:solidFill>
                  <a:prstClr val="white"/>
                </a:solidFill>
                <a:latin typeface="微软雅黑" panose="020B0503020204020204" charset="-122"/>
                <a:ea typeface="微软雅黑" panose="020B0503020204020204" charset="-122"/>
              </a:rPr>
              <a:t>h</a:t>
            </a:r>
            <a:br>
              <a:rPr lang="pt-BR" altLang="zh-CN" sz="900" dirty="0">
                <a:solidFill>
                  <a:prstClr val="white"/>
                </a:solidFill>
                <a:latin typeface="微软雅黑" panose="020B0503020204020204" charset="-122"/>
                <a:ea typeface="微软雅黑" panose="020B0503020204020204" charset="-122"/>
              </a:rPr>
            </a:br>
            <a:r>
              <a:rPr lang="pt-BR" altLang="zh-CN" sz="900" dirty="0">
                <a:solidFill>
                  <a:prstClr val="white"/>
                </a:solidFill>
                <a:latin typeface="微软雅黑" panose="020B0503020204020204" charset="-122"/>
                <a:ea typeface="微软雅黑" panose="020B0503020204020204" charset="-122"/>
              </a:rPr>
              <a:t>e</a:t>
            </a:r>
            <a:br>
              <a:rPr lang="pt-BR" altLang="zh-CN" sz="900" dirty="0">
                <a:solidFill>
                  <a:prstClr val="white"/>
                </a:solidFill>
                <a:latin typeface="微软雅黑" panose="020B0503020204020204" charset="-122"/>
                <a:ea typeface="微软雅黑" panose="020B0503020204020204" charset="-122"/>
              </a:rPr>
            </a:br>
            <a:r>
              <a:rPr lang="pt-BR" altLang="zh-CN" sz="900" dirty="0">
                <a:solidFill>
                  <a:prstClr val="white"/>
                </a:solidFill>
                <a:latin typeface="微软雅黑" panose="020B0503020204020204" charset="-122"/>
                <a:ea typeface="微软雅黑" panose="020B0503020204020204" charset="-122"/>
              </a:rPr>
              <a:t>a</a:t>
            </a:r>
            <a:br>
              <a:rPr lang="pt-BR" altLang="zh-CN" sz="900" dirty="0">
                <a:solidFill>
                  <a:prstClr val="white"/>
                </a:solidFill>
                <a:latin typeface="微软雅黑" panose="020B0503020204020204" charset="-122"/>
                <a:ea typeface="微软雅黑" panose="020B0503020204020204" charset="-122"/>
              </a:rPr>
            </a:br>
            <a:r>
              <a:rPr lang="pt-BR" altLang="zh-CN" sz="900" dirty="0">
                <a:solidFill>
                  <a:prstClr val="white"/>
                </a:solidFill>
                <a:latin typeface="微软雅黑" panose="020B0503020204020204" charset="-122"/>
                <a:ea typeface="微软雅黑" panose="020B0503020204020204" charset="-122"/>
              </a:rPr>
              <a:t>d</a:t>
            </a:r>
            <a:br>
              <a:rPr lang="pt-BR" altLang="zh-CN" sz="900" dirty="0">
                <a:solidFill>
                  <a:prstClr val="white"/>
                </a:solidFill>
                <a:latin typeface="微软雅黑" panose="020B0503020204020204" charset="-122"/>
                <a:ea typeface="微软雅黑" panose="020B0503020204020204" charset="-122"/>
              </a:rPr>
            </a:br>
            <a:r>
              <a:rPr lang="zh-CN" altLang="pt-BR" sz="900" dirty="0">
                <a:solidFill>
                  <a:prstClr val="white"/>
                </a:solidFill>
                <a:latin typeface="微软雅黑" panose="020B0503020204020204" charset="-122"/>
                <a:ea typeface="微软雅黑" panose="020B0503020204020204" charset="-122"/>
              </a:rPr>
              <a:t>防御</a:t>
            </a:r>
            <a:endParaRPr lang="zh-CN" altLang="en-US" sz="900" dirty="0">
              <a:solidFill>
                <a:prstClr val="white"/>
              </a:solidFill>
              <a:latin typeface="微软雅黑" panose="020B0503020204020204" charset="-122"/>
              <a:ea typeface="微软雅黑" panose="020B0503020204020204" charset="-122"/>
            </a:endParaRPr>
          </a:p>
        </p:txBody>
      </p:sp>
      <p:sp>
        <p:nvSpPr>
          <p:cNvPr id="141" name="长方形"/>
          <p:cNvSpPr/>
          <p:nvPr/>
        </p:nvSpPr>
        <p:spPr>
          <a:xfrm>
            <a:off x="3027646" y="2575388"/>
            <a:ext cx="285464" cy="9153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dirty="0" err="1">
                <a:solidFill>
                  <a:prstClr val="white"/>
                </a:solidFill>
                <a:latin typeface="微软雅黑" panose="020B0503020204020204" charset="-122"/>
                <a:ea typeface="微软雅黑" panose="020B0503020204020204" charset="-122"/>
              </a:rPr>
              <a:t>sql</a:t>
            </a:r>
            <a:r>
              <a:rPr lang="zh-CN" altLang="en-US" sz="900" dirty="0">
                <a:solidFill>
                  <a:prstClr val="white"/>
                </a:solidFill>
                <a:latin typeface="微软雅黑" panose="020B0503020204020204" charset="-122"/>
                <a:ea typeface="微软雅黑" panose="020B0503020204020204" charset="-122"/>
              </a:rPr>
              <a:t>注入防御</a:t>
            </a:r>
            <a:endParaRPr lang="zh-CN" altLang="en-US" sz="900" dirty="0">
              <a:solidFill>
                <a:prstClr val="white"/>
              </a:solidFill>
              <a:latin typeface="微软雅黑" panose="020B0503020204020204" charset="-122"/>
              <a:ea typeface="微软雅黑" panose="020B0503020204020204" charset="-122"/>
            </a:endParaRPr>
          </a:p>
        </p:txBody>
      </p:sp>
      <p:sp>
        <p:nvSpPr>
          <p:cNvPr id="142" name="长方形"/>
          <p:cNvSpPr/>
          <p:nvPr/>
        </p:nvSpPr>
        <p:spPr>
          <a:xfrm>
            <a:off x="4691391" y="2575388"/>
            <a:ext cx="285464" cy="9153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solidFill>
                  <a:prstClr val="white"/>
                </a:solidFill>
                <a:latin typeface="微软雅黑" panose="020B0503020204020204" charset="-122"/>
                <a:ea typeface="微软雅黑" panose="020B0503020204020204" charset="-122"/>
              </a:rPr>
              <a:t>文</a:t>
            </a:r>
            <a:br>
              <a:rPr lang="zh-CN" altLang="en-US" sz="900" dirty="0">
                <a:solidFill>
                  <a:prstClr val="white"/>
                </a:solidFill>
                <a:latin typeface="微软雅黑" panose="020B0503020204020204" charset="-122"/>
                <a:ea typeface="微软雅黑" panose="020B0503020204020204" charset="-122"/>
              </a:rPr>
            </a:br>
            <a:r>
              <a:rPr lang="zh-CN" altLang="en-US" sz="900" dirty="0">
                <a:solidFill>
                  <a:prstClr val="white"/>
                </a:solidFill>
                <a:latin typeface="微软雅黑" panose="020B0503020204020204" charset="-122"/>
                <a:ea typeface="微软雅黑" panose="020B0503020204020204" charset="-122"/>
              </a:rPr>
              <a:t>件</a:t>
            </a:r>
            <a:br>
              <a:rPr lang="zh-CN" altLang="en-US" sz="900" dirty="0">
                <a:solidFill>
                  <a:prstClr val="white"/>
                </a:solidFill>
                <a:latin typeface="微软雅黑" panose="020B0503020204020204" charset="-122"/>
                <a:ea typeface="微软雅黑" panose="020B0503020204020204" charset="-122"/>
              </a:rPr>
            </a:br>
            <a:r>
              <a:rPr lang="zh-CN" altLang="en-US" sz="900" dirty="0">
                <a:solidFill>
                  <a:prstClr val="white"/>
                </a:solidFill>
                <a:latin typeface="微软雅黑" panose="020B0503020204020204" charset="-122"/>
                <a:ea typeface="微软雅黑" panose="020B0503020204020204" charset="-122"/>
              </a:rPr>
              <a:t>上</a:t>
            </a:r>
            <a:br>
              <a:rPr lang="zh-CN" altLang="en-US" sz="900" dirty="0">
                <a:solidFill>
                  <a:prstClr val="white"/>
                </a:solidFill>
                <a:latin typeface="微软雅黑" panose="020B0503020204020204" charset="-122"/>
                <a:ea typeface="微软雅黑" panose="020B0503020204020204" charset="-122"/>
              </a:rPr>
            </a:br>
            <a:r>
              <a:rPr lang="zh-CN" altLang="en-US" sz="900" dirty="0">
                <a:solidFill>
                  <a:prstClr val="white"/>
                </a:solidFill>
                <a:latin typeface="微软雅黑" panose="020B0503020204020204" charset="-122"/>
                <a:ea typeface="微软雅黑" panose="020B0503020204020204" charset="-122"/>
              </a:rPr>
              <a:t>传</a:t>
            </a:r>
            <a:br>
              <a:rPr lang="zh-CN" altLang="en-US" sz="900" dirty="0">
                <a:solidFill>
                  <a:prstClr val="white"/>
                </a:solidFill>
                <a:latin typeface="微软雅黑" panose="020B0503020204020204" charset="-122"/>
                <a:ea typeface="微软雅黑" panose="020B0503020204020204" charset="-122"/>
              </a:rPr>
            </a:br>
            <a:r>
              <a:rPr lang="zh-CN" altLang="en-US" sz="900" dirty="0">
                <a:solidFill>
                  <a:prstClr val="white"/>
                </a:solidFill>
                <a:latin typeface="微软雅黑" panose="020B0503020204020204" charset="-122"/>
                <a:ea typeface="微软雅黑" panose="020B0503020204020204" charset="-122"/>
              </a:rPr>
              <a:t>防</a:t>
            </a:r>
            <a:br>
              <a:rPr lang="zh-CN" altLang="en-US" sz="900" dirty="0">
                <a:solidFill>
                  <a:prstClr val="white"/>
                </a:solidFill>
                <a:latin typeface="微软雅黑" panose="020B0503020204020204" charset="-122"/>
                <a:ea typeface="微软雅黑" panose="020B0503020204020204" charset="-122"/>
              </a:rPr>
            </a:br>
            <a:r>
              <a:rPr lang="zh-CN" altLang="en-US" sz="900" dirty="0">
                <a:solidFill>
                  <a:prstClr val="white"/>
                </a:solidFill>
                <a:latin typeface="微软雅黑" panose="020B0503020204020204" charset="-122"/>
                <a:ea typeface="微软雅黑" panose="020B0503020204020204" charset="-122"/>
              </a:rPr>
              <a:t>御</a:t>
            </a:r>
            <a:endParaRPr lang="en-US" altLang="zh-CN" sz="900" dirty="0">
              <a:solidFill>
                <a:prstClr val="white"/>
              </a:solidFill>
              <a:latin typeface="微软雅黑" panose="020B0503020204020204" charset="-122"/>
              <a:ea typeface="微软雅黑" panose="020B0503020204020204" charset="-122"/>
            </a:endParaRPr>
          </a:p>
        </p:txBody>
      </p:sp>
      <p:sp>
        <p:nvSpPr>
          <p:cNvPr id="143" name="长方形"/>
          <p:cNvSpPr/>
          <p:nvPr/>
        </p:nvSpPr>
        <p:spPr>
          <a:xfrm>
            <a:off x="5245973" y="2575388"/>
            <a:ext cx="285464" cy="9153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solidFill>
                  <a:prstClr val="white"/>
                </a:solidFill>
                <a:latin typeface="微软雅黑" panose="020B0503020204020204" charset="-122"/>
                <a:ea typeface="微软雅黑" panose="020B0503020204020204" charset="-122"/>
              </a:rPr>
              <a:t>文件下载防御</a:t>
            </a:r>
            <a:endParaRPr lang="en-US" altLang="zh-CN" sz="900" dirty="0">
              <a:solidFill>
                <a:prstClr val="white"/>
              </a:solidFill>
              <a:latin typeface="微软雅黑" panose="020B0503020204020204" charset="-122"/>
              <a:ea typeface="微软雅黑" panose="020B0503020204020204" charset="-122"/>
            </a:endParaRPr>
          </a:p>
        </p:txBody>
      </p:sp>
      <p:sp>
        <p:nvSpPr>
          <p:cNvPr id="144" name="长方形"/>
          <p:cNvSpPr/>
          <p:nvPr/>
        </p:nvSpPr>
        <p:spPr>
          <a:xfrm>
            <a:off x="5800555" y="2575388"/>
            <a:ext cx="285464" cy="9153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solidFill>
                  <a:prstClr val="white"/>
                </a:solidFill>
                <a:latin typeface="微软雅黑" panose="020B0503020204020204" charset="-122"/>
                <a:ea typeface="微软雅黑" panose="020B0503020204020204" charset="-122"/>
              </a:rPr>
              <a:t>机器人防御</a:t>
            </a:r>
            <a:endParaRPr lang="en-US" altLang="zh-CN" sz="900" dirty="0">
              <a:solidFill>
                <a:prstClr val="white"/>
              </a:solidFill>
              <a:latin typeface="微软雅黑" panose="020B0503020204020204" charset="-122"/>
              <a:ea typeface="微软雅黑" panose="020B0503020204020204" charset="-122"/>
            </a:endParaRPr>
          </a:p>
        </p:txBody>
      </p:sp>
      <p:sp>
        <p:nvSpPr>
          <p:cNvPr id="145" name="长方形"/>
          <p:cNvSpPr/>
          <p:nvPr/>
        </p:nvSpPr>
        <p:spPr>
          <a:xfrm>
            <a:off x="6355136" y="2575388"/>
            <a:ext cx="285464" cy="9153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solidFill>
                  <a:prstClr val="white"/>
                </a:solidFill>
                <a:latin typeface="微软雅黑" panose="020B0503020204020204" charset="-122"/>
                <a:ea typeface="微软雅黑" panose="020B0503020204020204" charset="-122"/>
              </a:rPr>
              <a:t>限定</a:t>
            </a:r>
            <a:r>
              <a:rPr lang="en-US" altLang="zh-CN" sz="700" dirty="0">
                <a:solidFill>
                  <a:prstClr val="white"/>
                </a:solidFill>
                <a:latin typeface="微软雅黑" panose="020B0503020204020204" charset="-122"/>
                <a:ea typeface="微软雅黑" panose="020B0503020204020204" charset="-122"/>
              </a:rPr>
              <a:t>IP</a:t>
            </a:r>
            <a:r>
              <a:rPr lang="zh-CN" altLang="en-US" sz="900" dirty="0">
                <a:solidFill>
                  <a:prstClr val="white"/>
                </a:solidFill>
                <a:latin typeface="微软雅黑" panose="020B0503020204020204" charset="-122"/>
                <a:ea typeface="微软雅黑" panose="020B0503020204020204" charset="-122"/>
              </a:rPr>
              <a:t>防御</a:t>
            </a:r>
            <a:endParaRPr lang="en-US" altLang="zh-CN" sz="900" dirty="0">
              <a:solidFill>
                <a:prstClr val="white"/>
              </a:solidFill>
              <a:latin typeface="微软雅黑" panose="020B0503020204020204" charset="-122"/>
              <a:ea typeface="微软雅黑" panose="020B0503020204020204" charset="-122"/>
            </a:endParaRPr>
          </a:p>
        </p:txBody>
      </p:sp>
      <p:sp>
        <p:nvSpPr>
          <p:cNvPr id="146" name="长方形"/>
          <p:cNvSpPr/>
          <p:nvPr/>
        </p:nvSpPr>
        <p:spPr>
          <a:xfrm>
            <a:off x="6909718" y="2575388"/>
            <a:ext cx="285464" cy="9153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solidFill>
                  <a:prstClr val="white"/>
                </a:solidFill>
                <a:latin typeface="微软雅黑" panose="020B0503020204020204" charset="-122"/>
                <a:ea typeface="微软雅黑" panose="020B0503020204020204" charset="-122"/>
              </a:rPr>
              <a:t>请求数据加密</a:t>
            </a:r>
            <a:endParaRPr lang="en-US" altLang="zh-CN" sz="900" dirty="0">
              <a:solidFill>
                <a:prstClr val="white"/>
              </a:solidFill>
              <a:latin typeface="微软雅黑" panose="020B0503020204020204" charset="-122"/>
              <a:ea typeface="微软雅黑" panose="020B0503020204020204" charset="-122"/>
            </a:endParaRPr>
          </a:p>
        </p:txBody>
      </p:sp>
      <p:sp>
        <p:nvSpPr>
          <p:cNvPr id="147" name="长方形"/>
          <p:cNvSpPr/>
          <p:nvPr/>
        </p:nvSpPr>
        <p:spPr>
          <a:xfrm>
            <a:off x="7464302" y="2575388"/>
            <a:ext cx="285464" cy="915327"/>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solidFill>
                  <a:prstClr val="white"/>
                </a:solidFill>
                <a:latin typeface="微软雅黑" panose="020B0503020204020204" charset="-122"/>
                <a:ea typeface="微软雅黑" panose="020B0503020204020204" charset="-122"/>
              </a:rPr>
              <a:t>其它防御</a:t>
            </a:r>
            <a:endParaRPr lang="en-US" altLang="zh-CN" sz="900" dirty="0">
              <a:solidFill>
                <a:prstClr val="white"/>
              </a:solidFill>
              <a:latin typeface="微软雅黑" panose="020B0503020204020204" charset="-122"/>
              <a:ea typeface="微软雅黑" panose="020B0503020204020204" charset="-122"/>
            </a:endParaRPr>
          </a:p>
        </p:txBody>
      </p:sp>
      <p:sp>
        <p:nvSpPr>
          <p:cNvPr id="149" name="长方形"/>
          <p:cNvSpPr/>
          <p:nvPr/>
        </p:nvSpPr>
        <p:spPr>
          <a:xfrm>
            <a:off x="2885193" y="2303652"/>
            <a:ext cx="3303230" cy="19487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solidFill>
                  <a:prstClr val="white"/>
                </a:solidFill>
                <a:latin typeface="微软雅黑" panose="020B0503020204020204" charset="-122"/>
                <a:ea typeface="微软雅黑" panose="020B0503020204020204" charset="-122"/>
              </a:rPr>
              <a:t>安全防御链路</a:t>
            </a:r>
            <a:endParaRPr lang="zh-CN" altLang="en-US" sz="900" dirty="0">
              <a:solidFill>
                <a:prstClr val="white"/>
              </a:solidFill>
              <a:latin typeface="微软雅黑" panose="020B0503020204020204" charset="-122"/>
              <a:ea typeface="微软雅黑" panose="020B0503020204020204" charset="-122"/>
            </a:endParaRPr>
          </a:p>
        </p:txBody>
      </p:sp>
      <p:cxnSp>
        <p:nvCxnSpPr>
          <p:cNvPr id="151" name="直接箭头连接符 150"/>
          <p:cNvCxnSpPr>
            <a:stCxn id="136" idx="2"/>
            <a:endCxn id="137" idx="0"/>
          </p:cNvCxnSpPr>
          <p:nvPr/>
        </p:nvCxnSpPr>
        <p:spPr>
          <a:xfrm>
            <a:off x="1649364" y="3033052"/>
            <a:ext cx="2691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4" name="直接箭头连接符 153"/>
          <p:cNvCxnSpPr>
            <a:stCxn id="137" idx="2"/>
            <a:endCxn id="138" idx="0"/>
          </p:cNvCxnSpPr>
          <p:nvPr/>
        </p:nvCxnSpPr>
        <p:spPr>
          <a:xfrm>
            <a:off x="2203946" y="3033052"/>
            <a:ext cx="2691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5" name="直接箭头连接符 154"/>
          <p:cNvCxnSpPr>
            <a:stCxn id="138" idx="2"/>
            <a:endCxn id="141" idx="0"/>
          </p:cNvCxnSpPr>
          <p:nvPr/>
        </p:nvCxnSpPr>
        <p:spPr>
          <a:xfrm>
            <a:off x="2758528" y="3033052"/>
            <a:ext cx="2691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6" name="直接箭头连接符 155"/>
          <p:cNvCxnSpPr>
            <a:stCxn id="141" idx="2"/>
            <a:endCxn id="139" idx="0"/>
          </p:cNvCxnSpPr>
          <p:nvPr/>
        </p:nvCxnSpPr>
        <p:spPr>
          <a:xfrm>
            <a:off x="3313110" y="3033052"/>
            <a:ext cx="2691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7" name="直接箭头连接符 156"/>
          <p:cNvCxnSpPr>
            <a:stCxn id="139" idx="2"/>
            <a:endCxn id="140" idx="0"/>
          </p:cNvCxnSpPr>
          <p:nvPr/>
        </p:nvCxnSpPr>
        <p:spPr>
          <a:xfrm>
            <a:off x="3867691" y="3033052"/>
            <a:ext cx="2691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8" name="直接箭头连接符 157"/>
          <p:cNvCxnSpPr>
            <a:stCxn id="140" idx="2"/>
            <a:endCxn id="142" idx="0"/>
          </p:cNvCxnSpPr>
          <p:nvPr/>
        </p:nvCxnSpPr>
        <p:spPr>
          <a:xfrm>
            <a:off x="4422273" y="3033052"/>
            <a:ext cx="2691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9" name="直接箭头连接符 158"/>
          <p:cNvCxnSpPr>
            <a:stCxn id="142" idx="2"/>
            <a:endCxn id="143" idx="0"/>
          </p:cNvCxnSpPr>
          <p:nvPr/>
        </p:nvCxnSpPr>
        <p:spPr>
          <a:xfrm>
            <a:off x="4976855" y="3033052"/>
            <a:ext cx="2691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0" name="直接箭头连接符 159"/>
          <p:cNvCxnSpPr>
            <a:stCxn id="143" idx="2"/>
            <a:endCxn id="144" idx="0"/>
          </p:cNvCxnSpPr>
          <p:nvPr/>
        </p:nvCxnSpPr>
        <p:spPr>
          <a:xfrm>
            <a:off x="5531437" y="3033052"/>
            <a:ext cx="2691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1" name="直接箭头连接符 160"/>
          <p:cNvCxnSpPr>
            <a:stCxn id="144" idx="2"/>
            <a:endCxn id="145" idx="0"/>
          </p:cNvCxnSpPr>
          <p:nvPr/>
        </p:nvCxnSpPr>
        <p:spPr>
          <a:xfrm>
            <a:off x="6086018" y="3033052"/>
            <a:ext cx="2691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2" name="直接箭头连接符 161"/>
          <p:cNvCxnSpPr>
            <a:stCxn id="145" idx="2"/>
            <a:endCxn id="146" idx="0"/>
          </p:cNvCxnSpPr>
          <p:nvPr/>
        </p:nvCxnSpPr>
        <p:spPr>
          <a:xfrm>
            <a:off x="6640600" y="3033052"/>
            <a:ext cx="2691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1" name="矩形 180"/>
          <p:cNvSpPr/>
          <p:nvPr/>
        </p:nvSpPr>
        <p:spPr>
          <a:xfrm>
            <a:off x="1134414" y="3809281"/>
            <a:ext cx="6804790" cy="1300398"/>
          </a:xfrm>
          <a:prstGeom prst="rect">
            <a:avLst/>
          </a:prstGeom>
          <a:solidFill>
            <a:schemeClr val="tx2">
              <a:lumMod val="10000"/>
              <a:lumOff val="90000"/>
            </a:schemeClr>
          </a:solidFill>
          <a:ln w="19050">
            <a:solidFill>
              <a:srgbClr val="D2D0FC"/>
            </a:solidFill>
            <a:prstDash val="dash"/>
          </a:ln>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endParaRPr lang="zh-CN" altLang="en-US" sz="1000" dirty="0">
              <a:solidFill>
                <a:prstClr val="black"/>
              </a:solidFill>
              <a:latin typeface="微软雅黑" panose="020B0503020204020204" charset="-122"/>
              <a:ea typeface="微软雅黑" panose="020B0503020204020204" charset="-122"/>
            </a:endParaRPr>
          </a:p>
        </p:txBody>
      </p:sp>
      <p:sp>
        <p:nvSpPr>
          <p:cNvPr id="182" name="长方形"/>
          <p:cNvSpPr/>
          <p:nvPr/>
        </p:nvSpPr>
        <p:spPr>
          <a:xfrm>
            <a:off x="1363901" y="4154403"/>
            <a:ext cx="285464" cy="87883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solidFill>
                  <a:prstClr val="white"/>
                </a:solidFill>
                <a:latin typeface="微软雅黑" panose="020B0503020204020204" charset="-122"/>
                <a:ea typeface="微软雅黑" panose="020B0503020204020204" charset="-122"/>
              </a:rPr>
              <a:t>会话切换</a:t>
            </a:r>
            <a:endParaRPr lang="zh-CN" altLang="en-US" sz="900" dirty="0">
              <a:solidFill>
                <a:prstClr val="white"/>
              </a:solidFill>
              <a:latin typeface="微软雅黑" panose="020B0503020204020204" charset="-122"/>
              <a:ea typeface="微软雅黑" panose="020B0503020204020204" charset="-122"/>
            </a:endParaRPr>
          </a:p>
        </p:txBody>
      </p:sp>
      <p:sp>
        <p:nvSpPr>
          <p:cNvPr id="183" name="长方形"/>
          <p:cNvSpPr/>
          <p:nvPr/>
        </p:nvSpPr>
        <p:spPr>
          <a:xfrm>
            <a:off x="2046271" y="4154403"/>
            <a:ext cx="285464" cy="87883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solidFill>
                  <a:prstClr val="white"/>
                </a:solidFill>
                <a:latin typeface="微软雅黑" panose="020B0503020204020204" charset="-122"/>
                <a:ea typeface="微软雅黑" panose="020B0503020204020204" charset="-122"/>
              </a:rPr>
              <a:t>请求类型防御</a:t>
            </a:r>
            <a:endParaRPr lang="zh-CN" altLang="en-US" sz="900" dirty="0">
              <a:solidFill>
                <a:prstClr val="white"/>
              </a:solidFill>
              <a:latin typeface="微软雅黑" panose="020B0503020204020204" charset="-122"/>
              <a:ea typeface="微软雅黑" panose="020B0503020204020204" charset="-122"/>
            </a:endParaRPr>
          </a:p>
        </p:txBody>
      </p:sp>
      <p:sp>
        <p:nvSpPr>
          <p:cNvPr id="184" name="长方形"/>
          <p:cNvSpPr/>
          <p:nvPr/>
        </p:nvSpPr>
        <p:spPr>
          <a:xfrm>
            <a:off x="2728639" y="4154403"/>
            <a:ext cx="285464" cy="87883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a:solidFill>
                  <a:prstClr val="white"/>
                </a:solidFill>
                <a:latin typeface="微软雅黑" panose="020B0503020204020204" charset="-122"/>
                <a:ea typeface="微软雅黑" panose="020B0503020204020204" charset="-122"/>
              </a:rPr>
              <a:t>xs</a:t>
            </a:r>
            <a:endParaRPr lang="en-US" altLang="zh-CN" sz="900" dirty="0">
              <a:solidFill>
                <a:prstClr val="white"/>
              </a:solidFill>
              <a:latin typeface="微软雅黑" panose="020B0503020204020204" charset="-122"/>
              <a:ea typeface="微软雅黑" panose="020B0503020204020204" charset="-122"/>
            </a:endParaRPr>
          </a:p>
          <a:p>
            <a:pPr algn="ctr"/>
            <a:r>
              <a:rPr lang="en-US" altLang="zh-CN" sz="900" dirty="0">
                <a:solidFill>
                  <a:prstClr val="white"/>
                </a:solidFill>
                <a:latin typeface="微软雅黑" panose="020B0503020204020204" charset="-122"/>
                <a:ea typeface="微软雅黑" panose="020B0503020204020204" charset="-122"/>
              </a:rPr>
              <a:t>s</a:t>
            </a:r>
            <a:r>
              <a:rPr lang="zh-CN" altLang="en-US" sz="900" dirty="0">
                <a:solidFill>
                  <a:prstClr val="white"/>
                </a:solidFill>
                <a:latin typeface="微软雅黑" panose="020B0503020204020204" charset="-122"/>
                <a:ea typeface="微软雅黑" panose="020B0503020204020204" charset="-122"/>
              </a:rPr>
              <a:t>防御</a:t>
            </a:r>
            <a:endParaRPr lang="zh-CN" altLang="en-US" sz="900" dirty="0">
              <a:solidFill>
                <a:prstClr val="white"/>
              </a:solidFill>
              <a:latin typeface="微软雅黑" panose="020B0503020204020204" charset="-122"/>
              <a:ea typeface="微软雅黑" panose="020B0503020204020204" charset="-122"/>
            </a:endParaRPr>
          </a:p>
        </p:txBody>
      </p:sp>
      <p:sp>
        <p:nvSpPr>
          <p:cNvPr id="185" name="长方形"/>
          <p:cNvSpPr/>
          <p:nvPr/>
        </p:nvSpPr>
        <p:spPr>
          <a:xfrm>
            <a:off x="4093379" y="4154403"/>
            <a:ext cx="285464" cy="87883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solidFill>
                  <a:prstClr val="white"/>
                </a:solidFill>
                <a:latin typeface="微软雅黑" panose="020B0503020204020204" charset="-122"/>
                <a:ea typeface="微软雅黑" panose="020B0503020204020204" charset="-122"/>
              </a:rPr>
              <a:t>密码策略防御</a:t>
            </a:r>
            <a:endParaRPr lang="zh-CN" altLang="en-US" sz="900" dirty="0">
              <a:solidFill>
                <a:prstClr val="white"/>
              </a:solidFill>
              <a:latin typeface="微软雅黑" panose="020B0503020204020204" charset="-122"/>
              <a:ea typeface="微软雅黑" panose="020B0503020204020204" charset="-122"/>
            </a:endParaRPr>
          </a:p>
        </p:txBody>
      </p:sp>
      <p:sp>
        <p:nvSpPr>
          <p:cNvPr id="186" name="长方形"/>
          <p:cNvSpPr/>
          <p:nvPr/>
        </p:nvSpPr>
        <p:spPr>
          <a:xfrm>
            <a:off x="4775747" y="4154403"/>
            <a:ext cx="285464" cy="87883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solidFill>
                  <a:prstClr val="white"/>
                </a:solidFill>
                <a:latin typeface="微软雅黑" panose="020B0503020204020204" charset="-122"/>
                <a:ea typeface="微软雅黑" panose="020B0503020204020204" charset="-122"/>
              </a:rPr>
              <a:t>重放攻击防御</a:t>
            </a:r>
            <a:endParaRPr lang="zh-CN" altLang="en-US" sz="900" dirty="0">
              <a:solidFill>
                <a:prstClr val="white"/>
              </a:solidFill>
              <a:latin typeface="微软雅黑" panose="020B0503020204020204" charset="-122"/>
              <a:ea typeface="微软雅黑" panose="020B0503020204020204" charset="-122"/>
            </a:endParaRPr>
          </a:p>
        </p:txBody>
      </p:sp>
      <p:sp>
        <p:nvSpPr>
          <p:cNvPr id="187" name="长方形"/>
          <p:cNvSpPr/>
          <p:nvPr/>
        </p:nvSpPr>
        <p:spPr>
          <a:xfrm>
            <a:off x="3411009" y="4154403"/>
            <a:ext cx="285464" cy="87883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dirty="0">
                <a:solidFill>
                  <a:prstClr val="white"/>
                </a:solidFill>
                <a:latin typeface="微软雅黑" panose="020B0503020204020204" charset="-122"/>
                <a:ea typeface="微软雅黑" panose="020B0503020204020204" charset="-122"/>
              </a:rPr>
              <a:t>bind</a:t>
            </a:r>
            <a:r>
              <a:rPr lang="zh-CN" altLang="en-US" sz="900" dirty="0">
                <a:solidFill>
                  <a:prstClr val="white"/>
                </a:solidFill>
                <a:latin typeface="微软雅黑" panose="020B0503020204020204" charset="-122"/>
                <a:ea typeface="微软雅黑" panose="020B0503020204020204" charset="-122"/>
              </a:rPr>
              <a:t>防御</a:t>
            </a:r>
            <a:endParaRPr lang="zh-CN" altLang="en-US" sz="900" dirty="0">
              <a:solidFill>
                <a:prstClr val="white"/>
              </a:solidFill>
              <a:latin typeface="微软雅黑" panose="020B0503020204020204" charset="-122"/>
              <a:ea typeface="微软雅黑" panose="020B0503020204020204" charset="-122"/>
            </a:endParaRPr>
          </a:p>
        </p:txBody>
      </p:sp>
      <p:sp>
        <p:nvSpPr>
          <p:cNvPr id="188" name="长方形"/>
          <p:cNvSpPr/>
          <p:nvPr/>
        </p:nvSpPr>
        <p:spPr>
          <a:xfrm>
            <a:off x="5458117" y="4154403"/>
            <a:ext cx="285464" cy="87883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dirty="0" err="1">
                <a:solidFill>
                  <a:prstClr val="white"/>
                </a:solidFill>
                <a:latin typeface="微软雅黑" panose="020B0503020204020204" charset="-122"/>
                <a:ea typeface="微软雅黑" panose="020B0503020204020204" charset="-122"/>
              </a:rPr>
              <a:t>url</a:t>
            </a:r>
            <a:r>
              <a:rPr lang="zh-CN" altLang="en-US" sz="900" dirty="0">
                <a:solidFill>
                  <a:prstClr val="white"/>
                </a:solidFill>
                <a:latin typeface="微软雅黑" panose="020B0503020204020204" charset="-122"/>
                <a:ea typeface="微软雅黑" panose="020B0503020204020204" charset="-122"/>
              </a:rPr>
              <a:t>拷贝防御</a:t>
            </a:r>
            <a:endParaRPr lang="en-US" altLang="zh-CN" sz="900" dirty="0">
              <a:solidFill>
                <a:prstClr val="white"/>
              </a:solidFill>
              <a:latin typeface="微软雅黑" panose="020B0503020204020204" charset="-122"/>
              <a:ea typeface="微软雅黑" panose="020B0503020204020204" charset="-122"/>
            </a:endParaRPr>
          </a:p>
        </p:txBody>
      </p:sp>
      <p:sp>
        <p:nvSpPr>
          <p:cNvPr id="189" name="长方形"/>
          <p:cNvSpPr/>
          <p:nvPr/>
        </p:nvSpPr>
        <p:spPr>
          <a:xfrm>
            <a:off x="6140487" y="4154403"/>
            <a:ext cx="285464" cy="87883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solidFill>
                  <a:prstClr val="white"/>
                </a:solidFill>
                <a:latin typeface="微软雅黑" panose="020B0503020204020204" charset="-122"/>
                <a:ea typeface="微软雅黑" panose="020B0503020204020204" charset="-122"/>
              </a:rPr>
              <a:t>服务</a:t>
            </a:r>
            <a:r>
              <a:rPr lang="zh-CN" altLang="en-US" sz="900">
                <a:solidFill>
                  <a:prstClr val="white"/>
                </a:solidFill>
                <a:latin typeface="微软雅黑" panose="020B0503020204020204" charset="-122"/>
                <a:ea typeface="微软雅黑" panose="020B0503020204020204" charset="-122"/>
              </a:rPr>
              <a:t>权限防御</a:t>
            </a:r>
            <a:endParaRPr lang="en-US" altLang="zh-CN" sz="900" dirty="0">
              <a:solidFill>
                <a:prstClr val="white"/>
              </a:solidFill>
              <a:latin typeface="微软雅黑" panose="020B0503020204020204" charset="-122"/>
              <a:ea typeface="微软雅黑" panose="020B0503020204020204" charset="-122"/>
            </a:endParaRPr>
          </a:p>
        </p:txBody>
      </p:sp>
      <p:sp>
        <p:nvSpPr>
          <p:cNvPr id="190" name="长方形"/>
          <p:cNvSpPr/>
          <p:nvPr/>
        </p:nvSpPr>
        <p:spPr>
          <a:xfrm>
            <a:off x="6822855" y="4151794"/>
            <a:ext cx="285464" cy="87883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solidFill>
                  <a:prstClr val="white"/>
                </a:solidFill>
                <a:latin typeface="微软雅黑" panose="020B0503020204020204" charset="-122"/>
                <a:ea typeface="微软雅黑" panose="020B0503020204020204" charset="-122"/>
              </a:rPr>
              <a:t>白</a:t>
            </a:r>
            <a:r>
              <a:rPr lang="zh-CN" altLang="en-US" sz="900">
                <a:solidFill>
                  <a:prstClr val="white"/>
                </a:solidFill>
                <a:latin typeface="微软雅黑" panose="020B0503020204020204" charset="-122"/>
                <a:ea typeface="微软雅黑" panose="020B0503020204020204" charset="-122"/>
              </a:rPr>
              <a:t>名单防御</a:t>
            </a:r>
            <a:endParaRPr lang="en-US" altLang="zh-CN" sz="900" dirty="0">
              <a:solidFill>
                <a:prstClr val="white"/>
              </a:solidFill>
              <a:latin typeface="微软雅黑" panose="020B0503020204020204" charset="-122"/>
              <a:ea typeface="微软雅黑" panose="020B0503020204020204" charset="-122"/>
            </a:endParaRPr>
          </a:p>
        </p:txBody>
      </p:sp>
      <p:sp>
        <p:nvSpPr>
          <p:cNvPr id="193" name="长方形"/>
          <p:cNvSpPr/>
          <p:nvPr/>
        </p:nvSpPr>
        <p:spPr>
          <a:xfrm>
            <a:off x="7464302" y="4154403"/>
            <a:ext cx="285464" cy="878839"/>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solidFill>
                  <a:prstClr val="white"/>
                </a:solidFill>
                <a:latin typeface="微软雅黑" panose="020B0503020204020204" charset="-122"/>
                <a:ea typeface="微软雅黑" panose="020B0503020204020204" charset="-122"/>
              </a:rPr>
              <a:t>其它防御</a:t>
            </a:r>
            <a:endParaRPr lang="en-US" altLang="zh-CN" sz="900" dirty="0">
              <a:solidFill>
                <a:prstClr val="white"/>
              </a:solidFill>
              <a:latin typeface="微软雅黑" panose="020B0503020204020204" charset="-122"/>
              <a:ea typeface="微软雅黑" panose="020B0503020204020204" charset="-122"/>
            </a:endParaRPr>
          </a:p>
        </p:txBody>
      </p:sp>
      <p:sp>
        <p:nvSpPr>
          <p:cNvPr id="194" name="长方形"/>
          <p:cNvSpPr/>
          <p:nvPr/>
        </p:nvSpPr>
        <p:spPr>
          <a:xfrm>
            <a:off x="2885193" y="3879345"/>
            <a:ext cx="3303230" cy="194870"/>
          </a:xfrm>
          <a:custGeom>
            <a:avLst/>
            <a:gdLst>
              <a:gd name="connsiteX0" fmla="*/ 0 w 912000"/>
              <a:gd name="connsiteY0" fmla="*/ 262200 h 524400"/>
              <a:gd name="connsiteX1" fmla="*/ 456000 w 912000"/>
              <a:gd name="connsiteY1" fmla="*/ 0 h 524400"/>
              <a:gd name="connsiteX2" fmla="*/ 912000 w 912000"/>
              <a:gd name="connsiteY2" fmla="*/ 262200 h 524400"/>
              <a:gd name="connsiteX3" fmla="*/ 456000 w 912000"/>
              <a:gd name="connsiteY3" fmla="*/ 524400 h 524400"/>
            </a:gdLst>
            <a:ahLst/>
            <a:cxnLst>
              <a:cxn ang="0">
                <a:pos x="connsiteX0" y="connsiteY0"/>
              </a:cxn>
              <a:cxn ang="0">
                <a:pos x="connsiteX1" y="connsiteY1"/>
              </a:cxn>
              <a:cxn ang="0">
                <a:pos x="connsiteX2" y="connsiteY2"/>
              </a:cxn>
              <a:cxn ang="0">
                <a:pos x="connsiteX3" y="connsiteY3"/>
              </a:cxn>
            </a:cxnLst>
            <a:rect l="l" t="t" r="r" b="b"/>
            <a:pathLst>
              <a:path w="912000" h="524400" stroke="0">
                <a:moveTo>
                  <a:pt x="912000" y="524400"/>
                </a:moveTo>
                <a:lnTo>
                  <a:pt x="912000" y="0"/>
                </a:lnTo>
                <a:lnTo>
                  <a:pt x="0" y="0"/>
                </a:lnTo>
                <a:lnTo>
                  <a:pt x="0" y="524400"/>
                </a:lnTo>
                <a:lnTo>
                  <a:pt x="912000" y="524400"/>
                </a:lnTo>
                <a:close/>
              </a:path>
              <a:path w="912000" h="524400" fill="none">
                <a:moveTo>
                  <a:pt x="912000" y="524400"/>
                </a:moveTo>
                <a:lnTo>
                  <a:pt x="912000" y="0"/>
                </a:lnTo>
                <a:lnTo>
                  <a:pt x="0" y="0"/>
                </a:lnTo>
                <a:lnTo>
                  <a:pt x="0" y="524400"/>
                </a:lnTo>
                <a:lnTo>
                  <a:pt x="912000" y="524400"/>
                </a:lnTo>
                <a:close/>
              </a:path>
            </a:pathLst>
          </a:cu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solidFill>
                  <a:prstClr val="white"/>
                </a:solidFill>
                <a:latin typeface="微软雅黑" panose="020B0503020204020204" charset="-122"/>
                <a:ea typeface="微软雅黑" panose="020B0503020204020204" charset="-122"/>
              </a:rPr>
              <a:t>鉴权链路</a:t>
            </a:r>
            <a:endParaRPr lang="zh-CN" altLang="en-US" sz="900" dirty="0">
              <a:solidFill>
                <a:prstClr val="white"/>
              </a:solidFill>
              <a:latin typeface="微软雅黑" panose="020B0503020204020204" charset="-122"/>
              <a:ea typeface="微软雅黑" panose="020B0503020204020204" charset="-122"/>
            </a:endParaRPr>
          </a:p>
        </p:txBody>
      </p:sp>
      <p:cxnSp>
        <p:nvCxnSpPr>
          <p:cNvPr id="195" name="直接箭头连接符 194"/>
          <p:cNvCxnSpPr>
            <a:stCxn id="182" idx="2"/>
            <a:endCxn id="183" idx="0"/>
          </p:cNvCxnSpPr>
          <p:nvPr/>
        </p:nvCxnSpPr>
        <p:spPr>
          <a:xfrm>
            <a:off x="1649364" y="4593822"/>
            <a:ext cx="3969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6" name="直接箭头连接符 195"/>
          <p:cNvCxnSpPr>
            <a:stCxn id="183" idx="2"/>
            <a:endCxn id="184" idx="0"/>
          </p:cNvCxnSpPr>
          <p:nvPr/>
        </p:nvCxnSpPr>
        <p:spPr>
          <a:xfrm>
            <a:off x="2331734" y="4593822"/>
            <a:ext cx="3969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7" name="直接箭头连接符 196"/>
          <p:cNvCxnSpPr>
            <a:stCxn id="184" idx="2"/>
            <a:endCxn id="187" idx="0"/>
          </p:cNvCxnSpPr>
          <p:nvPr/>
        </p:nvCxnSpPr>
        <p:spPr>
          <a:xfrm>
            <a:off x="3014103" y="4593822"/>
            <a:ext cx="3969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8" name="直接箭头连接符 197"/>
          <p:cNvCxnSpPr>
            <a:stCxn id="187" idx="2"/>
            <a:endCxn id="185" idx="0"/>
          </p:cNvCxnSpPr>
          <p:nvPr/>
        </p:nvCxnSpPr>
        <p:spPr>
          <a:xfrm>
            <a:off x="3696473" y="4593822"/>
            <a:ext cx="3969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9" name="直接箭头连接符 198"/>
          <p:cNvCxnSpPr>
            <a:stCxn id="185" idx="2"/>
            <a:endCxn id="186" idx="0"/>
          </p:cNvCxnSpPr>
          <p:nvPr/>
        </p:nvCxnSpPr>
        <p:spPr>
          <a:xfrm>
            <a:off x="4378842" y="4593822"/>
            <a:ext cx="3969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0" name="直接箭头连接符 199"/>
          <p:cNvCxnSpPr>
            <a:stCxn id="186" idx="2"/>
            <a:endCxn id="188" idx="0"/>
          </p:cNvCxnSpPr>
          <p:nvPr/>
        </p:nvCxnSpPr>
        <p:spPr>
          <a:xfrm>
            <a:off x="5061211" y="4593822"/>
            <a:ext cx="3969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1" name="直接箭头连接符 200"/>
          <p:cNvCxnSpPr>
            <a:stCxn id="188" idx="2"/>
            <a:endCxn id="189" idx="0"/>
          </p:cNvCxnSpPr>
          <p:nvPr/>
        </p:nvCxnSpPr>
        <p:spPr>
          <a:xfrm>
            <a:off x="5743581" y="4593822"/>
            <a:ext cx="3969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2" name="直接箭头连接符 201"/>
          <p:cNvCxnSpPr>
            <a:stCxn id="189" idx="2"/>
            <a:endCxn id="190" idx="0"/>
          </p:cNvCxnSpPr>
          <p:nvPr/>
        </p:nvCxnSpPr>
        <p:spPr>
          <a:xfrm flipV="1">
            <a:off x="6425950" y="4591213"/>
            <a:ext cx="396905" cy="26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0" name="矩形 209"/>
          <p:cNvSpPr/>
          <p:nvPr/>
        </p:nvSpPr>
        <p:spPr>
          <a:xfrm>
            <a:off x="8111271" y="3010546"/>
            <a:ext cx="2504330" cy="3192521"/>
          </a:xfrm>
          <a:prstGeom prst="rect">
            <a:avLst/>
          </a:prstGeom>
          <a:pattFill prst="ltDnDiag">
            <a:fgClr>
              <a:srgbClr val="6096E6">
                <a:lumMod val="40000"/>
                <a:lumOff val="60000"/>
              </a:srgbClr>
            </a:fgClr>
            <a:bgClr>
              <a:sysClr val="window" lastClr="FFFFFF"/>
            </a:bgClr>
          </a:pattFill>
          <a:ln w="12700" cap="flat" cmpd="sng" algn="ctr">
            <a:solidFill>
              <a:srgbClr val="009DD9"/>
            </a:solidFill>
            <a:prstDash val="dash"/>
            <a:miter lim="800000"/>
          </a:ln>
          <a:effectLst/>
        </p:spPr>
        <p:txBody>
          <a:bodyPr rtlCol="0" anchor="t"/>
          <a:lstStyle/>
          <a:p>
            <a:pPr algn="ctr"/>
            <a:r>
              <a:rPr lang="en-US" altLang="zh-CN" sz="1600" dirty="0">
                <a:latin typeface="微软雅黑" panose="020B0503020204020204" charset="-122"/>
                <a:ea typeface="微软雅黑" panose="020B0503020204020204" charset="-122"/>
              </a:rPr>
              <a:t>RASP</a:t>
            </a:r>
            <a:r>
              <a:rPr lang="zh-CN" altLang="en-US" sz="1600" dirty="0">
                <a:latin typeface="微软雅黑" panose="020B0503020204020204" charset="-122"/>
                <a:ea typeface="微软雅黑" panose="020B0503020204020204" charset="-122"/>
              </a:rPr>
              <a:t>防御</a:t>
            </a:r>
            <a:endParaRPr lang="zh-CN" altLang="en-US" sz="1600" dirty="0">
              <a:latin typeface="微软雅黑" panose="020B0503020204020204" charset="-122"/>
              <a:ea typeface="微软雅黑" panose="020B0503020204020204" charset="-122"/>
            </a:endParaRPr>
          </a:p>
        </p:txBody>
      </p:sp>
      <p:sp>
        <p:nvSpPr>
          <p:cNvPr id="212" name="矩形 211"/>
          <p:cNvSpPr/>
          <p:nvPr/>
        </p:nvSpPr>
        <p:spPr>
          <a:xfrm>
            <a:off x="8356610" y="3311883"/>
            <a:ext cx="2025435" cy="2615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effectLst/>
                <a:latin typeface="微软雅黑" panose="020B0503020204020204" charset="-122"/>
                <a:ea typeface="微软雅黑" panose="020B0503020204020204" charset="-122"/>
              </a:rPr>
              <a:t>数据库查询防护</a:t>
            </a:r>
            <a:endParaRPr lang="zh-CN" altLang="en-US" sz="1000" dirty="0">
              <a:effectLst/>
              <a:latin typeface="微软雅黑" panose="020B0503020204020204" charset="-122"/>
              <a:ea typeface="微软雅黑" panose="020B0503020204020204" charset="-122"/>
            </a:endParaRPr>
          </a:p>
        </p:txBody>
      </p:sp>
      <p:sp>
        <p:nvSpPr>
          <p:cNvPr id="213" name="矩形 212"/>
          <p:cNvSpPr/>
          <p:nvPr/>
        </p:nvSpPr>
        <p:spPr>
          <a:xfrm>
            <a:off x="8356610" y="3632823"/>
            <a:ext cx="2025435" cy="2615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effectLst/>
                <a:latin typeface="微软雅黑" panose="020B0503020204020204" charset="-122"/>
                <a:ea typeface="微软雅黑" panose="020B0503020204020204" charset="-122"/>
              </a:rPr>
              <a:t>文件操作防护</a:t>
            </a:r>
            <a:endParaRPr lang="zh-CN" altLang="en-US" sz="1000" dirty="0">
              <a:effectLst/>
              <a:latin typeface="微软雅黑" panose="020B0503020204020204" charset="-122"/>
              <a:ea typeface="微软雅黑" panose="020B0503020204020204" charset="-122"/>
            </a:endParaRPr>
          </a:p>
        </p:txBody>
      </p:sp>
      <p:sp>
        <p:nvSpPr>
          <p:cNvPr id="214" name="矩形 213"/>
          <p:cNvSpPr/>
          <p:nvPr/>
        </p:nvSpPr>
        <p:spPr>
          <a:xfrm>
            <a:off x="8356610" y="3953764"/>
            <a:ext cx="2025435" cy="2615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000" dirty="0">
                <a:latin typeface="微软雅黑" panose="020B0503020204020204" charset="-122"/>
                <a:ea typeface="微软雅黑" panose="020B0503020204020204" charset="-122"/>
              </a:rPr>
              <a:t>XXE</a:t>
            </a:r>
            <a:r>
              <a:rPr lang="zh-CN" altLang="en-US" sz="1000" dirty="0">
                <a:latin typeface="微软雅黑" panose="020B0503020204020204" charset="-122"/>
                <a:ea typeface="微软雅黑" panose="020B0503020204020204" charset="-122"/>
              </a:rPr>
              <a:t>防护</a:t>
            </a:r>
            <a:endParaRPr lang="zh-CN" altLang="en-US" sz="1000" dirty="0">
              <a:latin typeface="微软雅黑" panose="020B0503020204020204" charset="-122"/>
              <a:ea typeface="微软雅黑" panose="020B0503020204020204" charset="-122"/>
            </a:endParaRPr>
          </a:p>
        </p:txBody>
      </p:sp>
      <p:sp>
        <p:nvSpPr>
          <p:cNvPr id="215" name="矩形 214"/>
          <p:cNvSpPr/>
          <p:nvPr/>
        </p:nvSpPr>
        <p:spPr>
          <a:xfrm>
            <a:off x="8356610" y="4274704"/>
            <a:ext cx="2025435" cy="2615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latin typeface="微软雅黑" panose="020B0503020204020204" charset="-122"/>
                <a:ea typeface="微软雅黑" panose="020B0503020204020204" charset="-122"/>
              </a:rPr>
              <a:t>反序列化防护</a:t>
            </a:r>
            <a:endParaRPr lang="zh-CN" altLang="en-US" sz="1000" dirty="0">
              <a:latin typeface="微软雅黑" panose="020B0503020204020204" charset="-122"/>
              <a:ea typeface="微软雅黑" panose="020B0503020204020204" charset="-122"/>
            </a:endParaRPr>
          </a:p>
        </p:txBody>
      </p:sp>
      <p:sp>
        <p:nvSpPr>
          <p:cNvPr id="216" name="矩形 215"/>
          <p:cNvSpPr/>
          <p:nvPr/>
        </p:nvSpPr>
        <p:spPr>
          <a:xfrm>
            <a:off x="8356610" y="4595644"/>
            <a:ext cx="2025435" cy="2615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latin typeface="微软雅黑" panose="020B0503020204020204" charset="-122"/>
                <a:ea typeface="微软雅黑" panose="020B0503020204020204" charset="-122"/>
              </a:rPr>
              <a:t>命令执行防护</a:t>
            </a:r>
            <a:endParaRPr lang="zh-CN" altLang="en-US" sz="1000" dirty="0">
              <a:latin typeface="微软雅黑" panose="020B0503020204020204" charset="-122"/>
              <a:ea typeface="微软雅黑" panose="020B0503020204020204" charset="-122"/>
            </a:endParaRPr>
          </a:p>
        </p:txBody>
      </p:sp>
      <p:sp>
        <p:nvSpPr>
          <p:cNvPr id="235" name="文本框 234"/>
          <p:cNvSpPr txBox="1"/>
          <p:nvPr/>
        </p:nvSpPr>
        <p:spPr>
          <a:xfrm>
            <a:off x="1118554" y="6433373"/>
            <a:ext cx="9492528" cy="372541"/>
          </a:xfrm>
          <a:prstGeom prst="rect">
            <a:avLst/>
          </a:prstGeom>
          <a:solidFill>
            <a:schemeClr val="bg2">
              <a:lumMod val="75000"/>
            </a:schemeClr>
          </a:solidFill>
        </p:spPr>
        <p:txBody>
          <a:bodyPr wrap="square" rtlCol="0">
            <a:noAutofit/>
          </a:bodyPr>
          <a:lstStyle/>
          <a:p>
            <a:pPr algn="ctr"/>
            <a:endParaRPr lang="zh-CN" altLang="en-US" sz="1600" b="1" dirty="0">
              <a:solidFill>
                <a:schemeClr val="bg1"/>
              </a:solidFill>
              <a:latin typeface="微软雅黑" panose="020B0503020204020204" charset="-122"/>
              <a:ea typeface="微软雅黑" panose="020B0503020204020204" charset="-122"/>
              <a:cs typeface="+mn-ea"/>
              <a:sym typeface="+mn-lt"/>
            </a:endParaRPr>
          </a:p>
        </p:txBody>
      </p:sp>
      <p:sp>
        <p:nvSpPr>
          <p:cNvPr id="241" name="箭头: 下 47"/>
          <p:cNvSpPr/>
          <p:nvPr/>
        </p:nvSpPr>
        <p:spPr>
          <a:xfrm flipV="1">
            <a:off x="6469771" y="3509099"/>
            <a:ext cx="274855" cy="357542"/>
          </a:xfrm>
          <a:prstGeom prst="downArrow">
            <a:avLst>
              <a:gd name="adj1" fmla="val 50000"/>
              <a:gd name="adj2" fmla="val 52777"/>
            </a:avLst>
          </a:prstGeom>
          <a:gradFill>
            <a:gsLst>
              <a:gs pos="0">
                <a:srgbClr val="2855F0">
                  <a:alpha val="0"/>
                </a:srgbClr>
              </a:gs>
              <a:gs pos="100000">
                <a:srgbClr val="2855F0"/>
              </a:gs>
            </a:gsLst>
            <a:lin ang="5400000" scaled="1"/>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pic>
        <p:nvPicPr>
          <p:cNvPr id="246" name="图片 245"/>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521408" y="676895"/>
            <a:ext cx="381759" cy="381759"/>
          </a:xfrm>
          <a:prstGeom prst="rect">
            <a:avLst/>
          </a:prstGeom>
        </p:spPr>
      </p:pic>
      <p:sp>
        <p:nvSpPr>
          <p:cNvPr id="254" name="文本框 253"/>
          <p:cNvSpPr txBox="1"/>
          <p:nvPr/>
        </p:nvSpPr>
        <p:spPr>
          <a:xfrm>
            <a:off x="1165025" y="6498762"/>
            <a:ext cx="1313702" cy="268003"/>
          </a:xfrm>
          <a:prstGeom prst="rect">
            <a:avLst/>
          </a:prstGeom>
          <a:noFill/>
        </p:spPr>
        <p:txBody>
          <a:bodyPr wrap="square" rtlCol="0">
            <a:spAutoFit/>
          </a:bodyPr>
          <a:lstStyle/>
          <a:p>
            <a:r>
              <a:rPr lang="zh-CN" altLang="en-US" sz="1200" b="1" dirty="0">
                <a:solidFill>
                  <a:srgbClr val="3F6CAD"/>
                </a:solidFill>
                <a:latin typeface="微软雅黑" panose="020B0503020204020204" charset="-122"/>
                <a:ea typeface="微软雅黑" panose="020B0503020204020204" charset="-122"/>
              </a:rPr>
              <a:t>基础设施安全</a:t>
            </a:r>
            <a:endParaRPr lang="zh-CN" altLang="en-US" sz="1200" b="1" dirty="0">
              <a:solidFill>
                <a:srgbClr val="3F6CAD"/>
              </a:solidFill>
              <a:latin typeface="微软雅黑" panose="020B0503020204020204" charset="-122"/>
              <a:ea typeface="微软雅黑" panose="020B0503020204020204" charset="-122"/>
            </a:endParaRPr>
          </a:p>
        </p:txBody>
      </p:sp>
      <p:sp>
        <p:nvSpPr>
          <p:cNvPr id="255" name="矩形: 圆角 254"/>
          <p:cNvSpPr/>
          <p:nvPr/>
        </p:nvSpPr>
        <p:spPr>
          <a:xfrm>
            <a:off x="2573831" y="6501286"/>
            <a:ext cx="905891" cy="262954"/>
          </a:xfrm>
          <a:prstGeom prst="roundRect">
            <a:avLst/>
          </a:prstGeom>
          <a:solidFill>
            <a:srgbClr val="00B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bg1"/>
                </a:solidFill>
                <a:latin typeface="微软雅黑" panose="020B0503020204020204" charset="-122"/>
                <a:ea typeface="微软雅黑" panose="020B0503020204020204" charset="-122"/>
                <a:cs typeface="+mn-ea"/>
                <a:sym typeface="+mn-lt"/>
              </a:rPr>
              <a:t>容器安全</a:t>
            </a:r>
            <a:endParaRPr lang="zh-CN" altLang="en-US" sz="1000" dirty="0">
              <a:latin typeface="微软雅黑" panose="020B0503020204020204" charset="-122"/>
              <a:ea typeface="微软雅黑" panose="020B0503020204020204" charset="-122"/>
              <a:cs typeface="+mn-ea"/>
              <a:sym typeface="+mn-lt"/>
            </a:endParaRPr>
          </a:p>
        </p:txBody>
      </p:sp>
      <p:sp>
        <p:nvSpPr>
          <p:cNvPr id="256" name="矩形: 圆角 255"/>
          <p:cNvSpPr/>
          <p:nvPr/>
        </p:nvSpPr>
        <p:spPr>
          <a:xfrm>
            <a:off x="4182971" y="6501286"/>
            <a:ext cx="905891" cy="262954"/>
          </a:xfrm>
          <a:prstGeom prst="roundRect">
            <a:avLst/>
          </a:prstGeom>
          <a:solidFill>
            <a:srgbClr val="00B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bg1"/>
                </a:solidFill>
                <a:latin typeface="微软雅黑" panose="020B0503020204020204" charset="-122"/>
                <a:ea typeface="微软雅黑" panose="020B0503020204020204" charset="-122"/>
                <a:cs typeface="+mn-ea"/>
                <a:sym typeface="+mn-lt"/>
              </a:rPr>
              <a:t>物理安全</a:t>
            </a:r>
            <a:endParaRPr lang="zh-CN" altLang="en-US" sz="1000" dirty="0">
              <a:latin typeface="微软雅黑" panose="020B0503020204020204" charset="-122"/>
              <a:ea typeface="微软雅黑" panose="020B0503020204020204" charset="-122"/>
              <a:cs typeface="+mn-ea"/>
              <a:sym typeface="+mn-lt"/>
            </a:endParaRPr>
          </a:p>
        </p:txBody>
      </p:sp>
      <p:sp>
        <p:nvSpPr>
          <p:cNvPr id="257" name="矩形: 圆角 256"/>
          <p:cNvSpPr/>
          <p:nvPr/>
        </p:nvSpPr>
        <p:spPr>
          <a:xfrm>
            <a:off x="5792111" y="6501286"/>
            <a:ext cx="905891" cy="262954"/>
          </a:xfrm>
          <a:prstGeom prst="roundRect">
            <a:avLst/>
          </a:prstGeom>
          <a:solidFill>
            <a:srgbClr val="00B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bg1"/>
                </a:solidFill>
                <a:latin typeface="微软雅黑" panose="020B0503020204020204" charset="-122"/>
                <a:ea typeface="微软雅黑" panose="020B0503020204020204" charset="-122"/>
                <a:cs typeface="+mn-ea"/>
                <a:sym typeface="+mn-lt"/>
              </a:rPr>
              <a:t>网络安全</a:t>
            </a:r>
            <a:endParaRPr lang="zh-CN" altLang="en-US" sz="1000" dirty="0">
              <a:latin typeface="微软雅黑" panose="020B0503020204020204" charset="-122"/>
              <a:ea typeface="微软雅黑" panose="020B0503020204020204" charset="-122"/>
              <a:cs typeface="+mn-ea"/>
              <a:sym typeface="+mn-lt"/>
            </a:endParaRPr>
          </a:p>
        </p:txBody>
      </p:sp>
      <p:sp>
        <p:nvSpPr>
          <p:cNvPr id="258" name="矩形: 圆角 257"/>
          <p:cNvSpPr/>
          <p:nvPr/>
        </p:nvSpPr>
        <p:spPr>
          <a:xfrm>
            <a:off x="7401251" y="6501286"/>
            <a:ext cx="905891" cy="262954"/>
          </a:xfrm>
          <a:prstGeom prst="roundRect">
            <a:avLst/>
          </a:prstGeom>
          <a:solidFill>
            <a:srgbClr val="00B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bg1"/>
                </a:solidFill>
                <a:latin typeface="微软雅黑" panose="020B0503020204020204" charset="-122"/>
                <a:ea typeface="微软雅黑" panose="020B0503020204020204" charset="-122"/>
                <a:cs typeface="+mn-ea"/>
                <a:sym typeface="+mn-lt"/>
              </a:rPr>
              <a:t>虚拟化安全</a:t>
            </a:r>
            <a:endParaRPr lang="zh-CN" altLang="en-US" sz="1000" dirty="0">
              <a:latin typeface="微软雅黑" panose="020B0503020204020204" charset="-122"/>
              <a:ea typeface="微软雅黑" panose="020B0503020204020204" charset="-122"/>
              <a:cs typeface="+mn-ea"/>
              <a:sym typeface="+mn-lt"/>
            </a:endParaRPr>
          </a:p>
        </p:txBody>
      </p:sp>
      <p:sp>
        <p:nvSpPr>
          <p:cNvPr id="259" name="矩形: 圆角 258"/>
          <p:cNvSpPr/>
          <p:nvPr/>
        </p:nvSpPr>
        <p:spPr>
          <a:xfrm>
            <a:off x="9010391" y="6501286"/>
            <a:ext cx="905891" cy="262954"/>
          </a:xfrm>
          <a:prstGeom prst="roundRect">
            <a:avLst/>
          </a:prstGeom>
          <a:solidFill>
            <a:srgbClr val="00B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bg1"/>
                </a:solidFill>
                <a:latin typeface="微软雅黑" panose="020B0503020204020204" charset="-122"/>
                <a:ea typeface="微软雅黑" panose="020B0503020204020204" charset="-122"/>
                <a:cs typeface="+mn-ea"/>
                <a:sym typeface="+mn-lt"/>
              </a:rPr>
              <a:t>存储安全</a:t>
            </a:r>
            <a:endParaRPr lang="zh-CN" altLang="en-US" sz="1000" dirty="0">
              <a:latin typeface="微软雅黑" panose="020B0503020204020204" charset="-122"/>
              <a:ea typeface="微软雅黑" panose="020B0503020204020204" charset="-122"/>
              <a:cs typeface="+mn-ea"/>
              <a:sym typeface="+mn-lt"/>
            </a:endParaRPr>
          </a:p>
        </p:txBody>
      </p:sp>
      <p:sp>
        <p:nvSpPr>
          <p:cNvPr id="265" name="矩形 264"/>
          <p:cNvSpPr/>
          <p:nvPr/>
        </p:nvSpPr>
        <p:spPr>
          <a:xfrm>
            <a:off x="1149233" y="5199398"/>
            <a:ext cx="6804789" cy="1134168"/>
          </a:xfrm>
          <a:prstGeom prst="rect">
            <a:avLst/>
          </a:prstGeom>
          <a:solidFill>
            <a:srgbClr val="A4F6FA"/>
          </a:solidFill>
          <a:ln w="19050">
            <a:solidFill>
              <a:srgbClr val="0DE8F2"/>
            </a:solidFill>
            <a:prstDash val="dash"/>
          </a:ln>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endParaRPr lang="zh-CN" altLang="en-US" sz="1000">
              <a:solidFill>
                <a:prstClr val="black"/>
              </a:solidFill>
              <a:latin typeface="微软雅黑" panose="020B0503020204020204" charset="-122"/>
              <a:ea typeface="微软雅黑" panose="020B0503020204020204" charset="-122"/>
              <a:sym typeface="+mn-lt"/>
            </a:endParaRPr>
          </a:p>
        </p:txBody>
      </p:sp>
      <p:sp>
        <p:nvSpPr>
          <p:cNvPr id="266" name="文本框 265"/>
          <p:cNvSpPr txBox="1"/>
          <p:nvPr/>
        </p:nvSpPr>
        <p:spPr>
          <a:xfrm>
            <a:off x="1363899" y="5160892"/>
            <a:ext cx="1621323" cy="261610"/>
          </a:xfrm>
          <a:prstGeom prst="rect">
            <a:avLst/>
          </a:prstGeom>
          <a:noFill/>
        </p:spPr>
        <p:txBody>
          <a:bodyPr wrap="square" rtlCol="0">
            <a:spAutoFit/>
          </a:bodyPr>
          <a:lstStyle/>
          <a:p>
            <a:pPr algn="ctr">
              <a:defRPr/>
            </a:pPr>
            <a:r>
              <a:rPr lang="zh-CN" altLang="en-US" sz="1100" b="1" kern="0" dirty="0">
                <a:solidFill>
                  <a:srgbClr val="000000"/>
                </a:solidFill>
                <a:latin typeface="微软雅黑" panose="020B0503020204020204" charset="-122"/>
                <a:ea typeface="微软雅黑" panose="020B0503020204020204" charset="-122"/>
                <a:cs typeface="+mn-ea"/>
                <a:sym typeface="+mn-lt"/>
              </a:rPr>
              <a:t>专用业务安全防御</a:t>
            </a:r>
            <a:endParaRPr lang="zh-CN" altLang="en-US" sz="1100" b="1" kern="0" dirty="0">
              <a:solidFill>
                <a:srgbClr val="000000"/>
              </a:solidFill>
              <a:latin typeface="微软雅黑" panose="020B0503020204020204" charset="-122"/>
              <a:ea typeface="微软雅黑" panose="020B0503020204020204" charset="-122"/>
              <a:cs typeface="+mn-ea"/>
              <a:sym typeface="+mn-lt"/>
            </a:endParaRPr>
          </a:p>
        </p:txBody>
      </p:sp>
      <p:sp>
        <p:nvSpPr>
          <p:cNvPr id="268" name="圆角矩形 56"/>
          <p:cNvSpPr/>
          <p:nvPr/>
        </p:nvSpPr>
        <p:spPr>
          <a:xfrm>
            <a:off x="1357202" y="5373857"/>
            <a:ext cx="292162" cy="927714"/>
          </a:xfrm>
          <a:prstGeom prst="rect">
            <a:avLst/>
          </a:pr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p>
            <a:pPr algn="ctr"/>
            <a:r>
              <a:rPr lang="zh-CN" altLang="en-US" sz="900" dirty="0">
                <a:solidFill>
                  <a:prstClr val="white"/>
                </a:solidFill>
                <a:latin typeface="微软雅黑" panose="020B0503020204020204" charset="-122"/>
                <a:ea typeface="微软雅黑" panose="020B0503020204020204" charset="-122"/>
              </a:rPr>
              <a:t>国密算法</a:t>
            </a:r>
            <a:endParaRPr lang="zh-CN" altLang="en-US" sz="900" dirty="0">
              <a:solidFill>
                <a:prstClr val="white"/>
              </a:solidFill>
              <a:latin typeface="微软雅黑" panose="020B0503020204020204" charset="-122"/>
              <a:ea typeface="微软雅黑" panose="020B0503020204020204" charset="-122"/>
            </a:endParaRPr>
          </a:p>
        </p:txBody>
      </p:sp>
      <p:sp>
        <p:nvSpPr>
          <p:cNvPr id="269" name="圆角矩形 56"/>
          <p:cNvSpPr/>
          <p:nvPr/>
        </p:nvSpPr>
        <p:spPr>
          <a:xfrm>
            <a:off x="3065958" y="5372111"/>
            <a:ext cx="290877" cy="929459"/>
          </a:xfrm>
          <a:prstGeom prst="rect">
            <a:avLst/>
          </a:pr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p>
            <a:pPr algn="ctr"/>
            <a:r>
              <a:rPr lang="zh-CN" altLang="en-US" sz="900" dirty="0">
                <a:solidFill>
                  <a:prstClr val="white"/>
                </a:solidFill>
                <a:latin typeface="微软雅黑" panose="020B0503020204020204" charset="-122"/>
                <a:ea typeface="微软雅黑" panose="020B0503020204020204" charset="-122"/>
              </a:rPr>
              <a:t>隐私管理</a:t>
            </a:r>
            <a:endParaRPr lang="zh-CN" altLang="en-US" sz="900" dirty="0">
              <a:solidFill>
                <a:prstClr val="white"/>
              </a:solidFill>
              <a:latin typeface="微软雅黑" panose="020B0503020204020204" charset="-122"/>
              <a:ea typeface="微软雅黑" panose="020B0503020204020204" charset="-122"/>
            </a:endParaRPr>
          </a:p>
        </p:txBody>
      </p:sp>
      <p:sp>
        <p:nvSpPr>
          <p:cNvPr id="270" name="圆角矩形 56"/>
          <p:cNvSpPr/>
          <p:nvPr/>
        </p:nvSpPr>
        <p:spPr>
          <a:xfrm>
            <a:off x="3919668" y="5372111"/>
            <a:ext cx="290877" cy="929459"/>
          </a:xfrm>
          <a:prstGeom prst="rect">
            <a:avLst/>
          </a:pr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p>
            <a:pPr algn="ctr"/>
            <a:r>
              <a:rPr lang="zh-CN" altLang="en-US" sz="900" dirty="0">
                <a:solidFill>
                  <a:prstClr val="white"/>
                </a:solidFill>
                <a:latin typeface="微软雅黑" panose="020B0503020204020204" charset="-122"/>
                <a:ea typeface="微软雅黑" panose="020B0503020204020204" charset="-122"/>
              </a:rPr>
              <a:t>防篡改</a:t>
            </a:r>
            <a:endParaRPr lang="zh-CN" altLang="en-US" sz="900" dirty="0">
              <a:solidFill>
                <a:prstClr val="white"/>
              </a:solidFill>
              <a:latin typeface="微软雅黑" panose="020B0503020204020204" charset="-122"/>
              <a:ea typeface="微软雅黑" panose="020B0503020204020204" charset="-122"/>
            </a:endParaRPr>
          </a:p>
        </p:txBody>
      </p:sp>
      <p:sp>
        <p:nvSpPr>
          <p:cNvPr id="271" name="圆角矩形 56"/>
          <p:cNvSpPr/>
          <p:nvPr/>
        </p:nvSpPr>
        <p:spPr>
          <a:xfrm>
            <a:off x="2212248" y="5372111"/>
            <a:ext cx="290877" cy="929459"/>
          </a:xfrm>
          <a:prstGeom prst="rect">
            <a:avLst/>
          </a:pr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p>
            <a:pPr algn="ctr"/>
            <a:r>
              <a:rPr lang="zh-CN" altLang="en-US" sz="900" dirty="0">
                <a:solidFill>
                  <a:prstClr val="white"/>
                </a:solidFill>
                <a:latin typeface="微软雅黑" panose="020B0503020204020204" charset="-122"/>
                <a:ea typeface="微软雅黑" panose="020B0503020204020204" charset="-122"/>
              </a:rPr>
              <a:t>涉密管理</a:t>
            </a:r>
            <a:endParaRPr lang="zh-CN" altLang="en-US" sz="900" dirty="0">
              <a:solidFill>
                <a:prstClr val="white"/>
              </a:solidFill>
              <a:latin typeface="微软雅黑" panose="020B0503020204020204" charset="-122"/>
              <a:ea typeface="微软雅黑" panose="020B0503020204020204" charset="-122"/>
            </a:endParaRPr>
          </a:p>
        </p:txBody>
      </p:sp>
      <p:sp>
        <p:nvSpPr>
          <p:cNvPr id="280" name="圆角矩形 56"/>
          <p:cNvSpPr/>
          <p:nvPr/>
        </p:nvSpPr>
        <p:spPr>
          <a:xfrm>
            <a:off x="4773378" y="5372111"/>
            <a:ext cx="290877" cy="929459"/>
          </a:xfrm>
          <a:prstGeom prst="rect">
            <a:avLst/>
          </a:pr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p>
            <a:pPr algn="ctr"/>
            <a:r>
              <a:rPr lang="zh-CN" altLang="en-US" sz="900" dirty="0">
                <a:solidFill>
                  <a:prstClr val="white"/>
                </a:solidFill>
                <a:latin typeface="微软雅黑" panose="020B0503020204020204" charset="-122"/>
                <a:ea typeface="微软雅黑" panose="020B0503020204020204" charset="-122"/>
              </a:rPr>
              <a:t>三员管理</a:t>
            </a:r>
            <a:endParaRPr lang="zh-CN" altLang="en-US" sz="900" dirty="0">
              <a:solidFill>
                <a:prstClr val="white"/>
              </a:solidFill>
              <a:latin typeface="微软雅黑" panose="020B0503020204020204" charset="-122"/>
              <a:ea typeface="微软雅黑" panose="020B0503020204020204" charset="-122"/>
            </a:endParaRPr>
          </a:p>
        </p:txBody>
      </p:sp>
      <p:sp>
        <p:nvSpPr>
          <p:cNvPr id="281" name="圆角矩形 56"/>
          <p:cNvSpPr/>
          <p:nvPr/>
        </p:nvSpPr>
        <p:spPr>
          <a:xfrm>
            <a:off x="5627088" y="5372111"/>
            <a:ext cx="290877" cy="929459"/>
          </a:xfrm>
          <a:prstGeom prst="rect">
            <a:avLst/>
          </a:pr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p>
            <a:pPr algn="ctr"/>
            <a:r>
              <a:rPr lang="zh-CN" altLang="en-US" sz="900" dirty="0">
                <a:solidFill>
                  <a:prstClr val="white"/>
                </a:solidFill>
                <a:latin typeface="微软雅黑" panose="020B0503020204020204" charset="-122"/>
                <a:ea typeface="微软雅黑" panose="020B0503020204020204" charset="-122"/>
              </a:rPr>
              <a:t>专家名单安全</a:t>
            </a:r>
            <a:endParaRPr lang="zh-CN" altLang="en-US" sz="900" dirty="0">
              <a:solidFill>
                <a:prstClr val="white"/>
              </a:solidFill>
              <a:latin typeface="微软雅黑" panose="020B0503020204020204" charset="-122"/>
              <a:ea typeface="微软雅黑" panose="020B0503020204020204" charset="-122"/>
            </a:endParaRPr>
          </a:p>
        </p:txBody>
      </p:sp>
      <p:sp>
        <p:nvSpPr>
          <p:cNvPr id="282" name="圆角矩形 56"/>
          <p:cNvSpPr/>
          <p:nvPr/>
        </p:nvSpPr>
        <p:spPr>
          <a:xfrm>
            <a:off x="6480798" y="5372111"/>
            <a:ext cx="290877" cy="929459"/>
          </a:xfrm>
          <a:prstGeom prst="rect">
            <a:avLst/>
          </a:pr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p>
            <a:pPr algn="ctr"/>
            <a:r>
              <a:rPr lang="zh-CN" altLang="en-US" sz="900" dirty="0">
                <a:solidFill>
                  <a:prstClr val="white"/>
                </a:solidFill>
                <a:latin typeface="微软雅黑" panose="020B0503020204020204" charset="-122"/>
                <a:ea typeface="微软雅黑" panose="020B0503020204020204" charset="-122"/>
              </a:rPr>
              <a:t>投标信息安全</a:t>
            </a:r>
            <a:endParaRPr lang="zh-CN" altLang="en-US" sz="900" dirty="0">
              <a:solidFill>
                <a:prstClr val="white"/>
              </a:solidFill>
              <a:latin typeface="微软雅黑" panose="020B0503020204020204" charset="-122"/>
              <a:ea typeface="微软雅黑" panose="020B0503020204020204" charset="-122"/>
            </a:endParaRPr>
          </a:p>
        </p:txBody>
      </p:sp>
      <p:sp>
        <p:nvSpPr>
          <p:cNvPr id="283" name="圆角矩形 56"/>
          <p:cNvSpPr/>
          <p:nvPr/>
        </p:nvSpPr>
        <p:spPr>
          <a:xfrm>
            <a:off x="7334508" y="5372111"/>
            <a:ext cx="290877" cy="929459"/>
          </a:xfrm>
          <a:prstGeom prst="rect">
            <a:avLst/>
          </a:prstGeom>
          <a:gradFill flip="none" rotWithShape="1">
            <a:gsLst>
              <a:gs pos="100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p:spPr>
        <p:txBody>
          <a:bodyPr wrap="square" lIns="98755" tIns="49378" rIns="98755" bIns="49378" rtlCol="0" anchor="ctr"/>
          <a:lstStyle/>
          <a:p>
            <a:pPr algn="ctr"/>
            <a:r>
              <a:rPr lang="en-US" altLang="zh-CN" sz="900" dirty="0">
                <a:solidFill>
                  <a:prstClr val="white"/>
                </a:solidFill>
                <a:latin typeface="微软雅黑" panose="020B0503020204020204" charset="-122"/>
                <a:ea typeface="微软雅黑" panose="020B0503020204020204" charset="-122"/>
              </a:rPr>
              <a:t>…</a:t>
            </a:r>
            <a:endParaRPr lang="zh-CN" altLang="en-US" sz="900" dirty="0">
              <a:solidFill>
                <a:prstClr val="white"/>
              </a:solidFill>
              <a:latin typeface="微软雅黑" panose="020B0503020204020204" charset="-122"/>
              <a:ea typeface="微软雅黑" panose="020B0503020204020204" charset="-122"/>
            </a:endParaRPr>
          </a:p>
        </p:txBody>
      </p:sp>
      <p:sp>
        <p:nvSpPr>
          <p:cNvPr id="286" name="矩形 285"/>
          <p:cNvSpPr/>
          <p:nvPr/>
        </p:nvSpPr>
        <p:spPr>
          <a:xfrm>
            <a:off x="8356610" y="4916585"/>
            <a:ext cx="2025435" cy="2615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000" dirty="0">
                <a:latin typeface="微软雅黑" panose="020B0503020204020204" charset="-122"/>
                <a:ea typeface="微软雅黑" panose="020B0503020204020204" charset="-122"/>
              </a:rPr>
              <a:t>DNS</a:t>
            </a:r>
            <a:r>
              <a:rPr lang="zh-CN" altLang="en-US" sz="1000" dirty="0">
                <a:latin typeface="微软雅黑" panose="020B0503020204020204" charset="-122"/>
                <a:ea typeface="微软雅黑" panose="020B0503020204020204" charset="-122"/>
              </a:rPr>
              <a:t>请求防护</a:t>
            </a:r>
            <a:endParaRPr lang="zh-CN" altLang="en-US" sz="1000" dirty="0">
              <a:latin typeface="微软雅黑" panose="020B0503020204020204" charset="-122"/>
              <a:ea typeface="微软雅黑" panose="020B0503020204020204" charset="-122"/>
            </a:endParaRPr>
          </a:p>
        </p:txBody>
      </p:sp>
      <p:sp>
        <p:nvSpPr>
          <p:cNvPr id="287" name="矩形 286"/>
          <p:cNvSpPr/>
          <p:nvPr/>
        </p:nvSpPr>
        <p:spPr>
          <a:xfrm>
            <a:off x="8356610" y="5237525"/>
            <a:ext cx="2025435" cy="2615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latin typeface="微软雅黑" panose="020B0503020204020204" charset="-122"/>
                <a:ea typeface="微软雅黑" panose="020B0503020204020204" charset="-122"/>
              </a:rPr>
              <a:t>弱口令防护</a:t>
            </a:r>
            <a:endParaRPr lang="zh-CN" altLang="en-US" sz="1000" dirty="0">
              <a:latin typeface="微软雅黑" panose="020B0503020204020204" charset="-122"/>
              <a:ea typeface="微软雅黑" panose="020B0503020204020204" charset="-122"/>
            </a:endParaRPr>
          </a:p>
        </p:txBody>
      </p:sp>
      <p:sp>
        <p:nvSpPr>
          <p:cNvPr id="288" name="矩形 287"/>
          <p:cNvSpPr/>
          <p:nvPr/>
        </p:nvSpPr>
        <p:spPr>
          <a:xfrm>
            <a:off x="8356610" y="5558465"/>
            <a:ext cx="2025435" cy="2615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000" dirty="0">
                <a:latin typeface="微软雅黑" panose="020B0503020204020204" charset="-122"/>
                <a:ea typeface="微软雅黑" panose="020B0503020204020204" charset="-122"/>
              </a:rPr>
              <a:t>SSRF</a:t>
            </a:r>
            <a:r>
              <a:rPr lang="zh-CN" altLang="en-US" sz="1000" dirty="0">
                <a:latin typeface="微软雅黑" panose="020B0503020204020204" charset="-122"/>
                <a:ea typeface="微软雅黑" panose="020B0503020204020204" charset="-122"/>
              </a:rPr>
              <a:t>防护</a:t>
            </a:r>
            <a:endParaRPr lang="zh-CN" altLang="en-US" sz="1000" dirty="0">
              <a:latin typeface="微软雅黑" panose="020B0503020204020204" charset="-122"/>
              <a:ea typeface="微软雅黑" panose="020B0503020204020204" charset="-122"/>
            </a:endParaRPr>
          </a:p>
        </p:txBody>
      </p:sp>
      <p:sp>
        <p:nvSpPr>
          <p:cNvPr id="289" name="矩形 288"/>
          <p:cNvSpPr/>
          <p:nvPr/>
        </p:nvSpPr>
        <p:spPr>
          <a:xfrm>
            <a:off x="8356610" y="5879409"/>
            <a:ext cx="2025435" cy="2615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latin typeface="微软雅黑" panose="020B0503020204020204" charset="-122"/>
                <a:ea typeface="微软雅黑" panose="020B0503020204020204" charset="-122"/>
              </a:rPr>
              <a:t>恶意扫描防护</a:t>
            </a:r>
            <a:endParaRPr lang="zh-CN" altLang="en-US" sz="1000" dirty="0">
              <a:latin typeface="微软雅黑" panose="020B0503020204020204" charset="-122"/>
              <a:ea typeface="微软雅黑" panose="020B0503020204020204" charset="-122"/>
            </a:endParaRPr>
          </a:p>
        </p:txBody>
      </p:sp>
      <p:pic>
        <p:nvPicPr>
          <p:cNvPr id="299" name="图片 29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45480" y="2101831"/>
            <a:ext cx="383437" cy="383437"/>
          </a:xfrm>
          <a:prstGeom prst="rect">
            <a:avLst/>
          </a:prstGeom>
        </p:spPr>
      </p:pic>
      <p:pic>
        <p:nvPicPr>
          <p:cNvPr id="300" name="图片 299"/>
          <p:cNvPicPr>
            <a:picLocks noChangeAspect="1"/>
          </p:cNvPicPr>
          <p:nvPr/>
        </p:nvPicPr>
        <p:blipFill>
          <a:blip r:embed="rId11" cstate="print">
            <a:duotone>
              <a:prstClr val="black"/>
              <a:srgbClr val="D2D0FC">
                <a:tint val="45000"/>
                <a:satMod val="400000"/>
              </a:srgbClr>
            </a:duotone>
            <a:extLst>
              <a:ext uri="{28A0092B-C50C-407E-A947-70E740481C1C}">
                <a14:useLocalDpi xmlns:a14="http://schemas.microsoft.com/office/drawing/2010/main" val="0"/>
              </a:ext>
            </a:extLst>
          </a:blip>
          <a:stretch>
            <a:fillRect/>
          </a:stretch>
        </p:blipFill>
        <p:spPr>
          <a:xfrm>
            <a:off x="1045480" y="3661942"/>
            <a:ext cx="383437" cy="383437"/>
          </a:xfrm>
          <a:prstGeom prst="rect">
            <a:avLst/>
          </a:prstGeom>
        </p:spPr>
      </p:pic>
      <p:sp>
        <p:nvSpPr>
          <p:cNvPr id="301" name="文本框 300"/>
          <p:cNvSpPr txBox="1"/>
          <p:nvPr>
            <p:custDataLst>
              <p:tags r:id="rId12"/>
            </p:custDataLst>
          </p:nvPr>
        </p:nvSpPr>
        <p:spPr>
          <a:xfrm>
            <a:off x="1357202" y="3809281"/>
            <a:ext cx="1401325" cy="267012"/>
          </a:xfrm>
          <a:prstGeom prst="rect">
            <a:avLst/>
          </a:prstGeom>
          <a:noFill/>
          <a:ln>
            <a:noFill/>
          </a:ln>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a:defRPr/>
            </a:pPr>
            <a:r>
              <a:rPr lang="zh-CN" altLang="en-US" sz="1100" b="1" kern="0" dirty="0">
                <a:latin typeface="微软雅黑" panose="020B0503020204020204" charset="-122"/>
                <a:ea typeface="微软雅黑" panose="020B0503020204020204" charset="-122"/>
                <a:sym typeface="+mn-ea"/>
              </a:rPr>
              <a:t>数据安全防御体系</a:t>
            </a:r>
            <a:endParaRPr lang="zh-CN" altLang="en-US" sz="1100" b="1" kern="0" dirty="0">
              <a:latin typeface="微软雅黑" panose="020B0503020204020204" charset="-122"/>
              <a:ea typeface="微软雅黑" panose="020B0503020204020204" charset="-122"/>
              <a:sym typeface="+mn-ea"/>
            </a:endParaRPr>
          </a:p>
        </p:txBody>
      </p:sp>
      <p:sp>
        <p:nvSpPr>
          <p:cNvPr id="302" name="箭头: 下 47"/>
          <p:cNvSpPr/>
          <p:nvPr/>
        </p:nvSpPr>
        <p:spPr>
          <a:xfrm rot="10800000" flipV="1">
            <a:off x="1989894" y="3416331"/>
            <a:ext cx="274855" cy="357542"/>
          </a:xfrm>
          <a:prstGeom prst="downArrow">
            <a:avLst>
              <a:gd name="adj1" fmla="val 50000"/>
              <a:gd name="adj2" fmla="val 52777"/>
            </a:avLst>
          </a:prstGeom>
          <a:gradFill>
            <a:gsLst>
              <a:gs pos="0">
                <a:srgbClr val="2855F0">
                  <a:alpha val="0"/>
                </a:srgbClr>
              </a:gs>
              <a:gs pos="100000">
                <a:srgbClr val="2855F0"/>
              </a:gs>
            </a:gsLst>
            <a:lin ang="5400000" scaled="1"/>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303" name="文本框 302"/>
          <p:cNvSpPr txBox="1"/>
          <p:nvPr/>
        </p:nvSpPr>
        <p:spPr>
          <a:xfrm>
            <a:off x="7177474" y="2889465"/>
            <a:ext cx="389490" cy="238225"/>
          </a:xfrm>
          <a:prstGeom prst="rect">
            <a:avLst/>
          </a:prstGeom>
          <a:noFill/>
        </p:spPr>
        <p:txBody>
          <a:bodyPr wrap="square" rtlCol="0">
            <a:spAutoFit/>
          </a:bodyPr>
          <a:lstStyle/>
          <a:p>
            <a:r>
              <a:rPr lang="en-US" altLang="zh-CN" sz="1000" b="1" dirty="0">
                <a:latin typeface="微软雅黑" panose="020B0503020204020204" charset="-122"/>
                <a:ea typeface="微软雅黑" panose="020B0503020204020204" charset="-122"/>
              </a:rPr>
              <a:t>…</a:t>
            </a:r>
            <a:endParaRPr lang="zh-CN" altLang="en-US" sz="1000" b="1" dirty="0">
              <a:latin typeface="微软雅黑" panose="020B0503020204020204" charset="-122"/>
              <a:ea typeface="微软雅黑" panose="020B0503020204020204" charset="-122"/>
            </a:endParaRPr>
          </a:p>
        </p:txBody>
      </p:sp>
      <p:sp>
        <p:nvSpPr>
          <p:cNvPr id="306" name="文本框 305"/>
          <p:cNvSpPr txBox="1"/>
          <p:nvPr/>
        </p:nvSpPr>
        <p:spPr>
          <a:xfrm>
            <a:off x="7143061" y="4447204"/>
            <a:ext cx="389490" cy="238225"/>
          </a:xfrm>
          <a:prstGeom prst="rect">
            <a:avLst/>
          </a:prstGeom>
          <a:noFill/>
        </p:spPr>
        <p:txBody>
          <a:bodyPr wrap="square" rtlCol="0">
            <a:spAutoFit/>
          </a:bodyPr>
          <a:lstStyle/>
          <a:p>
            <a:r>
              <a:rPr lang="en-US" altLang="zh-CN" sz="1000" b="1" dirty="0">
                <a:latin typeface="微软雅黑" panose="020B0503020204020204" charset="-122"/>
                <a:ea typeface="微软雅黑" panose="020B0503020204020204" charset="-122"/>
              </a:rPr>
              <a:t>…</a:t>
            </a:r>
            <a:endParaRPr lang="zh-CN" altLang="en-US" sz="1000" b="1" dirty="0">
              <a:latin typeface="微软雅黑" panose="020B0503020204020204" charset="-122"/>
              <a:ea typeface="微软雅黑" panose="020B0503020204020204" charset="-122"/>
            </a:endParaRPr>
          </a:p>
        </p:txBody>
      </p:sp>
      <p:sp>
        <p:nvSpPr>
          <p:cNvPr id="3" name="文本框 2"/>
          <p:cNvSpPr txBox="1"/>
          <p:nvPr>
            <p:custDataLst>
              <p:tags r:id="rId13"/>
            </p:custDataLst>
          </p:nvPr>
        </p:nvSpPr>
        <p:spPr>
          <a:xfrm>
            <a:off x="2243105" y="1556118"/>
            <a:ext cx="1259444" cy="267012"/>
          </a:xfrm>
          <a:prstGeom prst="rect">
            <a:avLst/>
          </a:prstGeom>
          <a:noFill/>
          <a:ln>
            <a:noFill/>
          </a:ln>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a:defRPr/>
            </a:pPr>
            <a:r>
              <a:rPr lang="zh-CN" altLang="en-US" sz="1100" b="1" kern="0" dirty="0">
                <a:latin typeface="微软雅黑" panose="020B0503020204020204" charset="-122"/>
                <a:ea typeface="微软雅黑" panose="020B0503020204020204" charset="-122"/>
                <a:sym typeface="+mn-ea"/>
              </a:rPr>
              <a:t>网关服务</a:t>
            </a:r>
            <a:endParaRPr lang="zh-CN" altLang="en-US" sz="1100" b="1" kern="0" dirty="0">
              <a:latin typeface="微软雅黑" panose="020B0503020204020204" charset="-122"/>
              <a:ea typeface="微软雅黑" panose="020B0503020204020204" charset="-122"/>
              <a:sym typeface="+mn-ea"/>
            </a:endParaRPr>
          </a:p>
        </p:txBody>
      </p:sp>
      <p:grpSp>
        <p:nvGrpSpPr>
          <p:cNvPr id="13" name="组合 12"/>
          <p:cNvGrpSpPr/>
          <p:nvPr/>
        </p:nvGrpSpPr>
        <p:grpSpPr>
          <a:xfrm>
            <a:off x="257177" y="654231"/>
            <a:ext cx="696200" cy="6110010"/>
            <a:chOff x="257177" y="514530"/>
            <a:chExt cx="696200" cy="6327471"/>
          </a:xfrm>
        </p:grpSpPr>
        <p:sp>
          <p:nvSpPr>
            <p:cNvPr id="247" name="矩形 246"/>
            <p:cNvSpPr/>
            <p:nvPr>
              <p:custDataLst>
                <p:tags r:id="rId14"/>
              </p:custDataLst>
            </p:nvPr>
          </p:nvSpPr>
          <p:spPr>
            <a:xfrm>
              <a:off x="257177" y="514530"/>
              <a:ext cx="696200" cy="6327471"/>
            </a:xfrm>
            <a:prstGeom prst="rect">
              <a:avLst/>
            </a:prstGeom>
            <a:solidFill>
              <a:schemeClr val="accent1"/>
            </a:solidFill>
            <a:ln w="38100" cap="flat" cmpd="sng" algn="ctr">
              <a:noFill/>
              <a:prstDash val="solid"/>
              <a:miter lim="800000"/>
            </a:ln>
            <a:effectLst/>
          </p:spPr>
          <p:txBody>
            <a:bodyPr wrap="square" lIns="98755" tIns="49378" rIns="98755" bIns="49378" rtlCol="0" anchor="ctr">
              <a:noAutofit/>
            </a:bodyPr>
            <a:lstStyle/>
            <a:p>
              <a:pPr algn="ctr"/>
              <a:endParaRPr lang="zh-CN" altLang="en-US" sz="1600" b="1" kern="0">
                <a:effectLst>
                  <a:outerShdw blurRad="137160" dist="41148" dir="2699997" algn="tl">
                    <a:srgbClr val="000000">
                      <a:alpha val="40000"/>
                    </a:srgbClr>
                  </a:outerShdw>
                </a:effectLst>
                <a:latin typeface="微软雅黑" panose="020B0503020204020204" charset="-122"/>
                <a:ea typeface="微软雅黑" panose="020B0503020204020204" charset="-122"/>
              </a:endParaRPr>
            </a:p>
          </p:txBody>
        </p:sp>
        <p:sp>
          <p:nvSpPr>
            <p:cNvPr id="248" name="矩形 247"/>
            <p:cNvSpPr/>
            <p:nvPr/>
          </p:nvSpPr>
          <p:spPr>
            <a:xfrm>
              <a:off x="590682" y="695773"/>
              <a:ext cx="266640" cy="1137189"/>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设计安全</a:t>
              </a:r>
              <a:endParaRPr lang="zh-CN" altLang="en-US" sz="1050" dirty="0">
                <a:solidFill>
                  <a:schemeClr val="tx1"/>
                </a:solidFill>
                <a:latin typeface="微软雅黑" panose="020B0503020204020204" charset="-122"/>
                <a:ea typeface="微软雅黑" panose="020B0503020204020204" charset="-122"/>
              </a:endParaRPr>
            </a:p>
          </p:txBody>
        </p:sp>
        <p:sp>
          <p:nvSpPr>
            <p:cNvPr id="249" name="矩形 248"/>
            <p:cNvSpPr/>
            <p:nvPr>
              <p:custDataLst>
                <p:tags r:id="rId15"/>
              </p:custDataLst>
            </p:nvPr>
          </p:nvSpPr>
          <p:spPr>
            <a:xfrm>
              <a:off x="590682" y="1925051"/>
              <a:ext cx="266640" cy="1137189"/>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编码安全</a:t>
              </a:r>
              <a:endParaRPr lang="zh-CN" altLang="en-US" sz="1050" dirty="0">
                <a:solidFill>
                  <a:schemeClr val="tx1"/>
                </a:solidFill>
                <a:latin typeface="微软雅黑" panose="020B0503020204020204" charset="-122"/>
                <a:ea typeface="微软雅黑" panose="020B0503020204020204" charset="-122"/>
              </a:endParaRPr>
            </a:p>
          </p:txBody>
        </p:sp>
        <p:sp>
          <p:nvSpPr>
            <p:cNvPr id="250" name="矩形 249"/>
            <p:cNvSpPr/>
            <p:nvPr>
              <p:custDataLst>
                <p:tags r:id="rId16"/>
              </p:custDataLst>
            </p:nvPr>
          </p:nvSpPr>
          <p:spPr>
            <a:xfrm>
              <a:off x="590682" y="3154328"/>
              <a:ext cx="266640" cy="1137189"/>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测试安全</a:t>
              </a:r>
              <a:endParaRPr lang="zh-CN" altLang="en-US" sz="1050" dirty="0">
                <a:solidFill>
                  <a:schemeClr val="tx1"/>
                </a:solidFill>
                <a:latin typeface="微软雅黑" panose="020B0503020204020204" charset="-122"/>
                <a:ea typeface="微软雅黑" panose="020B0503020204020204" charset="-122"/>
              </a:endParaRPr>
            </a:p>
          </p:txBody>
        </p:sp>
        <p:sp>
          <p:nvSpPr>
            <p:cNvPr id="251" name="矩形 250"/>
            <p:cNvSpPr/>
            <p:nvPr>
              <p:custDataLst>
                <p:tags r:id="rId17"/>
              </p:custDataLst>
            </p:nvPr>
          </p:nvSpPr>
          <p:spPr>
            <a:xfrm>
              <a:off x="590682" y="4383605"/>
              <a:ext cx="266640" cy="1137189"/>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部署安全</a:t>
              </a:r>
              <a:endParaRPr lang="zh-CN" altLang="en-US" sz="1050" dirty="0">
                <a:solidFill>
                  <a:schemeClr val="tx1"/>
                </a:solidFill>
                <a:latin typeface="微软雅黑" panose="020B0503020204020204" charset="-122"/>
                <a:ea typeface="微软雅黑" panose="020B0503020204020204" charset="-122"/>
              </a:endParaRPr>
            </a:p>
          </p:txBody>
        </p:sp>
        <p:sp>
          <p:nvSpPr>
            <p:cNvPr id="252" name="矩形 251"/>
            <p:cNvSpPr/>
            <p:nvPr>
              <p:custDataLst>
                <p:tags r:id="rId18"/>
              </p:custDataLst>
            </p:nvPr>
          </p:nvSpPr>
          <p:spPr>
            <a:xfrm>
              <a:off x="590682" y="5612882"/>
              <a:ext cx="266640" cy="1137189"/>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50">
                  <a:solidFill>
                    <a:schemeClr val="tx1"/>
                  </a:solidFill>
                  <a:latin typeface="微软雅黑" panose="020B0503020204020204" charset="-122"/>
                  <a:ea typeface="微软雅黑" panose="020B0503020204020204" charset="-122"/>
                </a:rPr>
                <a:t>运维安全</a:t>
              </a:r>
              <a:endParaRPr lang="zh-CN" altLang="en-US" sz="1050">
                <a:solidFill>
                  <a:schemeClr val="tx1"/>
                </a:solidFill>
                <a:latin typeface="微软雅黑" panose="020B0503020204020204" charset="-122"/>
                <a:ea typeface="微软雅黑" panose="020B0503020204020204" charset="-122"/>
              </a:endParaRPr>
            </a:p>
          </p:txBody>
        </p:sp>
        <p:sp>
          <p:nvSpPr>
            <p:cNvPr id="4" name="文本框 3"/>
            <p:cNvSpPr txBox="1"/>
            <p:nvPr>
              <p:custDataLst>
                <p:tags r:id="rId19"/>
              </p:custDataLst>
            </p:nvPr>
          </p:nvSpPr>
          <p:spPr>
            <a:xfrm>
              <a:off x="262990" y="2953543"/>
              <a:ext cx="305242" cy="1470247"/>
            </a:xfrm>
            <a:prstGeom prst="rect">
              <a:avLst/>
            </a:prstGeom>
            <a:noFill/>
            <a:ln>
              <a:noFill/>
            </a:ln>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a:defRPr/>
              </a:pPr>
              <a:r>
                <a:rPr lang="zh-CN" altLang="en-US" sz="1400" b="1" kern="0" dirty="0">
                  <a:solidFill>
                    <a:schemeClr val="bg1"/>
                  </a:solidFill>
                  <a:latin typeface="微软雅黑" panose="020B0503020204020204" charset="-122"/>
                  <a:ea typeface="微软雅黑" panose="020B0503020204020204" charset="-122"/>
                  <a:sym typeface="+mn-ea"/>
                </a:rPr>
                <a:t>安全研发体系</a:t>
              </a:r>
              <a:endParaRPr lang="zh-CN" altLang="en-US" sz="1400" b="1" kern="0" dirty="0">
                <a:solidFill>
                  <a:schemeClr val="bg1"/>
                </a:solidFill>
                <a:latin typeface="微软雅黑" panose="020B0503020204020204" charset="-122"/>
                <a:ea typeface="微软雅黑" panose="020B0503020204020204" charset="-122"/>
                <a:sym typeface="+mn-ea"/>
              </a:endParaRPr>
            </a:p>
          </p:txBody>
        </p:sp>
      </p:grpSp>
      <p:grpSp>
        <p:nvGrpSpPr>
          <p:cNvPr id="12" name="组合 11"/>
          <p:cNvGrpSpPr/>
          <p:nvPr/>
        </p:nvGrpSpPr>
        <p:grpSpPr>
          <a:xfrm>
            <a:off x="10879787" y="654231"/>
            <a:ext cx="810570" cy="6151684"/>
            <a:chOff x="10879787" y="514530"/>
            <a:chExt cx="810570" cy="6327471"/>
          </a:xfrm>
        </p:grpSpPr>
        <p:sp>
          <p:nvSpPr>
            <p:cNvPr id="291" name="矩形 290"/>
            <p:cNvSpPr/>
            <p:nvPr>
              <p:custDataLst>
                <p:tags r:id="rId20"/>
              </p:custDataLst>
            </p:nvPr>
          </p:nvSpPr>
          <p:spPr>
            <a:xfrm>
              <a:off x="10879787" y="514530"/>
              <a:ext cx="810570" cy="6327471"/>
            </a:xfrm>
            <a:prstGeom prst="rect">
              <a:avLst/>
            </a:prstGeom>
            <a:solidFill>
              <a:schemeClr val="accent1"/>
            </a:solidFill>
            <a:ln w="38100" cap="flat" cmpd="sng" algn="ctr">
              <a:noFill/>
              <a:prstDash val="solid"/>
              <a:miter lim="800000"/>
            </a:ln>
            <a:effectLst/>
          </p:spPr>
          <p:txBody>
            <a:bodyPr wrap="square" lIns="98755" tIns="49378" rIns="98755" bIns="49378" rtlCol="0" anchor="ctr">
              <a:noAutofit/>
            </a:bodyPr>
            <a:lstStyle/>
            <a:p>
              <a:pPr algn="ctr"/>
              <a:endParaRPr lang="zh-CN" altLang="en-US" sz="1600" b="1" kern="0">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endParaRPr>
            </a:p>
          </p:txBody>
        </p:sp>
        <p:sp>
          <p:nvSpPr>
            <p:cNvPr id="292" name="矩形 291"/>
            <p:cNvSpPr/>
            <p:nvPr/>
          </p:nvSpPr>
          <p:spPr>
            <a:xfrm>
              <a:off x="11224666" y="591218"/>
              <a:ext cx="393236" cy="756187"/>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vert="eaVert" wrap="square" rtlCol="0" anchor="ctr">
              <a:normAutofit/>
            </a:bodyPr>
            <a:lstStyle/>
            <a:p>
              <a:pPr algn="ctr"/>
              <a:endParaRPr lang="zh-CN" altLang="zh-CN" sz="1050" dirty="0">
                <a:solidFill>
                  <a:schemeClr val="tx1"/>
                </a:solidFill>
                <a:latin typeface="微软雅黑" panose="020B0503020204020204" charset="-122"/>
                <a:ea typeface="微软雅黑" panose="020B0503020204020204" charset="-122"/>
              </a:endParaRPr>
            </a:p>
          </p:txBody>
        </p:sp>
        <p:sp>
          <p:nvSpPr>
            <p:cNvPr id="5" name="文本框 4"/>
            <p:cNvSpPr txBox="1"/>
            <p:nvPr>
              <p:custDataLst>
                <p:tags r:id="rId21"/>
              </p:custDataLst>
            </p:nvPr>
          </p:nvSpPr>
          <p:spPr>
            <a:xfrm>
              <a:off x="10925544" y="2943142"/>
              <a:ext cx="305242" cy="1470247"/>
            </a:xfrm>
            <a:prstGeom prst="rect">
              <a:avLst/>
            </a:prstGeom>
            <a:noFill/>
            <a:ln>
              <a:noFill/>
            </a:ln>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a:defRPr/>
              </a:pPr>
              <a:r>
                <a:rPr lang="zh-CN" altLang="en-US" sz="1400" b="1" kern="0" dirty="0">
                  <a:solidFill>
                    <a:schemeClr val="bg1"/>
                  </a:solidFill>
                  <a:latin typeface="微软雅黑" panose="020B0503020204020204" charset="-122"/>
                  <a:ea typeface="微软雅黑" panose="020B0503020204020204" charset="-122"/>
                  <a:sym typeface="+mn-ea"/>
                </a:rPr>
                <a:t>安全运营体系</a:t>
              </a:r>
              <a:endParaRPr lang="zh-CN" altLang="en-US" sz="1400" b="1" kern="0" dirty="0">
                <a:solidFill>
                  <a:schemeClr val="bg1"/>
                </a:solidFill>
                <a:latin typeface="微软雅黑" panose="020B0503020204020204" charset="-122"/>
                <a:ea typeface="微软雅黑" panose="020B0503020204020204" charset="-122"/>
                <a:sym typeface="+mn-ea"/>
              </a:endParaRPr>
            </a:p>
          </p:txBody>
        </p:sp>
        <p:sp>
          <p:nvSpPr>
            <p:cNvPr id="19" name="矩形 18"/>
            <p:cNvSpPr/>
            <p:nvPr/>
          </p:nvSpPr>
          <p:spPr>
            <a:xfrm>
              <a:off x="11224666" y="1365854"/>
              <a:ext cx="393236" cy="756187"/>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vert="horz" wrap="square" rtlCol="0" anchor="ctr">
              <a:normAutofit/>
            </a:bodyPr>
            <a:lstStyle/>
            <a:p>
              <a:pPr algn="ctr"/>
              <a:r>
                <a:rPr lang="zh-CN" altLang="en-US" sz="1050" dirty="0">
                  <a:solidFill>
                    <a:schemeClr val="tx1"/>
                  </a:solidFill>
                  <a:latin typeface="微软雅黑" panose="020B0503020204020204" charset="-122"/>
                  <a:ea typeface="微软雅黑" panose="020B0503020204020204" charset="-122"/>
                  <a:sym typeface="+mn-ea"/>
                </a:rPr>
                <a:t>安全巡检</a:t>
              </a:r>
              <a:endParaRPr lang="zh-CN" altLang="en-US" sz="1050" dirty="0">
                <a:solidFill>
                  <a:schemeClr val="tx1"/>
                </a:solidFill>
                <a:latin typeface="微软雅黑" panose="020B0503020204020204" charset="-122"/>
                <a:ea typeface="微软雅黑" panose="020B0503020204020204" charset="-122"/>
                <a:sym typeface="+mn-ea"/>
              </a:endParaRPr>
            </a:p>
          </p:txBody>
        </p:sp>
        <p:sp>
          <p:nvSpPr>
            <p:cNvPr id="20" name="矩形 19"/>
            <p:cNvSpPr/>
            <p:nvPr/>
          </p:nvSpPr>
          <p:spPr>
            <a:xfrm>
              <a:off x="11224666" y="2140489"/>
              <a:ext cx="393236" cy="756187"/>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vert="horz" wrap="square" rtlCol="0" anchor="ctr">
              <a:normAutofit/>
            </a:bodyPr>
            <a:lstStyle/>
            <a:p>
              <a:pPr algn="ctr"/>
              <a:r>
                <a:rPr lang="zh-CN" altLang="en-US" sz="1050" dirty="0">
                  <a:solidFill>
                    <a:schemeClr val="tx1"/>
                  </a:solidFill>
                  <a:latin typeface="微软雅黑" panose="020B0503020204020204" charset="-122"/>
                  <a:ea typeface="微软雅黑" panose="020B0503020204020204" charset="-122"/>
                  <a:sym typeface="+mn-ea"/>
                </a:rPr>
                <a:t>安全审计</a:t>
              </a:r>
              <a:endParaRPr lang="zh-CN" altLang="en-US" sz="1050" dirty="0">
                <a:solidFill>
                  <a:schemeClr val="tx1"/>
                </a:solidFill>
                <a:latin typeface="微软雅黑" panose="020B0503020204020204" charset="-122"/>
                <a:ea typeface="微软雅黑" panose="020B0503020204020204" charset="-122"/>
                <a:sym typeface="+mn-ea"/>
              </a:endParaRPr>
            </a:p>
          </p:txBody>
        </p:sp>
        <p:sp>
          <p:nvSpPr>
            <p:cNvPr id="21" name="矩形 20"/>
            <p:cNvSpPr/>
            <p:nvPr/>
          </p:nvSpPr>
          <p:spPr>
            <a:xfrm>
              <a:off x="11224666" y="2915125"/>
              <a:ext cx="393236" cy="756187"/>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vert="horz" wrap="square" rtlCol="0" anchor="ctr">
              <a:normAutofit/>
            </a:bodyPr>
            <a:lstStyle/>
            <a:p>
              <a:pPr algn="ctr"/>
              <a:r>
                <a:rPr lang="zh-CN" altLang="en-US" sz="1050" dirty="0">
                  <a:solidFill>
                    <a:schemeClr val="tx1"/>
                  </a:solidFill>
                  <a:latin typeface="微软雅黑" panose="020B0503020204020204" charset="-122"/>
                  <a:ea typeface="微软雅黑" panose="020B0503020204020204" charset="-122"/>
                  <a:sym typeface="+mn-ea"/>
                </a:rPr>
                <a:t>重保服务</a:t>
              </a:r>
              <a:endParaRPr lang="zh-CN" altLang="en-US" sz="1050" dirty="0">
                <a:solidFill>
                  <a:schemeClr val="tx1"/>
                </a:solidFill>
                <a:latin typeface="微软雅黑" panose="020B0503020204020204" charset="-122"/>
                <a:ea typeface="微软雅黑" panose="020B0503020204020204" charset="-122"/>
                <a:sym typeface="+mn-ea"/>
              </a:endParaRPr>
            </a:p>
          </p:txBody>
        </p:sp>
        <p:sp>
          <p:nvSpPr>
            <p:cNvPr id="22" name="矩形 21"/>
            <p:cNvSpPr/>
            <p:nvPr/>
          </p:nvSpPr>
          <p:spPr>
            <a:xfrm>
              <a:off x="11224666" y="3689761"/>
              <a:ext cx="393236" cy="756187"/>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vert="horz" wrap="square" rtlCol="0" anchor="ctr">
              <a:normAutofit/>
            </a:bodyPr>
            <a:lstStyle/>
            <a:p>
              <a:pPr algn="ctr"/>
              <a:r>
                <a:rPr lang="zh-CN" altLang="en-US" sz="1050" dirty="0">
                  <a:solidFill>
                    <a:schemeClr val="tx1"/>
                  </a:solidFill>
                  <a:latin typeface="微软雅黑" panose="020B0503020204020204" charset="-122"/>
                  <a:ea typeface="微软雅黑" panose="020B0503020204020204" charset="-122"/>
                  <a:sym typeface="+mn-ea"/>
                </a:rPr>
                <a:t>安全加固</a:t>
              </a:r>
              <a:endParaRPr lang="zh-CN" altLang="en-US" sz="1050" dirty="0">
                <a:solidFill>
                  <a:schemeClr val="tx1"/>
                </a:solidFill>
                <a:latin typeface="微软雅黑" panose="020B0503020204020204" charset="-122"/>
                <a:ea typeface="微软雅黑" panose="020B0503020204020204" charset="-122"/>
                <a:sym typeface="+mn-ea"/>
              </a:endParaRPr>
            </a:p>
          </p:txBody>
        </p:sp>
        <p:sp>
          <p:nvSpPr>
            <p:cNvPr id="23" name="矩形 22"/>
            <p:cNvSpPr/>
            <p:nvPr/>
          </p:nvSpPr>
          <p:spPr>
            <a:xfrm>
              <a:off x="11224666" y="4464396"/>
              <a:ext cx="393236" cy="756187"/>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vert="horz" wrap="square" rtlCol="0" anchor="ctr">
              <a:normAutofit/>
            </a:bodyPr>
            <a:lstStyle/>
            <a:p>
              <a:pPr algn="ctr"/>
              <a:r>
                <a:rPr lang="zh-CN" altLang="en-US" sz="1050" dirty="0">
                  <a:solidFill>
                    <a:schemeClr val="tx1"/>
                  </a:solidFill>
                  <a:latin typeface="微软雅黑" panose="020B0503020204020204" charset="-122"/>
                  <a:ea typeface="微软雅黑" panose="020B0503020204020204" charset="-122"/>
                  <a:sym typeface="+mn-ea"/>
                </a:rPr>
                <a:t>漏洞扫描</a:t>
              </a:r>
              <a:endParaRPr lang="zh-CN" altLang="en-US" sz="1050" dirty="0">
                <a:solidFill>
                  <a:schemeClr val="tx1"/>
                </a:solidFill>
                <a:latin typeface="微软雅黑" panose="020B0503020204020204" charset="-122"/>
                <a:ea typeface="微软雅黑" panose="020B0503020204020204" charset="-122"/>
                <a:sym typeface="+mn-ea"/>
              </a:endParaRPr>
            </a:p>
          </p:txBody>
        </p:sp>
        <p:sp>
          <p:nvSpPr>
            <p:cNvPr id="25" name="矩形 24"/>
            <p:cNvSpPr/>
            <p:nvPr/>
          </p:nvSpPr>
          <p:spPr>
            <a:xfrm>
              <a:off x="11224666" y="5239032"/>
              <a:ext cx="393236" cy="756187"/>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vert="eaVert" wrap="none" rtlCol="0" anchor="ctr">
              <a:normAutofit/>
            </a:bodyPr>
            <a:lstStyle/>
            <a:p>
              <a:pPr algn="ctr"/>
              <a:endParaRPr lang="zh-CN" altLang="en-US" sz="1050" dirty="0">
                <a:solidFill>
                  <a:schemeClr val="tx1"/>
                </a:solidFill>
                <a:latin typeface="微软雅黑" panose="020B0503020204020204" charset="-122"/>
                <a:ea typeface="微软雅黑" panose="020B0503020204020204" charset="-122"/>
                <a:sym typeface="+mn-ea"/>
              </a:endParaRPr>
            </a:p>
          </p:txBody>
        </p:sp>
        <p:sp>
          <p:nvSpPr>
            <p:cNvPr id="28" name="矩形 27"/>
            <p:cNvSpPr/>
            <p:nvPr/>
          </p:nvSpPr>
          <p:spPr>
            <a:xfrm>
              <a:off x="11230786" y="6013667"/>
              <a:ext cx="393236" cy="756187"/>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vert="horz" wrap="square" rtlCol="0" anchor="ctr">
              <a:normAutofit/>
            </a:bodyPr>
            <a:lstStyle/>
            <a:p>
              <a:pPr algn="ctr"/>
              <a:r>
                <a:rPr lang="zh-CN" altLang="en-US" sz="1050" dirty="0">
                  <a:solidFill>
                    <a:schemeClr val="tx1"/>
                  </a:solidFill>
                  <a:latin typeface="微软雅黑" panose="020B0503020204020204" charset="-122"/>
                  <a:ea typeface="微软雅黑" panose="020B0503020204020204" charset="-122"/>
                  <a:sym typeface="+mn-ea"/>
                </a:rPr>
                <a:t>等保测评</a:t>
              </a:r>
              <a:endParaRPr lang="zh-CN" altLang="en-US" sz="1050" dirty="0">
                <a:solidFill>
                  <a:schemeClr val="tx1"/>
                </a:solidFill>
                <a:latin typeface="微软雅黑" panose="020B0503020204020204" charset="-122"/>
                <a:ea typeface="微软雅黑" panose="020B0503020204020204" charset="-122"/>
                <a:sym typeface="+mn-ea"/>
              </a:endParaRPr>
            </a:p>
          </p:txBody>
        </p:sp>
      </p:grpSp>
      <p:sp>
        <p:nvSpPr>
          <p:cNvPr id="6" name="文本框 5"/>
          <p:cNvSpPr txBox="1"/>
          <p:nvPr/>
        </p:nvSpPr>
        <p:spPr>
          <a:xfrm>
            <a:off x="6953910" y="3781382"/>
            <a:ext cx="1031051" cy="261610"/>
          </a:xfrm>
          <a:prstGeom prst="rect">
            <a:avLst/>
          </a:prstGeom>
          <a:noFill/>
        </p:spPr>
        <p:txBody>
          <a:bodyPr wrap="none" rtlCol="0">
            <a:spAutoFit/>
          </a:bodyPr>
          <a:lstStyle/>
          <a:p>
            <a:r>
              <a:rPr lang="zh-CN" altLang="en-US" sz="1100" dirty="0">
                <a:solidFill>
                  <a:srgbClr val="FF0000"/>
                </a:solidFill>
              </a:rPr>
              <a:t>数据权限隔离</a:t>
            </a:r>
            <a:endParaRPr lang="zh-CN" altLang="en-US" sz="1100" dirty="0">
              <a:solidFill>
                <a:srgbClr val="FF0000"/>
              </a:solidFill>
            </a:endParaRPr>
          </a:p>
        </p:txBody>
      </p:sp>
      <p:pic>
        <p:nvPicPr>
          <p:cNvPr id="8" name="图片 7"/>
          <p:cNvPicPr>
            <a:picLocks noChangeAspect="1"/>
          </p:cNvPicPr>
          <p:nvPr/>
        </p:nvPicPr>
        <p:blipFill>
          <a:blip r:embed="rId11" cstate="print">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1045480" y="5031504"/>
            <a:ext cx="383437" cy="383437"/>
          </a:xfrm>
          <a:prstGeom prst="rect">
            <a:avLst/>
          </a:prstGeom>
        </p:spPr>
      </p:pic>
      <p:pic>
        <p:nvPicPr>
          <p:cNvPr id="46" name="图片 45"/>
          <p:cNvPicPr>
            <a:picLocks noChangeAspect="1"/>
          </p:cNvPicPr>
          <p:nvPr/>
        </p:nvPicPr>
        <p:blipFill>
          <a:blip r:embed="rId22" cstate="print">
            <a:duotone>
              <a:prstClr val="black"/>
              <a:schemeClr val="accent6">
                <a:lumMod val="60000"/>
                <a:lumOff val="40000"/>
                <a:tint val="45000"/>
                <a:satMod val="400000"/>
              </a:schemeClr>
            </a:duotone>
            <a:extLst>
              <a:ext uri="{28A0092B-C50C-407E-A947-70E740481C1C}">
                <a14:useLocalDpi xmlns:a14="http://schemas.microsoft.com/office/drawing/2010/main" val="0"/>
              </a:ext>
            </a:extLst>
          </a:blip>
          <a:stretch>
            <a:fillRect/>
          </a:stretch>
        </p:blipFill>
        <p:spPr>
          <a:xfrm>
            <a:off x="1006568" y="1044374"/>
            <a:ext cx="771189" cy="488062"/>
          </a:xfrm>
          <a:prstGeom prst="rect">
            <a:avLst/>
          </a:prstGeom>
        </p:spPr>
      </p:pic>
      <p:sp>
        <p:nvSpPr>
          <p:cNvPr id="49" name="矩形 48"/>
          <p:cNvSpPr/>
          <p:nvPr/>
        </p:nvSpPr>
        <p:spPr>
          <a:xfrm>
            <a:off x="1707762" y="1045805"/>
            <a:ext cx="9075969" cy="410077"/>
          </a:xfrm>
          <a:prstGeom prst="rect">
            <a:avLst/>
          </a:prstGeom>
          <a:blipFill dpi="0" rotWithShape="1">
            <a:blip r:embed="rId23">
              <a:duotone>
                <a:prstClr val="black"/>
                <a:schemeClr val="accent6">
                  <a:lumMod val="60000"/>
                  <a:lumOff val="40000"/>
                  <a:tint val="45000"/>
                  <a:satMod val="400000"/>
                </a:schemeClr>
              </a:duotone>
            </a:blip>
            <a:srcRect/>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custDataLst>
              <p:tags r:id="rId24"/>
            </p:custDataLst>
          </p:nvPr>
        </p:nvSpPr>
        <p:spPr>
          <a:xfrm>
            <a:off x="1682718" y="1169249"/>
            <a:ext cx="707402" cy="267012"/>
          </a:xfrm>
          <a:prstGeom prst="rect">
            <a:avLst/>
          </a:prstGeom>
          <a:solidFill>
            <a:schemeClr val="bg2">
              <a:alpha val="33000"/>
            </a:schemeClr>
          </a:solidFill>
          <a:ln>
            <a:noFill/>
          </a:ln>
        </p:spPr>
        <p:txBody>
          <a:bodyPr wrap="square" rtlCol="0">
            <a:no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a:defRPr/>
            </a:pPr>
            <a:r>
              <a:rPr lang="zh-CN" altLang="en-US" sz="1100" b="1" kern="0" dirty="0">
                <a:solidFill>
                  <a:srgbClr val="FF0000"/>
                </a:solidFill>
                <a:latin typeface="微软雅黑" panose="020B0503020204020204" charset="-122"/>
                <a:ea typeface="微软雅黑" panose="020B0503020204020204" charset="-122"/>
                <a:sym typeface="+mn-ea"/>
              </a:rPr>
              <a:t>防火墙</a:t>
            </a:r>
            <a:endParaRPr lang="zh-CN" altLang="en-US" sz="1100" b="1" kern="0" dirty="0">
              <a:solidFill>
                <a:srgbClr val="FF0000"/>
              </a:solidFill>
              <a:latin typeface="微软雅黑" panose="020B0503020204020204" charset="-122"/>
              <a:ea typeface="微软雅黑" panose="020B0503020204020204" charset="-122"/>
              <a:sym typeface="+mn-ea"/>
            </a:endParaRPr>
          </a:p>
        </p:txBody>
      </p:sp>
      <p:sp>
        <p:nvSpPr>
          <p:cNvPr id="42" name="箭头: 下 47"/>
          <p:cNvSpPr/>
          <p:nvPr/>
        </p:nvSpPr>
        <p:spPr>
          <a:xfrm rot="10800000" flipV="1">
            <a:off x="2710368" y="983270"/>
            <a:ext cx="274855" cy="575068"/>
          </a:xfrm>
          <a:prstGeom prst="downArrow">
            <a:avLst>
              <a:gd name="adj1" fmla="val 50000"/>
              <a:gd name="adj2" fmla="val 52777"/>
            </a:avLst>
          </a:prstGeom>
          <a:gradFill>
            <a:gsLst>
              <a:gs pos="0">
                <a:srgbClr val="2855F0">
                  <a:alpha val="0"/>
                </a:srgbClr>
              </a:gs>
              <a:gs pos="100000">
                <a:srgbClr val="2855F0"/>
              </a:gs>
            </a:gsLst>
            <a:lin ang="5400000" scaled="1"/>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2" name="箭头: 下 47"/>
          <p:cNvSpPr/>
          <p:nvPr/>
        </p:nvSpPr>
        <p:spPr>
          <a:xfrm rot="10800000" flipV="1">
            <a:off x="6271391" y="1011602"/>
            <a:ext cx="274855" cy="575068"/>
          </a:xfrm>
          <a:prstGeom prst="downArrow">
            <a:avLst>
              <a:gd name="adj1" fmla="val 50000"/>
              <a:gd name="adj2" fmla="val 52777"/>
            </a:avLst>
          </a:prstGeom>
          <a:gradFill>
            <a:gsLst>
              <a:gs pos="0">
                <a:srgbClr val="2855F0">
                  <a:alpha val="0"/>
                </a:srgbClr>
              </a:gs>
              <a:gs pos="100000">
                <a:srgbClr val="2855F0"/>
              </a:gs>
            </a:gsLst>
            <a:lin ang="5400000" scaled="1"/>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244" name="文本框 243"/>
          <p:cNvSpPr txBox="1"/>
          <p:nvPr/>
        </p:nvSpPr>
        <p:spPr>
          <a:xfrm>
            <a:off x="6446358" y="1322651"/>
            <a:ext cx="872405" cy="253916"/>
          </a:xfrm>
          <a:prstGeom prst="rect">
            <a:avLst/>
          </a:prstGeom>
          <a:noFill/>
        </p:spPr>
        <p:txBody>
          <a:bodyPr wrap="square" rtlCol="0">
            <a:spAutoFit/>
          </a:bodyPr>
          <a:lstStyle/>
          <a:p>
            <a:r>
              <a:rPr lang="zh-CN" altLang="en-US" sz="1050" b="1" dirty="0">
                <a:solidFill>
                  <a:schemeClr val="accent1"/>
                </a:solidFill>
                <a:latin typeface="微软雅黑" panose="020B0503020204020204" charset="-122"/>
                <a:ea typeface="微软雅黑" panose="020B0503020204020204" charset="-122"/>
              </a:rPr>
              <a:t>专用通道</a:t>
            </a:r>
            <a:endParaRPr lang="zh-CN" altLang="en-US" sz="1050" b="1" dirty="0">
              <a:solidFill>
                <a:schemeClr val="accent1"/>
              </a:solidFill>
              <a:latin typeface="微软雅黑" panose="020B0503020204020204" charset="-122"/>
              <a:ea typeface="微软雅黑" panose="020B0503020204020204" charset="-122"/>
            </a:endParaRPr>
          </a:p>
        </p:txBody>
      </p:sp>
      <p:sp>
        <p:nvSpPr>
          <p:cNvPr id="55" name="文本框 54"/>
          <p:cNvSpPr txBox="1"/>
          <p:nvPr/>
        </p:nvSpPr>
        <p:spPr>
          <a:xfrm>
            <a:off x="11160264" y="845502"/>
            <a:ext cx="507831" cy="577081"/>
          </a:xfrm>
          <a:prstGeom prst="rect">
            <a:avLst/>
          </a:prstGeom>
          <a:noFill/>
        </p:spPr>
        <p:txBody>
          <a:bodyPr vert="horz" wrap="square">
            <a:spAutoFit/>
          </a:bodyPr>
          <a:lstStyle/>
          <a:p>
            <a:pPr algn="ctr"/>
            <a:r>
              <a:rPr lang="zh-CN" altLang="zh-CN" sz="1050" dirty="0">
                <a:latin typeface="微软雅黑" panose="020B0503020204020204" charset="-122"/>
                <a:ea typeface="微软雅黑" panose="020B0503020204020204" charset="-122"/>
              </a:rPr>
              <a:t>安全事件</a:t>
            </a:r>
            <a:endParaRPr lang="en-US" altLang="zh-CN" sz="1050" dirty="0">
              <a:latin typeface="微软雅黑" panose="020B0503020204020204" charset="-122"/>
              <a:ea typeface="微软雅黑" panose="020B0503020204020204" charset="-122"/>
            </a:endParaRPr>
          </a:p>
          <a:p>
            <a:pPr algn="ctr"/>
            <a:r>
              <a:rPr lang="zh-CN" altLang="zh-CN" sz="1050" dirty="0">
                <a:latin typeface="微软雅黑" panose="020B0503020204020204" charset="-122"/>
                <a:ea typeface="微软雅黑" panose="020B0503020204020204" charset="-122"/>
              </a:rPr>
              <a:t>响应</a:t>
            </a:r>
            <a:endParaRPr lang="zh-CN" altLang="zh-CN" sz="1050" dirty="0">
              <a:latin typeface="微软雅黑" panose="020B0503020204020204" charset="-122"/>
              <a:ea typeface="微软雅黑" panose="020B0503020204020204" charset="-122"/>
            </a:endParaRPr>
          </a:p>
        </p:txBody>
      </p:sp>
      <p:sp>
        <p:nvSpPr>
          <p:cNvPr id="56" name="文本框 55"/>
          <p:cNvSpPr txBox="1"/>
          <p:nvPr/>
        </p:nvSpPr>
        <p:spPr>
          <a:xfrm>
            <a:off x="11165021" y="5318449"/>
            <a:ext cx="507831" cy="577081"/>
          </a:xfrm>
          <a:prstGeom prst="rect">
            <a:avLst/>
          </a:prstGeom>
          <a:noFill/>
        </p:spPr>
        <p:txBody>
          <a:bodyPr vert="horz" wrap="square">
            <a:spAutoFit/>
          </a:bodyPr>
          <a:lstStyle/>
          <a:p>
            <a:pPr algn="ctr"/>
            <a:r>
              <a:rPr lang="zh-CN" altLang="en-US" sz="1050" dirty="0">
                <a:solidFill>
                  <a:schemeClr val="tx1"/>
                </a:solidFill>
                <a:latin typeface="微软雅黑" panose="020B0503020204020204" charset="-122"/>
                <a:ea typeface="微软雅黑" panose="020B0503020204020204" charset="-122"/>
                <a:sym typeface="+mn-ea"/>
              </a:rPr>
              <a:t>安全风险</a:t>
            </a:r>
            <a:endParaRPr lang="en-US" altLang="zh-CN" sz="1050" dirty="0">
              <a:solidFill>
                <a:schemeClr val="tx1"/>
              </a:solidFill>
              <a:latin typeface="微软雅黑" panose="020B0503020204020204" charset="-122"/>
              <a:ea typeface="微软雅黑" panose="020B0503020204020204" charset="-122"/>
              <a:sym typeface="+mn-ea"/>
            </a:endParaRPr>
          </a:p>
          <a:p>
            <a:pPr algn="ctr"/>
            <a:r>
              <a:rPr lang="zh-CN" altLang="en-US" sz="1050" dirty="0">
                <a:solidFill>
                  <a:schemeClr val="tx1"/>
                </a:solidFill>
                <a:latin typeface="微软雅黑" panose="020B0503020204020204" charset="-122"/>
                <a:ea typeface="微软雅黑" panose="020B0503020204020204" charset="-122"/>
                <a:sym typeface="+mn-ea"/>
              </a:rPr>
              <a:t>评估</a:t>
            </a:r>
            <a:endParaRPr lang="zh-CN" altLang="en-US" sz="1050" dirty="0">
              <a:solidFill>
                <a:schemeClr val="tx1"/>
              </a:solidFill>
              <a:latin typeface="微软雅黑" panose="020B0503020204020204" charset="-122"/>
              <a:ea typeface="微软雅黑" panose="020B0503020204020204" charset="-122"/>
              <a:sym typeface="+mn-ea"/>
            </a:endParaRPr>
          </a:p>
        </p:txBody>
      </p:sp>
      <p:sp>
        <p:nvSpPr>
          <p:cNvPr id="11" name="文本框 10"/>
          <p:cNvSpPr txBox="1"/>
          <p:nvPr/>
        </p:nvSpPr>
        <p:spPr>
          <a:xfrm>
            <a:off x="555251" y="235214"/>
            <a:ext cx="1527982" cy="369332"/>
          </a:xfrm>
          <a:prstGeom prst="rect">
            <a:avLst/>
          </a:prstGeom>
          <a:noFill/>
        </p:spPr>
        <p:txBody>
          <a:bodyPr wrap="none" rtlCol="0">
            <a:spAutoFit/>
          </a:bodyPr>
          <a:lstStyle>
            <a:defPPr>
              <a:defRPr lang="zh-CN"/>
            </a:defPPr>
            <a:lvl1pPr>
              <a:defRPr b="1">
                <a:solidFill>
                  <a:schemeClr val="accent1">
                    <a:lumMod val="75000"/>
                  </a:schemeClr>
                </a:solidFill>
                <a:latin typeface="微软雅黑" panose="020B0503020204020204" charset="-122"/>
                <a:ea typeface="微软雅黑" panose="020B0503020204020204" charset="-122"/>
              </a:defRPr>
            </a:lvl1pPr>
          </a:lstStyle>
          <a:p>
            <a:pPr algn="l"/>
            <a:r>
              <a:rPr lang="en-US" altLang="zh-CN" dirty="0">
                <a:sym typeface="+mn-ea"/>
              </a:rPr>
              <a:t>2.4</a:t>
            </a:r>
            <a:r>
              <a:rPr lang="zh-CN" altLang="en-US" dirty="0">
                <a:sym typeface="+mn-ea"/>
              </a:rPr>
              <a:t> 安全架构</a:t>
            </a:r>
            <a:endParaRPr lang="en-US" altLang="zh-CN" dirty="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custDataLst>
              <p:tags r:id="rId1"/>
            </p:custDataLst>
          </p:nvPr>
        </p:nvSpPr>
        <p:spPr>
          <a:xfrm>
            <a:off x="3862070" y="1756466"/>
            <a:ext cx="1374775" cy="3750310"/>
          </a:xfrm>
          <a:prstGeom prst="rect">
            <a:avLst/>
          </a:prstGeom>
          <a:pattFill prst="ltDnDiag">
            <a:fgClr>
              <a:srgbClr val="6096E6">
                <a:lumMod val="40000"/>
                <a:lumOff val="60000"/>
              </a:srgbClr>
            </a:fgClr>
            <a:bgClr>
              <a:sysClr val="window" lastClr="FFFFFF"/>
            </a:bgClr>
          </a:pattFill>
          <a:ln w="12700" cap="flat" cmpd="sng" algn="ctr">
            <a:noFill/>
            <a:prstDash val="solid"/>
            <a:miter lim="800000"/>
          </a:ln>
          <a:effectLst/>
        </p:spPr>
        <p:txBody>
          <a:bodyPr rtlCol="0" anchor="ctr"/>
          <a:lstStyle/>
          <a:p>
            <a:pPr marL="0" marR="0" lvl="0" indent="0" algn="ctr" defTabSz="914400" eaLnBrk="1" fontAlgn="auto" latinLnBrk="0" hangingPunct="1">
              <a:lnSpc>
                <a:spcPct val="120000"/>
              </a:lnSpc>
              <a:spcBef>
                <a:spcPts val="0"/>
              </a:spcBef>
              <a:spcAft>
                <a:spcPts val="0"/>
              </a:spcAft>
              <a:buClrTx/>
              <a:buSzTx/>
              <a:buFontTx/>
              <a:buNone/>
              <a:defRPr/>
            </a:pPr>
            <a:endParaRPr kumimoji="0" lang="zh-CN" altLang="en-US" sz="1400" b="1"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487" name="矩形 486"/>
          <p:cNvSpPr/>
          <p:nvPr>
            <p:custDataLst>
              <p:tags r:id="rId2"/>
            </p:custDataLst>
          </p:nvPr>
        </p:nvSpPr>
        <p:spPr>
          <a:xfrm>
            <a:off x="5334000" y="3128650"/>
            <a:ext cx="2874010" cy="1637843"/>
          </a:xfrm>
          <a:prstGeom prst="rect">
            <a:avLst/>
          </a:prstGeom>
          <a:gradFill flip="none" rotWithShape="1">
            <a:gsLst>
              <a:gs pos="5000">
                <a:schemeClr val="accent1">
                  <a:alpha val="0"/>
                  <a:lumMod val="98000"/>
                </a:schemeClr>
              </a:gs>
              <a:gs pos="100000">
                <a:schemeClr val="accent1">
                  <a:alpha val="10000"/>
                </a:schemeClr>
              </a:gs>
            </a:gsLst>
            <a:lin ang="10800000" scaled="1"/>
            <a:tileRect/>
          </a:gradFill>
          <a:ln w="11430">
            <a:gradFill flip="none" rotWithShape="1">
              <a:gsLst>
                <a:gs pos="0">
                  <a:schemeClr val="accent1">
                    <a:lumMod val="20000"/>
                    <a:lumOff val="80000"/>
                    <a:alpha val="0"/>
                  </a:schemeClr>
                </a:gs>
                <a:gs pos="100000">
                  <a:schemeClr val="accent1">
                    <a:lumMod val="60000"/>
                    <a:lumOff val="40000"/>
                  </a:schemeClr>
                </a:gs>
              </a:gsLst>
              <a:lin ang="0" scaled="1"/>
              <a:tileRect/>
            </a:gra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lt1"/>
              </a:solidFill>
              <a:latin typeface="微软雅黑" panose="020B0503020204020204" charset="-122"/>
              <a:ea typeface="微软雅黑" panose="020B0503020204020204" charset="-122"/>
            </a:endParaRPr>
          </a:p>
        </p:txBody>
      </p:sp>
      <p:sp>
        <p:nvSpPr>
          <p:cNvPr id="4" name="矩形 3"/>
          <p:cNvSpPr/>
          <p:nvPr>
            <p:custDataLst>
              <p:tags r:id="rId3"/>
            </p:custDataLst>
          </p:nvPr>
        </p:nvSpPr>
        <p:spPr>
          <a:xfrm>
            <a:off x="5334000" y="1973925"/>
            <a:ext cx="2874010" cy="1096150"/>
          </a:xfrm>
          <a:prstGeom prst="rect">
            <a:avLst/>
          </a:prstGeom>
          <a:gradFill flip="none" rotWithShape="1">
            <a:gsLst>
              <a:gs pos="5000">
                <a:schemeClr val="accent1">
                  <a:alpha val="0"/>
                  <a:lumMod val="98000"/>
                </a:schemeClr>
              </a:gs>
              <a:gs pos="100000">
                <a:schemeClr val="accent1">
                  <a:alpha val="10000"/>
                </a:schemeClr>
              </a:gs>
            </a:gsLst>
            <a:lin ang="10800000" scaled="1"/>
            <a:tileRect/>
          </a:gradFill>
          <a:ln w="11430">
            <a:gradFill flip="none" rotWithShape="1">
              <a:gsLst>
                <a:gs pos="0">
                  <a:schemeClr val="accent1">
                    <a:lumMod val="20000"/>
                    <a:lumOff val="80000"/>
                    <a:alpha val="0"/>
                  </a:schemeClr>
                </a:gs>
                <a:gs pos="100000">
                  <a:schemeClr val="accent1">
                    <a:lumMod val="60000"/>
                    <a:lumOff val="40000"/>
                  </a:schemeClr>
                </a:gs>
              </a:gsLst>
              <a:lin ang="0" scaled="1"/>
              <a:tileRect/>
            </a:gra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sp>
        <p:nvSpPr>
          <p:cNvPr id="406" name="文本框 405"/>
          <p:cNvSpPr txBox="1"/>
          <p:nvPr>
            <p:custDataLst>
              <p:tags r:id="rId4"/>
            </p:custDataLst>
          </p:nvPr>
        </p:nvSpPr>
        <p:spPr>
          <a:xfrm>
            <a:off x="5345430" y="1768190"/>
            <a:ext cx="2874010" cy="276999"/>
          </a:xfrm>
          <a:prstGeom prst="rect">
            <a:avLst/>
          </a:prstGeom>
          <a:solidFill>
            <a:srgbClr val="CCE5FF"/>
          </a:solidFill>
          <a:ln>
            <a:noFill/>
          </a:ln>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a:defRPr/>
            </a:pPr>
            <a:r>
              <a:rPr lang="zh-CN" altLang="en-US" sz="1200" b="1" kern="0" dirty="0">
                <a:latin typeface="微软雅黑" panose="020B0503020204020204" charset="-122"/>
                <a:ea typeface="微软雅黑" panose="020B0503020204020204" charset="-122"/>
                <a:sym typeface="+mn-ea"/>
              </a:rPr>
              <a:t>数据资源库</a:t>
            </a:r>
            <a:endParaRPr lang="zh-CN" altLang="en-US" sz="1200" b="1" kern="0" dirty="0">
              <a:latin typeface="微软雅黑" panose="020B0503020204020204" charset="-122"/>
              <a:ea typeface="微软雅黑" panose="020B0503020204020204" charset="-122"/>
              <a:sym typeface="+mn-ea"/>
            </a:endParaRPr>
          </a:p>
        </p:txBody>
      </p:sp>
      <p:grpSp>
        <p:nvGrpSpPr>
          <p:cNvPr id="399" name="组合 398"/>
          <p:cNvGrpSpPr/>
          <p:nvPr/>
        </p:nvGrpSpPr>
        <p:grpSpPr>
          <a:xfrm>
            <a:off x="276124" y="872159"/>
            <a:ext cx="1799590" cy="388937"/>
            <a:chOff x="1878013" y="1800225"/>
            <a:chExt cx="1074737" cy="388937"/>
          </a:xfrm>
        </p:grpSpPr>
        <p:sp>
          <p:nvSpPr>
            <p:cNvPr id="400" name="矩形 399"/>
            <p:cNvSpPr/>
            <p:nvPr/>
          </p:nvSpPr>
          <p:spPr>
            <a:xfrm>
              <a:off x="1878013" y="1800225"/>
              <a:ext cx="1074737" cy="388937"/>
            </a:xfrm>
            <a:prstGeom prst="rect">
              <a:avLst/>
            </a:prstGeom>
            <a:gradFill flip="none" rotWithShape="1">
              <a:gsLst>
                <a:gs pos="62000">
                  <a:srgbClr val="009DD9"/>
                </a:gs>
                <a:gs pos="0">
                  <a:srgbClr val="5AC0E7">
                    <a:alpha val="0"/>
                    <a:lumMod val="80000"/>
                    <a:lumOff val="20000"/>
                  </a:srgbClr>
                </a:gs>
              </a:gsLst>
              <a:path path="circle">
                <a:fillToRect l="100000" t="100000"/>
              </a:path>
              <a:tileRect r="-100000" b="-100000"/>
            </a:gradFill>
            <a:ln w="38100" cap="flat" cmpd="sng" algn="ctr">
              <a:noFill/>
              <a:prstDash val="solid"/>
              <a:miter lim="800000"/>
            </a:ln>
            <a:effectLst>
              <a:outerShdw blurRad="411480" dist="123444" dir="5400000" sx="108000" sy="108000" algn="ctr" rotWithShape="0">
                <a:srgbClr val="0F6FC6">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p:nvSpPr>
            <p:cNvPr id="401" name="文本框 400"/>
            <p:cNvSpPr txBox="1"/>
            <p:nvPr/>
          </p:nvSpPr>
          <p:spPr>
            <a:xfrm>
              <a:off x="1881304" y="1856998"/>
              <a:ext cx="800219"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    数据来源</a:t>
              </a:r>
              <a:endParaRPr kumimoji="0" lang="zh-CN" altLang="en-US" sz="12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grpSp>
      <p:sp>
        <p:nvSpPr>
          <p:cNvPr id="394" name="矩形 393"/>
          <p:cNvSpPr/>
          <p:nvPr/>
        </p:nvSpPr>
        <p:spPr>
          <a:xfrm flipV="1">
            <a:off x="412807" y="1401375"/>
            <a:ext cx="1427703" cy="4441834"/>
          </a:xfrm>
          <a:prstGeom prst="rect">
            <a:avLst/>
          </a:prstGeom>
          <a:gradFill>
            <a:gsLst>
              <a:gs pos="0">
                <a:srgbClr val="FFFFFF"/>
              </a:gs>
              <a:gs pos="100000">
                <a:srgbClr val="FFFFFF"/>
              </a:gs>
              <a:gs pos="46000">
                <a:srgbClr val="009DD9">
                  <a:lumMod val="4000"/>
                  <a:lumOff val="96000"/>
                </a:srgbClr>
              </a:gs>
            </a:gsLst>
            <a:path path="circle">
              <a:fillToRect r="100000" b="100000"/>
            </a:path>
          </a:gradFill>
          <a:ln w="11430" cap="flat" cmpd="sng" algn="ctr">
            <a:solidFill>
              <a:srgbClr val="FFFFFF">
                <a:lumMod val="75000"/>
              </a:srgbClr>
            </a:solidFill>
            <a:prstDash val="dash"/>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6" name="矩形 5"/>
          <p:cNvSpPr/>
          <p:nvPr>
            <p:custDataLst>
              <p:tags r:id="rId5"/>
            </p:custDataLst>
          </p:nvPr>
        </p:nvSpPr>
        <p:spPr>
          <a:xfrm>
            <a:off x="2372360" y="1756466"/>
            <a:ext cx="1389380" cy="3782060"/>
          </a:xfrm>
          <a:prstGeom prst="rect">
            <a:avLst/>
          </a:prstGeom>
          <a:pattFill prst="ltDnDiag">
            <a:fgClr>
              <a:srgbClr val="6096E6">
                <a:lumMod val="40000"/>
                <a:lumOff val="60000"/>
              </a:srgbClr>
            </a:fgClr>
            <a:bgClr>
              <a:sysClr val="window" lastClr="FFFFFF"/>
            </a:bgClr>
          </a:pattFill>
          <a:ln w="12700" cap="flat" cmpd="sng" algn="ctr">
            <a:noFill/>
            <a:prstDash val="solid"/>
            <a:miter lim="800000"/>
          </a:ln>
          <a:effectLst/>
        </p:spPr>
        <p:txBody>
          <a:bodyPr rtlCol="0" anchor="ctr"/>
          <a:lstStyle/>
          <a:p>
            <a:pPr marL="0" marR="0" lvl="0" indent="0" algn="ctr" defTabSz="914400" eaLnBrk="1" fontAlgn="auto" latinLnBrk="0" hangingPunct="1">
              <a:lnSpc>
                <a:spcPct val="120000"/>
              </a:lnSpc>
              <a:spcBef>
                <a:spcPts val="0"/>
              </a:spcBef>
              <a:spcAft>
                <a:spcPts val="0"/>
              </a:spcAft>
              <a:buClrTx/>
              <a:buSzTx/>
              <a:buFontTx/>
              <a:buNone/>
              <a:defRPr/>
            </a:pPr>
            <a:endParaRPr kumimoji="0" lang="zh-CN" altLang="en-US" sz="1400" b="1"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117" name="矩形 116"/>
          <p:cNvSpPr/>
          <p:nvPr>
            <p:custDataLst>
              <p:tags r:id="rId6"/>
            </p:custDataLst>
          </p:nvPr>
        </p:nvSpPr>
        <p:spPr>
          <a:xfrm>
            <a:off x="2491740" y="2066981"/>
            <a:ext cx="1123315" cy="1918335"/>
          </a:xfrm>
          <a:prstGeom prst="rect">
            <a:avLst/>
          </a:prstGeom>
          <a:solidFill>
            <a:srgbClr val="F2F2F2"/>
          </a:solidFill>
          <a:ln w="12700" cap="flat" cmpd="sng" algn="ctr">
            <a:noFill/>
            <a:prstDash val="solid"/>
            <a:miter lim="800000"/>
          </a:ln>
          <a:effectLst/>
        </p:spPr>
        <p:txBody>
          <a:bodyPr rtlCol="0" anchor="ctr" anchorCtr="0"/>
          <a:lstStyle/>
          <a:p>
            <a:pPr algn="ctr">
              <a:defRPr/>
            </a:pPr>
            <a:r>
              <a:rPr lang="zh-CN" altLang="en-US" sz="1000" b="1" dirty="0">
                <a:solidFill>
                  <a:srgbClr val="4472C4"/>
                </a:solidFill>
                <a:latin typeface="微软雅黑" panose="020B0503020204020204" charset="-122"/>
                <a:ea typeface="微软雅黑" panose="020B0503020204020204" charset="-122"/>
              </a:rPr>
              <a:t>数据结构</a:t>
            </a:r>
            <a:endParaRPr lang="zh-CN" altLang="en-US" sz="1000" b="1" dirty="0">
              <a:solidFill>
                <a:srgbClr val="4472C4"/>
              </a:solidFill>
              <a:latin typeface="微软雅黑" panose="020B0503020204020204" charset="-122"/>
              <a:ea typeface="微软雅黑" panose="020B0503020204020204" charset="-122"/>
            </a:endParaRPr>
          </a:p>
        </p:txBody>
      </p:sp>
      <p:sp>
        <p:nvSpPr>
          <p:cNvPr id="7" name="矩形 6"/>
          <p:cNvSpPr/>
          <p:nvPr>
            <p:custDataLst>
              <p:tags r:id="rId7"/>
            </p:custDataLst>
          </p:nvPr>
        </p:nvSpPr>
        <p:spPr>
          <a:xfrm>
            <a:off x="276225" y="877626"/>
            <a:ext cx="1799590" cy="5349240"/>
          </a:xfrm>
          <a:prstGeom prst="rect">
            <a:avLst/>
          </a:prstGeom>
          <a:noFill/>
          <a:ln w="12700" cap="flat" cmpd="sng" algn="ctr">
            <a:solidFill>
              <a:srgbClr val="50A0F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8" name="矩形 7"/>
          <p:cNvSpPr/>
          <p:nvPr>
            <p:custDataLst>
              <p:tags r:id="rId8"/>
            </p:custDataLst>
          </p:nvPr>
        </p:nvSpPr>
        <p:spPr>
          <a:xfrm>
            <a:off x="2251711" y="859211"/>
            <a:ext cx="7651268" cy="5367655"/>
          </a:xfrm>
          <a:prstGeom prst="rect">
            <a:avLst/>
          </a:prstGeom>
          <a:noFill/>
          <a:ln w="12700" cap="flat" cmpd="sng" algn="ctr">
            <a:solidFill>
              <a:srgbClr val="50A0F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12" name="文本框 11"/>
          <p:cNvSpPr txBox="1"/>
          <p:nvPr>
            <p:custDataLst>
              <p:tags r:id="rId9"/>
            </p:custDataLst>
          </p:nvPr>
        </p:nvSpPr>
        <p:spPr>
          <a:xfrm>
            <a:off x="533458" y="1508536"/>
            <a:ext cx="1097280" cy="307777"/>
          </a:xfrm>
          <a:prstGeom prst="rect">
            <a:avLst/>
          </a:prstGeom>
          <a:noFill/>
          <a:ln>
            <a:noFill/>
          </a:ln>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a:defRPr/>
            </a:pPr>
            <a:r>
              <a:rPr lang="zh-CN" altLang="en-US" sz="1400" b="1" kern="0" dirty="0">
                <a:latin typeface="微软雅黑" panose="020B0503020204020204" charset="-122"/>
                <a:ea typeface="微软雅黑" panose="020B0503020204020204" charset="-122"/>
                <a:sym typeface="+mn-ea"/>
              </a:rPr>
              <a:t>招采平台</a:t>
            </a:r>
            <a:endParaRPr lang="zh-CN" altLang="en-US" sz="1400" b="1" kern="0" dirty="0">
              <a:latin typeface="微软雅黑" panose="020B0503020204020204" charset="-122"/>
              <a:ea typeface="微软雅黑" panose="020B0503020204020204" charset="-122"/>
              <a:sym typeface="+mn-ea"/>
            </a:endParaRPr>
          </a:p>
        </p:txBody>
      </p:sp>
      <p:sp>
        <p:nvSpPr>
          <p:cNvPr id="20" name="矩形 19"/>
          <p:cNvSpPr/>
          <p:nvPr>
            <p:custDataLst>
              <p:tags r:id="rId10"/>
            </p:custDataLst>
          </p:nvPr>
        </p:nvSpPr>
        <p:spPr>
          <a:xfrm>
            <a:off x="2322195" y="1258626"/>
            <a:ext cx="7479030" cy="466090"/>
          </a:xfrm>
          <a:prstGeom prst="rect">
            <a:avLst/>
          </a:prstGeom>
          <a:solidFill>
            <a:schemeClr val="accent5">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28" name="矩形 27"/>
          <p:cNvSpPr/>
          <p:nvPr>
            <p:custDataLst>
              <p:tags r:id="rId11"/>
            </p:custDataLst>
          </p:nvPr>
        </p:nvSpPr>
        <p:spPr>
          <a:xfrm>
            <a:off x="8402228" y="1751183"/>
            <a:ext cx="1389380" cy="3778125"/>
          </a:xfrm>
          <a:prstGeom prst="rect">
            <a:avLst/>
          </a:prstGeom>
          <a:pattFill prst="ltDnDiag">
            <a:fgClr>
              <a:srgbClr val="6096E6">
                <a:lumMod val="40000"/>
                <a:lumOff val="60000"/>
              </a:srgbClr>
            </a:fgClr>
            <a:bgClr>
              <a:sysClr val="window" lastClr="FFFFFF"/>
            </a:bgClr>
          </a:pattFill>
          <a:ln w="12700" cap="flat" cmpd="sng" algn="ctr">
            <a:noFill/>
            <a:prstDash val="solid"/>
            <a:miter lim="800000"/>
          </a:ln>
          <a:effectLst/>
        </p:spPr>
        <p:txBody>
          <a:bodyPr rtlCol="0" anchor="ctr"/>
          <a:lstStyle/>
          <a:p>
            <a:pPr marL="0" marR="0" lvl="0" indent="0" algn="ctr" defTabSz="914400" eaLnBrk="1" fontAlgn="auto" latinLnBrk="0" hangingPunct="1">
              <a:lnSpc>
                <a:spcPct val="120000"/>
              </a:lnSpc>
              <a:spcBef>
                <a:spcPts val="0"/>
              </a:spcBef>
              <a:spcAft>
                <a:spcPts val="0"/>
              </a:spcAft>
              <a:buClrTx/>
              <a:buSzTx/>
              <a:buFontTx/>
              <a:buNone/>
              <a:defRPr/>
            </a:pPr>
            <a:endParaRPr kumimoji="0" lang="zh-CN" altLang="en-US" sz="1400" b="1"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29" name="文本框 28"/>
          <p:cNvSpPr txBox="1"/>
          <p:nvPr>
            <p:custDataLst>
              <p:tags r:id="rId12"/>
            </p:custDataLst>
          </p:nvPr>
        </p:nvSpPr>
        <p:spPr>
          <a:xfrm>
            <a:off x="2372995" y="1767896"/>
            <a:ext cx="1388110" cy="276999"/>
          </a:xfrm>
          <a:prstGeom prst="rect">
            <a:avLst/>
          </a:prstGeom>
          <a:solidFill>
            <a:srgbClr val="CCE5FF"/>
          </a:solidFill>
          <a:ln>
            <a:noFill/>
          </a:ln>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a:defRPr/>
            </a:pPr>
            <a:r>
              <a:rPr lang="zh-CN" altLang="en-US" sz="1200" b="1" kern="0" dirty="0">
                <a:latin typeface="微软雅黑" panose="020B0503020204020204" charset="-122"/>
                <a:ea typeface="微软雅黑" panose="020B0503020204020204" charset="-122"/>
                <a:sym typeface="+mn-ea"/>
              </a:rPr>
              <a:t>数据交换平台</a:t>
            </a:r>
            <a:endParaRPr lang="zh-CN" altLang="en-US" sz="1200" b="1" kern="0" dirty="0">
              <a:latin typeface="微软雅黑" panose="020B0503020204020204" charset="-122"/>
              <a:ea typeface="微软雅黑" panose="020B0503020204020204" charset="-122"/>
              <a:sym typeface="+mn-ea"/>
            </a:endParaRPr>
          </a:p>
        </p:txBody>
      </p:sp>
      <p:sp>
        <p:nvSpPr>
          <p:cNvPr id="54" name="文本框 53"/>
          <p:cNvSpPr txBox="1"/>
          <p:nvPr>
            <p:custDataLst>
              <p:tags r:id="rId13"/>
            </p:custDataLst>
          </p:nvPr>
        </p:nvSpPr>
        <p:spPr>
          <a:xfrm>
            <a:off x="3858895" y="1767896"/>
            <a:ext cx="1377315" cy="276999"/>
          </a:xfrm>
          <a:prstGeom prst="rect">
            <a:avLst/>
          </a:prstGeom>
          <a:solidFill>
            <a:srgbClr val="CCE5FF"/>
          </a:solidFill>
          <a:ln>
            <a:noFill/>
          </a:ln>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a:defRPr/>
            </a:pPr>
            <a:r>
              <a:rPr lang="zh-CN" altLang="en-US" sz="1200" b="1" kern="0" dirty="0">
                <a:latin typeface="微软雅黑" panose="020B0503020204020204" charset="-122"/>
                <a:ea typeface="微软雅黑" panose="020B0503020204020204" charset="-122"/>
                <a:sym typeface="+mn-ea"/>
              </a:rPr>
              <a:t>数据治理平台</a:t>
            </a:r>
            <a:endParaRPr lang="zh-CN" altLang="en-US" sz="1200" b="1" kern="0" dirty="0">
              <a:latin typeface="微软雅黑" panose="020B0503020204020204" charset="-122"/>
              <a:ea typeface="微软雅黑" panose="020B0503020204020204" charset="-122"/>
              <a:sym typeface="+mn-ea"/>
            </a:endParaRPr>
          </a:p>
        </p:txBody>
      </p:sp>
      <p:sp>
        <p:nvSpPr>
          <p:cNvPr id="68" name="文本框 67"/>
          <p:cNvSpPr txBox="1"/>
          <p:nvPr>
            <p:custDataLst>
              <p:tags r:id="rId14"/>
            </p:custDataLst>
          </p:nvPr>
        </p:nvSpPr>
        <p:spPr>
          <a:xfrm>
            <a:off x="6101080" y="3107540"/>
            <a:ext cx="1374140" cy="246221"/>
          </a:xfrm>
          <a:prstGeom prst="rect">
            <a:avLst/>
          </a:prstGeom>
          <a:noFill/>
          <a:ln>
            <a:noFill/>
          </a:ln>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000" b="1" dirty="0">
                <a:solidFill>
                  <a:srgbClr val="0F6FC6"/>
                </a:solidFill>
                <a:latin typeface="微软雅黑" panose="020B0503020204020204" charset="-122"/>
                <a:ea typeface="微软雅黑" panose="020B0503020204020204" charset="-122"/>
                <a:cs typeface="+mn-cs"/>
                <a:sym typeface="+mn-ea"/>
              </a:rPr>
              <a:t>主题库</a:t>
            </a:r>
            <a:endParaRPr lang="zh-CN" altLang="en-US" sz="1000" b="1" dirty="0">
              <a:solidFill>
                <a:srgbClr val="0F6FC6"/>
              </a:solidFill>
              <a:latin typeface="微软雅黑" panose="020B0503020204020204" charset="-122"/>
              <a:ea typeface="微软雅黑" panose="020B0503020204020204" charset="-122"/>
              <a:cs typeface="+mn-cs"/>
              <a:sym typeface="+mn-ea"/>
            </a:endParaRPr>
          </a:p>
        </p:txBody>
      </p:sp>
      <p:sp>
        <p:nvSpPr>
          <p:cNvPr id="80" name="文本框 79"/>
          <p:cNvSpPr txBox="1"/>
          <p:nvPr>
            <p:custDataLst>
              <p:tags r:id="rId15"/>
            </p:custDataLst>
          </p:nvPr>
        </p:nvSpPr>
        <p:spPr>
          <a:xfrm>
            <a:off x="8431433" y="1789283"/>
            <a:ext cx="1374140" cy="276999"/>
          </a:xfrm>
          <a:prstGeom prst="rect">
            <a:avLst/>
          </a:prstGeom>
          <a:solidFill>
            <a:srgbClr val="CCE5FF"/>
          </a:solidFill>
          <a:ln>
            <a:noFill/>
          </a:ln>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a:defRPr/>
            </a:pPr>
            <a:r>
              <a:rPr lang="zh-CN" altLang="en-US" sz="1200" b="1" kern="0" dirty="0">
                <a:latin typeface="微软雅黑" panose="020B0503020204020204" charset="-122"/>
                <a:ea typeface="微软雅黑" panose="020B0503020204020204" charset="-122"/>
                <a:sym typeface="+mn-ea"/>
              </a:rPr>
              <a:t>数据服务平台</a:t>
            </a:r>
            <a:endParaRPr lang="zh-CN" altLang="en-US" sz="1200" b="1" kern="0" dirty="0">
              <a:latin typeface="微软雅黑" panose="020B0503020204020204" charset="-122"/>
              <a:ea typeface="微软雅黑" panose="020B0503020204020204" charset="-122"/>
              <a:sym typeface="+mn-ea"/>
            </a:endParaRPr>
          </a:p>
        </p:txBody>
      </p:sp>
      <p:sp>
        <p:nvSpPr>
          <p:cNvPr id="81" name="文本框 80"/>
          <p:cNvSpPr txBox="1"/>
          <p:nvPr>
            <p:custDataLst>
              <p:tags r:id="rId16"/>
            </p:custDataLst>
          </p:nvPr>
        </p:nvSpPr>
        <p:spPr>
          <a:xfrm>
            <a:off x="8608243" y="2174843"/>
            <a:ext cx="916370" cy="246221"/>
          </a:xfrm>
          <a:prstGeom prst="rect">
            <a:avLst/>
          </a:prstGeom>
          <a:solidFill>
            <a:sysClr val="window" lastClr="FFFFFF"/>
          </a:solidFill>
          <a:ln>
            <a:solidFill>
              <a:srgbClr val="00B0F0"/>
            </a:solidFill>
          </a:ln>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sym typeface="+mn-ea"/>
              </a:rPr>
              <a:t>多维分析</a:t>
            </a:r>
            <a:endPar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82" name="文本框 81"/>
          <p:cNvSpPr txBox="1"/>
          <p:nvPr>
            <p:custDataLst>
              <p:tags r:id="rId17"/>
            </p:custDataLst>
          </p:nvPr>
        </p:nvSpPr>
        <p:spPr>
          <a:xfrm>
            <a:off x="8608243" y="2882233"/>
            <a:ext cx="916370" cy="246221"/>
          </a:xfrm>
          <a:prstGeom prst="rect">
            <a:avLst/>
          </a:prstGeom>
          <a:solidFill>
            <a:sysClr val="window" lastClr="FFFFFF"/>
          </a:solidFill>
          <a:ln>
            <a:solidFill>
              <a:srgbClr val="00B0F0"/>
            </a:solidFill>
          </a:ln>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sym typeface="+mn-ea"/>
              </a:rPr>
              <a:t>指标规范</a:t>
            </a:r>
            <a:endPar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84" name="文本框 83"/>
          <p:cNvSpPr txBox="1"/>
          <p:nvPr>
            <p:custDataLst>
              <p:tags r:id="rId18"/>
            </p:custDataLst>
          </p:nvPr>
        </p:nvSpPr>
        <p:spPr>
          <a:xfrm>
            <a:off x="8608243" y="3589623"/>
            <a:ext cx="916370" cy="246221"/>
          </a:xfrm>
          <a:prstGeom prst="rect">
            <a:avLst/>
          </a:prstGeom>
          <a:solidFill>
            <a:sysClr val="window" lastClr="FFFFFF"/>
          </a:solidFill>
          <a:ln>
            <a:solidFill>
              <a:srgbClr val="00B0F0"/>
            </a:solidFill>
          </a:ln>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sym typeface="+mn-ea"/>
              </a:rPr>
              <a:t>数据开发</a:t>
            </a:r>
            <a:endPar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85" name="文本框 84"/>
          <p:cNvSpPr txBox="1"/>
          <p:nvPr>
            <p:custDataLst>
              <p:tags r:id="rId19"/>
            </p:custDataLst>
          </p:nvPr>
        </p:nvSpPr>
        <p:spPr>
          <a:xfrm>
            <a:off x="8608243" y="4297013"/>
            <a:ext cx="916370" cy="246221"/>
          </a:xfrm>
          <a:prstGeom prst="rect">
            <a:avLst/>
          </a:prstGeom>
          <a:solidFill>
            <a:sysClr val="window" lastClr="FFFFFF"/>
          </a:solidFill>
          <a:ln>
            <a:solidFill>
              <a:srgbClr val="00B0F0"/>
            </a:solidFill>
          </a:ln>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sym typeface="+mn-ea"/>
              </a:rPr>
              <a:t>数据体系</a:t>
            </a:r>
            <a:endPar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sym typeface="+mn-ea"/>
            </a:endParaRPr>
          </a:p>
        </p:txBody>
      </p:sp>
      <p:grpSp>
        <p:nvGrpSpPr>
          <p:cNvPr id="102" name="组合 101"/>
          <p:cNvGrpSpPr/>
          <p:nvPr/>
        </p:nvGrpSpPr>
        <p:grpSpPr>
          <a:xfrm>
            <a:off x="272848" y="929114"/>
            <a:ext cx="279400" cy="276860"/>
            <a:chOff x="12833" y="306"/>
            <a:chExt cx="440" cy="436"/>
          </a:xfrm>
        </p:grpSpPr>
        <p:sp>
          <p:nvSpPr>
            <p:cNvPr id="103" name="椭圆 102"/>
            <p:cNvSpPr/>
            <p:nvPr>
              <p:custDataLst>
                <p:tags r:id="rId20"/>
              </p:custDataLst>
            </p:nvPr>
          </p:nvSpPr>
          <p:spPr>
            <a:xfrm>
              <a:off x="12878" y="343"/>
              <a:ext cx="352" cy="352"/>
            </a:xfrm>
            <a:prstGeom prst="ellipse">
              <a:avLst/>
            </a:prstGeom>
            <a:solidFill>
              <a:srgbClr val="5AC0E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104" name="文本框 103"/>
            <p:cNvSpPr txBox="1"/>
            <p:nvPr>
              <p:custDataLst>
                <p:tags r:id="rId21"/>
              </p:custDataLst>
            </p:nvPr>
          </p:nvSpPr>
          <p:spPr>
            <a:xfrm>
              <a:off x="12833" y="306"/>
              <a:ext cx="440" cy="436"/>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rPr>
                <a:t>1</a:t>
              </a:r>
              <a:endParaRPr kumimoji="0" lang="en-US" altLang="zh-CN" sz="12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grpSp>
      <p:sp>
        <p:nvSpPr>
          <p:cNvPr id="49" name="矩形 48"/>
          <p:cNvSpPr/>
          <p:nvPr>
            <p:custDataLst>
              <p:tags r:id="rId22"/>
            </p:custDataLst>
          </p:nvPr>
        </p:nvSpPr>
        <p:spPr>
          <a:xfrm>
            <a:off x="5334000" y="5337440"/>
            <a:ext cx="2885440" cy="236964"/>
          </a:xfrm>
          <a:prstGeom prst="rect">
            <a:avLst/>
          </a:prstGeom>
          <a:solidFill>
            <a:schemeClr val="accent5">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20000"/>
              </a:lnSpc>
              <a:spcBef>
                <a:spcPts val="0"/>
              </a:spcBef>
              <a:spcAft>
                <a:spcPts val="0"/>
              </a:spcAft>
              <a:buClrTx/>
              <a:buSzTx/>
              <a:buFontTx/>
              <a:buNone/>
              <a:defRPr/>
            </a:pPr>
            <a:endParaRPr kumimoji="0" lang="zh-CN" altLang="en-US" sz="1400" b="1"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78" name="文本框 77"/>
          <p:cNvSpPr txBox="1"/>
          <p:nvPr>
            <p:custDataLst>
              <p:tags r:id="rId23"/>
            </p:custDataLst>
          </p:nvPr>
        </p:nvSpPr>
        <p:spPr>
          <a:xfrm>
            <a:off x="6061710" y="5300551"/>
            <a:ext cx="1374140" cy="307777"/>
          </a:xfrm>
          <a:prstGeom prst="rect">
            <a:avLst/>
          </a:prstGeom>
          <a:noFill/>
          <a:ln>
            <a:noFill/>
          </a:ln>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a:defRPr/>
            </a:pPr>
            <a:r>
              <a:rPr lang="zh-CN" altLang="en-US" sz="1400" b="1" kern="0" dirty="0">
                <a:latin typeface="微软雅黑" panose="020B0503020204020204" charset="-122"/>
                <a:ea typeface="微软雅黑" panose="020B0503020204020204" charset="-122"/>
                <a:sym typeface="+mn-ea"/>
              </a:rPr>
              <a:t>贴源层</a:t>
            </a:r>
            <a:endParaRPr lang="zh-CN" altLang="en-US" sz="1400" b="1" kern="0" dirty="0">
              <a:latin typeface="微软雅黑" panose="020B0503020204020204" charset="-122"/>
              <a:ea typeface="微软雅黑" panose="020B0503020204020204" charset="-122"/>
              <a:sym typeface="+mn-ea"/>
            </a:endParaRPr>
          </a:p>
        </p:txBody>
      </p:sp>
      <p:sp>
        <p:nvSpPr>
          <p:cNvPr id="179" name="矩形 178"/>
          <p:cNvSpPr/>
          <p:nvPr>
            <p:custDataLst>
              <p:tags r:id="rId24"/>
            </p:custDataLst>
          </p:nvPr>
        </p:nvSpPr>
        <p:spPr>
          <a:xfrm>
            <a:off x="5334000" y="4984512"/>
            <a:ext cx="2885440" cy="236964"/>
          </a:xfrm>
          <a:prstGeom prst="rect">
            <a:avLst/>
          </a:prstGeom>
          <a:solidFill>
            <a:schemeClr val="accent5">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20000"/>
              </a:lnSpc>
              <a:spcBef>
                <a:spcPts val="0"/>
              </a:spcBef>
              <a:spcAft>
                <a:spcPts val="0"/>
              </a:spcAft>
              <a:buClrTx/>
              <a:buSzTx/>
              <a:buFontTx/>
              <a:buNone/>
              <a:defRPr/>
            </a:pPr>
            <a:endParaRPr kumimoji="0" lang="zh-CN" altLang="en-US" sz="1400" b="1"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180" name="文本框 179"/>
          <p:cNvSpPr txBox="1"/>
          <p:nvPr>
            <p:custDataLst>
              <p:tags r:id="rId25"/>
            </p:custDataLst>
          </p:nvPr>
        </p:nvSpPr>
        <p:spPr>
          <a:xfrm>
            <a:off x="6061710" y="4937437"/>
            <a:ext cx="1374140" cy="307777"/>
          </a:xfrm>
          <a:prstGeom prst="rect">
            <a:avLst/>
          </a:prstGeom>
          <a:noFill/>
          <a:ln>
            <a:noFill/>
          </a:ln>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a:defRPr/>
            </a:pPr>
            <a:r>
              <a:rPr lang="zh-CN" altLang="en-US" sz="1400" b="1" kern="0" dirty="0">
                <a:latin typeface="微软雅黑" panose="020B0503020204020204" charset="-122"/>
                <a:ea typeface="微软雅黑" panose="020B0503020204020204" charset="-122"/>
                <a:sym typeface="+mn-ea"/>
              </a:rPr>
              <a:t>标准层</a:t>
            </a:r>
            <a:endParaRPr lang="zh-CN" altLang="en-US" sz="1400" b="1" kern="0" dirty="0">
              <a:latin typeface="微软雅黑" panose="020B0503020204020204" charset="-122"/>
              <a:ea typeface="微软雅黑" panose="020B0503020204020204" charset="-122"/>
              <a:sym typeface="+mn-ea"/>
            </a:endParaRPr>
          </a:p>
        </p:txBody>
      </p:sp>
      <p:sp>
        <p:nvSpPr>
          <p:cNvPr id="75" name="文本框 74"/>
          <p:cNvSpPr txBox="1"/>
          <p:nvPr>
            <p:custDataLst>
              <p:tags r:id="rId26"/>
            </p:custDataLst>
          </p:nvPr>
        </p:nvSpPr>
        <p:spPr>
          <a:xfrm>
            <a:off x="8645374" y="5004403"/>
            <a:ext cx="880444" cy="246221"/>
          </a:xfrm>
          <a:prstGeom prst="rect">
            <a:avLst/>
          </a:prstGeom>
          <a:solidFill>
            <a:sysClr val="window" lastClr="FFFFFF"/>
          </a:solidFill>
          <a:ln>
            <a:solidFill>
              <a:srgbClr val="00B0F0"/>
            </a:solidFill>
          </a:ln>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000" kern="0" dirty="0">
                <a:solidFill>
                  <a:prstClr val="black"/>
                </a:solidFill>
                <a:latin typeface="微软雅黑" panose="020B0503020204020204" charset="-122"/>
                <a:ea typeface="微软雅黑" panose="020B0503020204020204" charset="-122"/>
                <a:sym typeface="+mn-ea"/>
              </a:rPr>
              <a:t>数据共享</a:t>
            </a:r>
            <a:endPar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17" name="矩形 16"/>
          <p:cNvSpPr/>
          <p:nvPr>
            <p:custDataLst>
              <p:tags r:id="rId27"/>
            </p:custDataLst>
          </p:nvPr>
        </p:nvSpPr>
        <p:spPr>
          <a:xfrm>
            <a:off x="2366010" y="859846"/>
            <a:ext cx="7353300" cy="294005"/>
          </a:xfrm>
          <a:prstGeom prst="rect">
            <a:avLst/>
          </a:prstGeom>
          <a:noFill/>
          <a:ln w="15875" cap="flat" cmpd="sng" algn="ctr">
            <a:noFill/>
            <a:prstDash val="solid"/>
            <a:miter lim="800000"/>
          </a:ln>
          <a:effectLst/>
        </p:spPr>
        <p:txBody>
          <a:bodyPr rtlCol="0" anchor="t"/>
          <a:lstStyle/>
          <a:p>
            <a:pPr algn="ctr">
              <a:defRPr/>
            </a:pPr>
            <a:r>
              <a:rPr lang="en-US" altLang="zh-CN" sz="1600" b="1" kern="0" spc="500" dirty="0">
                <a:solidFill>
                  <a:srgbClr val="4472C4"/>
                </a:solidFill>
                <a:uFillTx/>
                <a:latin typeface="微软雅黑" panose="020B0503020204020204" charset="-122"/>
                <a:ea typeface="微软雅黑" panose="020B0503020204020204" charset="-122"/>
                <a:cs typeface="+mn-ea"/>
                <a:sym typeface="+mn-lt"/>
              </a:rPr>
              <a:t>****</a:t>
            </a:r>
            <a:r>
              <a:rPr lang="zh-CN" altLang="en-US" sz="1600" b="1" kern="0" spc="500" dirty="0">
                <a:solidFill>
                  <a:srgbClr val="4472C4"/>
                </a:solidFill>
                <a:uFillTx/>
                <a:latin typeface="微软雅黑" panose="020B0503020204020204" charset="-122"/>
                <a:ea typeface="微软雅黑" panose="020B0503020204020204" charset="-122"/>
                <a:cs typeface="+mn-ea"/>
                <a:sym typeface="+mn-lt"/>
              </a:rPr>
              <a:t>项目数据中台</a:t>
            </a:r>
            <a:endParaRPr lang="zh-CN" altLang="en-US" sz="1600" b="1" kern="0" spc="500" dirty="0">
              <a:solidFill>
                <a:srgbClr val="4472C4"/>
              </a:solidFill>
              <a:uFillTx/>
              <a:latin typeface="微软雅黑" panose="020B0503020204020204" charset="-122"/>
              <a:ea typeface="微软雅黑" panose="020B0503020204020204" charset="-122"/>
              <a:cs typeface="+mn-ea"/>
              <a:sym typeface="+mn-lt"/>
            </a:endParaRPr>
          </a:p>
        </p:txBody>
      </p:sp>
      <p:sp>
        <p:nvSpPr>
          <p:cNvPr id="5" name="矩形 4"/>
          <p:cNvSpPr/>
          <p:nvPr>
            <p:custDataLst>
              <p:tags r:id="rId28"/>
            </p:custDataLst>
          </p:nvPr>
        </p:nvSpPr>
        <p:spPr>
          <a:xfrm>
            <a:off x="2364740" y="5665006"/>
            <a:ext cx="7436485" cy="544079"/>
          </a:xfrm>
          <a:prstGeom prst="rect">
            <a:avLst/>
          </a:prstGeom>
          <a:solidFill>
            <a:srgbClr val="F2F2F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98" name="文本框 97"/>
          <p:cNvSpPr txBox="1"/>
          <p:nvPr>
            <p:custDataLst>
              <p:tags r:id="rId29"/>
            </p:custDataLst>
          </p:nvPr>
        </p:nvSpPr>
        <p:spPr>
          <a:xfrm>
            <a:off x="2218690" y="5494711"/>
            <a:ext cx="1604645" cy="306705"/>
          </a:xfrm>
          <a:prstGeom prst="rect">
            <a:avLst/>
          </a:prstGeom>
          <a:noFill/>
          <a:ln>
            <a:noFill/>
          </a:ln>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a:defRPr/>
            </a:pPr>
            <a:r>
              <a:rPr lang="zh-CN" altLang="en-US" sz="1400" b="1" kern="0" dirty="0">
                <a:latin typeface="微软雅黑" panose="020B0503020204020204" charset="-122"/>
                <a:ea typeface="微软雅黑" panose="020B0503020204020204" charset="-122"/>
                <a:sym typeface="+mn-lt"/>
              </a:rPr>
              <a:t>数据存储与计算</a:t>
            </a:r>
            <a:endParaRPr lang="zh-CN" altLang="en-US" sz="1400" b="1" kern="0" dirty="0">
              <a:latin typeface="微软雅黑" panose="020B0503020204020204" charset="-122"/>
              <a:ea typeface="微软雅黑" panose="020B0503020204020204" charset="-122"/>
              <a:sym typeface="+mn-lt"/>
            </a:endParaRPr>
          </a:p>
        </p:txBody>
      </p:sp>
      <p:sp>
        <p:nvSpPr>
          <p:cNvPr id="118" name="矩形 117"/>
          <p:cNvSpPr/>
          <p:nvPr>
            <p:custDataLst>
              <p:tags r:id="rId30"/>
            </p:custDataLst>
          </p:nvPr>
        </p:nvSpPr>
        <p:spPr>
          <a:xfrm>
            <a:off x="2491740" y="4177086"/>
            <a:ext cx="1123315" cy="1214120"/>
          </a:xfrm>
          <a:prstGeom prst="rect">
            <a:avLst/>
          </a:prstGeom>
          <a:solidFill>
            <a:srgbClr val="F2F2F2"/>
          </a:solidFill>
          <a:ln w="12700" cap="flat" cmpd="sng" algn="ctr">
            <a:noFill/>
            <a:prstDash val="solid"/>
            <a:miter lim="800000"/>
          </a:ln>
          <a:effectLst/>
        </p:spPr>
        <p:txBody>
          <a:bodyPr rtlCol="0" anchor="t" anchorCtr="0"/>
          <a:lstStyle/>
          <a:p>
            <a:pPr marR="0" lvl="0" indent="0" algn="ctr" fontAlgn="auto">
              <a:lnSpc>
                <a:spcPct val="100000"/>
              </a:lnSpc>
              <a:spcBef>
                <a:spcPts val="0"/>
              </a:spcBef>
              <a:spcAft>
                <a:spcPts val="0"/>
              </a:spcAft>
              <a:buClrTx/>
              <a:buSzTx/>
              <a:buFontTx/>
              <a:buNone/>
              <a:defRPr/>
            </a:pPr>
            <a:r>
              <a:rPr lang="zh-CN" altLang="en-US" sz="1000" b="1" dirty="0">
                <a:solidFill>
                  <a:srgbClr val="4472C4"/>
                </a:solidFill>
                <a:latin typeface="微软雅黑" panose="020B0503020204020204" charset="-122"/>
                <a:ea typeface="微软雅黑" panose="020B0503020204020204" charset="-122"/>
              </a:rPr>
              <a:t>数据同步</a:t>
            </a:r>
            <a:endParaRPr lang="zh-CN" altLang="en-US" sz="1000" b="1" dirty="0">
              <a:solidFill>
                <a:srgbClr val="4472C4"/>
              </a:solidFill>
              <a:latin typeface="微软雅黑" panose="020B0503020204020204" charset="-122"/>
              <a:ea typeface="微软雅黑" panose="020B0503020204020204" charset="-122"/>
            </a:endParaRPr>
          </a:p>
        </p:txBody>
      </p:sp>
      <p:sp>
        <p:nvSpPr>
          <p:cNvPr id="157" name="文本框 156"/>
          <p:cNvSpPr txBox="1"/>
          <p:nvPr/>
        </p:nvSpPr>
        <p:spPr>
          <a:xfrm>
            <a:off x="283903" y="494830"/>
            <a:ext cx="800219" cy="276999"/>
          </a:xfrm>
          <a:prstGeom prst="rect">
            <a:avLst/>
          </a:prstGeom>
          <a:noFill/>
        </p:spPr>
        <p:txBody>
          <a:bodyPr wrap="none" rtlCol="0">
            <a:spAutoFit/>
          </a:bodyPr>
          <a:lstStyle/>
          <a:p>
            <a:r>
              <a:rPr lang="zh-CN" altLang="en-US" sz="1200" dirty="0">
                <a:solidFill>
                  <a:srgbClr val="009DD9"/>
                </a:solidFill>
                <a:latin typeface="微软雅黑" panose="020B0503020204020204" charset="-122"/>
                <a:ea typeface="微软雅黑" panose="020B0503020204020204" charset="-122"/>
              </a:rPr>
              <a:t>内部平台</a:t>
            </a:r>
            <a:endParaRPr lang="zh-CN" altLang="en-US" sz="1200" dirty="0">
              <a:solidFill>
                <a:srgbClr val="009DD9"/>
              </a:solidFill>
              <a:latin typeface="微软雅黑" panose="020B0503020204020204" charset="-122"/>
              <a:ea typeface="微软雅黑" panose="020B0503020204020204" charset="-122"/>
            </a:endParaRPr>
          </a:p>
        </p:txBody>
      </p:sp>
      <p:sp>
        <p:nvSpPr>
          <p:cNvPr id="158" name="文本框 157"/>
          <p:cNvSpPr txBox="1"/>
          <p:nvPr/>
        </p:nvSpPr>
        <p:spPr>
          <a:xfrm>
            <a:off x="2336511" y="494830"/>
            <a:ext cx="1107996" cy="276999"/>
          </a:xfrm>
          <a:prstGeom prst="rect">
            <a:avLst/>
          </a:prstGeom>
          <a:noFill/>
        </p:spPr>
        <p:txBody>
          <a:bodyPr wrap="none" rtlCol="0">
            <a:spAutoFit/>
          </a:bodyPr>
          <a:lstStyle/>
          <a:p>
            <a:r>
              <a:rPr lang="zh-CN" altLang="en-US" sz="1200" dirty="0">
                <a:solidFill>
                  <a:srgbClr val="0F6FC6"/>
                </a:solidFill>
                <a:latin typeface="微软雅黑" panose="020B0503020204020204" charset="-122"/>
                <a:ea typeface="微软雅黑" panose="020B0503020204020204" charset="-122"/>
              </a:rPr>
              <a:t>数据中台架构</a:t>
            </a:r>
            <a:endParaRPr lang="zh-CN" altLang="en-US" sz="1200" dirty="0">
              <a:solidFill>
                <a:srgbClr val="0F6FC6"/>
              </a:solidFill>
              <a:latin typeface="微软雅黑" panose="020B0503020204020204" charset="-122"/>
              <a:ea typeface="微软雅黑" panose="020B0503020204020204" charset="-122"/>
            </a:endParaRPr>
          </a:p>
        </p:txBody>
      </p:sp>
      <p:sp>
        <p:nvSpPr>
          <p:cNvPr id="163" name="文本框 162"/>
          <p:cNvSpPr txBox="1"/>
          <p:nvPr/>
        </p:nvSpPr>
        <p:spPr>
          <a:xfrm>
            <a:off x="10210508" y="494830"/>
            <a:ext cx="800219" cy="276999"/>
          </a:xfrm>
          <a:prstGeom prst="rect">
            <a:avLst/>
          </a:prstGeom>
          <a:noFill/>
        </p:spPr>
        <p:txBody>
          <a:bodyPr wrap="none" rtlCol="0">
            <a:spAutoFit/>
          </a:bodyPr>
          <a:lstStyle/>
          <a:p>
            <a:r>
              <a:rPr lang="zh-CN" altLang="en-US" sz="1200" dirty="0">
                <a:solidFill>
                  <a:srgbClr val="0BD0D9"/>
                </a:solidFill>
                <a:latin typeface="微软雅黑" panose="020B0503020204020204" charset="-122"/>
                <a:ea typeface="微软雅黑" panose="020B0503020204020204" charset="-122"/>
              </a:rPr>
              <a:t>支撑应用</a:t>
            </a:r>
            <a:endParaRPr lang="zh-CN" altLang="en-US" sz="1200" dirty="0">
              <a:solidFill>
                <a:srgbClr val="0BD0D9"/>
              </a:solidFill>
              <a:latin typeface="微软雅黑" panose="020B0503020204020204" charset="-122"/>
              <a:ea typeface="微软雅黑" panose="020B0503020204020204" charset="-122"/>
            </a:endParaRPr>
          </a:p>
        </p:txBody>
      </p:sp>
      <p:cxnSp>
        <p:nvCxnSpPr>
          <p:cNvPr id="169" name="直接箭头连接符 168"/>
          <p:cNvCxnSpPr>
            <a:stCxn id="157" idx="3"/>
            <a:endCxn id="158" idx="1"/>
          </p:cNvCxnSpPr>
          <p:nvPr/>
        </p:nvCxnSpPr>
        <p:spPr>
          <a:xfrm>
            <a:off x="1084122" y="633330"/>
            <a:ext cx="1252389" cy="0"/>
          </a:xfrm>
          <a:prstGeom prst="straightConnector1">
            <a:avLst/>
          </a:prstGeom>
          <a:noFill/>
          <a:ln w="6350" cap="flat" cmpd="sng" algn="ctr">
            <a:solidFill>
              <a:srgbClr val="FFFFFF">
                <a:lumMod val="65000"/>
              </a:srgbClr>
            </a:solidFill>
            <a:prstDash val="dash"/>
            <a:miter lim="800000"/>
            <a:tailEnd type="triangle"/>
          </a:ln>
          <a:effectLst/>
        </p:spPr>
      </p:cxnSp>
      <p:cxnSp>
        <p:nvCxnSpPr>
          <p:cNvPr id="170" name="直接箭头连接符 169"/>
          <p:cNvCxnSpPr>
            <a:stCxn id="158" idx="3"/>
            <a:endCxn id="163" idx="1"/>
          </p:cNvCxnSpPr>
          <p:nvPr/>
        </p:nvCxnSpPr>
        <p:spPr>
          <a:xfrm>
            <a:off x="3444507" y="633330"/>
            <a:ext cx="6766001" cy="0"/>
          </a:xfrm>
          <a:prstGeom prst="straightConnector1">
            <a:avLst/>
          </a:prstGeom>
          <a:noFill/>
          <a:ln w="6350" cap="flat" cmpd="sng" algn="ctr">
            <a:solidFill>
              <a:srgbClr val="FFFFFF">
                <a:lumMod val="65000"/>
              </a:srgbClr>
            </a:solidFill>
            <a:prstDash val="dash"/>
            <a:miter lim="800000"/>
            <a:tailEnd type="triangle"/>
          </a:ln>
          <a:effectLst/>
        </p:spPr>
      </p:cxnSp>
      <p:grpSp>
        <p:nvGrpSpPr>
          <p:cNvPr id="189" name="组合 188"/>
          <p:cNvGrpSpPr/>
          <p:nvPr/>
        </p:nvGrpSpPr>
        <p:grpSpPr>
          <a:xfrm>
            <a:off x="2385257" y="1311966"/>
            <a:ext cx="1230953" cy="352425"/>
            <a:chOff x="3862128" y="148963"/>
            <a:chExt cx="1230953" cy="352425"/>
          </a:xfrm>
        </p:grpSpPr>
        <p:grpSp>
          <p:nvGrpSpPr>
            <p:cNvPr id="178" name="组合 177"/>
            <p:cNvGrpSpPr/>
            <p:nvPr/>
          </p:nvGrpSpPr>
          <p:grpSpPr>
            <a:xfrm>
              <a:off x="3862128" y="148963"/>
              <a:ext cx="1230953" cy="352425"/>
              <a:chOff x="4457700" y="1362075"/>
              <a:chExt cx="1638300" cy="469049"/>
            </a:xfrm>
          </p:grpSpPr>
          <p:grpSp>
            <p:nvGrpSpPr>
              <p:cNvPr id="181" name="组合 180"/>
              <p:cNvGrpSpPr/>
              <p:nvPr/>
            </p:nvGrpSpPr>
            <p:grpSpPr>
              <a:xfrm>
                <a:off x="4586513" y="1366668"/>
                <a:ext cx="1509487" cy="464456"/>
                <a:chOff x="449941" y="1640115"/>
                <a:chExt cx="1509487" cy="464456"/>
              </a:xfrm>
            </p:grpSpPr>
            <p:sp>
              <p:nvSpPr>
                <p:cNvPr id="183" name="矩形 182"/>
                <p:cNvSpPr/>
                <p:nvPr/>
              </p:nvSpPr>
              <p:spPr>
                <a:xfrm>
                  <a:off x="449941" y="1640115"/>
                  <a:ext cx="1509487" cy="464456"/>
                </a:xfrm>
                <a:prstGeom prst="rect">
                  <a:avLst/>
                </a:prstGeom>
                <a:gradFill>
                  <a:gsLst>
                    <a:gs pos="0">
                      <a:srgbClr val="FFFFFF"/>
                    </a:gs>
                    <a:gs pos="100000">
                      <a:srgbClr val="FFFFFF"/>
                    </a:gs>
                    <a:gs pos="46000">
                      <a:srgbClr val="0F6FC6">
                        <a:lumMod val="5000"/>
                        <a:lumOff val="95000"/>
                      </a:srgbClr>
                    </a:gs>
                  </a:gsLst>
                  <a:path path="circle">
                    <a:fillToRect r="100000" b="100000"/>
                  </a:path>
                </a:gradFill>
                <a:ln w="11430" cap="flat" cmpd="sng" algn="ctr">
                  <a:solidFill>
                    <a:srgbClr val="FFFFFF">
                      <a:lumMod val="75000"/>
                    </a:srgbClr>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187" name="文本框 186"/>
                <p:cNvSpPr txBox="1"/>
                <p:nvPr/>
              </p:nvSpPr>
              <p:spPr>
                <a:xfrm>
                  <a:off x="845293" y="1700689"/>
                  <a:ext cx="996757" cy="348182"/>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数据共享</a:t>
                  </a:r>
                  <a:endParaRPr kumimoji="0" lang="zh-CN" altLang="en-US" sz="11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grpSp>
          <p:sp>
            <p:nvSpPr>
              <p:cNvPr id="182" name="矩形 181"/>
              <p:cNvSpPr/>
              <p:nvPr/>
            </p:nvSpPr>
            <p:spPr>
              <a:xfrm>
                <a:off x="4457700" y="1362075"/>
                <a:ext cx="466725" cy="466725"/>
              </a:xfrm>
              <a:prstGeom prst="rect">
                <a:avLst/>
              </a:prstGeom>
              <a:gradFill flip="none" rotWithShape="1">
                <a:gsLst>
                  <a:gs pos="23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a:outerShdw blurRad="411480" dist="123444" dir="5400000" sx="108000" sy="108000" algn="ctr" rotWithShape="0">
                  <a:srgbClr val="0F6FC6">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6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grpSp>
        <p:pic>
          <p:nvPicPr>
            <p:cNvPr id="188" name="图形 187"/>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3908532" y="197927"/>
              <a:ext cx="232286" cy="232286"/>
            </a:xfrm>
            <a:prstGeom prst="rect">
              <a:avLst/>
            </a:prstGeom>
          </p:spPr>
        </p:pic>
      </p:grpSp>
      <p:grpSp>
        <p:nvGrpSpPr>
          <p:cNvPr id="191" name="组合 190"/>
          <p:cNvGrpSpPr/>
          <p:nvPr/>
        </p:nvGrpSpPr>
        <p:grpSpPr>
          <a:xfrm>
            <a:off x="3843655" y="1303393"/>
            <a:ext cx="1230953" cy="352425"/>
            <a:chOff x="4457700" y="1362075"/>
            <a:chExt cx="1638300" cy="469049"/>
          </a:xfrm>
        </p:grpSpPr>
        <p:grpSp>
          <p:nvGrpSpPr>
            <p:cNvPr id="193" name="组合 192"/>
            <p:cNvGrpSpPr/>
            <p:nvPr/>
          </p:nvGrpSpPr>
          <p:grpSpPr>
            <a:xfrm>
              <a:off x="4586513" y="1366668"/>
              <a:ext cx="1509487" cy="464456"/>
              <a:chOff x="449941" y="1640115"/>
              <a:chExt cx="1509487" cy="464456"/>
            </a:xfrm>
          </p:grpSpPr>
          <p:sp>
            <p:nvSpPr>
              <p:cNvPr id="195" name="矩形 194"/>
              <p:cNvSpPr/>
              <p:nvPr/>
            </p:nvSpPr>
            <p:spPr>
              <a:xfrm>
                <a:off x="449941" y="1640115"/>
                <a:ext cx="1509487" cy="464456"/>
              </a:xfrm>
              <a:prstGeom prst="rect">
                <a:avLst/>
              </a:prstGeom>
              <a:gradFill>
                <a:gsLst>
                  <a:gs pos="0">
                    <a:srgbClr val="FFFFFF"/>
                  </a:gs>
                  <a:gs pos="100000">
                    <a:srgbClr val="FFFFFF"/>
                  </a:gs>
                  <a:gs pos="46000">
                    <a:srgbClr val="0F6FC6">
                      <a:lumMod val="5000"/>
                      <a:lumOff val="95000"/>
                    </a:srgbClr>
                  </a:gs>
                </a:gsLst>
                <a:path path="circle">
                  <a:fillToRect r="100000" b="100000"/>
                </a:path>
              </a:gradFill>
              <a:ln w="11430" cap="flat" cmpd="sng" algn="ctr">
                <a:solidFill>
                  <a:srgbClr val="FFFFFF">
                    <a:lumMod val="75000"/>
                  </a:srgbClr>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196" name="文本框 195"/>
              <p:cNvSpPr txBox="1"/>
              <p:nvPr/>
            </p:nvSpPr>
            <p:spPr>
              <a:xfrm>
                <a:off x="845293" y="1700689"/>
                <a:ext cx="996757" cy="348182"/>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资产管理</a:t>
                </a:r>
                <a:endParaRPr kumimoji="0" lang="zh-CN" altLang="en-US" sz="11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grpSp>
        <p:sp>
          <p:nvSpPr>
            <p:cNvPr id="194" name="矩形 193"/>
            <p:cNvSpPr/>
            <p:nvPr/>
          </p:nvSpPr>
          <p:spPr>
            <a:xfrm>
              <a:off x="4457700" y="1362075"/>
              <a:ext cx="466725" cy="466725"/>
            </a:xfrm>
            <a:prstGeom prst="rect">
              <a:avLst/>
            </a:prstGeom>
            <a:gradFill flip="none" rotWithShape="1">
              <a:gsLst>
                <a:gs pos="23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a:outerShdw blurRad="411480" dist="123444" dir="5400000" sx="108000" sy="108000" algn="ctr" rotWithShape="0">
                <a:srgbClr val="0F6FC6">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6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grpSp>
      <p:grpSp>
        <p:nvGrpSpPr>
          <p:cNvPr id="197" name="组合 196"/>
          <p:cNvGrpSpPr/>
          <p:nvPr/>
        </p:nvGrpSpPr>
        <p:grpSpPr>
          <a:xfrm>
            <a:off x="5318471" y="1303235"/>
            <a:ext cx="1230953" cy="352425"/>
            <a:chOff x="3862128" y="148963"/>
            <a:chExt cx="1230953" cy="352425"/>
          </a:xfrm>
        </p:grpSpPr>
        <p:grpSp>
          <p:nvGrpSpPr>
            <p:cNvPr id="198" name="组合 197"/>
            <p:cNvGrpSpPr/>
            <p:nvPr/>
          </p:nvGrpSpPr>
          <p:grpSpPr>
            <a:xfrm>
              <a:off x="3862128" y="148963"/>
              <a:ext cx="1230953" cy="352425"/>
              <a:chOff x="4457700" y="1362075"/>
              <a:chExt cx="1638300" cy="469049"/>
            </a:xfrm>
          </p:grpSpPr>
          <p:grpSp>
            <p:nvGrpSpPr>
              <p:cNvPr id="200" name="组合 199"/>
              <p:cNvGrpSpPr/>
              <p:nvPr/>
            </p:nvGrpSpPr>
            <p:grpSpPr>
              <a:xfrm>
                <a:off x="4586513" y="1366668"/>
                <a:ext cx="1509487" cy="464456"/>
                <a:chOff x="449941" y="1640115"/>
                <a:chExt cx="1509487" cy="464456"/>
              </a:xfrm>
            </p:grpSpPr>
            <p:sp>
              <p:nvSpPr>
                <p:cNvPr id="202" name="矩形 201"/>
                <p:cNvSpPr/>
                <p:nvPr/>
              </p:nvSpPr>
              <p:spPr>
                <a:xfrm>
                  <a:off x="449941" y="1640115"/>
                  <a:ext cx="1509487" cy="464456"/>
                </a:xfrm>
                <a:prstGeom prst="rect">
                  <a:avLst/>
                </a:prstGeom>
                <a:gradFill>
                  <a:gsLst>
                    <a:gs pos="0">
                      <a:srgbClr val="FFFFFF"/>
                    </a:gs>
                    <a:gs pos="100000">
                      <a:srgbClr val="FFFFFF"/>
                    </a:gs>
                    <a:gs pos="46000">
                      <a:srgbClr val="0F6FC6">
                        <a:lumMod val="5000"/>
                        <a:lumOff val="95000"/>
                      </a:srgbClr>
                    </a:gs>
                  </a:gsLst>
                  <a:path path="circle">
                    <a:fillToRect r="100000" b="100000"/>
                  </a:path>
                </a:gradFill>
                <a:ln w="11430" cap="flat" cmpd="sng" algn="ctr">
                  <a:solidFill>
                    <a:srgbClr val="FFFFFF">
                      <a:lumMod val="75000"/>
                    </a:srgbClr>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203" name="文本框 202"/>
                <p:cNvSpPr txBox="1"/>
                <p:nvPr/>
              </p:nvSpPr>
              <p:spPr>
                <a:xfrm>
                  <a:off x="845293" y="1700689"/>
                  <a:ext cx="996757" cy="348182"/>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数据安全</a:t>
                  </a:r>
                  <a:endParaRPr kumimoji="0" lang="zh-CN" altLang="en-US" sz="11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grpSp>
          <p:sp>
            <p:nvSpPr>
              <p:cNvPr id="201" name="矩形 200"/>
              <p:cNvSpPr/>
              <p:nvPr/>
            </p:nvSpPr>
            <p:spPr>
              <a:xfrm>
                <a:off x="4457700" y="1362075"/>
                <a:ext cx="466725" cy="466725"/>
              </a:xfrm>
              <a:prstGeom prst="rect">
                <a:avLst/>
              </a:prstGeom>
              <a:gradFill flip="none" rotWithShape="1">
                <a:gsLst>
                  <a:gs pos="23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a:outerShdw blurRad="411480" dist="123444" dir="5400000" sx="108000" sy="108000" algn="ctr" rotWithShape="0">
                  <a:srgbClr val="0F6FC6">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6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grpSp>
        <p:pic>
          <p:nvPicPr>
            <p:cNvPr id="199" name="图形 198"/>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3908532" y="197927"/>
              <a:ext cx="232286" cy="232286"/>
            </a:xfrm>
            <a:prstGeom prst="rect">
              <a:avLst/>
            </a:prstGeom>
          </p:spPr>
        </p:pic>
      </p:grpSp>
      <p:grpSp>
        <p:nvGrpSpPr>
          <p:cNvPr id="205" name="组合 204"/>
          <p:cNvGrpSpPr/>
          <p:nvPr/>
        </p:nvGrpSpPr>
        <p:grpSpPr>
          <a:xfrm>
            <a:off x="6816725" y="1303393"/>
            <a:ext cx="1230953" cy="352425"/>
            <a:chOff x="4457700" y="1362075"/>
            <a:chExt cx="1638300" cy="469049"/>
          </a:xfrm>
        </p:grpSpPr>
        <p:grpSp>
          <p:nvGrpSpPr>
            <p:cNvPr id="207" name="组合 206"/>
            <p:cNvGrpSpPr/>
            <p:nvPr/>
          </p:nvGrpSpPr>
          <p:grpSpPr>
            <a:xfrm>
              <a:off x="4586513" y="1366668"/>
              <a:ext cx="1509487" cy="464456"/>
              <a:chOff x="449941" y="1640115"/>
              <a:chExt cx="1509487" cy="464456"/>
            </a:xfrm>
          </p:grpSpPr>
          <p:sp>
            <p:nvSpPr>
              <p:cNvPr id="209" name="矩形 208"/>
              <p:cNvSpPr/>
              <p:nvPr/>
            </p:nvSpPr>
            <p:spPr>
              <a:xfrm>
                <a:off x="449941" y="1640115"/>
                <a:ext cx="1509487" cy="464456"/>
              </a:xfrm>
              <a:prstGeom prst="rect">
                <a:avLst/>
              </a:prstGeom>
              <a:gradFill>
                <a:gsLst>
                  <a:gs pos="0">
                    <a:srgbClr val="FFFFFF"/>
                  </a:gs>
                  <a:gs pos="100000">
                    <a:srgbClr val="FFFFFF"/>
                  </a:gs>
                  <a:gs pos="46000">
                    <a:srgbClr val="0F6FC6">
                      <a:lumMod val="5000"/>
                      <a:lumOff val="95000"/>
                    </a:srgbClr>
                  </a:gs>
                </a:gsLst>
                <a:path path="circle">
                  <a:fillToRect r="100000" b="100000"/>
                </a:path>
              </a:gradFill>
              <a:ln w="11430" cap="flat" cmpd="sng" algn="ctr">
                <a:solidFill>
                  <a:srgbClr val="FFFFFF">
                    <a:lumMod val="75000"/>
                  </a:srgbClr>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210" name="文本框 209"/>
              <p:cNvSpPr txBox="1"/>
              <p:nvPr/>
            </p:nvSpPr>
            <p:spPr>
              <a:xfrm>
                <a:off x="845293" y="1700689"/>
                <a:ext cx="996757" cy="348182"/>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数据服务</a:t>
                </a:r>
                <a:endParaRPr kumimoji="0" lang="zh-CN" altLang="en-US" sz="11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grpSp>
        <p:sp>
          <p:nvSpPr>
            <p:cNvPr id="208" name="矩形 207"/>
            <p:cNvSpPr/>
            <p:nvPr/>
          </p:nvSpPr>
          <p:spPr>
            <a:xfrm>
              <a:off x="4457700" y="1362075"/>
              <a:ext cx="466725" cy="466725"/>
            </a:xfrm>
            <a:prstGeom prst="rect">
              <a:avLst/>
            </a:prstGeom>
            <a:gradFill flip="none" rotWithShape="1">
              <a:gsLst>
                <a:gs pos="23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a:outerShdw blurRad="411480" dist="123444" dir="5400000" sx="108000" sy="108000" algn="ctr" rotWithShape="0">
                <a:srgbClr val="0F6FC6">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6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grpSp>
      <p:grpSp>
        <p:nvGrpSpPr>
          <p:cNvPr id="211" name="组合 210"/>
          <p:cNvGrpSpPr/>
          <p:nvPr/>
        </p:nvGrpSpPr>
        <p:grpSpPr>
          <a:xfrm>
            <a:off x="8298497" y="1303177"/>
            <a:ext cx="1230953" cy="352425"/>
            <a:chOff x="3862128" y="148963"/>
            <a:chExt cx="1230953" cy="352425"/>
          </a:xfrm>
        </p:grpSpPr>
        <p:grpSp>
          <p:nvGrpSpPr>
            <p:cNvPr id="212" name="组合 211"/>
            <p:cNvGrpSpPr/>
            <p:nvPr/>
          </p:nvGrpSpPr>
          <p:grpSpPr>
            <a:xfrm>
              <a:off x="3862128" y="148963"/>
              <a:ext cx="1230953" cy="352425"/>
              <a:chOff x="4457700" y="1362075"/>
              <a:chExt cx="1638300" cy="469049"/>
            </a:xfrm>
          </p:grpSpPr>
          <p:grpSp>
            <p:nvGrpSpPr>
              <p:cNvPr id="214" name="组合 213"/>
              <p:cNvGrpSpPr/>
              <p:nvPr/>
            </p:nvGrpSpPr>
            <p:grpSpPr>
              <a:xfrm>
                <a:off x="4586513" y="1366668"/>
                <a:ext cx="1509487" cy="464456"/>
                <a:chOff x="449941" y="1640115"/>
                <a:chExt cx="1509487" cy="464456"/>
              </a:xfrm>
            </p:grpSpPr>
            <p:sp>
              <p:nvSpPr>
                <p:cNvPr id="216" name="矩形 215"/>
                <p:cNvSpPr/>
                <p:nvPr/>
              </p:nvSpPr>
              <p:spPr>
                <a:xfrm>
                  <a:off x="449941" y="1640115"/>
                  <a:ext cx="1509487" cy="464456"/>
                </a:xfrm>
                <a:prstGeom prst="rect">
                  <a:avLst/>
                </a:prstGeom>
                <a:gradFill>
                  <a:gsLst>
                    <a:gs pos="0">
                      <a:srgbClr val="FFFFFF"/>
                    </a:gs>
                    <a:gs pos="100000">
                      <a:srgbClr val="FFFFFF"/>
                    </a:gs>
                    <a:gs pos="46000">
                      <a:srgbClr val="0F6FC6">
                        <a:lumMod val="5000"/>
                        <a:lumOff val="95000"/>
                      </a:srgbClr>
                    </a:gs>
                  </a:gsLst>
                  <a:path path="circle">
                    <a:fillToRect r="100000" b="100000"/>
                  </a:path>
                </a:gradFill>
                <a:ln w="11430" cap="flat" cmpd="sng" algn="ctr">
                  <a:solidFill>
                    <a:srgbClr val="FFFFFF">
                      <a:lumMod val="75000"/>
                    </a:srgbClr>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217" name="文本框 216"/>
                <p:cNvSpPr txBox="1"/>
                <p:nvPr/>
              </p:nvSpPr>
              <p:spPr>
                <a:xfrm>
                  <a:off x="1063973" y="1700689"/>
                  <a:ext cx="559396" cy="348182"/>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1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a:t>
                  </a:r>
                  <a:endParaRPr kumimoji="0" lang="en-US" altLang="zh-CN" sz="11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grpSp>
          <p:sp>
            <p:nvSpPr>
              <p:cNvPr id="215" name="矩形 214"/>
              <p:cNvSpPr/>
              <p:nvPr/>
            </p:nvSpPr>
            <p:spPr>
              <a:xfrm>
                <a:off x="4457700" y="1362075"/>
                <a:ext cx="466725" cy="466725"/>
              </a:xfrm>
              <a:prstGeom prst="rect">
                <a:avLst/>
              </a:prstGeom>
              <a:gradFill flip="none" rotWithShape="1">
                <a:gsLst>
                  <a:gs pos="23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a:outerShdw blurRad="411480" dist="123444" dir="5400000" sx="108000" sy="108000" algn="ctr" rotWithShape="0">
                  <a:srgbClr val="0F6FC6">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6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grpSp>
        <p:pic>
          <p:nvPicPr>
            <p:cNvPr id="213" name="图形 212"/>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3908532" y="197927"/>
              <a:ext cx="232286" cy="232286"/>
            </a:xfrm>
            <a:prstGeom prst="rect">
              <a:avLst/>
            </a:prstGeom>
          </p:spPr>
        </p:pic>
      </p:grpSp>
      <p:pic>
        <p:nvPicPr>
          <p:cNvPr id="218" name="图形 217"/>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3880442" y="1322050"/>
            <a:ext cx="273840" cy="273840"/>
          </a:xfrm>
          <a:prstGeom prst="rect">
            <a:avLst/>
          </a:prstGeom>
          <a:effectLst>
            <a:outerShdw blurRad="411480" dist="123444" dir="5400000" sx="108000" sy="108000" algn="ctr" rotWithShape="0">
              <a:schemeClr val="accent1">
                <a:lumMod val="50000"/>
                <a:alpha val="40000"/>
              </a:schemeClr>
            </a:outerShdw>
          </a:effectLst>
        </p:spPr>
      </p:pic>
      <p:pic>
        <p:nvPicPr>
          <p:cNvPr id="219" name="图形 218"/>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6855068" y="1340153"/>
            <a:ext cx="273840" cy="273840"/>
          </a:xfrm>
          <a:prstGeom prst="rect">
            <a:avLst/>
          </a:prstGeom>
          <a:effectLst>
            <a:outerShdw blurRad="411480" dist="123444" dir="5400000" sx="108000" sy="108000" algn="ctr" rotWithShape="0">
              <a:schemeClr val="accent1">
                <a:lumMod val="50000"/>
                <a:alpha val="40000"/>
              </a:schemeClr>
            </a:outerShdw>
          </a:effectLst>
        </p:spPr>
      </p:pic>
      <p:grpSp>
        <p:nvGrpSpPr>
          <p:cNvPr id="314" name="组合 313"/>
          <p:cNvGrpSpPr/>
          <p:nvPr/>
        </p:nvGrpSpPr>
        <p:grpSpPr>
          <a:xfrm>
            <a:off x="7887052" y="2022648"/>
            <a:ext cx="646332" cy="313737"/>
            <a:chOff x="8256421" y="1902973"/>
            <a:chExt cx="646332" cy="313737"/>
          </a:xfrm>
        </p:grpSpPr>
        <p:grpSp>
          <p:nvGrpSpPr>
            <p:cNvPr id="294" name="组合 293"/>
            <p:cNvGrpSpPr/>
            <p:nvPr/>
          </p:nvGrpSpPr>
          <p:grpSpPr>
            <a:xfrm>
              <a:off x="8457993" y="2124571"/>
              <a:ext cx="223237" cy="92139"/>
              <a:chOff x="11186710" y="2497496"/>
              <a:chExt cx="223237" cy="92139"/>
            </a:xfrm>
          </p:grpSpPr>
          <p:sp>
            <p:nvSpPr>
              <p:cNvPr id="295" name="任意多边形: 形状 294"/>
              <p:cNvSpPr/>
              <p:nvPr/>
            </p:nvSpPr>
            <p:spPr>
              <a:xfrm rot="16200000">
                <a:off x="11328320" y="2507980"/>
                <a:ext cx="92111"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296" name="任意多边形: 形状 295"/>
              <p:cNvSpPr/>
              <p:nvPr/>
            </p:nvSpPr>
            <p:spPr>
              <a:xfrm rot="16200000">
                <a:off x="11252272" y="2507992"/>
                <a:ext cx="92111"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297" name="任意多边形: 形状 296"/>
              <p:cNvSpPr/>
              <p:nvPr/>
            </p:nvSpPr>
            <p:spPr>
              <a:xfrm rot="16200000">
                <a:off x="11176226" y="2508007"/>
                <a:ext cx="92112"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grpSp>
        <p:sp>
          <p:nvSpPr>
            <p:cNvPr id="233" name="文本框 232"/>
            <p:cNvSpPr txBox="1"/>
            <p:nvPr/>
          </p:nvSpPr>
          <p:spPr>
            <a:xfrm>
              <a:off x="8256421" y="1902973"/>
              <a:ext cx="646332" cy="230832"/>
            </a:xfrm>
            <a:prstGeom prst="rect">
              <a:avLst/>
            </a:prstGeom>
            <a:noFill/>
            <a:effectLst/>
          </p:spPr>
          <p:txBody>
            <a:bodyPr wrap="none" rtlCol="0">
              <a:spAutoFit/>
            </a:bodyPr>
            <a:lstStyle/>
            <a:p>
              <a:pPr algn="ctr"/>
              <a:r>
                <a:rPr lang="zh-CN" altLang="en-US" sz="900" dirty="0">
                  <a:solidFill>
                    <a:srgbClr val="4472C4"/>
                  </a:solidFill>
                  <a:latin typeface="微软雅黑" panose="020B0503020204020204" charset="-122"/>
                  <a:ea typeface="微软雅黑" panose="020B0503020204020204" charset="-122"/>
                </a:rPr>
                <a:t>统计分析</a:t>
              </a:r>
              <a:endParaRPr lang="en-US" altLang="zh-CN" sz="900" dirty="0">
                <a:solidFill>
                  <a:srgbClr val="4472C4"/>
                </a:solidFill>
                <a:latin typeface="微软雅黑" panose="020B0503020204020204" charset="-122"/>
                <a:ea typeface="微软雅黑" panose="020B0503020204020204" charset="-122"/>
              </a:endParaRPr>
            </a:p>
          </p:txBody>
        </p:sp>
      </p:grpSp>
      <p:grpSp>
        <p:nvGrpSpPr>
          <p:cNvPr id="315" name="组合 314"/>
          <p:cNvGrpSpPr/>
          <p:nvPr/>
        </p:nvGrpSpPr>
        <p:grpSpPr>
          <a:xfrm>
            <a:off x="7955936" y="2654985"/>
            <a:ext cx="530915" cy="305342"/>
            <a:chOff x="8325305" y="2703781"/>
            <a:chExt cx="530915" cy="305342"/>
          </a:xfrm>
        </p:grpSpPr>
        <p:grpSp>
          <p:nvGrpSpPr>
            <p:cNvPr id="298" name="组合 297"/>
            <p:cNvGrpSpPr/>
            <p:nvPr/>
          </p:nvGrpSpPr>
          <p:grpSpPr>
            <a:xfrm>
              <a:off x="8477399" y="2916984"/>
              <a:ext cx="223237" cy="92139"/>
              <a:chOff x="11186710" y="2497496"/>
              <a:chExt cx="223237" cy="92139"/>
            </a:xfrm>
          </p:grpSpPr>
          <p:sp>
            <p:nvSpPr>
              <p:cNvPr id="299" name="任意多边形: 形状 298"/>
              <p:cNvSpPr/>
              <p:nvPr/>
            </p:nvSpPr>
            <p:spPr>
              <a:xfrm rot="16200000">
                <a:off x="11328320" y="2507980"/>
                <a:ext cx="92111"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300" name="任意多边形: 形状 299"/>
              <p:cNvSpPr/>
              <p:nvPr/>
            </p:nvSpPr>
            <p:spPr>
              <a:xfrm rot="16200000">
                <a:off x="11252272" y="2507992"/>
                <a:ext cx="92111"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301" name="任意多边形: 形状 300"/>
              <p:cNvSpPr/>
              <p:nvPr/>
            </p:nvSpPr>
            <p:spPr>
              <a:xfrm rot="16200000">
                <a:off x="11176226" y="2508007"/>
                <a:ext cx="92112"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grpSp>
        <p:sp>
          <p:nvSpPr>
            <p:cNvPr id="235" name="文本框 234"/>
            <p:cNvSpPr txBox="1"/>
            <p:nvPr/>
          </p:nvSpPr>
          <p:spPr>
            <a:xfrm>
              <a:off x="8325305" y="2703781"/>
              <a:ext cx="530915" cy="230832"/>
            </a:xfrm>
            <a:prstGeom prst="rect">
              <a:avLst/>
            </a:prstGeom>
            <a:noFill/>
            <a:effectLst/>
          </p:spPr>
          <p:txBody>
            <a:bodyPr wrap="none" rtlCol="0">
              <a:spAutoFit/>
            </a:bodyPr>
            <a:lstStyle/>
            <a:p>
              <a:pPr algn="ctr"/>
              <a:r>
                <a:rPr lang="zh-CN" altLang="en-US" sz="900" dirty="0">
                  <a:solidFill>
                    <a:srgbClr val="4472C4"/>
                  </a:solidFill>
                  <a:latin typeface="微软雅黑" panose="020B0503020204020204" charset="-122"/>
                  <a:ea typeface="微软雅黑" panose="020B0503020204020204" charset="-122"/>
                </a:rPr>
                <a:t>指标化</a:t>
              </a:r>
              <a:endParaRPr lang="zh-CN" altLang="en-US" sz="900" dirty="0">
                <a:solidFill>
                  <a:srgbClr val="4472C4"/>
                </a:solidFill>
                <a:latin typeface="微软雅黑" panose="020B0503020204020204" charset="-122"/>
                <a:ea typeface="微软雅黑" panose="020B0503020204020204" charset="-122"/>
              </a:endParaRPr>
            </a:p>
          </p:txBody>
        </p:sp>
      </p:grpSp>
      <p:grpSp>
        <p:nvGrpSpPr>
          <p:cNvPr id="316" name="组合 315"/>
          <p:cNvGrpSpPr/>
          <p:nvPr/>
        </p:nvGrpSpPr>
        <p:grpSpPr>
          <a:xfrm>
            <a:off x="7955936" y="3278927"/>
            <a:ext cx="530915" cy="314133"/>
            <a:chOff x="8325305" y="3361994"/>
            <a:chExt cx="530915" cy="314133"/>
          </a:xfrm>
        </p:grpSpPr>
        <p:grpSp>
          <p:nvGrpSpPr>
            <p:cNvPr id="302" name="组合 301"/>
            <p:cNvGrpSpPr/>
            <p:nvPr/>
          </p:nvGrpSpPr>
          <p:grpSpPr>
            <a:xfrm>
              <a:off x="8462212" y="3583988"/>
              <a:ext cx="223237" cy="92139"/>
              <a:chOff x="11186710" y="2497496"/>
              <a:chExt cx="223237" cy="92139"/>
            </a:xfrm>
          </p:grpSpPr>
          <p:sp>
            <p:nvSpPr>
              <p:cNvPr id="303" name="任意多边形: 形状 302"/>
              <p:cNvSpPr/>
              <p:nvPr/>
            </p:nvSpPr>
            <p:spPr>
              <a:xfrm rot="16200000">
                <a:off x="11328320" y="2507980"/>
                <a:ext cx="92111"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304" name="任意多边形: 形状 303"/>
              <p:cNvSpPr/>
              <p:nvPr/>
            </p:nvSpPr>
            <p:spPr>
              <a:xfrm rot="16200000">
                <a:off x="11252272" y="2507992"/>
                <a:ext cx="92111"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305" name="任意多边形: 形状 304"/>
              <p:cNvSpPr/>
              <p:nvPr/>
            </p:nvSpPr>
            <p:spPr>
              <a:xfrm rot="16200000">
                <a:off x="11176226" y="2508007"/>
                <a:ext cx="92112"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grpSp>
        <p:sp>
          <p:nvSpPr>
            <p:cNvPr id="237" name="文本框 236"/>
            <p:cNvSpPr txBox="1"/>
            <p:nvPr/>
          </p:nvSpPr>
          <p:spPr>
            <a:xfrm>
              <a:off x="8325305" y="3361994"/>
              <a:ext cx="530915" cy="230832"/>
            </a:xfrm>
            <a:prstGeom prst="rect">
              <a:avLst/>
            </a:prstGeom>
            <a:noFill/>
            <a:effectLst/>
          </p:spPr>
          <p:txBody>
            <a:bodyPr wrap="none" rtlCol="0">
              <a:spAutoFit/>
            </a:bodyPr>
            <a:lstStyle/>
            <a:p>
              <a:pPr algn="ctr"/>
              <a:r>
                <a:rPr lang="zh-CN" altLang="en-US" sz="900" dirty="0">
                  <a:solidFill>
                    <a:srgbClr val="4472C4"/>
                  </a:solidFill>
                  <a:latin typeface="微软雅黑" panose="020B0503020204020204" charset="-122"/>
                  <a:ea typeface="微软雅黑" panose="020B0503020204020204" charset="-122"/>
                </a:rPr>
                <a:t>标签化</a:t>
              </a:r>
              <a:endParaRPr lang="zh-CN" altLang="en-US" sz="900" dirty="0">
                <a:solidFill>
                  <a:srgbClr val="4472C4"/>
                </a:solidFill>
                <a:latin typeface="微软雅黑" panose="020B0503020204020204" charset="-122"/>
                <a:ea typeface="微软雅黑" panose="020B0503020204020204" charset="-122"/>
              </a:endParaRPr>
            </a:p>
          </p:txBody>
        </p:sp>
      </p:grpSp>
      <p:grpSp>
        <p:nvGrpSpPr>
          <p:cNvPr id="317" name="组合 316"/>
          <p:cNvGrpSpPr/>
          <p:nvPr/>
        </p:nvGrpSpPr>
        <p:grpSpPr>
          <a:xfrm>
            <a:off x="7955936" y="3911660"/>
            <a:ext cx="530915" cy="320616"/>
            <a:chOff x="8325305" y="4003256"/>
            <a:chExt cx="530915" cy="320616"/>
          </a:xfrm>
        </p:grpSpPr>
        <p:grpSp>
          <p:nvGrpSpPr>
            <p:cNvPr id="306" name="组合 305"/>
            <p:cNvGrpSpPr/>
            <p:nvPr/>
          </p:nvGrpSpPr>
          <p:grpSpPr>
            <a:xfrm>
              <a:off x="8464731" y="4231733"/>
              <a:ext cx="223237" cy="92139"/>
              <a:chOff x="11186710" y="2497496"/>
              <a:chExt cx="223237" cy="92139"/>
            </a:xfrm>
          </p:grpSpPr>
          <p:sp>
            <p:nvSpPr>
              <p:cNvPr id="307" name="任意多边形: 形状 306"/>
              <p:cNvSpPr/>
              <p:nvPr/>
            </p:nvSpPr>
            <p:spPr>
              <a:xfrm rot="16200000">
                <a:off x="11328320" y="2507980"/>
                <a:ext cx="92111"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308" name="任意多边形: 形状 307"/>
              <p:cNvSpPr/>
              <p:nvPr/>
            </p:nvSpPr>
            <p:spPr>
              <a:xfrm rot="16200000">
                <a:off x="11252272" y="2507992"/>
                <a:ext cx="92111"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309" name="任意多边形: 形状 308"/>
              <p:cNvSpPr/>
              <p:nvPr/>
            </p:nvSpPr>
            <p:spPr>
              <a:xfrm rot="16200000">
                <a:off x="11176226" y="2508007"/>
                <a:ext cx="92112"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grpSp>
        <p:sp>
          <p:nvSpPr>
            <p:cNvPr id="239" name="文本框 238"/>
            <p:cNvSpPr txBox="1"/>
            <p:nvPr/>
          </p:nvSpPr>
          <p:spPr>
            <a:xfrm>
              <a:off x="8325305" y="4003256"/>
              <a:ext cx="530915" cy="230832"/>
            </a:xfrm>
            <a:prstGeom prst="rect">
              <a:avLst/>
            </a:prstGeom>
            <a:noFill/>
            <a:effectLst/>
          </p:spPr>
          <p:txBody>
            <a:bodyPr wrap="none" rtlCol="0">
              <a:spAutoFit/>
            </a:bodyPr>
            <a:lstStyle/>
            <a:p>
              <a:pPr algn="ctr"/>
              <a:r>
                <a:rPr lang="zh-CN" altLang="en-US" sz="900" dirty="0">
                  <a:solidFill>
                    <a:srgbClr val="4472C4"/>
                  </a:solidFill>
                  <a:latin typeface="微软雅黑" panose="020B0503020204020204" charset="-122"/>
                  <a:ea typeface="微软雅黑" panose="020B0503020204020204" charset="-122"/>
                </a:rPr>
                <a:t>体系化</a:t>
              </a:r>
              <a:endParaRPr lang="zh-CN" altLang="en-US" sz="900" dirty="0">
                <a:solidFill>
                  <a:srgbClr val="4472C4"/>
                </a:solidFill>
                <a:latin typeface="微软雅黑" panose="020B0503020204020204" charset="-122"/>
                <a:ea typeface="微软雅黑" panose="020B0503020204020204" charset="-122"/>
              </a:endParaRPr>
            </a:p>
          </p:txBody>
        </p:sp>
      </p:grpSp>
      <p:grpSp>
        <p:nvGrpSpPr>
          <p:cNvPr id="318" name="组合 317"/>
          <p:cNvGrpSpPr/>
          <p:nvPr/>
        </p:nvGrpSpPr>
        <p:grpSpPr>
          <a:xfrm>
            <a:off x="7896481" y="4550875"/>
            <a:ext cx="646332" cy="316774"/>
            <a:chOff x="8265852" y="4605727"/>
            <a:chExt cx="646332" cy="316774"/>
          </a:xfrm>
        </p:grpSpPr>
        <p:grpSp>
          <p:nvGrpSpPr>
            <p:cNvPr id="310" name="组合 309"/>
            <p:cNvGrpSpPr/>
            <p:nvPr/>
          </p:nvGrpSpPr>
          <p:grpSpPr>
            <a:xfrm>
              <a:off x="8480885" y="4830362"/>
              <a:ext cx="223237" cy="92139"/>
              <a:chOff x="11186710" y="2497496"/>
              <a:chExt cx="223237" cy="92139"/>
            </a:xfrm>
          </p:grpSpPr>
          <p:sp>
            <p:nvSpPr>
              <p:cNvPr id="311" name="任意多边形: 形状 310"/>
              <p:cNvSpPr/>
              <p:nvPr/>
            </p:nvSpPr>
            <p:spPr>
              <a:xfrm rot="16200000">
                <a:off x="11328320" y="2507980"/>
                <a:ext cx="92111"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312" name="任意多边形: 形状 311"/>
              <p:cNvSpPr/>
              <p:nvPr/>
            </p:nvSpPr>
            <p:spPr>
              <a:xfrm rot="16200000">
                <a:off x="11252272" y="2507992"/>
                <a:ext cx="92111"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313" name="任意多边形: 形状 312"/>
              <p:cNvSpPr/>
              <p:nvPr/>
            </p:nvSpPr>
            <p:spPr>
              <a:xfrm rot="16200000">
                <a:off x="11176226" y="2508007"/>
                <a:ext cx="92112"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grpSp>
        <p:sp>
          <p:nvSpPr>
            <p:cNvPr id="241" name="文本框 240"/>
            <p:cNvSpPr txBox="1"/>
            <p:nvPr/>
          </p:nvSpPr>
          <p:spPr>
            <a:xfrm>
              <a:off x="8265852" y="4605727"/>
              <a:ext cx="646332" cy="230832"/>
            </a:xfrm>
            <a:prstGeom prst="rect">
              <a:avLst/>
            </a:prstGeom>
            <a:noFill/>
            <a:effectLst/>
          </p:spPr>
          <p:txBody>
            <a:bodyPr wrap="none" rtlCol="0">
              <a:spAutoFit/>
            </a:bodyPr>
            <a:lstStyle/>
            <a:p>
              <a:pPr algn="ctr"/>
              <a:r>
                <a:rPr lang="zh-CN" altLang="en-US" sz="900" dirty="0">
                  <a:solidFill>
                    <a:srgbClr val="4472C4"/>
                  </a:solidFill>
                  <a:latin typeface="微软雅黑" panose="020B0503020204020204" charset="-122"/>
                  <a:ea typeface="微软雅黑" panose="020B0503020204020204" charset="-122"/>
                </a:rPr>
                <a:t>监控预警</a:t>
              </a:r>
              <a:endParaRPr lang="zh-CN" altLang="en-US" sz="900" dirty="0">
                <a:solidFill>
                  <a:srgbClr val="4472C4"/>
                </a:solidFill>
                <a:latin typeface="微软雅黑" panose="020B0503020204020204" charset="-122"/>
                <a:ea typeface="微软雅黑" panose="020B0503020204020204" charset="-122"/>
              </a:endParaRPr>
            </a:p>
          </p:txBody>
        </p:sp>
      </p:grpSp>
      <p:sp>
        <p:nvSpPr>
          <p:cNvPr id="319" name="流程图: 磁盘 318"/>
          <p:cNvSpPr/>
          <p:nvPr/>
        </p:nvSpPr>
        <p:spPr>
          <a:xfrm>
            <a:off x="5672341" y="2181071"/>
            <a:ext cx="977138" cy="374641"/>
          </a:xfrm>
          <a:prstGeom prst="flowChartMagneticDisk">
            <a:avLst/>
          </a:prstGeom>
          <a:gradFill flip="none" rotWithShape="1">
            <a:gsLst>
              <a:gs pos="40000">
                <a:schemeClr val="accent1">
                  <a:lumMod val="20000"/>
                  <a:lumOff val="80000"/>
                  <a:alpha val="0"/>
                </a:schemeClr>
              </a:gs>
              <a:gs pos="100000">
                <a:schemeClr val="accent1">
                  <a:lumMod val="20000"/>
                  <a:lumOff val="80000"/>
                  <a:alpha val="37000"/>
                </a:schemeClr>
              </a:gs>
            </a:gsLst>
            <a:path path="circle">
              <a:fillToRect l="50000" t="50000" r="50000" b="50000"/>
            </a:path>
            <a:tileRect/>
          </a:gradFill>
          <a:ln w="1270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wrap="none"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rPr>
              <a:t>围串标分析库</a:t>
            </a:r>
            <a:endParaRPr kumimoji="0" lang="zh-CN" altLang="en-US" sz="1000" b="0"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endParaRPr>
          </a:p>
        </p:txBody>
      </p:sp>
      <p:sp>
        <p:nvSpPr>
          <p:cNvPr id="320" name="流程图: 磁盘 319"/>
          <p:cNvSpPr/>
          <p:nvPr/>
        </p:nvSpPr>
        <p:spPr>
          <a:xfrm>
            <a:off x="5678056" y="2634846"/>
            <a:ext cx="977138" cy="374641"/>
          </a:xfrm>
          <a:prstGeom prst="flowChartMagneticDisk">
            <a:avLst/>
          </a:prstGeom>
          <a:gradFill flip="none" rotWithShape="1">
            <a:gsLst>
              <a:gs pos="40000">
                <a:schemeClr val="accent1">
                  <a:lumMod val="20000"/>
                  <a:lumOff val="80000"/>
                  <a:alpha val="0"/>
                </a:schemeClr>
              </a:gs>
              <a:gs pos="100000">
                <a:schemeClr val="accent1">
                  <a:lumMod val="20000"/>
                  <a:lumOff val="80000"/>
                  <a:alpha val="37000"/>
                </a:schemeClr>
              </a:gs>
            </a:gsLst>
            <a:path path="circle">
              <a:fillToRect l="50000" t="50000" r="50000" b="50000"/>
            </a:path>
            <a:tileRect/>
          </a:gradFill>
          <a:ln w="1270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wrap="none"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rPr>
              <a:t>效能评估库</a:t>
            </a:r>
            <a:endParaRPr kumimoji="0" lang="zh-CN" altLang="en-US" sz="1000" b="0"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endParaRPr>
          </a:p>
        </p:txBody>
      </p:sp>
      <p:sp>
        <p:nvSpPr>
          <p:cNvPr id="321" name="流程图: 磁盘 320"/>
          <p:cNvSpPr/>
          <p:nvPr/>
        </p:nvSpPr>
        <p:spPr>
          <a:xfrm>
            <a:off x="6993314" y="2175635"/>
            <a:ext cx="977138" cy="374641"/>
          </a:xfrm>
          <a:prstGeom prst="flowChartMagneticDisk">
            <a:avLst/>
          </a:prstGeom>
          <a:gradFill flip="none" rotWithShape="1">
            <a:gsLst>
              <a:gs pos="40000">
                <a:schemeClr val="accent1">
                  <a:lumMod val="20000"/>
                  <a:lumOff val="80000"/>
                  <a:alpha val="0"/>
                </a:schemeClr>
              </a:gs>
              <a:gs pos="100000">
                <a:schemeClr val="accent1">
                  <a:lumMod val="20000"/>
                  <a:lumOff val="80000"/>
                  <a:alpha val="37000"/>
                </a:schemeClr>
              </a:gs>
            </a:gsLst>
            <a:path path="circle">
              <a:fillToRect l="50000" t="50000" r="50000" b="50000"/>
            </a:path>
            <a:tileRect/>
          </a:gradFill>
          <a:ln w="1270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wrap="none"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000" kern="0" dirty="0">
                <a:solidFill>
                  <a:srgbClr val="0070C0"/>
                </a:solidFill>
                <a:latin typeface="微软雅黑" panose="020B0503020204020204" charset="-122"/>
                <a:ea typeface="微软雅黑" panose="020B0503020204020204" charset="-122"/>
              </a:rPr>
              <a:t>营商环境优化库</a:t>
            </a:r>
            <a:endParaRPr lang="zh-CN" altLang="en-US" sz="1000" kern="0" dirty="0">
              <a:solidFill>
                <a:srgbClr val="0070C0"/>
              </a:solidFill>
              <a:latin typeface="微软雅黑" panose="020B0503020204020204" charset="-122"/>
              <a:ea typeface="微软雅黑" panose="020B0503020204020204" charset="-122"/>
            </a:endParaRPr>
          </a:p>
        </p:txBody>
      </p:sp>
      <p:sp>
        <p:nvSpPr>
          <p:cNvPr id="322" name="流程图: 磁盘 321"/>
          <p:cNvSpPr/>
          <p:nvPr/>
        </p:nvSpPr>
        <p:spPr>
          <a:xfrm>
            <a:off x="6993314" y="2643766"/>
            <a:ext cx="977138" cy="374641"/>
          </a:xfrm>
          <a:prstGeom prst="flowChartMagneticDisk">
            <a:avLst/>
          </a:prstGeom>
          <a:gradFill flip="none" rotWithShape="1">
            <a:gsLst>
              <a:gs pos="40000">
                <a:schemeClr val="accent1">
                  <a:lumMod val="20000"/>
                  <a:lumOff val="80000"/>
                  <a:alpha val="0"/>
                </a:schemeClr>
              </a:gs>
              <a:gs pos="100000">
                <a:schemeClr val="accent1">
                  <a:lumMod val="20000"/>
                  <a:lumOff val="80000"/>
                  <a:alpha val="37000"/>
                </a:schemeClr>
              </a:gs>
            </a:gsLst>
            <a:path path="circle">
              <a:fillToRect l="50000" t="50000" r="50000" b="50000"/>
            </a:path>
            <a:tileRect/>
          </a:gradFill>
          <a:ln w="1270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wrap="none"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rPr>
              <a:t>……</a:t>
            </a:r>
            <a:endParaRPr kumimoji="0" lang="en-US" altLang="zh-CN" sz="1000" b="0"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endParaRPr>
          </a:p>
        </p:txBody>
      </p:sp>
      <p:grpSp>
        <p:nvGrpSpPr>
          <p:cNvPr id="341" name="组合 340"/>
          <p:cNvGrpSpPr/>
          <p:nvPr/>
        </p:nvGrpSpPr>
        <p:grpSpPr>
          <a:xfrm>
            <a:off x="560845" y="1908508"/>
            <a:ext cx="1030512" cy="493146"/>
            <a:chOff x="560845" y="1908508"/>
            <a:chExt cx="1030512" cy="493146"/>
          </a:xfrm>
        </p:grpSpPr>
        <p:sp>
          <p:nvSpPr>
            <p:cNvPr id="330" name="流程图: 磁盘 329"/>
            <p:cNvSpPr/>
            <p:nvPr/>
          </p:nvSpPr>
          <p:spPr>
            <a:xfrm>
              <a:off x="560845" y="1908508"/>
              <a:ext cx="1030512" cy="493146"/>
            </a:xfrm>
            <a:prstGeom prst="flowChartMagneticDisk">
              <a:avLst/>
            </a:prstGeom>
            <a:gradFill flip="none" rotWithShape="1">
              <a:gsLst>
                <a:gs pos="23000">
                  <a:srgbClr val="009DD9"/>
                </a:gs>
                <a:gs pos="100000">
                  <a:srgbClr val="009DD9">
                    <a:lumMod val="90000"/>
                    <a:lumOff val="10000"/>
                  </a:srgbClr>
                </a:gs>
              </a:gsLst>
              <a:path path="circle">
                <a:fillToRect l="100000" t="100000"/>
              </a:path>
              <a:tileRect r="-100000" b="-100000"/>
            </a:gradFill>
            <a:ln w="12700" cap="flat" cmpd="sng" algn="ctr">
              <a:solidFill>
                <a:srgbClr val="0F6FC6">
                  <a:lumMod val="20000"/>
                  <a:lumOff val="80000"/>
                </a:srgbClr>
              </a:solidFill>
              <a:prstDash val="solid"/>
              <a:miter lim="800000"/>
            </a:ln>
            <a:effectLst>
              <a:outerShdw blurRad="190500" dist="76200" dir="5400000" sx="103000" sy="103000" algn="ctr" rotWithShape="0">
                <a:srgbClr val="009DD9">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dirty="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p:nvSpPr>
            <p:cNvPr id="331" name="文本框 330"/>
            <p:cNvSpPr txBox="1"/>
            <p:nvPr/>
          </p:nvSpPr>
          <p:spPr>
            <a:xfrm>
              <a:off x="619617" y="2068867"/>
              <a:ext cx="954107" cy="246221"/>
            </a:xfrm>
            <a:prstGeom prst="rect">
              <a:avLst/>
            </a:prstGeom>
            <a:noFill/>
          </p:spPr>
          <p:txBody>
            <a:bodyPr wrap="none" rtlCol="0">
              <a:spAutoFit/>
            </a:bodyPr>
            <a:lstStyle/>
            <a:p>
              <a:pPr algn="ctr"/>
              <a:r>
                <a:rPr lang="zh-CN" altLang="en-US" sz="1000" dirty="0">
                  <a:solidFill>
                    <a:srgbClr val="FFFFFF"/>
                  </a:solidFill>
                  <a:latin typeface="微软雅黑" panose="020B0503020204020204" charset="-122"/>
                  <a:ea typeface="微软雅黑" panose="020B0503020204020204" charset="-122"/>
                </a:rPr>
                <a:t>招采业务系统</a:t>
              </a:r>
              <a:endParaRPr lang="zh-CN" altLang="en-US" sz="1000" dirty="0">
                <a:solidFill>
                  <a:srgbClr val="FFFFFF"/>
                </a:solidFill>
                <a:latin typeface="微软雅黑" panose="020B0503020204020204" charset="-122"/>
                <a:ea typeface="微软雅黑" panose="020B0503020204020204" charset="-122"/>
              </a:endParaRPr>
            </a:p>
          </p:txBody>
        </p:sp>
      </p:grpSp>
      <p:grpSp>
        <p:nvGrpSpPr>
          <p:cNvPr id="343" name="组合 342"/>
          <p:cNvGrpSpPr/>
          <p:nvPr/>
        </p:nvGrpSpPr>
        <p:grpSpPr>
          <a:xfrm>
            <a:off x="550157" y="3435994"/>
            <a:ext cx="1030512" cy="493146"/>
            <a:chOff x="550157" y="3330029"/>
            <a:chExt cx="1030512" cy="493146"/>
          </a:xfrm>
        </p:grpSpPr>
        <p:sp>
          <p:nvSpPr>
            <p:cNvPr id="334" name="流程图: 磁盘 333"/>
            <p:cNvSpPr/>
            <p:nvPr/>
          </p:nvSpPr>
          <p:spPr>
            <a:xfrm>
              <a:off x="550157" y="3330029"/>
              <a:ext cx="1030512" cy="493146"/>
            </a:xfrm>
            <a:prstGeom prst="flowChartMagneticDisk">
              <a:avLst/>
            </a:prstGeom>
            <a:gradFill flip="none" rotWithShape="1">
              <a:gsLst>
                <a:gs pos="23000">
                  <a:srgbClr val="009DD9"/>
                </a:gs>
                <a:gs pos="100000">
                  <a:srgbClr val="009DD9">
                    <a:lumMod val="90000"/>
                    <a:lumOff val="10000"/>
                  </a:srgbClr>
                </a:gs>
              </a:gsLst>
              <a:path path="circle">
                <a:fillToRect l="100000" t="100000"/>
              </a:path>
              <a:tileRect r="-100000" b="-100000"/>
            </a:gradFill>
            <a:ln w="12700" cap="flat" cmpd="sng" algn="ctr">
              <a:solidFill>
                <a:srgbClr val="0F6FC6">
                  <a:lumMod val="20000"/>
                  <a:lumOff val="80000"/>
                </a:srgbClr>
              </a:solidFill>
              <a:prstDash val="solid"/>
              <a:miter lim="800000"/>
            </a:ln>
            <a:effectLst>
              <a:outerShdw blurRad="190500" dist="76200" dir="5400000" sx="103000" sy="103000" algn="ctr" rotWithShape="0">
                <a:srgbClr val="009DD9">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dirty="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p:nvSpPr>
            <p:cNvPr id="335" name="文本框 334"/>
            <p:cNvSpPr txBox="1"/>
            <p:nvPr/>
          </p:nvSpPr>
          <p:spPr>
            <a:xfrm>
              <a:off x="740544" y="3490388"/>
              <a:ext cx="690880" cy="245110"/>
            </a:xfrm>
            <a:prstGeom prst="rect">
              <a:avLst/>
            </a:prstGeom>
            <a:noFill/>
          </p:spPr>
          <p:txBody>
            <a:bodyPr wrap="none" rtlCol="0">
              <a:spAutoFit/>
            </a:bodyPr>
            <a:lstStyle/>
            <a:p>
              <a:pPr algn="ctr"/>
              <a:r>
                <a:rPr lang="zh-CN" altLang="en-US" sz="1000" dirty="0">
                  <a:solidFill>
                    <a:srgbClr val="FFFFFF"/>
                  </a:solidFill>
                  <a:latin typeface="微软雅黑" panose="020B0503020204020204" charset="-122"/>
                  <a:ea typeface="微软雅黑" panose="020B0503020204020204" charset="-122"/>
                </a:rPr>
                <a:t>网站系统</a:t>
              </a:r>
              <a:endParaRPr lang="zh-CN" altLang="en-US" sz="1000" dirty="0">
                <a:solidFill>
                  <a:srgbClr val="FFFFFF"/>
                </a:solidFill>
                <a:latin typeface="微软雅黑" panose="020B0503020204020204" charset="-122"/>
                <a:ea typeface="微软雅黑" panose="020B0503020204020204" charset="-122"/>
              </a:endParaRPr>
            </a:p>
          </p:txBody>
        </p:sp>
      </p:grpSp>
      <p:grpSp>
        <p:nvGrpSpPr>
          <p:cNvPr id="345" name="组合 344"/>
          <p:cNvGrpSpPr/>
          <p:nvPr/>
        </p:nvGrpSpPr>
        <p:grpSpPr>
          <a:xfrm>
            <a:off x="550157" y="4325303"/>
            <a:ext cx="1030512" cy="493146"/>
            <a:chOff x="550157" y="4963478"/>
            <a:chExt cx="1030512" cy="493146"/>
          </a:xfrm>
        </p:grpSpPr>
        <p:sp>
          <p:nvSpPr>
            <p:cNvPr id="338" name="流程图: 磁盘 337"/>
            <p:cNvSpPr/>
            <p:nvPr/>
          </p:nvSpPr>
          <p:spPr>
            <a:xfrm>
              <a:off x="550157" y="4963478"/>
              <a:ext cx="1030512" cy="493146"/>
            </a:xfrm>
            <a:prstGeom prst="flowChartMagneticDisk">
              <a:avLst/>
            </a:prstGeom>
            <a:gradFill flip="none" rotWithShape="1">
              <a:gsLst>
                <a:gs pos="23000">
                  <a:srgbClr val="009DD9"/>
                </a:gs>
                <a:gs pos="100000">
                  <a:srgbClr val="009DD9">
                    <a:lumMod val="90000"/>
                    <a:lumOff val="10000"/>
                  </a:srgbClr>
                </a:gs>
              </a:gsLst>
              <a:path path="circle">
                <a:fillToRect l="100000" t="100000"/>
              </a:path>
              <a:tileRect r="-100000" b="-100000"/>
            </a:gradFill>
            <a:ln w="12700" cap="flat" cmpd="sng" algn="ctr">
              <a:solidFill>
                <a:srgbClr val="0F6FC6">
                  <a:lumMod val="20000"/>
                  <a:lumOff val="80000"/>
                </a:srgbClr>
              </a:solidFill>
              <a:prstDash val="solid"/>
              <a:miter lim="800000"/>
            </a:ln>
            <a:effectLst>
              <a:outerShdw blurRad="190500" dist="76200" dir="5400000" sx="103000" sy="103000" algn="ctr" rotWithShape="0">
                <a:srgbClr val="009DD9">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dirty="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p:nvSpPr>
            <p:cNvPr id="339" name="文本框 338"/>
            <p:cNvSpPr txBox="1"/>
            <p:nvPr/>
          </p:nvSpPr>
          <p:spPr>
            <a:xfrm>
              <a:off x="941545" y="5123837"/>
              <a:ext cx="288861" cy="246221"/>
            </a:xfrm>
            <a:prstGeom prst="rect">
              <a:avLst/>
            </a:prstGeom>
            <a:noFill/>
          </p:spPr>
          <p:txBody>
            <a:bodyPr wrap="none" rtlCol="0">
              <a:spAutoFit/>
            </a:bodyPr>
            <a:lstStyle/>
            <a:p>
              <a:pPr algn="ctr"/>
              <a:r>
                <a:rPr lang="en-US" altLang="zh-CN" sz="1000" dirty="0">
                  <a:solidFill>
                    <a:srgbClr val="FFFFFF"/>
                  </a:solidFill>
                  <a:latin typeface="微软雅黑" panose="020B0503020204020204" charset="-122"/>
                  <a:ea typeface="微软雅黑" panose="020B0503020204020204" charset="-122"/>
                </a:rPr>
                <a:t>…</a:t>
              </a:r>
              <a:endParaRPr lang="zh-CN" altLang="en-US" sz="1000" dirty="0">
                <a:solidFill>
                  <a:srgbClr val="FFFFFF"/>
                </a:solidFill>
                <a:latin typeface="微软雅黑" panose="020B0503020204020204" charset="-122"/>
                <a:ea typeface="微软雅黑" panose="020B0503020204020204" charset="-122"/>
              </a:endParaRPr>
            </a:p>
          </p:txBody>
        </p:sp>
      </p:grpSp>
      <p:grpSp>
        <p:nvGrpSpPr>
          <p:cNvPr id="342" name="组合 341"/>
          <p:cNvGrpSpPr/>
          <p:nvPr/>
        </p:nvGrpSpPr>
        <p:grpSpPr>
          <a:xfrm>
            <a:off x="551544" y="2672251"/>
            <a:ext cx="1030512" cy="493146"/>
            <a:chOff x="551544" y="2669892"/>
            <a:chExt cx="1030512" cy="493146"/>
          </a:xfrm>
        </p:grpSpPr>
        <p:sp>
          <p:nvSpPr>
            <p:cNvPr id="332" name="流程图: 磁盘 331"/>
            <p:cNvSpPr/>
            <p:nvPr/>
          </p:nvSpPr>
          <p:spPr>
            <a:xfrm>
              <a:off x="551544" y="2669892"/>
              <a:ext cx="1030512" cy="493146"/>
            </a:xfrm>
            <a:prstGeom prst="flowChartMagneticDisk">
              <a:avLst/>
            </a:prstGeom>
            <a:gradFill flip="none" rotWithShape="1">
              <a:gsLst>
                <a:gs pos="23000">
                  <a:srgbClr val="009DD9"/>
                </a:gs>
                <a:gs pos="100000">
                  <a:srgbClr val="009DD9">
                    <a:lumMod val="90000"/>
                    <a:lumOff val="10000"/>
                  </a:srgbClr>
                </a:gs>
              </a:gsLst>
              <a:path path="circle">
                <a:fillToRect l="100000" t="100000"/>
              </a:path>
              <a:tileRect r="-100000" b="-100000"/>
            </a:gradFill>
            <a:ln w="12700" cap="flat" cmpd="sng" algn="ctr">
              <a:solidFill>
                <a:srgbClr val="0F6FC6">
                  <a:lumMod val="20000"/>
                  <a:lumOff val="80000"/>
                </a:srgbClr>
              </a:solidFill>
              <a:prstDash val="solid"/>
              <a:miter lim="800000"/>
            </a:ln>
            <a:effectLst>
              <a:outerShdw blurRad="190500" dist="76200" dir="5400000" sx="103000" sy="103000" algn="ctr" rotWithShape="0">
                <a:srgbClr val="009DD9">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dirty="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p:nvSpPr>
            <p:cNvPr id="340" name="文本框 339"/>
            <p:cNvSpPr txBox="1"/>
            <p:nvPr/>
          </p:nvSpPr>
          <p:spPr>
            <a:xfrm>
              <a:off x="648154" y="2853802"/>
              <a:ext cx="825867" cy="246221"/>
            </a:xfrm>
            <a:prstGeom prst="rect">
              <a:avLst/>
            </a:prstGeom>
            <a:noFill/>
          </p:spPr>
          <p:txBody>
            <a:bodyPr wrap="none" rtlCol="0">
              <a:spAutoFit/>
            </a:bodyPr>
            <a:lstStyle/>
            <a:p>
              <a:pPr algn="ctr"/>
              <a:r>
                <a:rPr lang="zh-CN" altLang="en-US" sz="1000" dirty="0">
                  <a:solidFill>
                    <a:srgbClr val="FFFFFF"/>
                  </a:solidFill>
                  <a:latin typeface="微软雅黑" panose="020B0503020204020204" charset="-122"/>
                  <a:ea typeface="微软雅黑" panose="020B0503020204020204" charset="-122"/>
                </a:rPr>
                <a:t>开评标系统</a:t>
              </a:r>
              <a:endParaRPr lang="zh-CN" altLang="en-US" sz="1000" dirty="0">
                <a:solidFill>
                  <a:srgbClr val="FFFFFF"/>
                </a:solidFill>
                <a:latin typeface="微软雅黑" panose="020B0503020204020204" charset="-122"/>
                <a:ea typeface="微软雅黑" panose="020B0503020204020204" charset="-122"/>
              </a:endParaRPr>
            </a:p>
          </p:txBody>
        </p:sp>
      </p:grpSp>
      <p:grpSp>
        <p:nvGrpSpPr>
          <p:cNvPr id="368" name="组合 367"/>
          <p:cNvGrpSpPr/>
          <p:nvPr/>
        </p:nvGrpSpPr>
        <p:grpSpPr>
          <a:xfrm>
            <a:off x="1906227" y="2007496"/>
            <a:ext cx="355992" cy="2699795"/>
            <a:chOff x="1972469" y="2272284"/>
            <a:chExt cx="355992" cy="2699795"/>
          </a:xfrm>
        </p:grpSpPr>
        <p:sp>
          <p:nvSpPr>
            <p:cNvPr id="369" name="Rounded Rectangle 5"/>
            <p:cNvSpPr/>
            <p:nvPr/>
          </p:nvSpPr>
          <p:spPr>
            <a:xfrm rot="2700000">
              <a:off x="2182593" y="2321392"/>
              <a:ext cx="142414" cy="44197"/>
            </a:xfrm>
            <a:prstGeom prst="roundRect">
              <a:avLst>
                <a:gd name="adj" fmla="val 50000"/>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sp>
          <p:nvSpPr>
            <p:cNvPr id="370" name="Rounded Rectangle 6"/>
            <p:cNvSpPr/>
            <p:nvPr/>
          </p:nvSpPr>
          <p:spPr>
            <a:xfrm rot="8100000">
              <a:off x="2183095" y="2390422"/>
              <a:ext cx="141976" cy="44197"/>
            </a:xfrm>
            <a:prstGeom prst="roundRect">
              <a:avLst>
                <a:gd name="adj" fmla="val 50000"/>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sp>
          <p:nvSpPr>
            <p:cNvPr id="371" name="Rounded Rectangle 7"/>
            <p:cNvSpPr/>
            <p:nvPr/>
          </p:nvSpPr>
          <p:spPr>
            <a:xfrm>
              <a:off x="1972469" y="2355899"/>
              <a:ext cx="338212" cy="44197"/>
            </a:xfrm>
            <a:prstGeom prst="roundRect">
              <a:avLst>
                <a:gd name="adj" fmla="val 50000"/>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useBgFill="1">
          <p:nvSpPr>
            <p:cNvPr id="372" name="Oval 11"/>
            <p:cNvSpPr/>
            <p:nvPr/>
          </p:nvSpPr>
          <p:spPr>
            <a:xfrm>
              <a:off x="2268041" y="2357723"/>
              <a:ext cx="40229" cy="40551"/>
            </a:xfrm>
            <a:prstGeom prst="ellipse">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373" name="Rounded Rectangle 5"/>
            <p:cNvSpPr/>
            <p:nvPr/>
          </p:nvSpPr>
          <p:spPr>
            <a:xfrm rot="2700000">
              <a:off x="2182593" y="3083392"/>
              <a:ext cx="142414" cy="44197"/>
            </a:xfrm>
            <a:prstGeom prst="roundRect">
              <a:avLst>
                <a:gd name="adj" fmla="val 50000"/>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sp>
          <p:nvSpPr>
            <p:cNvPr id="374" name="Rounded Rectangle 6"/>
            <p:cNvSpPr/>
            <p:nvPr/>
          </p:nvSpPr>
          <p:spPr>
            <a:xfrm rot="8100000">
              <a:off x="2183095" y="3152422"/>
              <a:ext cx="141976" cy="44197"/>
            </a:xfrm>
            <a:prstGeom prst="roundRect">
              <a:avLst>
                <a:gd name="adj" fmla="val 50000"/>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sp>
          <p:nvSpPr>
            <p:cNvPr id="375" name="Rounded Rectangle 7"/>
            <p:cNvSpPr/>
            <p:nvPr/>
          </p:nvSpPr>
          <p:spPr>
            <a:xfrm>
              <a:off x="1972469" y="3117899"/>
              <a:ext cx="338212" cy="44197"/>
            </a:xfrm>
            <a:prstGeom prst="roundRect">
              <a:avLst>
                <a:gd name="adj" fmla="val 50000"/>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useBgFill="1">
          <p:nvSpPr>
            <p:cNvPr id="376" name="Oval 11"/>
            <p:cNvSpPr/>
            <p:nvPr/>
          </p:nvSpPr>
          <p:spPr>
            <a:xfrm>
              <a:off x="2268041" y="3119723"/>
              <a:ext cx="40229" cy="40551"/>
            </a:xfrm>
            <a:prstGeom prst="ellipse">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377" name="Rounded Rectangle 5"/>
            <p:cNvSpPr/>
            <p:nvPr/>
          </p:nvSpPr>
          <p:spPr>
            <a:xfrm rot="2700000">
              <a:off x="2182593" y="3896192"/>
              <a:ext cx="142414" cy="44197"/>
            </a:xfrm>
            <a:prstGeom prst="roundRect">
              <a:avLst>
                <a:gd name="adj" fmla="val 50000"/>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sp>
          <p:nvSpPr>
            <p:cNvPr id="378" name="Rounded Rectangle 6"/>
            <p:cNvSpPr/>
            <p:nvPr/>
          </p:nvSpPr>
          <p:spPr>
            <a:xfrm rot="8100000">
              <a:off x="2183095" y="3965222"/>
              <a:ext cx="141976" cy="44197"/>
            </a:xfrm>
            <a:prstGeom prst="roundRect">
              <a:avLst>
                <a:gd name="adj" fmla="val 50000"/>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sp>
          <p:nvSpPr>
            <p:cNvPr id="379" name="Rounded Rectangle 7"/>
            <p:cNvSpPr/>
            <p:nvPr/>
          </p:nvSpPr>
          <p:spPr>
            <a:xfrm>
              <a:off x="1972469" y="3930699"/>
              <a:ext cx="338212" cy="44197"/>
            </a:xfrm>
            <a:prstGeom prst="roundRect">
              <a:avLst>
                <a:gd name="adj" fmla="val 50000"/>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useBgFill="1">
          <p:nvSpPr>
            <p:cNvPr id="380" name="Oval 11"/>
            <p:cNvSpPr/>
            <p:nvPr/>
          </p:nvSpPr>
          <p:spPr>
            <a:xfrm>
              <a:off x="2268041" y="3932523"/>
              <a:ext cx="40229" cy="40551"/>
            </a:xfrm>
            <a:prstGeom prst="ellipse">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385" name="Rounded Rectangle 5"/>
            <p:cNvSpPr/>
            <p:nvPr/>
          </p:nvSpPr>
          <p:spPr>
            <a:xfrm rot="2700000">
              <a:off x="2182593" y="4787732"/>
              <a:ext cx="142414" cy="44197"/>
            </a:xfrm>
            <a:prstGeom prst="roundRect">
              <a:avLst>
                <a:gd name="adj" fmla="val 50000"/>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sp>
          <p:nvSpPr>
            <p:cNvPr id="386" name="Rounded Rectangle 6"/>
            <p:cNvSpPr/>
            <p:nvPr/>
          </p:nvSpPr>
          <p:spPr>
            <a:xfrm rot="8100000">
              <a:off x="2183095" y="4927882"/>
              <a:ext cx="141976" cy="44197"/>
            </a:xfrm>
            <a:prstGeom prst="roundRect">
              <a:avLst>
                <a:gd name="adj" fmla="val 50000"/>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sp>
          <p:nvSpPr>
            <p:cNvPr id="387" name="Rounded Rectangle 7"/>
            <p:cNvSpPr/>
            <p:nvPr/>
          </p:nvSpPr>
          <p:spPr>
            <a:xfrm>
              <a:off x="1990249" y="4851449"/>
              <a:ext cx="338212" cy="44197"/>
            </a:xfrm>
            <a:prstGeom prst="roundRect">
              <a:avLst>
                <a:gd name="adj" fmla="val 50000"/>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useBgFill="1">
          <p:nvSpPr>
            <p:cNvPr id="388" name="Oval 11"/>
            <p:cNvSpPr/>
            <p:nvPr/>
          </p:nvSpPr>
          <p:spPr>
            <a:xfrm>
              <a:off x="2268041" y="4844383"/>
              <a:ext cx="40229" cy="40551"/>
            </a:xfrm>
            <a:prstGeom prst="ellipse">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grpSp>
      <p:sp>
        <p:nvSpPr>
          <p:cNvPr id="389" name="文本框 388"/>
          <p:cNvSpPr txBox="1"/>
          <p:nvPr/>
        </p:nvSpPr>
        <p:spPr>
          <a:xfrm>
            <a:off x="1682737" y="3378732"/>
            <a:ext cx="723276" cy="253916"/>
          </a:xfrm>
          <a:prstGeom prst="rect">
            <a:avLst/>
          </a:prstGeom>
          <a:noFill/>
        </p:spPr>
        <p:txBody>
          <a:bodyPr wrap="none" rtlCol="0">
            <a:spAutoFit/>
          </a:bodyPr>
          <a:lstStyle/>
          <a:p>
            <a:pPr algn="ctr"/>
            <a:r>
              <a:rPr lang="zh-CN" altLang="en-US" sz="1050" dirty="0">
                <a:solidFill>
                  <a:srgbClr val="009DD9"/>
                </a:solidFill>
                <a:latin typeface="微软雅黑" panose="020B0503020204020204" charset="-122"/>
                <a:ea typeface="微软雅黑" panose="020B0503020204020204" charset="-122"/>
              </a:rPr>
              <a:t>数据采集</a:t>
            </a:r>
            <a:endParaRPr lang="zh-CN" altLang="en-US" sz="1050" dirty="0">
              <a:solidFill>
                <a:srgbClr val="009DD9"/>
              </a:solidFill>
              <a:latin typeface="微软雅黑" panose="020B0503020204020204" charset="-122"/>
              <a:ea typeface="微软雅黑" panose="020B0503020204020204" charset="-122"/>
            </a:endParaRPr>
          </a:p>
        </p:txBody>
      </p:sp>
      <p:grpSp>
        <p:nvGrpSpPr>
          <p:cNvPr id="403" name="组合 402"/>
          <p:cNvGrpSpPr/>
          <p:nvPr/>
        </p:nvGrpSpPr>
        <p:grpSpPr>
          <a:xfrm>
            <a:off x="2243282" y="861869"/>
            <a:ext cx="1799590" cy="388937"/>
            <a:chOff x="1878013" y="1800225"/>
            <a:chExt cx="1074737" cy="388937"/>
          </a:xfrm>
        </p:grpSpPr>
        <p:sp>
          <p:nvSpPr>
            <p:cNvPr id="404" name="矩形 403"/>
            <p:cNvSpPr/>
            <p:nvPr/>
          </p:nvSpPr>
          <p:spPr>
            <a:xfrm>
              <a:off x="1878013" y="1800225"/>
              <a:ext cx="1074737" cy="388937"/>
            </a:xfrm>
            <a:prstGeom prst="rect">
              <a:avLst/>
            </a:prstGeom>
            <a:gradFill flip="none" rotWithShape="1">
              <a:gsLst>
                <a:gs pos="62000">
                  <a:srgbClr val="0F6FC6"/>
                </a:gs>
                <a:gs pos="0">
                  <a:srgbClr val="0F6FC6">
                    <a:lumMod val="80000"/>
                    <a:lumOff val="20000"/>
                    <a:alpha val="0"/>
                  </a:srgbClr>
                </a:gs>
              </a:gsLst>
              <a:path path="circle">
                <a:fillToRect l="100000" t="100000"/>
              </a:path>
              <a:tileRect r="-100000" b="-100000"/>
            </a:gradFill>
            <a:ln w="38100" cap="flat" cmpd="sng" algn="ctr">
              <a:noFill/>
              <a:prstDash val="solid"/>
              <a:miter lim="800000"/>
            </a:ln>
            <a:effectLst>
              <a:outerShdw blurRad="411480" dist="123444" dir="5400000" sx="108000" sy="108000" algn="ctr" rotWithShape="0">
                <a:srgbClr val="0F6FC6">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p:nvSpPr>
            <p:cNvPr id="405" name="文本框 404"/>
            <p:cNvSpPr txBox="1"/>
            <p:nvPr/>
          </p:nvSpPr>
          <p:spPr>
            <a:xfrm>
              <a:off x="1881304" y="1856998"/>
              <a:ext cx="800219"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数据建设</a:t>
              </a:r>
              <a:endParaRPr kumimoji="0" lang="zh-CN" altLang="en-US" sz="12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grpSp>
      <p:sp>
        <p:nvSpPr>
          <p:cNvPr id="409" name="文本框 408"/>
          <p:cNvSpPr txBox="1"/>
          <p:nvPr/>
        </p:nvSpPr>
        <p:spPr>
          <a:xfrm>
            <a:off x="6450300" y="1998400"/>
            <a:ext cx="710988" cy="238834"/>
          </a:xfrm>
          <a:prstGeom prst="rect">
            <a:avLst/>
          </a:prstGeom>
          <a:noFill/>
          <a:effectLst/>
        </p:spPr>
        <p:txBody>
          <a:bodyPr wrap="square" lIns="84125" tIns="42062" rIns="84125" bIns="42062" rtlCol="0">
            <a:spAutoFit/>
          </a:bodyPr>
          <a:lstStyle/>
          <a:p>
            <a:pPr algn="ctr"/>
            <a:r>
              <a:rPr lang="zh-CN" altLang="en-US" sz="1000" b="1" dirty="0">
                <a:solidFill>
                  <a:srgbClr val="0F6FC6"/>
                </a:solidFill>
                <a:latin typeface="微软雅黑" panose="020B0503020204020204" charset="-122"/>
                <a:ea typeface="微软雅黑" panose="020B0503020204020204" charset="-122"/>
              </a:rPr>
              <a:t>专题库</a:t>
            </a:r>
            <a:endParaRPr lang="zh-CN" altLang="en-US" sz="1000" b="1" dirty="0">
              <a:solidFill>
                <a:srgbClr val="0F6FC6"/>
              </a:solidFill>
              <a:latin typeface="微软雅黑" panose="020B0503020204020204" charset="-122"/>
              <a:ea typeface="微软雅黑" panose="020B0503020204020204" charset="-122"/>
            </a:endParaRPr>
          </a:p>
        </p:txBody>
      </p:sp>
      <p:grpSp>
        <p:nvGrpSpPr>
          <p:cNvPr id="446" name="组合 445"/>
          <p:cNvGrpSpPr/>
          <p:nvPr/>
        </p:nvGrpSpPr>
        <p:grpSpPr>
          <a:xfrm>
            <a:off x="2846629" y="5941499"/>
            <a:ext cx="329822" cy="188399"/>
            <a:chOff x="-657387" y="2704312"/>
            <a:chExt cx="552324" cy="480848"/>
          </a:xfrm>
          <a:effectLst>
            <a:outerShdw blurRad="190500" sx="90000" sy="90000" algn="ctr" rotWithShape="0">
              <a:srgbClr val="009DD9">
                <a:alpha val="40000"/>
              </a:srgbClr>
            </a:outerShdw>
          </a:effectLst>
        </p:grpSpPr>
        <p:sp>
          <p:nvSpPr>
            <p:cNvPr id="447" name="菱形 446"/>
            <p:cNvSpPr/>
            <p:nvPr/>
          </p:nvSpPr>
          <p:spPr>
            <a:xfrm>
              <a:off x="-657387" y="2704312"/>
              <a:ext cx="552324" cy="351809"/>
            </a:xfrm>
            <a:prstGeom prst="diamond">
              <a:avLst/>
            </a:prstGeom>
            <a:solidFill>
              <a:srgbClr val="009DD9"/>
            </a:solidFill>
            <a:ln w="3175" cap="flat" cmpd="sng" algn="ctr">
              <a:solidFill>
                <a:srgbClr val="FFFFFF">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448" name="任意多边形: 形状 447"/>
            <p:cNvSpPr/>
            <p:nvPr/>
          </p:nvSpPr>
          <p:spPr>
            <a:xfrm>
              <a:off x="-657225" y="2880360"/>
              <a:ext cx="274320" cy="304800"/>
            </a:xfrm>
            <a:custGeom>
              <a:avLst/>
              <a:gdLst>
                <a:gd name="connsiteX0" fmla="*/ 0 w 274320"/>
                <a:gd name="connsiteY0" fmla="*/ 0 h 304800"/>
                <a:gd name="connsiteX1" fmla="*/ 0 w 274320"/>
                <a:gd name="connsiteY1" fmla="*/ 135255 h 304800"/>
                <a:gd name="connsiteX2" fmla="*/ 274320 w 274320"/>
                <a:gd name="connsiteY2" fmla="*/ 304800 h 304800"/>
                <a:gd name="connsiteX3" fmla="*/ 274320 w 274320"/>
                <a:gd name="connsiteY3" fmla="*/ 175260 h 304800"/>
                <a:gd name="connsiteX4" fmla="*/ 0 w 274320"/>
                <a:gd name="connsiteY4" fmla="*/ 0 h 30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320" h="304800">
                  <a:moveTo>
                    <a:pt x="0" y="0"/>
                  </a:moveTo>
                  <a:lnTo>
                    <a:pt x="0" y="135255"/>
                  </a:lnTo>
                  <a:lnTo>
                    <a:pt x="274320" y="304800"/>
                  </a:lnTo>
                  <a:lnTo>
                    <a:pt x="274320" y="175260"/>
                  </a:lnTo>
                  <a:lnTo>
                    <a:pt x="0" y="0"/>
                  </a:lnTo>
                  <a:close/>
                </a:path>
              </a:pathLst>
            </a:custGeom>
            <a:solidFill>
              <a:srgbClr val="009DD9">
                <a:lumMod val="20000"/>
                <a:lumOff val="80000"/>
              </a:srgbClr>
            </a:solidFill>
            <a:ln w="3175" cap="flat" cmpd="sng" algn="ctr">
              <a:solidFill>
                <a:srgbClr val="FFFFFF">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449" name="任意多边形: 形状 448"/>
            <p:cNvSpPr/>
            <p:nvPr/>
          </p:nvSpPr>
          <p:spPr>
            <a:xfrm flipH="1">
              <a:off x="-384080" y="2880360"/>
              <a:ext cx="274320" cy="304800"/>
            </a:xfrm>
            <a:custGeom>
              <a:avLst/>
              <a:gdLst>
                <a:gd name="connsiteX0" fmla="*/ 0 w 274320"/>
                <a:gd name="connsiteY0" fmla="*/ 0 h 304800"/>
                <a:gd name="connsiteX1" fmla="*/ 0 w 274320"/>
                <a:gd name="connsiteY1" fmla="*/ 135255 h 304800"/>
                <a:gd name="connsiteX2" fmla="*/ 274320 w 274320"/>
                <a:gd name="connsiteY2" fmla="*/ 304800 h 304800"/>
                <a:gd name="connsiteX3" fmla="*/ 274320 w 274320"/>
                <a:gd name="connsiteY3" fmla="*/ 175260 h 304800"/>
                <a:gd name="connsiteX4" fmla="*/ 0 w 274320"/>
                <a:gd name="connsiteY4" fmla="*/ 0 h 30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320" h="304800">
                  <a:moveTo>
                    <a:pt x="0" y="0"/>
                  </a:moveTo>
                  <a:lnTo>
                    <a:pt x="0" y="135255"/>
                  </a:lnTo>
                  <a:lnTo>
                    <a:pt x="274320" y="304800"/>
                  </a:lnTo>
                  <a:lnTo>
                    <a:pt x="274320" y="175260"/>
                  </a:lnTo>
                  <a:lnTo>
                    <a:pt x="0" y="0"/>
                  </a:lnTo>
                  <a:close/>
                </a:path>
              </a:pathLst>
            </a:custGeom>
            <a:solidFill>
              <a:srgbClr val="009DD9">
                <a:lumMod val="20000"/>
                <a:lumOff val="80000"/>
              </a:srgbClr>
            </a:solidFill>
            <a:ln w="3175" cap="flat" cmpd="sng" algn="ctr">
              <a:solidFill>
                <a:srgbClr val="FFFFFF">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grpSp>
      <p:sp>
        <p:nvSpPr>
          <p:cNvPr id="450" name="文本框 449"/>
          <p:cNvSpPr txBox="1"/>
          <p:nvPr/>
        </p:nvSpPr>
        <p:spPr>
          <a:xfrm>
            <a:off x="2729411" y="5722677"/>
            <a:ext cx="542925" cy="245110"/>
          </a:xfrm>
          <a:prstGeom prst="rect">
            <a:avLst/>
          </a:prstGeom>
          <a:noFill/>
        </p:spPr>
        <p:txBody>
          <a:bodyPr wrap="none" rtlCol="0">
            <a:spAutoFit/>
          </a:bodyPr>
          <a:lstStyle/>
          <a:p>
            <a:pPr algn="ctr"/>
            <a:r>
              <a:rPr lang="en-US" altLang="zh-CN" sz="1000" dirty="0">
                <a:solidFill>
                  <a:srgbClr val="000000">
                    <a:lumMod val="75000"/>
                    <a:lumOff val="25000"/>
                  </a:srgbClr>
                </a:solidFill>
                <a:latin typeface="微软雅黑" panose="020B0503020204020204" charset="-122"/>
                <a:ea typeface="微软雅黑" panose="020B0503020204020204" charset="-122"/>
              </a:rPr>
              <a:t>mysql</a:t>
            </a:r>
            <a:endParaRPr lang="en-US" altLang="zh-CN" sz="1000" dirty="0">
              <a:solidFill>
                <a:srgbClr val="000000">
                  <a:lumMod val="75000"/>
                  <a:lumOff val="25000"/>
                </a:srgbClr>
              </a:solidFill>
              <a:latin typeface="微软雅黑" panose="020B0503020204020204" charset="-122"/>
              <a:ea typeface="微软雅黑" panose="020B0503020204020204" charset="-122"/>
            </a:endParaRPr>
          </a:p>
        </p:txBody>
      </p:sp>
      <p:grpSp>
        <p:nvGrpSpPr>
          <p:cNvPr id="451" name="组合 450"/>
          <p:cNvGrpSpPr/>
          <p:nvPr/>
        </p:nvGrpSpPr>
        <p:grpSpPr>
          <a:xfrm>
            <a:off x="5466639" y="5942769"/>
            <a:ext cx="329822" cy="188399"/>
            <a:chOff x="-657387" y="2704312"/>
            <a:chExt cx="552324" cy="480848"/>
          </a:xfrm>
          <a:effectLst>
            <a:outerShdw blurRad="190500" sx="90000" sy="90000" algn="ctr" rotWithShape="0">
              <a:srgbClr val="009DD9">
                <a:alpha val="40000"/>
              </a:srgbClr>
            </a:outerShdw>
          </a:effectLst>
        </p:grpSpPr>
        <p:sp>
          <p:nvSpPr>
            <p:cNvPr id="452" name="菱形 451"/>
            <p:cNvSpPr/>
            <p:nvPr/>
          </p:nvSpPr>
          <p:spPr>
            <a:xfrm>
              <a:off x="-657387" y="2704312"/>
              <a:ext cx="552324" cy="351809"/>
            </a:xfrm>
            <a:prstGeom prst="diamond">
              <a:avLst/>
            </a:prstGeom>
            <a:solidFill>
              <a:srgbClr val="009DD9"/>
            </a:solidFill>
            <a:ln w="3175" cap="flat" cmpd="sng" algn="ctr">
              <a:solidFill>
                <a:srgbClr val="FFFFFF">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453" name="任意多边形: 形状 452"/>
            <p:cNvSpPr/>
            <p:nvPr/>
          </p:nvSpPr>
          <p:spPr>
            <a:xfrm>
              <a:off x="-657225" y="2880360"/>
              <a:ext cx="274320" cy="304800"/>
            </a:xfrm>
            <a:custGeom>
              <a:avLst/>
              <a:gdLst>
                <a:gd name="connsiteX0" fmla="*/ 0 w 274320"/>
                <a:gd name="connsiteY0" fmla="*/ 0 h 304800"/>
                <a:gd name="connsiteX1" fmla="*/ 0 w 274320"/>
                <a:gd name="connsiteY1" fmla="*/ 135255 h 304800"/>
                <a:gd name="connsiteX2" fmla="*/ 274320 w 274320"/>
                <a:gd name="connsiteY2" fmla="*/ 304800 h 304800"/>
                <a:gd name="connsiteX3" fmla="*/ 274320 w 274320"/>
                <a:gd name="connsiteY3" fmla="*/ 175260 h 304800"/>
                <a:gd name="connsiteX4" fmla="*/ 0 w 274320"/>
                <a:gd name="connsiteY4" fmla="*/ 0 h 30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320" h="304800">
                  <a:moveTo>
                    <a:pt x="0" y="0"/>
                  </a:moveTo>
                  <a:lnTo>
                    <a:pt x="0" y="135255"/>
                  </a:lnTo>
                  <a:lnTo>
                    <a:pt x="274320" y="304800"/>
                  </a:lnTo>
                  <a:lnTo>
                    <a:pt x="274320" y="175260"/>
                  </a:lnTo>
                  <a:lnTo>
                    <a:pt x="0" y="0"/>
                  </a:lnTo>
                  <a:close/>
                </a:path>
              </a:pathLst>
            </a:custGeom>
            <a:solidFill>
              <a:srgbClr val="009DD9">
                <a:lumMod val="20000"/>
                <a:lumOff val="80000"/>
              </a:srgbClr>
            </a:solidFill>
            <a:ln w="3175" cap="flat" cmpd="sng" algn="ctr">
              <a:solidFill>
                <a:srgbClr val="FFFFFF">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454" name="任意多边形: 形状 453"/>
            <p:cNvSpPr/>
            <p:nvPr/>
          </p:nvSpPr>
          <p:spPr>
            <a:xfrm flipH="1">
              <a:off x="-384080" y="2880360"/>
              <a:ext cx="274320" cy="304800"/>
            </a:xfrm>
            <a:custGeom>
              <a:avLst/>
              <a:gdLst>
                <a:gd name="connsiteX0" fmla="*/ 0 w 274320"/>
                <a:gd name="connsiteY0" fmla="*/ 0 h 304800"/>
                <a:gd name="connsiteX1" fmla="*/ 0 w 274320"/>
                <a:gd name="connsiteY1" fmla="*/ 135255 h 304800"/>
                <a:gd name="connsiteX2" fmla="*/ 274320 w 274320"/>
                <a:gd name="connsiteY2" fmla="*/ 304800 h 304800"/>
                <a:gd name="connsiteX3" fmla="*/ 274320 w 274320"/>
                <a:gd name="connsiteY3" fmla="*/ 175260 h 304800"/>
                <a:gd name="connsiteX4" fmla="*/ 0 w 274320"/>
                <a:gd name="connsiteY4" fmla="*/ 0 h 30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320" h="304800">
                  <a:moveTo>
                    <a:pt x="0" y="0"/>
                  </a:moveTo>
                  <a:lnTo>
                    <a:pt x="0" y="135255"/>
                  </a:lnTo>
                  <a:lnTo>
                    <a:pt x="274320" y="304800"/>
                  </a:lnTo>
                  <a:lnTo>
                    <a:pt x="274320" y="175260"/>
                  </a:lnTo>
                  <a:lnTo>
                    <a:pt x="0" y="0"/>
                  </a:lnTo>
                  <a:close/>
                </a:path>
              </a:pathLst>
            </a:custGeom>
            <a:solidFill>
              <a:srgbClr val="009DD9">
                <a:lumMod val="20000"/>
                <a:lumOff val="80000"/>
              </a:srgbClr>
            </a:solidFill>
            <a:ln w="3175" cap="flat" cmpd="sng" algn="ctr">
              <a:solidFill>
                <a:srgbClr val="FFFFFF">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grpSp>
      <p:sp>
        <p:nvSpPr>
          <p:cNvPr id="455" name="文本框 454"/>
          <p:cNvSpPr txBox="1"/>
          <p:nvPr/>
        </p:nvSpPr>
        <p:spPr>
          <a:xfrm>
            <a:off x="5382444" y="5723947"/>
            <a:ext cx="476885" cy="245110"/>
          </a:xfrm>
          <a:prstGeom prst="rect">
            <a:avLst/>
          </a:prstGeom>
          <a:noFill/>
        </p:spPr>
        <p:txBody>
          <a:bodyPr wrap="none" rtlCol="0">
            <a:spAutoFit/>
          </a:bodyPr>
          <a:lstStyle/>
          <a:p>
            <a:pPr algn="ctr"/>
            <a:r>
              <a:rPr lang="en-US" altLang="zh-CN" sz="1000" dirty="0" err="1">
                <a:solidFill>
                  <a:srgbClr val="000000">
                    <a:lumMod val="75000"/>
                    <a:lumOff val="25000"/>
                  </a:srgbClr>
                </a:solidFill>
                <a:latin typeface="微软雅黑" panose="020B0503020204020204" charset="-122"/>
                <a:ea typeface="微软雅黑" panose="020B0503020204020204" charset="-122"/>
              </a:rPr>
              <a:t>redis</a:t>
            </a:r>
            <a:endParaRPr lang="en-US" altLang="zh-CN" sz="1000" dirty="0">
              <a:solidFill>
                <a:srgbClr val="000000">
                  <a:lumMod val="75000"/>
                  <a:lumOff val="25000"/>
                </a:srgbClr>
              </a:solidFill>
              <a:latin typeface="微软雅黑" panose="020B0503020204020204" charset="-122"/>
              <a:ea typeface="微软雅黑" panose="020B0503020204020204" charset="-122"/>
            </a:endParaRPr>
          </a:p>
        </p:txBody>
      </p:sp>
      <p:grpSp>
        <p:nvGrpSpPr>
          <p:cNvPr id="456" name="组合 455"/>
          <p:cNvGrpSpPr/>
          <p:nvPr/>
        </p:nvGrpSpPr>
        <p:grpSpPr>
          <a:xfrm>
            <a:off x="8526704" y="5941499"/>
            <a:ext cx="329822" cy="188399"/>
            <a:chOff x="-657387" y="2704312"/>
            <a:chExt cx="552324" cy="480848"/>
          </a:xfrm>
          <a:effectLst>
            <a:outerShdw blurRad="190500" sx="90000" sy="90000" algn="ctr" rotWithShape="0">
              <a:srgbClr val="009DD9">
                <a:alpha val="40000"/>
              </a:srgbClr>
            </a:outerShdw>
          </a:effectLst>
        </p:grpSpPr>
        <p:sp>
          <p:nvSpPr>
            <p:cNvPr id="457" name="菱形 456"/>
            <p:cNvSpPr/>
            <p:nvPr/>
          </p:nvSpPr>
          <p:spPr>
            <a:xfrm>
              <a:off x="-657387" y="2704312"/>
              <a:ext cx="552324" cy="351809"/>
            </a:xfrm>
            <a:prstGeom prst="diamond">
              <a:avLst/>
            </a:prstGeom>
            <a:solidFill>
              <a:srgbClr val="009DD9"/>
            </a:solidFill>
            <a:ln w="3175" cap="flat" cmpd="sng" algn="ctr">
              <a:solidFill>
                <a:srgbClr val="FFFFFF">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458" name="任意多边形: 形状 457"/>
            <p:cNvSpPr/>
            <p:nvPr/>
          </p:nvSpPr>
          <p:spPr>
            <a:xfrm>
              <a:off x="-657225" y="2880360"/>
              <a:ext cx="274320" cy="304800"/>
            </a:xfrm>
            <a:custGeom>
              <a:avLst/>
              <a:gdLst>
                <a:gd name="connsiteX0" fmla="*/ 0 w 274320"/>
                <a:gd name="connsiteY0" fmla="*/ 0 h 304800"/>
                <a:gd name="connsiteX1" fmla="*/ 0 w 274320"/>
                <a:gd name="connsiteY1" fmla="*/ 135255 h 304800"/>
                <a:gd name="connsiteX2" fmla="*/ 274320 w 274320"/>
                <a:gd name="connsiteY2" fmla="*/ 304800 h 304800"/>
                <a:gd name="connsiteX3" fmla="*/ 274320 w 274320"/>
                <a:gd name="connsiteY3" fmla="*/ 175260 h 304800"/>
                <a:gd name="connsiteX4" fmla="*/ 0 w 274320"/>
                <a:gd name="connsiteY4" fmla="*/ 0 h 30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320" h="304800">
                  <a:moveTo>
                    <a:pt x="0" y="0"/>
                  </a:moveTo>
                  <a:lnTo>
                    <a:pt x="0" y="135255"/>
                  </a:lnTo>
                  <a:lnTo>
                    <a:pt x="274320" y="304800"/>
                  </a:lnTo>
                  <a:lnTo>
                    <a:pt x="274320" y="175260"/>
                  </a:lnTo>
                  <a:lnTo>
                    <a:pt x="0" y="0"/>
                  </a:lnTo>
                  <a:close/>
                </a:path>
              </a:pathLst>
            </a:custGeom>
            <a:solidFill>
              <a:srgbClr val="009DD9">
                <a:lumMod val="20000"/>
                <a:lumOff val="80000"/>
              </a:srgbClr>
            </a:solidFill>
            <a:ln w="3175" cap="flat" cmpd="sng" algn="ctr">
              <a:solidFill>
                <a:srgbClr val="FFFFFF">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459" name="任意多边形: 形状 458"/>
            <p:cNvSpPr/>
            <p:nvPr/>
          </p:nvSpPr>
          <p:spPr>
            <a:xfrm flipH="1">
              <a:off x="-384080" y="2880360"/>
              <a:ext cx="274320" cy="304800"/>
            </a:xfrm>
            <a:custGeom>
              <a:avLst/>
              <a:gdLst>
                <a:gd name="connsiteX0" fmla="*/ 0 w 274320"/>
                <a:gd name="connsiteY0" fmla="*/ 0 h 304800"/>
                <a:gd name="connsiteX1" fmla="*/ 0 w 274320"/>
                <a:gd name="connsiteY1" fmla="*/ 135255 h 304800"/>
                <a:gd name="connsiteX2" fmla="*/ 274320 w 274320"/>
                <a:gd name="connsiteY2" fmla="*/ 304800 h 304800"/>
                <a:gd name="connsiteX3" fmla="*/ 274320 w 274320"/>
                <a:gd name="connsiteY3" fmla="*/ 175260 h 304800"/>
                <a:gd name="connsiteX4" fmla="*/ 0 w 274320"/>
                <a:gd name="connsiteY4" fmla="*/ 0 h 30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320" h="304800">
                  <a:moveTo>
                    <a:pt x="0" y="0"/>
                  </a:moveTo>
                  <a:lnTo>
                    <a:pt x="0" y="135255"/>
                  </a:lnTo>
                  <a:lnTo>
                    <a:pt x="274320" y="304800"/>
                  </a:lnTo>
                  <a:lnTo>
                    <a:pt x="274320" y="175260"/>
                  </a:lnTo>
                  <a:lnTo>
                    <a:pt x="0" y="0"/>
                  </a:lnTo>
                  <a:close/>
                </a:path>
              </a:pathLst>
            </a:custGeom>
            <a:solidFill>
              <a:srgbClr val="009DD9">
                <a:lumMod val="20000"/>
                <a:lumOff val="80000"/>
              </a:srgbClr>
            </a:solidFill>
            <a:ln w="3175" cap="flat" cmpd="sng" algn="ctr">
              <a:solidFill>
                <a:srgbClr val="FFFFFF">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grpSp>
      <p:sp>
        <p:nvSpPr>
          <p:cNvPr id="460" name="文本框 459"/>
          <p:cNvSpPr txBox="1"/>
          <p:nvPr/>
        </p:nvSpPr>
        <p:spPr>
          <a:xfrm>
            <a:off x="8516481" y="5722677"/>
            <a:ext cx="328936" cy="246221"/>
          </a:xfrm>
          <a:prstGeom prst="rect">
            <a:avLst/>
          </a:prstGeom>
          <a:noFill/>
        </p:spPr>
        <p:txBody>
          <a:bodyPr wrap="none" rtlCol="0">
            <a:spAutoFit/>
          </a:bodyPr>
          <a:lstStyle/>
          <a:p>
            <a:pPr algn="ctr"/>
            <a:r>
              <a:rPr lang="en-US" altLang="zh-CN" sz="1000" dirty="0">
                <a:solidFill>
                  <a:srgbClr val="000000">
                    <a:lumMod val="75000"/>
                    <a:lumOff val="25000"/>
                  </a:srgbClr>
                </a:solidFill>
                <a:latin typeface="微软雅黑" panose="020B0503020204020204" charset="-122"/>
                <a:ea typeface="微软雅黑" panose="020B0503020204020204" charset="-122"/>
              </a:rPr>
              <a:t>ES</a:t>
            </a:r>
            <a:endParaRPr lang="en-US" altLang="zh-CN" sz="1000" dirty="0">
              <a:solidFill>
                <a:srgbClr val="000000">
                  <a:lumMod val="75000"/>
                  <a:lumOff val="25000"/>
                </a:srgbClr>
              </a:solidFill>
              <a:latin typeface="微软雅黑" panose="020B0503020204020204" charset="-122"/>
              <a:ea typeface="微软雅黑" panose="020B0503020204020204" charset="-122"/>
            </a:endParaRPr>
          </a:p>
        </p:txBody>
      </p:sp>
      <p:sp>
        <p:nvSpPr>
          <p:cNvPr id="481" name="流程图: 磁盘 480"/>
          <p:cNvSpPr/>
          <p:nvPr/>
        </p:nvSpPr>
        <p:spPr>
          <a:xfrm>
            <a:off x="5763202" y="3332694"/>
            <a:ext cx="800219" cy="374641"/>
          </a:xfrm>
          <a:prstGeom prst="flowChartMagneticDisk">
            <a:avLst/>
          </a:prstGeom>
          <a:gradFill flip="none" rotWithShape="1">
            <a:gsLst>
              <a:gs pos="40000">
                <a:schemeClr val="accent1">
                  <a:lumMod val="20000"/>
                  <a:lumOff val="80000"/>
                  <a:alpha val="0"/>
                </a:schemeClr>
              </a:gs>
              <a:gs pos="100000">
                <a:schemeClr val="accent1">
                  <a:lumMod val="20000"/>
                  <a:lumOff val="80000"/>
                  <a:alpha val="37000"/>
                </a:schemeClr>
              </a:gs>
            </a:gsLst>
            <a:path path="circle">
              <a:fillToRect l="50000" t="50000" r="50000" b="50000"/>
            </a:path>
            <a:tileRect/>
          </a:gradFill>
          <a:ln w="1270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wrap="none"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rPr>
              <a:t>供应商信息库</a:t>
            </a:r>
            <a:endParaRPr kumimoji="0" lang="zh-CN" altLang="en-US" sz="1000" b="0"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endParaRPr>
          </a:p>
        </p:txBody>
      </p:sp>
      <p:sp>
        <p:nvSpPr>
          <p:cNvPr id="482" name="流程图: 磁盘 481"/>
          <p:cNvSpPr/>
          <p:nvPr/>
        </p:nvSpPr>
        <p:spPr>
          <a:xfrm>
            <a:off x="5763202" y="4016158"/>
            <a:ext cx="800219" cy="374641"/>
          </a:xfrm>
          <a:prstGeom prst="flowChartMagneticDisk">
            <a:avLst/>
          </a:prstGeom>
          <a:gradFill flip="none" rotWithShape="1">
            <a:gsLst>
              <a:gs pos="40000">
                <a:schemeClr val="accent1">
                  <a:lumMod val="20000"/>
                  <a:lumOff val="80000"/>
                  <a:alpha val="0"/>
                </a:schemeClr>
              </a:gs>
              <a:gs pos="100000">
                <a:schemeClr val="accent1">
                  <a:lumMod val="20000"/>
                  <a:lumOff val="80000"/>
                  <a:alpha val="37000"/>
                </a:schemeClr>
              </a:gs>
            </a:gsLst>
            <a:path path="circle">
              <a:fillToRect l="50000" t="50000" r="50000" b="50000"/>
            </a:path>
            <a:tileRect/>
          </a:gradFill>
          <a:ln w="1270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wrap="none"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000" kern="0" noProof="0" dirty="0">
                <a:ln>
                  <a:noFill/>
                </a:ln>
                <a:solidFill>
                  <a:srgbClr val="0070C0"/>
                </a:solidFill>
                <a:effectLst/>
                <a:uLnTx/>
                <a:uFillTx/>
                <a:latin typeface="微软雅黑" panose="020B0503020204020204" charset="-122"/>
                <a:ea typeface="微软雅黑" panose="020B0503020204020204" charset="-122"/>
                <a:sym typeface="+mn-ea"/>
              </a:rPr>
              <a:t>专家信息库</a:t>
            </a:r>
            <a:endParaRPr kumimoji="0" lang="zh-CN" altLang="en-US" sz="1000" b="0"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sym typeface="+mn-ea"/>
            </a:endParaRPr>
          </a:p>
        </p:txBody>
      </p:sp>
      <p:sp>
        <p:nvSpPr>
          <p:cNvPr id="484" name="流程图: 磁盘 483"/>
          <p:cNvSpPr/>
          <p:nvPr/>
        </p:nvSpPr>
        <p:spPr>
          <a:xfrm>
            <a:off x="7099881" y="3332694"/>
            <a:ext cx="800219" cy="374641"/>
          </a:xfrm>
          <a:prstGeom prst="flowChartMagneticDisk">
            <a:avLst/>
          </a:prstGeom>
          <a:gradFill flip="none" rotWithShape="1">
            <a:gsLst>
              <a:gs pos="40000">
                <a:schemeClr val="accent1">
                  <a:lumMod val="20000"/>
                  <a:lumOff val="80000"/>
                  <a:alpha val="0"/>
                </a:schemeClr>
              </a:gs>
              <a:gs pos="100000">
                <a:schemeClr val="accent1">
                  <a:lumMod val="20000"/>
                  <a:lumOff val="80000"/>
                  <a:alpha val="37000"/>
                </a:schemeClr>
              </a:gs>
            </a:gsLst>
            <a:path path="circle">
              <a:fillToRect l="50000" t="50000" r="50000" b="50000"/>
            </a:path>
            <a:tileRect/>
          </a:gradFill>
          <a:ln w="1270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wrap="none"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rPr>
              <a:t>交易信息库</a:t>
            </a:r>
            <a:endParaRPr kumimoji="0" lang="zh-CN" altLang="en-US" sz="1000" b="0"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endParaRPr>
          </a:p>
        </p:txBody>
      </p:sp>
      <p:sp>
        <p:nvSpPr>
          <p:cNvPr id="485" name="流程图: 磁盘 484"/>
          <p:cNvSpPr/>
          <p:nvPr/>
        </p:nvSpPr>
        <p:spPr>
          <a:xfrm>
            <a:off x="7019236" y="4058702"/>
            <a:ext cx="800219" cy="374641"/>
          </a:xfrm>
          <a:prstGeom prst="flowChartMagneticDisk">
            <a:avLst/>
          </a:prstGeom>
          <a:gradFill flip="none" rotWithShape="1">
            <a:gsLst>
              <a:gs pos="40000">
                <a:schemeClr val="accent1">
                  <a:lumMod val="20000"/>
                  <a:lumOff val="80000"/>
                  <a:alpha val="0"/>
                </a:schemeClr>
              </a:gs>
              <a:gs pos="100000">
                <a:schemeClr val="accent1">
                  <a:lumMod val="20000"/>
                  <a:lumOff val="80000"/>
                  <a:alpha val="37000"/>
                </a:schemeClr>
              </a:gs>
            </a:gsLst>
            <a:path path="circle">
              <a:fillToRect l="50000" t="50000" r="50000" b="50000"/>
            </a:path>
            <a:tileRect/>
          </a:gradFill>
          <a:ln w="1270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wrap="none"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rPr>
              <a:t>监督信息库</a:t>
            </a:r>
            <a:endParaRPr kumimoji="0" lang="zh-CN" altLang="en-US" sz="1000" b="0"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endParaRPr>
          </a:p>
        </p:txBody>
      </p:sp>
      <p:grpSp>
        <p:nvGrpSpPr>
          <p:cNvPr id="501" name="组合 500"/>
          <p:cNvGrpSpPr/>
          <p:nvPr/>
        </p:nvGrpSpPr>
        <p:grpSpPr>
          <a:xfrm>
            <a:off x="2600506" y="2105396"/>
            <a:ext cx="925671" cy="293769"/>
            <a:chOff x="2866425" y="-455330"/>
            <a:chExt cx="925671" cy="293769"/>
          </a:xfrm>
        </p:grpSpPr>
        <p:sp>
          <p:nvSpPr>
            <p:cNvPr id="496" name="矩形: 圆角 495"/>
            <p:cNvSpPr/>
            <p:nvPr>
              <p:custDataLst>
                <p:tags r:id="rId35"/>
              </p:custDataLst>
            </p:nvPr>
          </p:nvSpPr>
          <p:spPr>
            <a:xfrm>
              <a:off x="2866425" y="-455330"/>
              <a:ext cx="894661" cy="293769"/>
            </a:xfrm>
            <a:prstGeom prst="roundRect">
              <a:avLst>
                <a:gd name="adj" fmla="val 50000"/>
              </a:avLst>
            </a:prstGeom>
            <a:gradFill>
              <a:gsLst>
                <a:gs pos="0">
                  <a:srgbClr val="FFFFFF"/>
                </a:gs>
                <a:gs pos="100000">
                  <a:srgbClr val="FFFFFF"/>
                </a:gs>
                <a:gs pos="46000">
                  <a:srgbClr val="0F6FC6">
                    <a:lumMod val="5000"/>
                    <a:lumOff val="95000"/>
                  </a:srgbClr>
                </a:gs>
              </a:gsLst>
              <a:path path="circle">
                <a:fillToRect r="100000" b="100000"/>
              </a:path>
            </a:gradFill>
            <a:ln w="5842" cap="flat" cmpd="sng" algn="ctr">
              <a:solidFill>
                <a:srgbClr val="0F6FC6"/>
              </a:solidFill>
              <a:prstDash val="solid"/>
              <a:miter lim="800000"/>
            </a:ln>
            <a:effectLst/>
          </p:spPr>
          <p:txBody>
            <a:bodyPr lIns="84125" tIns="42062" rIns="84125" bIns="42062"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497" name="文本框 496"/>
            <p:cNvSpPr txBox="1"/>
            <p:nvPr/>
          </p:nvSpPr>
          <p:spPr>
            <a:xfrm>
              <a:off x="2940759" y="-412623"/>
              <a:ext cx="746974" cy="223445"/>
            </a:xfrm>
            <a:prstGeom prst="rect">
              <a:avLst/>
            </a:prstGeom>
            <a:noFill/>
            <a:effectLst/>
          </p:spPr>
          <p:txBody>
            <a:bodyPr wrap="none" lIns="84125" tIns="42062" rIns="84125" bIns="42062"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sym typeface="+mn-ea"/>
                </a:rPr>
                <a:t>结构化数据</a:t>
              </a:r>
              <a:endParaRPr kumimoji="0" lang="zh-CN" altLang="en-US" sz="9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498" name="椭圆 497"/>
            <p:cNvSpPr/>
            <p:nvPr>
              <p:custDataLst>
                <p:tags r:id="rId36"/>
              </p:custDataLst>
            </p:nvPr>
          </p:nvSpPr>
          <p:spPr>
            <a:xfrm flipH="1">
              <a:off x="3713035" y="-347976"/>
              <a:ext cx="79061" cy="79061"/>
            </a:xfrm>
            <a:prstGeom prst="ellipse">
              <a:avLst/>
            </a:prstGeom>
            <a:solidFill>
              <a:srgbClr val="FFFFFF"/>
            </a:solidFill>
            <a:ln w="12700" cap="flat" cmpd="sng" algn="ctr">
              <a:noFill/>
              <a:prstDash val="solid"/>
              <a:miter lim="800000"/>
            </a:ln>
            <a:effectLst>
              <a:outerShdw blurRad="126187" algn="ctr" rotWithShape="0">
                <a:srgbClr val="0F6FC6">
                  <a:lumMod val="50000"/>
                  <a:alpha val="40000"/>
                </a:srgbClr>
              </a:outerShdw>
            </a:effectLst>
          </p:spPr>
          <p:txBody>
            <a:bodyPr lIns="90855" tIns="45428" rIns="90855" bIns="4542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499" name="椭圆 498"/>
            <p:cNvSpPr/>
            <p:nvPr/>
          </p:nvSpPr>
          <p:spPr>
            <a:xfrm flipH="1">
              <a:off x="3734680" y="-326331"/>
              <a:ext cx="35770" cy="35770"/>
            </a:xfrm>
            <a:prstGeom prst="ellipse">
              <a:avLst/>
            </a:prstGeom>
            <a:solidFill>
              <a:srgbClr val="0F6FC6"/>
            </a:solidFill>
            <a:ln w="12700" cap="flat" cmpd="sng" algn="ctr">
              <a:noFill/>
              <a:prstDash val="solid"/>
              <a:miter lim="800000"/>
            </a:ln>
            <a:effectLst/>
          </p:spPr>
          <p:txBody>
            <a:bodyPr lIns="90855" tIns="45428" rIns="90855" bIns="4542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grpSp>
      <p:grpSp>
        <p:nvGrpSpPr>
          <p:cNvPr id="502" name="组合 501"/>
          <p:cNvGrpSpPr/>
          <p:nvPr/>
        </p:nvGrpSpPr>
        <p:grpSpPr>
          <a:xfrm>
            <a:off x="2600506" y="2539269"/>
            <a:ext cx="925671" cy="293769"/>
            <a:chOff x="2866425" y="-455330"/>
            <a:chExt cx="925671" cy="293769"/>
          </a:xfrm>
        </p:grpSpPr>
        <p:sp>
          <p:nvSpPr>
            <p:cNvPr id="503" name="矩形: 圆角 502"/>
            <p:cNvSpPr/>
            <p:nvPr>
              <p:custDataLst>
                <p:tags r:id="rId37"/>
              </p:custDataLst>
            </p:nvPr>
          </p:nvSpPr>
          <p:spPr>
            <a:xfrm>
              <a:off x="2866425" y="-455330"/>
              <a:ext cx="894661" cy="293769"/>
            </a:xfrm>
            <a:prstGeom prst="roundRect">
              <a:avLst>
                <a:gd name="adj" fmla="val 50000"/>
              </a:avLst>
            </a:prstGeom>
            <a:gradFill>
              <a:gsLst>
                <a:gs pos="0">
                  <a:srgbClr val="FFFFFF"/>
                </a:gs>
                <a:gs pos="100000">
                  <a:srgbClr val="FFFFFF"/>
                </a:gs>
                <a:gs pos="46000">
                  <a:srgbClr val="0F6FC6">
                    <a:lumMod val="5000"/>
                    <a:lumOff val="95000"/>
                  </a:srgbClr>
                </a:gs>
              </a:gsLst>
              <a:path path="circle">
                <a:fillToRect r="100000" b="100000"/>
              </a:path>
            </a:gradFill>
            <a:ln w="5842" cap="flat" cmpd="sng" algn="ctr">
              <a:solidFill>
                <a:srgbClr val="0F6FC6"/>
              </a:solidFill>
              <a:prstDash val="solid"/>
              <a:miter lim="800000"/>
            </a:ln>
            <a:effectLst/>
          </p:spPr>
          <p:txBody>
            <a:bodyPr lIns="84125" tIns="42062" rIns="84125" bIns="42062"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504" name="文本框 503"/>
            <p:cNvSpPr txBox="1"/>
            <p:nvPr/>
          </p:nvSpPr>
          <p:spPr>
            <a:xfrm>
              <a:off x="2883051" y="-412623"/>
              <a:ext cx="862390" cy="223445"/>
            </a:xfrm>
            <a:prstGeom prst="rect">
              <a:avLst/>
            </a:prstGeom>
            <a:noFill/>
            <a:effectLst/>
          </p:spPr>
          <p:txBody>
            <a:bodyPr wrap="none" lIns="84125" tIns="42062" rIns="84125" bIns="42062"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sym typeface="+mn-ea"/>
                </a:rPr>
                <a:t>半结构化数据</a:t>
              </a:r>
              <a:endParaRPr kumimoji="0" lang="zh-CN" altLang="en-US" sz="9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505" name="椭圆 504"/>
            <p:cNvSpPr/>
            <p:nvPr>
              <p:custDataLst>
                <p:tags r:id="rId38"/>
              </p:custDataLst>
            </p:nvPr>
          </p:nvSpPr>
          <p:spPr>
            <a:xfrm flipH="1">
              <a:off x="3713035" y="-347976"/>
              <a:ext cx="79061" cy="79061"/>
            </a:xfrm>
            <a:prstGeom prst="ellipse">
              <a:avLst/>
            </a:prstGeom>
            <a:solidFill>
              <a:srgbClr val="FFFFFF"/>
            </a:solidFill>
            <a:ln w="12700" cap="flat" cmpd="sng" algn="ctr">
              <a:noFill/>
              <a:prstDash val="solid"/>
              <a:miter lim="800000"/>
            </a:ln>
            <a:effectLst>
              <a:outerShdw blurRad="126187" algn="ctr" rotWithShape="0">
                <a:srgbClr val="0F6FC6">
                  <a:lumMod val="50000"/>
                  <a:alpha val="40000"/>
                </a:srgbClr>
              </a:outerShdw>
            </a:effectLst>
          </p:spPr>
          <p:txBody>
            <a:bodyPr lIns="90855" tIns="45428" rIns="90855" bIns="4542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506" name="椭圆 505"/>
            <p:cNvSpPr/>
            <p:nvPr/>
          </p:nvSpPr>
          <p:spPr>
            <a:xfrm flipH="1">
              <a:off x="3734680" y="-326331"/>
              <a:ext cx="35770" cy="35770"/>
            </a:xfrm>
            <a:prstGeom prst="ellipse">
              <a:avLst/>
            </a:prstGeom>
            <a:solidFill>
              <a:srgbClr val="0F6FC6"/>
            </a:solidFill>
            <a:ln w="12700" cap="flat" cmpd="sng" algn="ctr">
              <a:noFill/>
              <a:prstDash val="solid"/>
              <a:miter lim="800000"/>
            </a:ln>
            <a:effectLst/>
          </p:spPr>
          <p:txBody>
            <a:bodyPr lIns="90855" tIns="45428" rIns="90855" bIns="4542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grpSp>
      <p:grpSp>
        <p:nvGrpSpPr>
          <p:cNvPr id="507" name="组合 506"/>
          <p:cNvGrpSpPr/>
          <p:nvPr/>
        </p:nvGrpSpPr>
        <p:grpSpPr>
          <a:xfrm>
            <a:off x="2588265" y="3172099"/>
            <a:ext cx="925671" cy="293769"/>
            <a:chOff x="2866425" y="-455330"/>
            <a:chExt cx="925671" cy="293769"/>
          </a:xfrm>
        </p:grpSpPr>
        <p:sp>
          <p:nvSpPr>
            <p:cNvPr id="508" name="矩形: 圆角 507"/>
            <p:cNvSpPr/>
            <p:nvPr>
              <p:custDataLst>
                <p:tags r:id="rId39"/>
              </p:custDataLst>
            </p:nvPr>
          </p:nvSpPr>
          <p:spPr>
            <a:xfrm>
              <a:off x="2866425" y="-455330"/>
              <a:ext cx="894661" cy="293769"/>
            </a:xfrm>
            <a:prstGeom prst="roundRect">
              <a:avLst>
                <a:gd name="adj" fmla="val 50000"/>
              </a:avLst>
            </a:prstGeom>
            <a:gradFill>
              <a:gsLst>
                <a:gs pos="0">
                  <a:srgbClr val="FFFFFF"/>
                </a:gs>
                <a:gs pos="100000">
                  <a:srgbClr val="FFFFFF"/>
                </a:gs>
                <a:gs pos="46000">
                  <a:srgbClr val="0F6FC6">
                    <a:lumMod val="5000"/>
                    <a:lumOff val="95000"/>
                  </a:srgbClr>
                </a:gs>
              </a:gsLst>
              <a:path path="circle">
                <a:fillToRect r="100000" b="100000"/>
              </a:path>
            </a:gradFill>
            <a:ln w="5842" cap="flat" cmpd="sng" algn="ctr">
              <a:solidFill>
                <a:srgbClr val="0F6FC6"/>
              </a:solidFill>
              <a:prstDash val="solid"/>
              <a:miter lim="800000"/>
            </a:ln>
            <a:effectLst/>
          </p:spPr>
          <p:txBody>
            <a:bodyPr lIns="84125" tIns="42062" rIns="84125" bIns="42062"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509" name="文本框 508"/>
            <p:cNvSpPr txBox="1"/>
            <p:nvPr/>
          </p:nvSpPr>
          <p:spPr>
            <a:xfrm>
              <a:off x="2929539" y="-412623"/>
              <a:ext cx="769416" cy="223445"/>
            </a:xfrm>
            <a:prstGeom prst="rect">
              <a:avLst/>
            </a:prstGeom>
            <a:noFill/>
            <a:effectLst/>
          </p:spPr>
          <p:txBody>
            <a:bodyPr wrap="none" lIns="84125" tIns="42062" rIns="84125" bIns="42062"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sym typeface="+mn-ea"/>
                </a:rPr>
                <a:t>音视频数据</a:t>
              </a:r>
              <a:endParaRPr kumimoji="0" lang="zh-CN" altLang="en-US" sz="9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510" name="椭圆 509"/>
            <p:cNvSpPr/>
            <p:nvPr>
              <p:custDataLst>
                <p:tags r:id="rId40"/>
              </p:custDataLst>
            </p:nvPr>
          </p:nvSpPr>
          <p:spPr>
            <a:xfrm flipH="1">
              <a:off x="3713035" y="-347976"/>
              <a:ext cx="79061" cy="79061"/>
            </a:xfrm>
            <a:prstGeom prst="ellipse">
              <a:avLst/>
            </a:prstGeom>
            <a:solidFill>
              <a:srgbClr val="FFFFFF"/>
            </a:solidFill>
            <a:ln w="12700" cap="flat" cmpd="sng" algn="ctr">
              <a:noFill/>
              <a:prstDash val="solid"/>
              <a:miter lim="800000"/>
            </a:ln>
            <a:effectLst>
              <a:outerShdw blurRad="126187" algn="ctr" rotWithShape="0">
                <a:srgbClr val="0F6FC6">
                  <a:lumMod val="50000"/>
                  <a:alpha val="40000"/>
                </a:srgbClr>
              </a:outerShdw>
            </a:effectLst>
          </p:spPr>
          <p:txBody>
            <a:bodyPr lIns="90855" tIns="45428" rIns="90855" bIns="4542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511" name="椭圆 510"/>
            <p:cNvSpPr/>
            <p:nvPr/>
          </p:nvSpPr>
          <p:spPr>
            <a:xfrm flipH="1">
              <a:off x="3734680" y="-326331"/>
              <a:ext cx="35770" cy="35770"/>
            </a:xfrm>
            <a:prstGeom prst="ellipse">
              <a:avLst/>
            </a:prstGeom>
            <a:solidFill>
              <a:srgbClr val="0F6FC6"/>
            </a:solidFill>
            <a:ln w="12700" cap="flat" cmpd="sng" algn="ctr">
              <a:noFill/>
              <a:prstDash val="solid"/>
              <a:miter lim="800000"/>
            </a:ln>
            <a:effectLst/>
          </p:spPr>
          <p:txBody>
            <a:bodyPr lIns="90855" tIns="45428" rIns="90855" bIns="4542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grpSp>
      <p:grpSp>
        <p:nvGrpSpPr>
          <p:cNvPr id="522" name="组合 521"/>
          <p:cNvGrpSpPr/>
          <p:nvPr/>
        </p:nvGrpSpPr>
        <p:grpSpPr>
          <a:xfrm>
            <a:off x="2596374" y="3629749"/>
            <a:ext cx="925671" cy="293769"/>
            <a:chOff x="2866425" y="-455330"/>
            <a:chExt cx="925671" cy="293769"/>
          </a:xfrm>
        </p:grpSpPr>
        <p:sp>
          <p:nvSpPr>
            <p:cNvPr id="523" name="矩形: 圆角 522"/>
            <p:cNvSpPr/>
            <p:nvPr>
              <p:custDataLst>
                <p:tags r:id="rId41"/>
              </p:custDataLst>
            </p:nvPr>
          </p:nvSpPr>
          <p:spPr>
            <a:xfrm>
              <a:off x="2866425" y="-455330"/>
              <a:ext cx="894661" cy="293769"/>
            </a:xfrm>
            <a:prstGeom prst="roundRect">
              <a:avLst>
                <a:gd name="adj" fmla="val 50000"/>
              </a:avLst>
            </a:prstGeom>
            <a:gradFill>
              <a:gsLst>
                <a:gs pos="0">
                  <a:srgbClr val="FFFFFF"/>
                </a:gs>
                <a:gs pos="100000">
                  <a:srgbClr val="FFFFFF"/>
                </a:gs>
                <a:gs pos="46000">
                  <a:srgbClr val="0F6FC6">
                    <a:lumMod val="5000"/>
                    <a:lumOff val="95000"/>
                  </a:srgbClr>
                </a:gs>
              </a:gsLst>
              <a:path path="circle">
                <a:fillToRect r="100000" b="100000"/>
              </a:path>
            </a:gradFill>
            <a:ln w="5842" cap="flat" cmpd="sng" algn="ctr">
              <a:solidFill>
                <a:srgbClr val="0F6FC6"/>
              </a:solidFill>
              <a:prstDash val="solid"/>
              <a:miter lim="800000"/>
            </a:ln>
            <a:effectLst/>
          </p:spPr>
          <p:txBody>
            <a:bodyPr lIns="84125" tIns="42062" rIns="84125" bIns="42062"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524" name="文本框 523"/>
            <p:cNvSpPr txBox="1"/>
            <p:nvPr/>
          </p:nvSpPr>
          <p:spPr>
            <a:xfrm>
              <a:off x="2998470" y="-412623"/>
              <a:ext cx="631558" cy="223445"/>
            </a:xfrm>
            <a:prstGeom prst="rect">
              <a:avLst/>
            </a:prstGeom>
            <a:noFill/>
            <a:effectLst/>
          </p:spPr>
          <p:txBody>
            <a:bodyPr wrap="none" lIns="84125" tIns="42062" rIns="84125" bIns="42062"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sym typeface="+mn-ea"/>
                </a:rPr>
                <a:t>文件数据</a:t>
              </a:r>
              <a:endParaRPr kumimoji="0" lang="zh-CN" altLang="en-US" sz="9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525" name="椭圆 524"/>
            <p:cNvSpPr/>
            <p:nvPr>
              <p:custDataLst>
                <p:tags r:id="rId42"/>
              </p:custDataLst>
            </p:nvPr>
          </p:nvSpPr>
          <p:spPr>
            <a:xfrm flipH="1">
              <a:off x="3713035" y="-347976"/>
              <a:ext cx="79061" cy="79061"/>
            </a:xfrm>
            <a:prstGeom prst="ellipse">
              <a:avLst/>
            </a:prstGeom>
            <a:solidFill>
              <a:srgbClr val="FFFFFF"/>
            </a:solidFill>
            <a:ln w="12700" cap="flat" cmpd="sng" algn="ctr">
              <a:noFill/>
              <a:prstDash val="solid"/>
              <a:miter lim="800000"/>
            </a:ln>
            <a:effectLst>
              <a:outerShdw blurRad="126187" algn="ctr" rotWithShape="0">
                <a:srgbClr val="0F6FC6">
                  <a:lumMod val="50000"/>
                  <a:alpha val="40000"/>
                </a:srgbClr>
              </a:outerShdw>
            </a:effectLst>
          </p:spPr>
          <p:txBody>
            <a:bodyPr lIns="90855" tIns="45428" rIns="90855" bIns="4542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526" name="椭圆 525"/>
            <p:cNvSpPr/>
            <p:nvPr/>
          </p:nvSpPr>
          <p:spPr>
            <a:xfrm flipH="1">
              <a:off x="3734680" y="-326331"/>
              <a:ext cx="35770" cy="35770"/>
            </a:xfrm>
            <a:prstGeom prst="ellipse">
              <a:avLst/>
            </a:prstGeom>
            <a:solidFill>
              <a:srgbClr val="0F6FC6"/>
            </a:solidFill>
            <a:ln w="12700" cap="flat" cmpd="sng" algn="ctr">
              <a:noFill/>
              <a:prstDash val="solid"/>
              <a:miter lim="800000"/>
            </a:ln>
            <a:effectLst/>
          </p:spPr>
          <p:txBody>
            <a:bodyPr lIns="90855" tIns="45428" rIns="90855" bIns="4542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grpSp>
      <p:sp>
        <p:nvSpPr>
          <p:cNvPr id="528" name="右大括号 527"/>
          <p:cNvSpPr/>
          <p:nvPr/>
        </p:nvSpPr>
        <p:spPr>
          <a:xfrm rot="10800000" flipH="1">
            <a:off x="3522132" y="2248009"/>
            <a:ext cx="176092" cy="1542015"/>
          </a:xfrm>
          <a:prstGeom prst="rightBrace">
            <a:avLst>
              <a:gd name="adj1" fmla="val 53950"/>
              <a:gd name="adj2" fmla="val 86650"/>
            </a:avLst>
          </a:prstGeom>
          <a:noFill/>
          <a:ln w="10516" cap="flat" cmpd="sng" algn="ctr">
            <a:solidFill>
              <a:srgbClr val="0F6FC6"/>
            </a:solidFill>
            <a:prstDash val="dash"/>
            <a:miter lim="800000"/>
          </a:ln>
          <a:effectLst/>
        </p:spPr>
        <p:txBody>
          <a:bodyPr lIns="81769" tIns="40885" rIns="81769" bIns="40885"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1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grpSp>
        <p:nvGrpSpPr>
          <p:cNvPr id="530" name="组合 529"/>
          <p:cNvGrpSpPr/>
          <p:nvPr/>
        </p:nvGrpSpPr>
        <p:grpSpPr>
          <a:xfrm>
            <a:off x="3534903" y="2117513"/>
            <a:ext cx="595035" cy="377881"/>
            <a:chOff x="8309375" y="2631242"/>
            <a:chExt cx="595035" cy="377881"/>
          </a:xfrm>
        </p:grpSpPr>
        <p:grpSp>
          <p:nvGrpSpPr>
            <p:cNvPr id="531" name="组合 530"/>
            <p:cNvGrpSpPr/>
            <p:nvPr/>
          </p:nvGrpSpPr>
          <p:grpSpPr>
            <a:xfrm>
              <a:off x="8477399" y="2916984"/>
              <a:ext cx="223237" cy="92139"/>
              <a:chOff x="11186710" y="2497496"/>
              <a:chExt cx="223237" cy="92139"/>
            </a:xfrm>
          </p:grpSpPr>
          <p:sp>
            <p:nvSpPr>
              <p:cNvPr id="533" name="任意多边形: 形状 532"/>
              <p:cNvSpPr/>
              <p:nvPr/>
            </p:nvSpPr>
            <p:spPr>
              <a:xfrm rot="16200000">
                <a:off x="11328320" y="2507980"/>
                <a:ext cx="92111"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534" name="任意多边形: 形状 533"/>
              <p:cNvSpPr/>
              <p:nvPr/>
            </p:nvSpPr>
            <p:spPr>
              <a:xfrm rot="16200000">
                <a:off x="11252272" y="2507992"/>
                <a:ext cx="92111"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535" name="任意多边形: 形状 534"/>
              <p:cNvSpPr/>
              <p:nvPr/>
            </p:nvSpPr>
            <p:spPr>
              <a:xfrm rot="16200000">
                <a:off x="11176226" y="2508007"/>
                <a:ext cx="92112"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grpSp>
        <p:sp>
          <p:nvSpPr>
            <p:cNvPr id="532" name="文本框 531"/>
            <p:cNvSpPr txBox="1"/>
            <p:nvPr/>
          </p:nvSpPr>
          <p:spPr>
            <a:xfrm>
              <a:off x="8309375" y="2631242"/>
              <a:ext cx="595035" cy="215444"/>
            </a:xfrm>
            <a:prstGeom prst="rect">
              <a:avLst/>
            </a:prstGeom>
            <a:noFill/>
            <a:effectLst/>
          </p:spPr>
          <p:txBody>
            <a:bodyPr wrap="none" rtlCol="0">
              <a:spAutoFit/>
            </a:bodyPr>
            <a:lstStyle/>
            <a:p>
              <a:pPr algn="ctr"/>
              <a:r>
                <a:rPr lang="zh-CN" altLang="en-US" sz="800" dirty="0">
                  <a:solidFill>
                    <a:srgbClr val="4472C4"/>
                  </a:solidFill>
                  <a:latin typeface="微软雅黑" panose="020B0503020204020204" charset="-122"/>
                  <a:ea typeface="微软雅黑" panose="020B0503020204020204" charset="-122"/>
                </a:rPr>
                <a:t>数据接入</a:t>
              </a:r>
              <a:endParaRPr lang="zh-CN" altLang="en-US" sz="800" dirty="0">
                <a:solidFill>
                  <a:srgbClr val="4472C4"/>
                </a:solidFill>
                <a:latin typeface="微软雅黑" panose="020B0503020204020204" charset="-122"/>
                <a:ea typeface="微软雅黑" panose="020B0503020204020204" charset="-122"/>
              </a:endParaRPr>
            </a:p>
          </p:txBody>
        </p:sp>
      </p:grpSp>
      <p:sp>
        <p:nvSpPr>
          <p:cNvPr id="537" name="文本框 536"/>
          <p:cNvSpPr txBox="1"/>
          <p:nvPr/>
        </p:nvSpPr>
        <p:spPr>
          <a:xfrm>
            <a:off x="2644193" y="4473711"/>
            <a:ext cx="816901" cy="246221"/>
          </a:xfrm>
          <a:prstGeom prst="rect">
            <a:avLst/>
          </a:prstGeom>
          <a:gradFill flip="none" rotWithShape="1">
            <a:gsLst>
              <a:gs pos="23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a:outerShdw blurRad="411480" dist="123444" dir="5400000" sx="108000" sy="108000" algn="ctr" rotWithShape="0">
              <a:srgbClr val="0F6FC6">
                <a:alpha val="40000"/>
              </a:srgbClr>
            </a:outerShdw>
          </a:effectLst>
        </p:spPr>
        <p:txBody>
          <a:bodyPr lIns="98755" tIns="49378" rIns="98755" bIns="49378" rtlCol="0" anchor="ctr"/>
          <a:lstStyle>
            <a:defPPr>
              <a:defRPr lang="zh-CN"/>
            </a:defPPr>
            <a:lvl1pPr marR="0" lvl="0" indent="0" algn="ctr" fontAlgn="auto">
              <a:lnSpc>
                <a:spcPct val="100000"/>
              </a:lnSpc>
              <a:spcBef>
                <a:spcPts val="0"/>
              </a:spcBef>
              <a:spcAft>
                <a:spcPts val="0"/>
              </a:spcAft>
              <a:buClrTx/>
              <a:buSzTx/>
              <a:buFontTx/>
              <a:buNone/>
              <a:defRPr kumimoji="0" sz="1000" b="0" i="0" u="none" strike="noStrike" kern="0" cap="none" spc="0" normalizeH="0" baseline="0">
                <a:ln>
                  <a:noFill/>
                </a:ln>
                <a:solidFill>
                  <a:srgbClr val="FFFFFF"/>
                </a:solidFill>
                <a:effectLst/>
                <a:uLnTx/>
                <a:uFillTx/>
                <a:latin typeface="微软雅黑" panose="020B0503020204020204" charset="-122"/>
                <a:ea typeface="微软雅黑" panose="020B050302020402020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100" b="1" dirty="0"/>
              <a:t>CDC</a:t>
            </a:r>
            <a:endParaRPr lang="en-US" altLang="zh-CN" sz="1100" b="1" dirty="0"/>
          </a:p>
        </p:txBody>
      </p:sp>
      <p:sp>
        <p:nvSpPr>
          <p:cNvPr id="541" name="文本框 540"/>
          <p:cNvSpPr txBox="1"/>
          <p:nvPr/>
        </p:nvSpPr>
        <p:spPr>
          <a:xfrm>
            <a:off x="2644193" y="4815817"/>
            <a:ext cx="820436" cy="248295"/>
          </a:xfrm>
          <a:prstGeom prst="rect">
            <a:avLst/>
          </a:prstGeom>
          <a:gradFill flip="none" rotWithShape="1">
            <a:gsLst>
              <a:gs pos="23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a:outerShdw blurRad="411480" dist="123444" dir="5400000" sx="108000" sy="108000" algn="ctr" rotWithShape="0">
              <a:srgbClr val="0F6FC6">
                <a:alpha val="40000"/>
              </a:srgbClr>
            </a:outerShdw>
          </a:effectLst>
        </p:spPr>
        <p:txBody>
          <a:bodyPr lIns="98755" tIns="49378" rIns="98755" bIns="49378" rtlCol="0" anchor="ctr"/>
          <a:lstStyle>
            <a:defPPr>
              <a:defRPr lang="zh-CN"/>
            </a:defPPr>
            <a:lvl1pPr marR="0" lvl="0" indent="0" algn="ctr" fontAlgn="auto">
              <a:lnSpc>
                <a:spcPct val="100000"/>
              </a:lnSpc>
              <a:spcBef>
                <a:spcPts val="0"/>
              </a:spcBef>
              <a:spcAft>
                <a:spcPts val="0"/>
              </a:spcAft>
              <a:buClrTx/>
              <a:buSzTx/>
              <a:buFontTx/>
              <a:buNone/>
              <a:defRPr kumimoji="0" sz="1100" b="1" i="0" u="none" strike="noStrike" kern="0" cap="none" spc="0" normalizeH="0" baseline="0">
                <a:ln>
                  <a:noFill/>
                </a:ln>
                <a:solidFill>
                  <a:srgbClr val="FFFFFF"/>
                </a:solidFill>
                <a:effectLst/>
                <a:uLnTx/>
                <a:uFillTx/>
                <a:latin typeface="微软雅黑" panose="020B0503020204020204" charset="-122"/>
                <a:ea typeface="微软雅黑" panose="020B050302020402020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a:t>DXP</a:t>
            </a:r>
            <a:endParaRPr lang="en-US" altLang="zh-CN" dirty="0"/>
          </a:p>
        </p:txBody>
      </p:sp>
      <p:grpSp>
        <p:nvGrpSpPr>
          <p:cNvPr id="549" name="组合 548"/>
          <p:cNvGrpSpPr/>
          <p:nvPr/>
        </p:nvGrpSpPr>
        <p:grpSpPr>
          <a:xfrm>
            <a:off x="2333474" y="1766547"/>
            <a:ext cx="279400" cy="276860"/>
            <a:chOff x="12834" y="301"/>
            <a:chExt cx="440" cy="436"/>
          </a:xfrm>
        </p:grpSpPr>
        <p:sp>
          <p:nvSpPr>
            <p:cNvPr id="550" name="椭圆 549"/>
            <p:cNvSpPr/>
            <p:nvPr>
              <p:custDataLst>
                <p:tags r:id="rId43"/>
              </p:custDataLst>
            </p:nvPr>
          </p:nvSpPr>
          <p:spPr>
            <a:xfrm>
              <a:off x="12878" y="343"/>
              <a:ext cx="352" cy="352"/>
            </a:xfrm>
            <a:prstGeom prst="ellipse">
              <a:avLst/>
            </a:prstGeom>
            <a:solidFill>
              <a:schemeClr val="accent1">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551" name="文本框 550"/>
            <p:cNvSpPr txBox="1"/>
            <p:nvPr>
              <p:custDataLst>
                <p:tags r:id="rId44"/>
              </p:custDataLst>
            </p:nvPr>
          </p:nvSpPr>
          <p:spPr>
            <a:xfrm>
              <a:off x="12834" y="301"/>
              <a:ext cx="440" cy="436"/>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rPr>
                <a:t>2</a:t>
              </a:r>
              <a:endParaRPr kumimoji="0" lang="en-US" altLang="zh-CN" sz="12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grpSp>
      <p:sp>
        <p:nvSpPr>
          <p:cNvPr id="552" name="文本框 551"/>
          <p:cNvSpPr txBox="1"/>
          <p:nvPr/>
        </p:nvSpPr>
        <p:spPr>
          <a:xfrm>
            <a:off x="4031376" y="2267770"/>
            <a:ext cx="1025162" cy="248295"/>
          </a:xfrm>
          <a:prstGeom prst="rect">
            <a:avLst/>
          </a:prstGeom>
          <a:solidFill>
            <a:sysClr val="window" lastClr="FFFFFF"/>
          </a:solidFill>
          <a:ln>
            <a:solidFill>
              <a:srgbClr val="0F6FC6"/>
            </a:solidFill>
          </a:ln>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000" b="0" i="0" u="none" strike="noStrike" kern="0" cap="none" spc="0" normalizeH="0" baseline="0">
                <a:ln>
                  <a:noFill/>
                </a:ln>
                <a:solidFill>
                  <a:prstClr val="black"/>
                </a:solidFill>
                <a:effectLst/>
                <a:uLnTx/>
                <a:uFillTx/>
                <a:latin typeface="微软雅黑" panose="020B0503020204020204" charset="-122"/>
                <a:ea typeface="微软雅黑" panose="020B0503020204020204" charset="-122"/>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元数据</a:t>
            </a:r>
            <a:endParaRPr lang="zh-CN" altLang="en-US" dirty="0"/>
          </a:p>
        </p:txBody>
      </p:sp>
      <p:sp>
        <p:nvSpPr>
          <p:cNvPr id="553" name="文本框 552"/>
          <p:cNvSpPr txBox="1"/>
          <p:nvPr/>
        </p:nvSpPr>
        <p:spPr>
          <a:xfrm>
            <a:off x="4031376" y="2768255"/>
            <a:ext cx="1025162" cy="248295"/>
          </a:xfrm>
          <a:prstGeom prst="rect">
            <a:avLst/>
          </a:prstGeom>
          <a:solidFill>
            <a:sysClr val="window" lastClr="FFFFFF"/>
          </a:solidFill>
          <a:ln>
            <a:solidFill>
              <a:srgbClr val="0F6FC6"/>
            </a:solidFill>
          </a:ln>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000" b="0" i="0" u="none" strike="noStrike" kern="0" cap="none" spc="0" normalizeH="0" baseline="0">
                <a:ln>
                  <a:noFill/>
                </a:ln>
                <a:solidFill>
                  <a:prstClr val="black"/>
                </a:solidFill>
                <a:effectLst/>
                <a:uLnTx/>
                <a:uFillTx/>
                <a:latin typeface="微软雅黑" panose="020B0503020204020204" charset="-122"/>
                <a:ea typeface="微软雅黑" panose="020B0503020204020204" charset="-122"/>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sym typeface="+mn-ea"/>
              </a:rPr>
              <a:t>数据标准</a:t>
            </a:r>
            <a:endParaRPr lang="zh-CN" altLang="en-US" dirty="0">
              <a:sym typeface="+mn-ea"/>
            </a:endParaRPr>
          </a:p>
        </p:txBody>
      </p:sp>
      <p:sp>
        <p:nvSpPr>
          <p:cNvPr id="554" name="文本框 553"/>
          <p:cNvSpPr txBox="1"/>
          <p:nvPr/>
        </p:nvSpPr>
        <p:spPr>
          <a:xfrm>
            <a:off x="4031376" y="3268740"/>
            <a:ext cx="1025162" cy="248295"/>
          </a:xfrm>
          <a:prstGeom prst="rect">
            <a:avLst/>
          </a:prstGeom>
          <a:solidFill>
            <a:sysClr val="window" lastClr="FFFFFF"/>
          </a:solidFill>
          <a:ln>
            <a:solidFill>
              <a:srgbClr val="0F6FC6"/>
            </a:solidFill>
          </a:ln>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000" b="0" i="0" u="none" strike="noStrike" kern="0" cap="none" spc="0" normalizeH="0" baseline="0">
                <a:ln>
                  <a:noFill/>
                </a:ln>
                <a:solidFill>
                  <a:prstClr val="black"/>
                </a:solidFill>
                <a:effectLst/>
                <a:uLnTx/>
                <a:uFillTx/>
                <a:latin typeface="微软雅黑" panose="020B0503020204020204" charset="-122"/>
                <a:ea typeface="微软雅黑" panose="020B0503020204020204" charset="-122"/>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sym typeface="+mn-ea"/>
              </a:rPr>
              <a:t>数据质量</a:t>
            </a:r>
            <a:endParaRPr lang="zh-CN" altLang="en-US" dirty="0">
              <a:sym typeface="+mn-ea"/>
            </a:endParaRPr>
          </a:p>
        </p:txBody>
      </p:sp>
      <p:sp>
        <p:nvSpPr>
          <p:cNvPr id="555" name="文本框 554"/>
          <p:cNvSpPr txBox="1"/>
          <p:nvPr/>
        </p:nvSpPr>
        <p:spPr>
          <a:xfrm>
            <a:off x="4031376" y="3769225"/>
            <a:ext cx="1025162" cy="248295"/>
          </a:xfrm>
          <a:prstGeom prst="rect">
            <a:avLst/>
          </a:prstGeom>
          <a:solidFill>
            <a:sysClr val="window" lastClr="FFFFFF"/>
          </a:solidFill>
          <a:ln>
            <a:solidFill>
              <a:srgbClr val="0F6FC6"/>
            </a:solidFill>
          </a:ln>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000" b="0" i="0" u="none" strike="noStrike" kern="0" cap="none" spc="0" normalizeH="0" baseline="0">
                <a:ln>
                  <a:noFill/>
                </a:ln>
                <a:solidFill>
                  <a:prstClr val="black"/>
                </a:solidFill>
                <a:effectLst/>
                <a:uLnTx/>
                <a:uFillTx/>
                <a:latin typeface="微软雅黑" panose="020B0503020204020204" charset="-122"/>
                <a:ea typeface="微软雅黑" panose="020B0503020204020204" charset="-122"/>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sym typeface="+mn-ea"/>
              </a:rPr>
              <a:t>数据清洗</a:t>
            </a:r>
            <a:endParaRPr lang="zh-CN" altLang="en-US" dirty="0">
              <a:sym typeface="+mn-ea"/>
            </a:endParaRPr>
          </a:p>
        </p:txBody>
      </p:sp>
      <p:sp>
        <p:nvSpPr>
          <p:cNvPr id="556" name="文本框 555"/>
          <p:cNvSpPr txBox="1"/>
          <p:nvPr/>
        </p:nvSpPr>
        <p:spPr>
          <a:xfrm>
            <a:off x="4031376" y="4269710"/>
            <a:ext cx="1025162" cy="248295"/>
          </a:xfrm>
          <a:prstGeom prst="rect">
            <a:avLst/>
          </a:prstGeom>
          <a:solidFill>
            <a:sysClr val="window" lastClr="FFFFFF"/>
          </a:solidFill>
          <a:ln>
            <a:solidFill>
              <a:srgbClr val="0F6FC6"/>
            </a:solidFill>
          </a:ln>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000" b="0" i="0" u="none" strike="noStrike" kern="0" cap="none" spc="0" normalizeH="0" baseline="0">
                <a:ln>
                  <a:noFill/>
                </a:ln>
                <a:solidFill>
                  <a:prstClr val="black"/>
                </a:solidFill>
                <a:effectLst/>
                <a:uLnTx/>
                <a:uFillTx/>
                <a:latin typeface="微软雅黑" panose="020B0503020204020204" charset="-122"/>
                <a:ea typeface="微软雅黑" panose="020B0503020204020204" charset="-122"/>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a:sym typeface="+mn-ea"/>
              </a:rPr>
              <a:t>数据融合</a:t>
            </a:r>
            <a:endParaRPr lang="zh-CN" altLang="en-US" dirty="0">
              <a:sym typeface="+mn-ea"/>
            </a:endParaRPr>
          </a:p>
        </p:txBody>
      </p:sp>
      <p:sp>
        <p:nvSpPr>
          <p:cNvPr id="557" name="文本框 556"/>
          <p:cNvSpPr txBox="1"/>
          <p:nvPr/>
        </p:nvSpPr>
        <p:spPr>
          <a:xfrm>
            <a:off x="4031376" y="4770196"/>
            <a:ext cx="1025162" cy="248295"/>
          </a:xfrm>
          <a:prstGeom prst="rect">
            <a:avLst/>
          </a:prstGeom>
          <a:solidFill>
            <a:sysClr val="window" lastClr="FFFFFF"/>
          </a:solidFill>
          <a:ln>
            <a:solidFill>
              <a:srgbClr val="0F6FC6"/>
            </a:solidFill>
          </a:ln>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000" b="0" i="0" u="none" strike="noStrike" kern="0" cap="none" spc="0" normalizeH="0" baseline="0">
                <a:ln>
                  <a:noFill/>
                </a:ln>
                <a:solidFill>
                  <a:prstClr val="black"/>
                </a:solidFill>
                <a:effectLst/>
                <a:uLnTx/>
                <a:uFillTx/>
                <a:latin typeface="微软雅黑" panose="020B0503020204020204" charset="-122"/>
                <a:ea typeface="微软雅黑" panose="020B0503020204020204" charset="-122"/>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sym typeface="+mn-ea"/>
              </a:rPr>
              <a:t>数据建模</a:t>
            </a:r>
            <a:endParaRPr lang="zh-CN" altLang="en-US" dirty="0">
              <a:sym typeface="+mn-ea"/>
            </a:endParaRPr>
          </a:p>
        </p:txBody>
      </p:sp>
      <p:grpSp>
        <p:nvGrpSpPr>
          <p:cNvPr id="568" name="组合 567"/>
          <p:cNvGrpSpPr/>
          <p:nvPr/>
        </p:nvGrpSpPr>
        <p:grpSpPr>
          <a:xfrm>
            <a:off x="7280365" y="5195888"/>
            <a:ext cx="664210" cy="413307"/>
            <a:chOff x="7280365" y="5195888"/>
            <a:chExt cx="664210" cy="413307"/>
          </a:xfrm>
        </p:grpSpPr>
        <p:sp>
          <p:nvSpPr>
            <p:cNvPr id="489" name="任意多边形: 形状 488"/>
            <p:cNvSpPr/>
            <p:nvPr/>
          </p:nvSpPr>
          <p:spPr>
            <a:xfrm>
              <a:off x="7400927" y="5195888"/>
              <a:ext cx="418158" cy="413307"/>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6000">
                  <a:srgbClr val="0F6FC6">
                    <a:alpha val="0"/>
                  </a:srgbClr>
                </a:gs>
                <a:gs pos="46000">
                  <a:srgbClr val="0F6FC6">
                    <a:alpha val="8000"/>
                  </a:srgbClr>
                </a:gs>
                <a:gs pos="100000">
                  <a:srgbClr val="0F6FC6"/>
                </a:gs>
              </a:gsLst>
              <a:lin ang="16200000" scaled="1"/>
              <a:tileRect/>
            </a:gradFill>
            <a:ln w="12700" cap="flat" cmpd="sng" algn="ctr">
              <a:noFill/>
              <a:prstDash val="solid"/>
              <a:miter lim="800000"/>
            </a:ln>
            <a:effectLst/>
          </p:spPr>
          <p:txBody>
            <a:bodyPr wrap="square" lIns="84125" tIns="42062" rIns="84125" bIns="4206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55"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sp>
          <p:nvSpPr>
            <p:cNvPr id="567" name="文本框 566"/>
            <p:cNvSpPr txBox="1"/>
            <p:nvPr>
              <p:custDataLst>
                <p:tags r:id="rId45"/>
              </p:custDataLst>
            </p:nvPr>
          </p:nvSpPr>
          <p:spPr>
            <a:xfrm rot="5400000">
              <a:off x="7451815" y="5085243"/>
              <a:ext cx="321310" cy="664210"/>
            </a:xfrm>
            <a:prstGeom prst="rect">
              <a:avLst/>
            </a:prstGeom>
            <a:noFill/>
            <a:ln>
              <a:noFill/>
            </a:ln>
          </p:spPr>
          <p:txBody>
            <a:bodyPr vert="vert270" wrap="square" rtlCol="0">
              <a:sp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rgbClr val="0F6FC6"/>
                  </a:solidFill>
                  <a:effectLst/>
                  <a:uLnTx/>
                  <a:uFillTx/>
                  <a:latin typeface="微软雅黑" panose="020B0503020204020204" charset="-122"/>
                  <a:ea typeface="微软雅黑" panose="020B0503020204020204" charset="-122"/>
                  <a:sym typeface="+mn-ea"/>
                </a:rPr>
                <a:t>切片</a:t>
              </a:r>
              <a:endParaRPr kumimoji="0" lang="zh-CN" altLang="en-US" sz="900" b="1" i="0" u="none" strike="noStrike" kern="0" cap="none" spc="0" normalizeH="0" baseline="0" noProof="0" dirty="0">
                <a:ln>
                  <a:noFill/>
                </a:ln>
                <a:solidFill>
                  <a:srgbClr val="0F6FC6"/>
                </a:solidFill>
                <a:effectLst/>
                <a:uLnTx/>
                <a:uFillTx/>
                <a:latin typeface="微软雅黑" panose="020B0503020204020204" charset="-122"/>
                <a:ea typeface="微软雅黑" panose="020B0503020204020204" charset="-122"/>
                <a:sym typeface="+mn-ea"/>
              </a:endParaRPr>
            </a:p>
          </p:txBody>
        </p:sp>
      </p:grpSp>
      <p:grpSp>
        <p:nvGrpSpPr>
          <p:cNvPr id="569" name="组合 568"/>
          <p:cNvGrpSpPr/>
          <p:nvPr/>
        </p:nvGrpSpPr>
        <p:grpSpPr>
          <a:xfrm>
            <a:off x="7260606" y="4776478"/>
            <a:ext cx="664210" cy="413307"/>
            <a:chOff x="7280160" y="5195888"/>
            <a:chExt cx="664210" cy="413307"/>
          </a:xfrm>
        </p:grpSpPr>
        <p:sp>
          <p:nvSpPr>
            <p:cNvPr id="570" name="任意多边形: 形状 569"/>
            <p:cNvSpPr/>
            <p:nvPr/>
          </p:nvSpPr>
          <p:spPr>
            <a:xfrm>
              <a:off x="7400927" y="5195888"/>
              <a:ext cx="418158" cy="413307"/>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6000">
                  <a:srgbClr val="0F6FC6">
                    <a:alpha val="0"/>
                  </a:srgbClr>
                </a:gs>
                <a:gs pos="46000">
                  <a:srgbClr val="0F6FC6">
                    <a:alpha val="8000"/>
                  </a:srgbClr>
                </a:gs>
                <a:gs pos="100000">
                  <a:srgbClr val="0F6FC6"/>
                </a:gs>
              </a:gsLst>
              <a:lin ang="16200000" scaled="1"/>
              <a:tileRect/>
            </a:gradFill>
            <a:ln w="12700" cap="flat" cmpd="sng" algn="ctr">
              <a:noFill/>
              <a:prstDash val="solid"/>
              <a:miter lim="800000"/>
            </a:ln>
            <a:effectLst/>
          </p:spPr>
          <p:txBody>
            <a:bodyPr wrap="square" lIns="84125" tIns="42062" rIns="84125" bIns="4206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55"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sp>
          <p:nvSpPr>
            <p:cNvPr id="571" name="文本框 570"/>
            <p:cNvSpPr txBox="1"/>
            <p:nvPr>
              <p:custDataLst>
                <p:tags r:id="rId46"/>
              </p:custDataLst>
            </p:nvPr>
          </p:nvSpPr>
          <p:spPr>
            <a:xfrm rot="5400000">
              <a:off x="7450682" y="5080792"/>
              <a:ext cx="323165" cy="664210"/>
            </a:xfrm>
            <a:prstGeom prst="rect">
              <a:avLst/>
            </a:prstGeom>
            <a:noFill/>
            <a:ln>
              <a:noFill/>
            </a:ln>
          </p:spPr>
          <p:txBody>
            <a:bodyPr vert="vert270" wrap="square" rtlCol="0">
              <a:sp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rgbClr val="0F6FC6"/>
                  </a:solidFill>
                  <a:effectLst/>
                  <a:uLnTx/>
                  <a:uFillTx/>
                  <a:latin typeface="微软雅黑" panose="020B0503020204020204" charset="-122"/>
                  <a:ea typeface="微软雅黑" panose="020B0503020204020204" charset="-122"/>
                  <a:sym typeface="+mn-ea"/>
                </a:rPr>
                <a:t>组合</a:t>
              </a:r>
              <a:endParaRPr kumimoji="0" lang="zh-CN" altLang="en-US" sz="900" b="1" i="0" u="none" strike="noStrike" kern="0" cap="none" spc="0" normalizeH="0" baseline="0" noProof="0" dirty="0">
                <a:ln>
                  <a:noFill/>
                </a:ln>
                <a:solidFill>
                  <a:srgbClr val="0F6FC6"/>
                </a:solidFill>
                <a:effectLst/>
                <a:uLnTx/>
                <a:uFillTx/>
                <a:latin typeface="微软雅黑" panose="020B0503020204020204" charset="-122"/>
                <a:ea typeface="微软雅黑" panose="020B0503020204020204" charset="-122"/>
                <a:sym typeface="+mn-ea"/>
              </a:endParaRPr>
            </a:p>
          </p:txBody>
        </p:sp>
      </p:grpSp>
      <p:grpSp>
        <p:nvGrpSpPr>
          <p:cNvPr id="572" name="组合 571"/>
          <p:cNvGrpSpPr/>
          <p:nvPr/>
        </p:nvGrpSpPr>
        <p:grpSpPr>
          <a:xfrm>
            <a:off x="3820795" y="1758696"/>
            <a:ext cx="279400" cy="276860"/>
            <a:chOff x="12834" y="301"/>
            <a:chExt cx="440" cy="436"/>
          </a:xfrm>
        </p:grpSpPr>
        <p:sp>
          <p:nvSpPr>
            <p:cNvPr id="573" name="椭圆 572"/>
            <p:cNvSpPr/>
            <p:nvPr>
              <p:custDataLst>
                <p:tags r:id="rId47"/>
              </p:custDataLst>
            </p:nvPr>
          </p:nvSpPr>
          <p:spPr>
            <a:xfrm>
              <a:off x="12878" y="343"/>
              <a:ext cx="352" cy="352"/>
            </a:xfrm>
            <a:prstGeom prst="ellipse">
              <a:avLst/>
            </a:prstGeom>
            <a:solidFill>
              <a:schemeClr val="accent1">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574" name="文本框 573"/>
            <p:cNvSpPr txBox="1"/>
            <p:nvPr>
              <p:custDataLst>
                <p:tags r:id="rId48"/>
              </p:custDataLst>
            </p:nvPr>
          </p:nvSpPr>
          <p:spPr>
            <a:xfrm>
              <a:off x="12834" y="301"/>
              <a:ext cx="440" cy="436"/>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rPr>
                <a:t>3</a:t>
              </a:r>
              <a:endParaRPr kumimoji="0" lang="en-US" altLang="zh-CN" sz="12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grpSp>
      <p:grpSp>
        <p:nvGrpSpPr>
          <p:cNvPr id="575" name="组合 574"/>
          <p:cNvGrpSpPr/>
          <p:nvPr/>
        </p:nvGrpSpPr>
        <p:grpSpPr>
          <a:xfrm>
            <a:off x="5355369" y="1767965"/>
            <a:ext cx="279400" cy="276860"/>
            <a:chOff x="12834" y="301"/>
            <a:chExt cx="440" cy="436"/>
          </a:xfrm>
        </p:grpSpPr>
        <p:sp>
          <p:nvSpPr>
            <p:cNvPr id="576" name="椭圆 575"/>
            <p:cNvSpPr/>
            <p:nvPr>
              <p:custDataLst>
                <p:tags r:id="rId49"/>
              </p:custDataLst>
            </p:nvPr>
          </p:nvSpPr>
          <p:spPr>
            <a:xfrm>
              <a:off x="12878" y="343"/>
              <a:ext cx="352" cy="352"/>
            </a:xfrm>
            <a:prstGeom prst="ellipse">
              <a:avLst/>
            </a:prstGeom>
            <a:solidFill>
              <a:schemeClr val="accent1">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577" name="文本框 576"/>
            <p:cNvSpPr txBox="1"/>
            <p:nvPr>
              <p:custDataLst>
                <p:tags r:id="rId50"/>
              </p:custDataLst>
            </p:nvPr>
          </p:nvSpPr>
          <p:spPr>
            <a:xfrm>
              <a:off x="12834" y="301"/>
              <a:ext cx="440" cy="436"/>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rPr>
                <a:t>6</a:t>
              </a:r>
              <a:endParaRPr kumimoji="0" lang="en-US" altLang="zh-CN" sz="12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grpSp>
      <p:grpSp>
        <p:nvGrpSpPr>
          <p:cNvPr id="578" name="组合 577"/>
          <p:cNvGrpSpPr/>
          <p:nvPr/>
        </p:nvGrpSpPr>
        <p:grpSpPr>
          <a:xfrm>
            <a:off x="8393684" y="1785556"/>
            <a:ext cx="279400" cy="276860"/>
            <a:chOff x="12834" y="301"/>
            <a:chExt cx="440" cy="436"/>
          </a:xfrm>
        </p:grpSpPr>
        <p:sp>
          <p:nvSpPr>
            <p:cNvPr id="579" name="椭圆 578"/>
            <p:cNvSpPr/>
            <p:nvPr>
              <p:custDataLst>
                <p:tags r:id="rId51"/>
              </p:custDataLst>
            </p:nvPr>
          </p:nvSpPr>
          <p:spPr>
            <a:xfrm>
              <a:off x="12878" y="343"/>
              <a:ext cx="352" cy="352"/>
            </a:xfrm>
            <a:prstGeom prst="ellipse">
              <a:avLst/>
            </a:prstGeom>
            <a:solidFill>
              <a:schemeClr val="accent1">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580" name="文本框 579"/>
            <p:cNvSpPr txBox="1"/>
            <p:nvPr>
              <p:custDataLst>
                <p:tags r:id="rId52"/>
              </p:custDataLst>
            </p:nvPr>
          </p:nvSpPr>
          <p:spPr>
            <a:xfrm>
              <a:off x="12834" y="301"/>
              <a:ext cx="440" cy="436"/>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rPr>
                <a:t>7</a:t>
              </a:r>
              <a:endParaRPr kumimoji="0" lang="en-US" altLang="zh-CN" sz="12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grpSp>
      <p:grpSp>
        <p:nvGrpSpPr>
          <p:cNvPr id="581" name="组合 580"/>
          <p:cNvGrpSpPr/>
          <p:nvPr/>
        </p:nvGrpSpPr>
        <p:grpSpPr>
          <a:xfrm>
            <a:off x="5347123" y="5341832"/>
            <a:ext cx="279400" cy="276860"/>
            <a:chOff x="12834" y="301"/>
            <a:chExt cx="440" cy="436"/>
          </a:xfrm>
        </p:grpSpPr>
        <p:sp>
          <p:nvSpPr>
            <p:cNvPr id="582" name="椭圆 581"/>
            <p:cNvSpPr/>
            <p:nvPr>
              <p:custDataLst>
                <p:tags r:id="rId53"/>
              </p:custDataLst>
            </p:nvPr>
          </p:nvSpPr>
          <p:spPr>
            <a:xfrm>
              <a:off x="12878" y="343"/>
              <a:ext cx="352" cy="352"/>
            </a:xfrm>
            <a:prstGeom prst="ellipse">
              <a:avLst/>
            </a:prstGeom>
            <a:solidFill>
              <a:schemeClr val="accent1">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583" name="文本框 582"/>
            <p:cNvSpPr txBox="1"/>
            <p:nvPr>
              <p:custDataLst>
                <p:tags r:id="rId54"/>
              </p:custDataLst>
            </p:nvPr>
          </p:nvSpPr>
          <p:spPr>
            <a:xfrm>
              <a:off x="12834" y="301"/>
              <a:ext cx="440" cy="436"/>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rPr>
                <a:t>4</a:t>
              </a:r>
              <a:endParaRPr kumimoji="0" lang="en-US" altLang="zh-CN" sz="12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grpSp>
      <p:grpSp>
        <p:nvGrpSpPr>
          <p:cNvPr id="584" name="组合 583"/>
          <p:cNvGrpSpPr/>
          <p:nvPr/>
        </p:nvGrpSpPr>
        <p:grpSpPr>
          <a:xfrm>
            <a:off x="5346083" y="4954143"/>
            <a:ext cx="279400" cy="276860"/>
            <a:chOff x="12834" y="301"/>
            <a:chExt cx="440" cy="436"/>
          </a:xfrm>
        </p:grpSpPr>
        <p:sp>
          <p:nvSpPr>
            <p:cNvPr id="585" name="椭圆 584"/>
            <p:cNvSpPr/>
            <p:nvPr>
              <p:custDataLst>
                <p:tags r:id="rId55"/>
              </p:custDataLst>
            </p:nvPr>
          </p:nvSpPr>
          <p:spPr>
            <a:xfrm>
              <a:off x="12878" y="343"/>
              <a:ext cx="352" cy="352"/>
            </a:xfrm>
            <a:prstGeom prst="ellipse">
              <a:avLst/>
            </a:prstGeom>
            <a:solidFill>
              <a:schemeClr val="accent1">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586" name="文本框 585"/>
            <p:cNvSpPr txBox="1"/>
            <p:nvPr>
              <p:custDataLst>
                <p:tags r:id="rId56"/>
              </p:custDataLst>
            </p:nvPr>
          </p:nvSpPr>
          <p:spPr>
            <a:xfrm>
              <a:off x="12834" y="301"/>
              <a:ext cx="440" cy="436"/>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rPr>
                <a:t>5</a:t>
              </a:r>
              <a:endParaRPr kumimoji="0" lang="en-US" altLang="zh-CN" sz="12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grpSp>
      <p:sp>
        <p:nvSpPr>
          <p:cNvPr id="588" name="矩形 587"/>
          <p:cNvSpPr/>
          <p:nvPr>
            <p:custDataLst>
              <p:tags r:id="rId57"/>
            </p:custDataLst>
          </p:nvPr>
        </p:nvSpPr>
        <p:spPr>
          <a:xfrm>
            <a:off x="10212348" y="859210"/>
            <a:ext cx="1799590" cy="4983999"/>
          </a:xfrm>
          <a:prstGeom prst="rect">
            <a:avLst/>
          </a:prstGeom>
          <a:noFill/>
          <a:ln w="12700" cap="flat" cmpd="sng" algn="ctr">
            <a:solidFill>
              <a:srgbClr val="0DE1EB"/>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589" name="矩形 588"/>
          <p:cNvSpPr/>
          <p:nvPr>
            <p:custDataLst>
              <p:tags r:id="rId58"/>
            </p:custDataLst>
          </p:nvPr>
        </p:nvSpPr>
        <p:spPr>
          <a:xfrm>
            <a:off x="10365383" y="1588826"/>
            <a:ext cx="1493520" cy="2374900"/>
          </a:xfrm>
          <a:prstGeom prst="rect">
            <a:avLst/>
          </a:prstGeom>
          <a:gradFill>
            <a:gsLst>
              <a:gs pos="0">
                <a:srgbClr val="FFFFFF"/>
              </a:gs>
              <a:gs pos="100000">
                <a:srgbClr val="FFFFFF"/>
              </a:gs>
              <a:gs pos="46000">
                <a:srgbClr val="009DD9">
                  <a:lumMod val="4000"/>
                  <a:lumOff val="96000"/>
                </a:srgbClr>
              </a:gs>
            </a:gsLst>
            <a:path path="circle">
              <a:fillToRect r="100000" b="100000"/>
            </a:path>
          </a:gradFill>
          <a:ln w="11430" cap="flat" cmpd="sng" algn="ctr">
            <a:solidFill>
              <a:srgbClr val="FFFFFF">
                <a:lumMod val="75000"/>
              </a:srgbClr>
            </a:solidFill>
            <a:prstDash val="dash"/>
            <a:miter lim="800000"/>
          </a:ln>
          <a:effectLst/>
        </p:spPr>
        <p:txBody>
          <a:bodyPr wrap="square" rtlCol="0" anchor="ctr">
            <a:noAutofit/>
          </a:bodyPr>
          <a:lstStyle/>
          <a:p>
            <a:pPr algn="ctr"/>
            <a:endParaRPr lang="zh-CN" altLang="en-US" kern="0">
              <a:solidFill>
                <a:srgbClr val="FFFFFF"/>
              </a:solidFill>
              <a:latin typeface="微软雅黑" panose="020B0503020204020204" charset="-122"/>
              <a:ea typeface="微软雅黑" panose="020B0503020204020204" charset="-122"/>
            </a:endParaRPr>
          </a:p>
        </p:txBody>
      </p:sp>
      <p:sp>
        <p:nvSpPr>
          <p:cNvPr id="590" name="文本框 589"/>
          <p:cNvSpPr txBox="1"/>
          <p:nvPr>
            <p:custDataLst>
              <p:tags r:id="rId59"/>
            </p:custDataLst>
          </p:nvPr>
        </p:nvSpPr>
        <p:spPr>
          <a:xfrm>
            <a:off x="10564773" y="1571612"/>
            <a:ext cx="1097280" cy="276999"/>
          </a:xfrm>
          <a:prstGeom prst="rect">
            <a:avLst/>
          </a:prstGeom>
          <a:noFill/>
          <a:ln>
            <a:noFill/>
          </a:ln>
        </p:spPr>
        <p:txBody>
          <a:bodyPr wrap="square" rtlCol="0" anchor="ctr" anchorCtr="0">
            <a:sp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a:defRPr/>
            </a:pPr>
            <a:r>
              <a:rPr lang="zh-CN" altLang="en-US" sz="1200" b="1" kern="0" dirty="0">
                <a:latin typeface="微软雅黑" panose="020B0503020204020204" charset="-122"/>
                <a:ea typeface="微软雅黑" panose="020B0503020204020204" charset="-122"/>
                <a:sym typeface="+mn-ea"/>
              </a:rPr>
              <a:t>大数据系统</a:t>
            </a:r>
            <a:endParaRPr lang="zh-CN" altLang="en-US" sz="1200" b="1" kern="0" dirty="0">
              <a:latin typeface="微软雅黑" panose="020B0503020204020204" charset="-122"/>
              <a:ea typeface="微软雅黑" panose="020B0503020204020204" charset="-122"/>
              <a:sym typeface="+mn-ea"/>
            </a:endParaRPr>
          </a:p>
        </p:txBody>
      </p:sp>
      <p:sp>
        <p:nvSpPr>
          <p:cNvPr id="591" name="文本框 590"/>
          <p:cNvSpPr txBox="1"/>
          <p:nvPr>
            <p:custDataLst>
              <p:tags r:id="rId60"/>
            </p:custDataLst>
          </p:nvPr>
        </p:nvSpPr>
        <p:spPr>
          <a:xfrm>
            <a:off x="10551636" y="2006529"/>
            <a:ext cx="1096645" cy="246221"/>
          </a:xfrm>
          <a:prstGeom prst="rect">
            <a:avLst/>
          </a:prstGeom>
          <a:solidFill>
            <a:srgbClr val="CCE5FF"/>
          </a:solidFill>
          <a:ln>
            <a:noFill/>
          </a:ln>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200" b="0" i="0" u="none" strike="noStrike" kern="0" cap="none" spc="0" normalizeH="0" baseline="0">
                <a:ln>
                  <a:noFill/>
                </a:ln>
                <a:solidFill>
                  <a:prstClr val="black"/>
                </a:solidFill>
                <a:effectLst/>
                <a:uLnTx/>
                <a:uFillTx/>
                <a:latin typeface="微软雅黑" panose="020B0503020204020204" charset="-122"/>
                <a:ea typeface="微软雅黑" panose="020B0503020204020204" charset="-122"/>
                <a:cs typeface="+mn-ea"/>
              </a:defRPr>
            </a:lvl1pPr>
          </a:lstStyle>
          <a:p>
            <a:r>
              <a:rPr lang="zh-CN" altLang="en-US" dirty="0">
                <a:sym typeface="+mn-ea"/>
              </a:rPr>
              <a:t>可视化展示</a:t>
            </a:r>
            <a:endParaRPr lang="zh-CN" altLang="en-US" dirty="0">
              <a:sym typeface="+mn-ea"/>
            </a:endParaRPr>
          </a:p>
        </p:txBody>
      </p:sp>
      <p:sp>
        <p:nvSpPr>
          <p:cNvPr id="593" name="矩形 592"/>
          <p:cNvSpPr/>
          <p:nvPr>
            <p:custDataLst>
              <p:tags r:id="rId61"/>
            </p:custDataLst>
          </p:nvPr>
        </p:nvSpPr>
        <p:spPr>
          <a:xfrm>
            <a:off x="10366018" y="4104061"/>
            <a:ext cx="1493520" cy="1908810"/>
          </a:xfrm>
          <a:prstGeom prst="rect">
            <a:avLst/>
          </a:prstGeom>
          <a:gradFill>
            <a:gsLst>
              <a:gs pos="0">
                <a:srgbClr val="FFFFFF"/>
              </a:gs>
              <a:gs pos="100000">
                <a:srgbClr val="FFFFFF"/>
              </a:gs>
              <a:gs pos="46000">
                <a:srgbClr val="009DD9">
                  <a:lumMod val="4000"/>
                  <a:lumOff val="96000"/>
                </a:srgbClr>
              </a:gs>
            </a:gsLst>
            <a:path path="circle">
              <a:fillToRect r="100000" b="100000"/>
            </a:path>
          </a:gradFill>
          <a:ln w="11430" cap="flat" cmpd="sng" algn="ctr">
            <a:solidFill>
              <a:srgbClr val="FFFFFF">
                <a:lumMod val="75000"/>
              </a:srgbClr>
            </a:solidFill>
            <a:prstDash val="dash"/>
            <a:miter lim="800000"/>
          </a:ln>
          <a:effectLst/>
        </p:spPr>
        <p:txBody>
          <a:bodyPr wrap="square" rtlCol="0" anchor="ctr">
            <a:noAutofit/>
          </a:bodyPr>
          <a:lstStyle/>
          <a:p>
            <a:pPr algn="ctr"/>
            <a:endParaRPr lang="zh-CN" altLang="en-US" kern="0">
              <a:solidFill>
                <a:srgbClr val="FFFFFF"/>
              </a:solidFill>
              <a:latin typeface="微软雅黑" panose="020B0503020204020204" charset="-122"/>
              <a:ea typeface="微软雅黑" panose="020B0503020204020204" charset="-122"/>
            </a:endParaRPr>
          </a:p>
        </p:txBody>
      </p:sp>
      <p:sp>
        <p:nvSpPr>
          <p:cNvPr id="594" name="文本框 593"/>
          <p:cNvSpPr txBox="1"/>
          <p:nvPr>
            <p:custDataLst>
              <p:tags r:id="rId62"/>
            </p:custDataLst>
          </p:nvPr>
        </p:nvSpPr>
        <p:spPr>
          <a:xfrm>
            <a:off x="10564138" y="4121206"/>
            <a:ext cx="1097280" cy="276999"/>
          </a:xfrm>
          <a:prstGeom prst="rect">
            <a:avLst/>
          </a:prstGeom>
          <a:noFill/>
          <a:ln>
            <a:noFill/>
          </a:ln>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a:defRPr/>
            </a:pPr>
            <a:r>
              <a:rPr lang="zh-CN" altLang="en-US" sz="1200" b="1" kern="0">
                <a:latin typeface="微软雅黑" panose="020B0503020204020204" charset="-122"/>
                <a:ea typeface="微软雅黑" panose="020B0503020204020204" charset="-122"/>
                <a:sym typeface="+mn-ea"/>
              </a:rPr>
              <a:t>交易系统</a:t>
            </a:r>
            <a:endParaRPr lang="zh-CN" altLang="en-US" sz="1200" b="1" kern="0" dirty="0">
              <a:latin typeface="微软雅黑" panose="020B0503020204020204" charset="-122"/>
              <a:ea typeface="微软雅黑" panose="020B0503020204020204" charset="-122"/>
              <a:sym typeface="+mn-ea"/>
            </a:endParaRPr>
          </a:p>
        </p:txBody>
      </p:sp>
      <p:sp>
        <p:nvSpPr>
          <p:cNvPr id="595" name="文本框 594"/>
          <p:cNvSpPr txBox="1"/>
          <p:nvPr>
            <p:custDataLst>
              <p:tags r:id="rId63"/>
            </p:custDataLst>
          </p:nvPr>
        </p:nvSpPr>
        <p:spPr>
          <a:xfrm>
            <a:off x="10551636" y="2462360"/>
            <a:ext cx="1097280" cy="275590"/>
          </a:xfrm>
          <a:prstGeom prst="rect">
            <a:avLst/>
          </a:prstGeom>
          <a:solidFill>
            <a:srgbClr val="CCE5FF"/>
          </a:solidFill>
          <a:ln>
            <a:noFill/>
          </a:ln>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a:defRPr/>
            </a:pPr>
            <a:r>
              <a:rPr lang="zh-CN" altLang="en-US" sz="1200" kern="0" dirty="0">
                <a:solidFill>
                  <a:prstClr val="black"/>
                </a:solidFill>
                <a:latin typeface="微软雅黑" panose="020B0503020204020204" charset="-122"/>
                <a:ea typeface="微软雅黑" panose="020B0503020204020204" charset="-122"/>
                <a:sym typeface="+mn-ea"/>
              </a:rPr>
              <a:t>围串标分析</a:t>
            </a:r>
            <a:endParaRPr lang="zh-CN" altLang="en-US" sz="1200" kern="0" dirty="0">
              <a:solidFill>
                <a:prstClr val="black"/>
              </a:solidFill>
              <a:latin typeface="微软雅黑" panose="020B0503020204020204" charset="-122"/>
              <a:ea typeface="微软雅黑" panose="020B0503020204020204" charset="-122"/>
              <a:sym typeface="+mn-ea"/>
            </a:endParaRPr>
          </a:p>
        </p:txBody>
      </p:sp>
      <p:sp>
        <p:nvSpPr>
          <p:cNvPr id="596" name="文本框 595"/>
          <p:cNvSpPr txBox="1"/>
          <p:nvPr>
            <p:custDataLst>
              <p:tags r:id="rId64"/>
            </p:custDataLst>
          </p:nvPr>
        </p:nvSpPr>
        <p:spPr>
          <a:xfrm>
            <a:off x="10551636" y="3456134"/>
            <a:ext cx="1097280" cy="275590"/>
          </a:xfrm>
          <a:prstGeom prst="rect">
            <a:avLst/>
          </a:prstGeom>
          <a:solidFill>
            <a:srgbClr val="CCE5FF"/>
          </a:solidFill>
          <a:ln>
            <a:noFill/>
          </a:ln>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a:defRPr/>
            </a:pPr>
            <a:r>
              <a:rPr lang="zh-CN" altLang="en-US" sz="1200" kern="0" dirty="0">
                <a:solidFill>
                  <a:prstClr val="black"/>
                </a:solidFill>
                <a:latin typeface="微软雅黑" panose="020B0503020204020204" charset="-122"/>
                <a:ea typeface="微软雅黑" panose="020B0503020204020204" charset="-122"/>
                <a:sym typeface="+mn-ea"/>
              </a:rPr>
              <a:t>辅助决策</a:t>
            </a:r>
            <a:endParaRPr lang="zh-CN" altLang="en-US" sz="1200" kern="0" dirty="0">
              <a:solidFill>
                <a:prstClr val="black"/>
              </a:solidFill>
              <a:latin typeface="微软雅黑" panose="020B0503020204020204" charset="-122"/>
              <a:ea typeface="微软雅黑" panose="020B0503020204020204" charset="-122"/>
              <a:sym typeface="+mn-ea"/>
            </a:endParaRPr>
          </a:p>
        </p:txBody>
      </p:sp>
      <p:sp>
        <p:nvSpPr>
          <p:cNvPr id="598" name="文本框 597"/>
          <p:cNvSpPr txBox="1"/>
          <p:nvPr>
            <p:custDataLst>
              <p:tags r:id="rId65"/>
            </p:custDataLst>
          </p:nvPr>
        </p:nvSpPr>
        <p:spPr>
          <a:xfrm>
            <a:off x="10551636" y="4456745"/>
            <a:ext cx="1097280" cy="275590"/>
          </a:xfrm>
          <a:prstGeom prst="rect">
            <a:avLst/>
          </a:prstGeom>
          <a:solidFill>
            <a:srgbClr val="CCE5FF"/>
          </a:solidFill>
          <a:ln>
            <a:noFill/>
          </a:ln>
        </p:spPr>
        <p:txBody>
          <a:bodyPr wrap="square" rtlCol="0" anchor="ctr" anchorCtr="0">
            <a:sp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a:defRPr/>
            </a:pPr>
            <a:r>
              <a:rPr lang="zh-CN" altLang="en-US" sz="1200" kern="0" dirty="0">
                <a:solidFill>
                  <a:prstClr val="black"/>
                </a:solidFill>
                <a:latin typeface="微软雅黑" panose="020B0503020204020204" charset="-122"/>
                <a:ea typeface="微软雅黑" panose="020B0503020204020204" charset="-122"/>
                <a:sym typeface="+mn-ea"/>
              </a:rPr>
              <a:t>数据报表</a:t>
            </a:r>
            <a:endParaRPr lang="zh-CN" altLang="en-US" sz="1200" kern="0" dirty="0">
              <a:solidFill>
                <a:prstClr val="black"/>
              </a:solidFill>
              <a:latin typeface="微软雅黑" panose="020B0503020204020204" charset="-122"/>
              <a:ea typeface="微软雅黑" panose="020B0503020204020204" charset="-122"/>
              <a:sym typeface="+mn-ea"/>
            </a:endParaRPr>
          </a:p>
        </p:txBody>
      </p:sp>
      <p:sp>
        <p:nvSpPr>
          <p:cNvPr id="599" name="文本框 598"/>
          <p:cNvSpPr txBox="1"/>
          <p:nvPr>
            <p:custDataLst>
              <p:tags r:id="rId66"/>
            </p:custDataLst>
          </p:nvPr>
        </p:nvSpPr>
        <p:spPr>
          <a:xfrm>
            <a:off x="10551636" y="2968486"/>
            <a:ext cx="1097280" cy="275590"/>
          </a:xfrm>
          <a:prstGeom prst="rect">
            <a:avLst/>
          </a:prstGeom>
          <a:solidFill>
            <a:srgbClr val="CCE5FF"/>
          </a:solidFill>
          <a:ln>
            <a:noFill/>
          </a:ln>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a:defRPr/>
            </a:pPr>
            <a:r>
              <a:rPr lang="zh-CN" altLang="en-US" sz="1200" kern="0" dirty="0">
                <a:solidFill>
                  <a:prstClr val="black"/>
                </a:solidFill>
                <a:latin typeface="微软雅黑" panose="020B0503020204020204" charset="-122"/>
                <a:ea typeface="微软雅黑" panose="020B0503020204020204" charset="-122"/>
                <a:sym typeface="+mn-ea"/>
              </a:rPr>
              <a:t>营商环境优化</a:t>
            </a:r>
            <a:endParaRPr lang="zh-CN" altLang="en-US" sz="1200" kern="0" dirty="0">
              <a:solidFill>
                <a:prstClr val="black"/>
              </a:solidFill>
              <a:latin typeface="微软雅黑" panose="020B0503020204020204" charset="-122"/>
              <a:ea typeface="微软雅黑" panose="020B0503020204020204" charset="-122"/>
              <a:sym typeface="+mn-ea"/>
            </a:endParaRPr>
          </a:p>
        </p:txBody>
      </p:sp>
      <p:grpSp>
        <p:nvGrpSpPr>
          <p:cNvPr id="603" name="组合 602"/>
          <p:cNvGrpSpPr/>
          <p:nvPr/>
        </p:nvGrpSpPr>
        <p:grpSpPr>
          <a:xfrm>
            <a:off x="10212348" y="858960"/>
            <a:ext cx="1799590" cy="388937"/>
            <a:chOff x="1878013" y="1800225"/>
            <a:chExt cx="1074737" cy="388937"/>
          </a:xfrm>
        </p:grpSpPr>
        <p:sp>
          <p:nvSpPr>
            <p:cNvPr id="604" name="矩形 603"/>
            <p:cNvSpPr/>
            <p:nvPr/>
          </p:nvSpPr>
          <p:spPr>
            <a:xfrm>
              <a:off x="1878013" y="1800225"/>
              <a:ext cx="1074737" cy="388937"/>
            </a:xfrm>
            <a:prstGeom prst="rect">
              <a:avLst/>
            </a:prstGeom>
            <a:gradFill flip="none" rotWithShape="1">
              <a:gsLst>
                <a:gs pos="62000">
                  <a:srgbClr val="0DE0EA"/>
                </a:gs>
                <a:gs pos="0">
                  <a:srgbClr val="0DE5EF">
                    <a:alpha val="0"/>
                    <a:lumMod val="80000"/>
                    <a:lumOff val="20000"/>
                  </a:srgbClr>
                </a:gs>
              </a:gsLst>
              <a:path path="circle">
                <a:fillToRect l="100000" t="100000"/>
              </a:path>
              <a:tileRect r="-100000" b="-100000"/>
            </a:gradFill>
            <a:ln w="38100" cap="flat" cmpd="sng" algn="ctr">
              <a:noFill/>
              <a:prstDash val="solid"/>
              <a:miter lim="800000"/>
            </a:ln>
            <a:effectLst>
              <a:outerShdw blurRad="411480" dist="123444" dir="5400000" sx="108000" sy="108000" algn="ctr" rotWithShape="0">
                <a:srgbClr val="0F6FC6">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p:nvSpPr>
            <p:cNvPr id="605" name="文本框 604"/>
            <p:cNvSpPr txBox="1"/>
            <p:nvPr/>
          </p:nvSpPr>
          <p:spPr>
            <a:xfrm>
              <a:off x="1881304" y="1856998"/>
              <a:ext cx="800219"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     数据消费</a:t>
              </a:r>
              <a:endParaRPr kumimoji="0" lang="zh-CN" altLang="en-US" sz="12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grpSp>
      <p:grpSp>
        <p:nvGrpSpPr>
          <p:cNvPr id="608" name="组合 607"/>
          <p:cNvGrpSpPr/>
          <p:nvPr/>
        </p:nvGrpSpPr>
        <p:grpSpPr>
          <a:xfrm>
            <a:off x="10225683" y="915339"/>
            <a:ext cx="279400" cy="276860"/>
            <a:chOff x="12834" y="306"/>
            <a:chExt cx="440" cy="436"/>
          </a:xfrm>
        </p:grpSpPr>
        <p:sp>
          <p:nvSpPr>
            <p:cNvPr id="609" name="椭圆 608"/>
            <p:cNvSpPr/>
            <p:nvPr>
              <p:custDataLst>
                <p:tags r:id="rId67"/>
              </p:custDataLst>
            </p:nvPr>
          </p:nvSpPr>
          <p:spPr>
            <a:xfrm>
              <a:off x="12878" y="343"/>
              <a:ext cx="352" cy="352"/>
            </a:xfrm>
            <a:prstGeom prst="ellipse">
              <a:avLst/>
            </a:prstGeom>
            <a:solidFill>
              <a:srgbClr val="ABECD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610" name="文本框 609"/>
            <p:cNvSpPr txBox="1"/>
            <p:nvPr>
              <p:custDataLst>
                <p:tags r:id="rId68"/>
              </p:custDataLst>
            </p:nvPr>
          </p:nvSpPr>
          <p:spPr>
            <a:xfrm>
              <a:off x="12834" y="306"/>
              <a:ext cx="440" cy="436"/>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rPr>
                <a:t>8</a:t>
              </a:r>
              <a:endParaRPr kumimoji="0" lang="en-US" altLang="zh-CN" sz="12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grpSp>
      <p:grpSp>
        <p:nvGrpSpPr>
          <p:cNvPr id="633" name="组合 632"/>
          <p:cNvGrpSpPr/>
          <p:nvPr/>
        </p:nvGrpSpPr>
        <p:grpSpPr>
          <a:xfrm>
            <a:off x="9926799" y="1868869"/>
            <a:ext cx="352602" cy="3400835"/>
            <a:chOff x="10163969" y="2196084"/>
            <a:chExt cx="352602" cy="3400835"/>
          </a:xfrm>
        </p:grpSpPr>
        <p:sp>
          <p:nvSpPr>
            <p:cNvPr id="634" name="Rounded Rectangle 5"/>
            <p:cNvSpPr/>
            <p:nvPr/>
          </p:nvSpPr>
          <p:spPr>
            <a:xfrm rot="2700000">
              <a:off x="10374093" y="2245192"/>
              <a:ext cx="142414" cy="44197"/>
            </a:xfrm>
            <a:prstGeom prst="roundRect">
              <a:avLst>
                <a:gd name="adj" fmla="val 50000"/>
              </a:avLst>
            </a:prstGeom>
            <a:gradFill flip="none" rotWithShape="1">
              <a:gsLst>
                <a:gs pos="0">
                  <a:srgbClr val="0BD0D9"/>
                </a:gs>
                <a:gs pos="100000">
                  <a:srgbClr val="0BD0D9">
                    <a:lumMod val="90000"/>
                    <a:lumOff val="10000"/>
                  </a:srgbClr>
                </a:gs>
              </a:gsLst>
              <a:path path="circle">
                <a:fillToRect t="100000" r="100000"/>
              </a:path>
              <a:tileRect l="-100000" b="-100000"/>
            </a:gradFill>
            <a:ln w="38100" cap="flat" cmpd="sng" algn="ctr">
              <a:noFill/>
              <a:prstDash val="solid"/>
              <a:miter lim="800000"/>
            </a:ln>
            <a:effectLst>
              <a:outerShdw blurRad="254000" dist="50800" dir="5400000" sx="108000" sy="108000" algn="ctr" rotWithShape="0">
                <a:srgbClr val="0BD0D9">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p:nvSpPr>
            <p:cNvPr id="635" name="Rounded Rectangle 6"/>
            <p:cNvSpPr/>
            <p:nvPr/>
          </p:nvSpPr>
          <p:spPr>
            <a:xfrm rot="8100000">
              <a:off x="10374595" y="2314222"/>
              <a:ext cx="141976" cy="44197"/>
            </a:xfrm>
            <a:prstGeom prst="roundRect">
              <a:avLst>
                <a:gd name="adj" fmla="val 50000"/>
              </a:avLst>
            </a:prstGeom>
            <a:gradFill flip="none" rotWithShape="1">
              <a:gsLst>
                <a:gs pos="0">
                  <a:srgbClr val="0BD0D9"/>
                </a:gs>
                <a:gs pos="100000">
                  <a:srgbClr val="0BD0D9">
                    <a:lumMod val="90000"/>
                    <a:lumOff val="10000"/>
                  </a:srgbClr>
                </a:gs>
              </a:gsLst>
              <a:path path="circle">
                <a:fillToRect t="100000" r="100000"/>
              </a:path>
              <a:tileRect l="-100000" b="-100000"/>
            </a:gradFill>
            <a:ln w="38100" cap="flat" cmpd="sng" algn="ctr">
              <a:noFill/>
              <a:prstDash val="solid"/>
              <a:miter lim="800000"/>
            </a:ln>
            <a:effectLst>
              <a:outerShdw blurRad="254000" dist="50800" dir="5400000" sx="108000" sy="108000" algn="ctr" rotWithShape="0">
                <a:srgbClr val="0BD0D9">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p:nvSpPr>
            <p:cNvPr id="636" name="Rounded Rectangle 7"/>
            <p:cNvSpPr/>
            <p:nvPr/>
          </p:nvSpPr>
          <p:spPr>
            <a:xfrm>
              <a:off x="10163969" y="2279699"/>
              <a:ext cx="338212" cy="44197"/>
            </a:xfrm>
            <a:prstGeom prst="roundRect">
              <a:avLst>
                <a:gd name="adj" fmla="val 50000"/>
              </a:avLst>
            </a:prstGeom>
            <a:gradFill flip="none" rotWithShape="1">
              <a:gsLst>
                <a:gs pos="0">
                  <a:srgbClr val="0BD0D9"/>
                </a:gs>
                <a:gs pos="100000">
                  <a:srgbClr val="0BD0D9">
                    <a:lumMod val="90000"/>
                    <a:lumOff val="10000"/>
                  </a:srgbClr>
                </a:gs>
              </a:gsLst>
              <a:path path="circle">
                <a:fillToRect t="100000" r="100000"/>
              </a:path>
              <a:tileRect l="-100000" b="-100000"/>
            </a:gradFill>
            <a:ln w="38100" cap="flat" cmpd="sng" algn="ctr">
              <a:noFill/>
              <a:prstDash val="solid"/>
              <a:miter lim="800000"/>
            </a:ln>
            <a:effectLst>
              <a:outerShdw blurRad="254000" dist="50800" dir="5400000" sx="108000" sy="108000" algn="ctr" rotWithShape="0">
                <a:srgbClr val="0BD0D9">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945" b="0" i="0" u="none" strike="noStrike" kern="0" cap="none" spc="0" normalizeH="0" baseline="0" noProof="0" dirty="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useBgFill="1">
          <p:nvSpPr>
            <p:cNvPr id="637" name="Oval 11"/>
            <p:cNvSpPr/>
            <p:nvPr/>
          </p:nvSpPr>
          <p:spPr>
            <a:xfrm>
              <a:off x="10459541" y="2281523"/>
              <a:ext cx="40229" cy="40551"/>
            </a:xfrm>
            <a:prstGeom prst="ellipse">
              <a:avLst/>
            </a:prstGeom>
            <a:gradFill flip="none" rotWithShape="1">
              <a:gsLst>
                <a:gs pos="0">
                  <a:srgbClr val="0BD0D9"/>
                </a:gs>
                <a:gs pos="100000">
                  <a:srgbClr val="0BD0D9">
                    <a:lumMod val="90000"/>
                    <a:lumOff val="10000"/>
                  </a:srgbClr>
                </a:gs>
              </a:gsLst>
              <a:path path="circle">
                <a:fillToRect t="100000" r="100000"/>
              </a:path>
              <a:tileRect l="-100000" b="-100000"/>
            </a:gradFill>
            <a:ln w="38100" cap="flat" cmpd="sng" algn="ctr">
              <a:noFill/>
              <a:prstDash val="solid"/>
              <a:miter lim="800000"/>
            </a:ln>
            <a:effectLst>
              <a:outerShdw blurRad="254000" dist="50800" dir="5400000" sx="108000" sy="108000" algn="ctr" rotWithShape="0">
                <a:srgbClr val="0BD0D9">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945" b="0" i="0" u="none" strike="noStrike" kern="0" cap="none" spc="0" normalizeH="0" baseline="0" noProof="0" dirty="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p:nvSpPr>
            <p:cNvPr id="638" name="Rounded Rectangle 5"/>
            <p:cNvSpPr/>
            <p:nvPr/>
          </p:nvSpPr>
          <p:spPr>
            <a:xfrm rot="2700000">
              <a:off x="10374093" y="3007192"/>
              <a:ext cx="142414" cy="44197"/>
            </a:xfrm>
            <a:prstGeom prst="roundRect">
              <a:avLst>
                <a:gd name="adj" fmla="val 50000"/>
              </a:avLst>
            </a:prstGeom>
            <a:gradFill flip="none" rotWithShape="1">
              <a:gsLst>
                <a:gs pos="0">
                  <a:srgbClr val="0BD0D9"/>
                </a:gs>
                <a:gs pos="100000">
                  <a:srgbClr val="0BD0D9">
                    <a:lumMod val="90000"/>
                    <a:lumOff val="10000"/>
                  </a:srgbClr>
                </a:gs>
              </a:gsLst>
              <a:path path="circle">
                <a:fillToRect t="100000" r="100000"/>
              </a:path>
              <a:tileRect l="-100000" b="-100000"/>
            </a:gradFill>
            <a:ln w="38100" cap="flat" cmpd="sng" algn="ctr">
              <a:noFill/>
              <a:prstDash val="solid"/>
              <a:miter lim="800000"/>
            </a:ln>
            <a:effectLst>
              <a:outerShdw blurRad="254000" dist="50800" dir="5400000" sx="108000" sy="108000" algn="ctr" rotWithShape="0">
                <a:srgbClr val="0BD0D9">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p:nvSpPr>
            <p:cNvPr id="639" name="Rounded Rectangle 6"/>
            <p:cNvSpPr/>
            <p:nvPr/>
          </p:nvSpPr>
          <p:spPr>
            <a:xfrm rot="8100000">
              <a:off x="10374595" y="3076222"/>
              <a:ext cx="141976" cy="44197"/>
            </a:xfrm>
            <a:prstGeom prst="roundRect">
              <a:avLst>
                <a:gd name="adj" fmla="val 50000"/>
              </a:avLst>
            </a:prstGeom>
            <a:gradFill flip="none" rotWithShape="1">
              <a:gsLst>
                <a:gs pos="0">
                  <a:srgbClr val="0BD0D9"/>
                </a:gs>
                <a:gs pos="100000">
                  <a:srgbClr val="0BD0D9">
                    <a:lumMod val="90000"/>
                    <a:lumOff val="10000"/>
                  </a:srgbClr>
                </a:gs>
              </a:gsLst>
              <a:path path="circle">
                <a:fillToRect t="100000" r="100000"/>
              </a:path>
              <a:tileRect l="-100000" b="-100000"/>
            </a:gradFill>
            <a:ln w="38100" cap="flat" cmpd="sng" algn="ctr">
              <a:noFill/>
              <a:prstDash val="solid"/>
              <a:miter lim="800000"/>
            </a:ln>
            <a:effectLst>
              <a:outerShdw blurRad="254000" dist="50800" dir="5400000" sx="108000" sy="108000" algn="ctr" rotWithShape="0">
                <a:srgbClr val="0BD0D9">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p:nvSpPr>
            <p:cNvPr id="640" name="Rounded Rectangle 7"/>
            <p:cNvSpPr/>
            <p:nvPr/>
          </p:nvSpPr>
          <p:spPr>
            <a:xfrm>
              <a:off x="10163969" y="3041699"/>
              <a:ext cx="338212" cy="44197"/>
            </a:xfrm>
            <a:prstGeom prst="roundRect">
              <a:avLst>
                <a:gd name="adj" fmla="val 50000"/>
              </a:avLst>
            </a:prstGeom>
            <a:gradFill flip="none" rotWithShape="1">
              <a:gsLst>
                <a:gs pos="0">
                  <a:srgbClr val="0BD0D9"/>
                </a:gs>
                <a:gs pos="100000">
                  <a:srgbClr val="0BD0D9">
                    <a:lumMod val="90000"/>
                    <a:lumOff val="10000"/>
                  </a:srgbClr>
                </a:gs>
              </a:gsLst>
              <a:path path="circle">
                <a:fillToRect t="100000" r="100000"/>
              </a:path>
              <a:tileRect l="-100000" b="-100000"/>
            </a:gradFill>
            <a:ln w="38100" cap="flat" cmpd="sng" algn="ctr">
              <a:noFill/>
              <a:prstDash val="solid"/>
              <a:miter lim="800000"/>
            </a:ln>
            <a:effectLst>
              <a:outerShdw blurRad="254000" dist="50800" dir="5400000" sx="108000" sy="108000" algn="ctr" rotWithShape="0">
                <a:srgbClr val="0BD0D9">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945" b="0" i="0" u="none" strike="noStrike" kern="0" cap="none" spc="0" normalizeH="0" baseline="0" noProof="0" dirty="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useBgFill="1">
          <p:nvSpPr>
            <p:cNvPr id="641" name="Oval 11"/>
            <p:cNvSpPr/>
            <p:nvPr/>
          </p:nvSpPr>
          <p:spPr>
            <a:xfrm>
              <a:off x="10459541" y="3043523"/>
              <a:ext cx="40229" cy="40551"/>
            </a:xfrm>
            <a:prstGeom prst="ellipse">
              <a:avLst/>
            </a:prstGeom>
            <a:gradFill flip="none" rotWithShape="1">
              <a:gsLst>
                <a:gs pos="0">
                  <a:srgbClr val="0BD0D9"/>
                </a:gs>
                <a:gs pos="100000">
                  <a:srgbClr val="0BD0D9">
                    <a:lumMod val="90000"/>
                    <a:lumOff val="10000"/>
                  </a:srgbClr>
                </a:gs>
              </a:gsLst>
              <a:path path="circle">
                <a:fillToRect t="100000" r="100000"/>
              </a:path>
              <a:tileRect l="-100000" b="-100000"/>
            </a:gradFill>
            <a:ln w="38100" cap="flat" cmpd="sng" algn="ctr">
              <a:noFill/>
              <a:prstDash val="solid"/>
              <a:miter lim="800000"/>
            </a:ln>
            <a:effectLst>
              <a:outerShdw blurRad="254000" dist="50800" dir="5400000" sx="108000" sy="108000" algn="ctr" rotWithShape="0">
                <a:srgbClr val="0BD0D9">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945" b="0" i="0" u="none" strike="noStrike" kern="0" cap="none" spc="0" normalizeH="0" baseline="0" noProof="0" dirty="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p:nvSpPr>
            <p:cNvPr id="642" name="Rounded Rectangle 5"/>
            <p:cNvSpPr/>
            <p:nvPr/>
          </p:nvSpPr>
          <p:spPr>
            <a:xfrm rot="2700000">
              <a:off x="10374093" y="3819992"/>
              <a:ext cx="142414" cy="44197"/>
            </a:xfrm>
            <a:prstGeom prst="roundRect">
              <a:avLst>
                <a:gd name="adj" fmla="val 50000"/>
              </a:avLst>
            </a:prstGeom>
            <a:gradFill flip="none" rotWithShape="1">
              <a:gsLst>
                <a:gs pos="0">
                  <a:srgbClr val="0BD0D9"/>
                </a:gs>
                <a:gs pos="100000">
                  <a:srgbClr val="0BD0D9">
                    <a:lumMod val="90000"/>
                    <a:lumOff val="10000"/>
                  </a:srgbClr>
                </a:gs>
              </a:gsLst>
              <a:path path="circle">
                <a:fillToRect t="100000" r="100000"/>
              </a:path>
              <a:tileRect l="-100000" b="-100000"/>
            </a:gradFill>
            <a:ln w="38100" cap="flat" cmpd="sng" algn="ctr">
              <a:noFill/>
              <a:prstDash val="solid"/>
              <a:miter lim="800000"/>
            </a:ln>
            <a:effectLst>
              <a:outerShdw blurRad="254000" dist="50800" dir="5400000" sx="108000" sy="108000" algn="ctr" rotWithShape="0">
                <a:srgbClr val="0BD0D9">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p:nvSpPr>
            <p:cNvPr id="643" name="Rounded Rectangle 6"/>
            <p:cNvSpPr/>
            <p:nvPr/>
          </p:nvSpPr>
          <p:spPr>
            <a:xfrm rot="8100000">
              <a:off x="10374595" y="3889022"/>
              <a:ext cx="141976" cy="44197"/>
            </a:xfrm>
            <a:prstGeom prst="roundRect">
              <a:avLst>
                <a:gd name="adj" fmla="val 50000"/>
              </a:avLst>
            </a:prstGeom>
            <a:gradFill flip="none" rotWithShape="1">
              <a:gsLst>
                <a:gs pos="0">
                  <a:srgbClr val="0BD0D9"/>
                </a:gs>
                <a:gs pos="100000">
                  <a:srgbClr val="0BD0D9">
                    <a:lumMod val="90000"/>
                    <a:lumOff val="10000"/>
                  </a:srgbClr>
                </a:gs>
              </a:gsLst>
              <a:path path="circle">
                <a:fillToRect t="100000" r="100000"/>
              </a:path>
              <a:tileRect l="-100000" b="-100000"/>
            </a:gradFill>
            <a:ln w="38100" cap="flat" cmpd="sng" algn="ctr">
              <a:noFill/>
              <a:prstDash val="solid"/>
              <a:miter lim="800000"/>
            </a:ln>
            <a:effectLst>
              <a:outerShdw blurRad="254000" dist="50800" dir="5400000" sx="108000" sy="108000" algn="ctr" rotWithShape="0">
                <a:srgbClr val="0BD0D9">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p:nvSpPr>
            <p:cNvPr id="644" name="Rounded Rectangle 7"/>
            <p:cNvSpPr/>
            <p:nvPr/>
          </p:nvSpPr>
          <p:spPr>
            <a:xfrm>
              <a:off x="10163969" y="3854499"/>
              <a:ext cx="338212" cy="44197"/>
            </a:xfrm>
            <a:prstGeom prst="roundRect">
              <a:avLst>
                <a:gd name="adj" fmla="val 50000"/>
              </a:avLst>
            </a:prstGeom>
            <a:gradFill flip="none" rotWithShape="1">
              <a:gsLst>
                <a:gs pos="0">
                  <a:srgbClr val="0BD0D9"/>
                </a:gs>
                <a:gs pos="100000">
                  <a:srgbClr val="0BD0D9">
                    <a:lumMod val="90000"/>
                    <a:lumOff val="10000"/>
                  </a:srgbClr>
                </a:gs>
              </a:gsLst>
              <a:path path="circle">
                <a:fillToRect t="100000" r="100000"/>
              </a:path>
              <a:tileRect l="-100000" b="-100000"/>
            </a:gradFill>
            <a:ln w="38100" cap="flat" cmpd="sng" algn="ctr">
              <a:noFill/>
              <a:prstDash val="solid"/>
              <a:miter lim="800000"/>
            </a:ln>
            <a:effectLst>
              <a:outerShdw blurRad="254000" dist="50800" dir="5400000" sx="108000" sy="108000" algn="ctr" rotWithShape="0">
                <a:srgbClr val="0BD0D9">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945" b="0" i="0" u="none" strike="noStrike" kern="0" cap="none" spc="0" normalizeH="0" baseline="0" noProof="0" dirty="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useBgFill="1">
          <p:nvSpPr>
            <p:cNvPr id="645" name="Oval 11"/>
            <p:cNvSpPr/>
            <p:nvPr/>
          </p:nvSpPr>
          <p:spPr>
            <a:xfrm>
              <a:off x="10459541" y="3856323"/>
              <a:ext cx="40229" cy="40551"/>
            </a:xfrm>
            <a:prstGeom prst="ellipse">
              <a:avLst/>
            </a:prstGeom>
            <a:gradFill flip="none" rotWithShape="1">
              <a:gsLst>
                <a:gs pos="0">
                  <a:srgbClr val="0BD0D9"/>
                </a:gs>
                <a:gs pos="100000">
                  <a:srgbClr val="0BD0D9">
                    <a:lumMod val="90000"/>
                    <a:lumOff val="10000"/>
                  </a:srgbClr>
                </a:gs>
              </a:gsLst>
              <a:path path="circle">
                <a:fillToRect t="100000" r="100000"/>
              </a:path>
              <a:tileRect l="-100000" b="-100000"/>
            </a:gradFill>
            <a:ln w="38100" cap="flat" cmpd="sng" algn="ctr">
              <a:noFill/>
              <a:prstDash val="solid"/>
              <a:miter lim="800000"/>
            </a:ln>
            <a:effectLst>
              <a:outerShdw blurRad="254000" dist="50800" dir="5400000" sx="108000" sy="108000" algn="ctr" rotWithShape="0">
                <a:srgbClr val="0BD0D9">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945" b="0" i="0" u="none" strike="noStrike" kern="0" cap="none" spc="0" normalizeH="0" baseline="0" noProof="0" dirty="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p:nvSpPr>
            <p:cNvPr id="646" name="Rounded Rectangle 5"/>
            <p:cNvSpPr/>
            <p:nvPr/>
          </p:nvSpPr>
          <p:spPr>
            <a:xfrm rot="2700000">
              <a:off x="10374093" y="4683592"/>
              <a:ext cx="142414" cy="44197"/>
            </a:xfrm>
            <a:prstGeom prst="roundRect">
              <a:avLst>
                <a:gd name="adj" fmla="val 50000"/>
              </a:avLst>
            </a:prstGeom>
            <a:gradFill flip="none" rotWithShape="1">
              <a:gsLst>
                <a:gs pos="0">
                  <a:srgbClr val="0BD0D9"/>
                </a:gs>
                <a:gs pos="100000">
                  <a:srgbClr val="0BD0D9">
                    <a:lumMod val="90000"/>
                    <a:lumOff val="10000"/>
                  </a:srgbClr>
                </a:gs>
              </a:gsLst>
              <a:path path="circle">
                <a:fillToRect t="100000" r="100000"/>
              </a:path>
              <a:tileRect l="-100000" b="-100000"/>
            </a:gradFill>
            <a:ln w="38100" cap="flat" cmpd="sng" algn="ctr">
              <a:noFill/>
              <a:prstDash val="solid"/>
              <a:miter lim="800000"/>
            </a:ln>
            <a:effectLst>
              <a:outerShdw blurRad="254000" dist="50800" dir="5400000" sx="108000" sy="108000" algn="ctr" rotWithShape="0">
                <a:srgbClr val="0BD0D9">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p:nvSpPr>
            <p:cNvPr id="647" name="Rounded Rectangle 6"/>
            <p:cNvSpPr/>
            <p:nvPr/>
          </p:nvSpPr>
          <p:spPr>
            <a:xfrm rot="8100000">
              <a:off x="10374595" y="4752622"/>
              <a:ext cx="141976" cy="44197"/>
            </a:xfrm>
            <a:prstGeom prst="roundRect">
              <a:avLst>
                <a:gd name="adj" fmla="val 50000"/>
              </a:avLst>
            </a:prstGeom>
            <a:gradFill flip="none" rotWithShape="1">
              <a:gsLst>
                <a:gs pos="0">
                  <a:srgbClr val="0BD0D9"/>
                </a:gs>
                <a:gs pos="100000">
                  <a:srgbClr val="0BD0D9">
                    <a:lumMod val="90000"/>
                    <a:lumOff val="10000"/>
                  </a:srgbClr>
                </a:gs>
              </a:gsLst>
              <a:path path="circle">
                <a:fillToRect t="100000" r="100000"/>
              </a:path>
              <a:tileRect l="-100000" b="-100000"/>
            </a:gradFill>
            <a:ln w="38100" cap="flat" cmpd="sng" algn="ctr">
              <a:noFill/>
              <a:prstDash val="solid"/>
              <a:miter lim="800000"/>
            </a:ln>
            <a:effectLst>
              <a:outerShdw blurRad="254000" dist="50800" dir="5400000" sx="108000" sy="108000" algn="ctr" rotWithShape="0">
                <a:srgbClr val="0BD0D9">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p:nvSpPr>
            <p:cNvPr id="648" name="Rounded Rectangle 7"/>
            <p:cNvSpPr/>
            <p:nvPr/>
          </p:nvSpPr>
          <p:spPr>
            <a:xfrm>
              <a:off x="10163969" y="4718099"/>
              <a:ext cx="338212" cy="44197"/>
            </a:xfrm>
            <a:prstGeom prst="roundRect">
              <a:avLst>
                <a:gd name="adj" fmla="val 50000"/>
              </a:avLst>
            </a:prstGeom>
            <a:gradFill flip="none" rotWithShape="1">
              <a:gsLst>
                <a:gs pos="0">
                  <a:srgbClr val="0BD0D9"/>
                </a:gs>
                <a:gs pos="100000">
                  <a:srgbClr val="0BD0D9">
                    <a:lumMod val="90000"/>
                    <a:lumOff val="10000"/>
                  </a:srgbClr>
                </a:gs>
              </a:gsLst>
              <a:path path="circle">
                <a:fillToRect t="100000" r="100000"/>
              </a:path>
              <a:tileRect l="-100000" b="-100000"/>
            </a:gradFill>
            <a:ln w="38100" cap="flat" cmpd="sng" algn="ctr">
              <a:noFill/>
              <a:prstDash val="solid"/>
              <a:miter lim="800000"/>
            </a:ln>
            <a:effectLst>
              <a:outerShdw blurRad="254000" dist="50800" dir="5400000" sx="108000" sy="108000" algn="ctr" rotWithShape="0">
                <a:srgbClr val="0BD0D9">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945" b="0" i="0" u="none" strike="noStrike" kern="0" cap="none" spc="0" normalizeH="0" baseline="0" noProof="0" dirty="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useBgFill="1">
          <p:nvSpPr>
            <p:cNvPr id="649" name="Oval 11"/>
            <p:cNvSpPr/>
            <p:nvPr/>
          </p:nvSpPr>
          <p:spPr>
            <a:xfrm>
              <a:off x="10459541" y="4719923"/>
              <a:ext cx="40229" cy="40551"/>
            </a:xfrm>
            <a:prstGeom prst="ellipse">
              <a:avLst/>
            </a:prstGeom>
            <a:gradFill flip="none" rotWithShape="1">
              <a:gsLst>
                <a:gs pos="0">
                  <a:srgbClr val="0BD0D9"/>
                </a:gs>
                <a:gs pos="100000">
                  <a:srgbClr val="0BD0D9">
                    <a:lumMod val="90000"/>
                    <a:lumOff val="10000"/>
                  </a:srgbClr>
                </a:gs>
              </a:gsLst>
              <a:path path="circle">
                <a:fillToRect t="100000" r="100000"/>
              </a:path>
              <a:tileRect l="-100000" b="-100000"/>
            </a:gradFill>
            <a:ln w="38100" cap="flat" cmpd="sng" algn="ctr">
              <a:noFill/>
              <a:prstDash val="solid"/>
              <a:miter lim="800000"/>
            </a:ln>
            <a:effectLst>
              <a:outerShdw blurRad="254000" dist="50800" dir="5400000" sx="108000" sy="108000" algn="ctr" rotWithShape="0">
                <a:srgbClr val="0BD0D9">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945" b="0" i="0" u="none" strike="noStrike" kern="0" cap="none" spc="0" normalizeH="0" baseline="0" noProof="0" dirty="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p:nvSpPr>
            <p:cNvPr id="650" name="Rounded Rectangle 5"/>
            <p:cNvSpPr/>
            <p:nvPr/>
          </p:nvSpPr>
          <p:spPr>
            <a:xfrm rot="2700000">
              <a:off x="10374093" y="5483692"/>
              <a:ext cx="142414" cy="44197"/>
            </a:xfrm>
            <a:prstGeom prst="roundRect">
              <a:avLst>
                <a:gd name="adj" fmla="val 50000"/>
              </a:avLst>
            </a:prstGeom>
            <a:gradFill flip="none" rotWithShape="1">
              <a:gsLst>
                <a:gs pos="0">
                  <a:srgbClr val="0BD0D9"/>
                </a:gs>
                <a:gs pos="100000">
                  <a:srgbClr val="0BD0D9">
                    <a:lumMod val="90000"/>
                    <a:lumOff val="10000"/>
                  </a:srgbClr>
                </a:gs>
              </a:gsLst>
              <a:path path="circle">
                <a:fillToRect t="100000" r="100000"/>
              </a:path>
              <a:tileRect l="-100000" b="-100000"/>
            </a:gradFill>
            <a:ln w="38100" cap="flat" cmpd="sng" algn="ctr">
              <a:noFill/>
              <a:prstDash val="solid"/>
              <a:miter lim="800000"/>
            </a:ln>
            <a:effectLst>
              <a:outerShdw blurRad="254000" dist="50800" dir="5400000" sx="108000" sy="108000" algn="ctr" rotWithShape="0">
                <a:srgbClr val="0BD0D9">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p:nvSpPr>
            <p:cNvPr id="651" name="Rounded Rectangle 6"/>
            <p:cNvSpPr/>
            <p:nvPr/>
          </p:nvSpPr>
          <p:spPr>
            <a:xfrm rot="8100000">
              <a:off x="10374595" y="5552722"/>
              <a:ext cx="141976" cy="44197"/>
            </a:xfrm>
            <a:prstGeom prst="roundRect">
              <a:avLst>
                <a:gd name="adj" fmla="val 50000"/>
              </a:avLst>
            </a:prstGeom>
            <a:gradFill flip="none" rotWithShape="1">
              <a:gsLst>
                <a:gs pos="0">
                  <a:srgbClr val="0BD0D9"/>
                </a:gs>
                <a:gs pos="100000">
                  <a:srgbClr val="0BD0D9">
                    <a:lumMod val="90000"/>
                    <a:lumOff val="10000"/>
                  </a:srgbClr>
                </a:gs>
              </a:gsLst>
              <a:path path="circle">
                <a:fillToRect t="100000" r="100000"/>
              </a:path>
              <a:tileRect l="-100000" b="-100000"/>
            </a:gradFill>
            <a:ln w="38100" cap="flat" cmpd="sng" algn="ctr">
              <a:noFill/>
              <a:prstDash val="solid"/>
              <a:miter lim="800000"/>
            </a:ln>
            <a:effectLst>
              <a:outerShdw blurRad="254000" dist="50800" dir="5400000" sx="108000" sy="108000" algn="ctr" rotWithShape="0">
                <a:srgbClr val="0BD0D9">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p:nvSpPr>
            <p:cNvPr id="652" name="Rounded Rectangle 7"/>
            <p:cNvSpPr/>
            <p:nvPr/>
          </p:nvSpPr>
          <p:spPr>
            <a:xfrm>
              <a:off x="10163969" y="5518199"/>
              <a:ext cx="338212" cy="44197"/>
            </a:xfrm>
            <a:prstGeom prst="roundRect">
              <a:avLst>
                <a:gd name="adj" fmla="val 50000"/>
              </a:avLst>
            </a:prstGeom>
            <a:gradFill flip="none" rotWithShape="1">
              <a:gsLst>
                <a:gs pos="0">
                  <a:srgbClr val="0BD0D9"/>
                </a:gs>
                <a:gs pos="100000">
                  <a:srgbClr val="0BD0D9">
                    <a:lumMod val="90000"/>
                    <a:lumOff val="10000"/>
                  </a:srgbClr>
                </a:gs>
              </a:gsLst>
              <a:path path="circle">
                <a:fillToRect t="100000" r="100000"/>
              </a:path>
              <a:tileRect l="-100000" b="-100000"/>
            </a:gradFill>
            <a:ln w="38100" cap="flat" cmpd="sng" algn="ctr">
              <a:noFill/>
              <a:prstDash val="solid"/>
              <a:miter lim="800000"/>
            </a:ln>
            <a:effectLst>
              <a:outerShdw blurRad="254000" dist="50800" dir="5400000" sx="108000" sy="108000" algn="ctr" rotWithShape="0">
                <a:srgbClr val="0BD0D9">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945" b="0" i="0" u="none" strike="noStrike" kern="0" cap="none" spc="0" normalizeH="0" baseline="0" noProof="0" dirty="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sp useBgFill="1">
          <p:nvSpPr>
            <p:cNvPr id="653" name="Oval 11"/>
            <p:cNvSpPr/>
            <p:nvPr/>
          </p:nvSpPr>
          <p:spPr>
            <a:xfrm>
              <a:off x="10459541" y="5520023"/>
              <a:ext cx="40229" cy="40551"/>
            </a:xfrm>
            <a:prstGeom prst="ellipse">
              <a:avLst/>
            </a:prstGeom>
            <a:gradFill flip="none" rotWithShape="1">
              <a:gsLst>
                <a:gs pos="0">
                  <a:srgbClr val="0BD0D9"/>
                </a:gs>
                <a:gs pos="100000">
                  <a:srgbClr val="0BD0D9">
                    <a:lumMod val="90000"/>
                    <a:lumOff val="10000"/>
                  </a:srgbClr>
                </a:gs>
              </a:gsLst>
              <a:path path="circle">
                <a:fillToRect t="100000" r="100000"/>
              </a:path>
              <a:tileRect l="-100000" b="-100000"/>
            </a:gradFill>
            <a:ln w="38100" cap="flat" cmpd="sng" algn="ctr">
              <a:noFill/>
              <a:prstDash val="solid"/>
              <a:miter lim="800000"/>
            </a:ln>
            <a:effectLst>
              <a:outerShdw blurRad="254000" dist="50800" dir="5400000" sx="108000" sy="108000" algn="ctr" rotWithShape="0">
                <a:srgbClr val="0BD0D9">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945" b="0" i="0" u="none" strike="noStrike" kern="0" cap="none" spc="0" normalizeH="0" baseline="0" noProof="0" dirty="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endParaRPr>
            </a:p>
          </p:txBody>
        </p:sp>
      </p:grpSp>
      <p:sp>
        <p:nvSpPr>
          <p:cNvPr id="654" name="文本框 653"/>
          <p:cNvSpPr txBox="1"/>
          <p:nvPr/>
        </p:nvSpPr>
        <p:spPr>
          <a:xfrm>
            <a:off x="9837961" y="3240105"/>
            <a:ext cx="453970" cy="253916"/>
          </a:xfrm>
          <a:prstGeom prst="rect">
            <a:avLst/>
          </a:prstGeom>
          <a:noFill/>
        </p:spPr>
        <p:txBody>
          <a:bodyPr wrap="none" rtlCol="0">
            <a:spAutoFit/>
          </a:bodyPr>
          <a:lstStyle/>
          <a:p>
            <a:pPr algn="ctr"/>
            <a:r>
              <a:rPr lang="zh-CN" altLang="en-US" sz="1050" b="1" dirty="0">
                <a:solidFill>
                  <a:srgbClr val="0BD0D9"/>
                </a:solidFill>
                <a:latin typeface="微软雅黑" panose="020B0503020204020204" charset="-122"/>
                <a:ea typeface="微软雅黑" panose="020B0503020204020204" charset="-122"/>
              </a:rPr>
              <a:t>支撑</a:t>
            </a:r>
            <a:endParaRPr lang="zh-CN" altLang="en-US" sz="1050" b="1" dirty="0">
              <a:solidFill>
                <a:srgbClr val="0BD0D9"/>
              </a:solidFill>
              <a:latin typeface="微软雅黑" panose="020B0503020204020204" charset="-122"/>
              <a:ea typeface="微软雅黑" panose="020B0503020204020204" charset="-122"/>
            </a:endParaRPr>
          </a:p>
        </p:txBody>
      </p:sp>
      <p:grpSp>
        <p:nvGrpSpPr>
          <p:cNvPr id="655" name="组合 654"/>
          <p:cNvGrpSpPr/>
          <p:nvPr/>
        </p:nvGrpSpPr>
        <p:grpSpPr>
          <a:xfrm>
            <a:off x="5041709" y="2462360"/>
            <a:ext cx="646331" cy="313737"/>
            <a:chOff x="8256421" y="1902973"/>
            <a:chExt cx="646331" cy="313737"/>
          </a:xfrm>
        </p:grpSpPr>
        <p:grpSp>
          <p:nvGrpSpPr>
            <p:cNvPr id="656" name="组合 655"/>
            <p:cNvGrpSpPr/>
            <p:nvPr/>
          </p:nvGrpSpPr>
          <p:grpSpPr>
            <a:xfrm>
              <a:off x="8457993" y="2124571"/>
              <a:ext cx="223237" cy="92139"/>
              <a:chOff x="11186710" y="2497496"/>
              <a:chExt cx="223237" cy="92139"/>
            </a:xfrm>
          </p:grpSpPr>
          <p:sp>
            <p:nvSpPr>
              <p:cNvPr id="658" name="任意多边形: 形状 657"/>
              <p:cNvSpPr/>
              <p:nvPr/>
            </p:nvSpPr>
            <p:spPr>
              <a:xfrm rot="16200000">
                <a:off x="11328320" y="2507980"/>
                <a:ext cx="92111"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659" name="任意多边形: 形状 658"/>
              <p:cNvSpPr/>
              <p:nvPr/>
            </p:nvSpPr>
            <p:spPr>
              <a:xfrm rot="16200000">
                <a:off x="11252272" y="2507992"/>
                <a:ext cx="92111"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660" name="任意多边形: 形状 659"/>
              <p:cNvSpPr/>
              <p:nvPr/>
            </p:nvSpPr>
            <p:spPr>
              <a:xfrm rot="16200000">
                <a:off x="11176226" y="2508007"/>
                <a:ext cx="92112"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grpSp>
        <p:sp>
          <p:nvSpPr>
            <p:cNvPr id="657" name="文本框 656"/>
            <p:cNvSpPr txBox="1"/>
            <p:nvPr/>
          </p:nvSpPr>
          <p:spPr>
            <a:xfrm>
              <a:off x="8256421" y="1902973"/>
              <a:ext cx="646331" cy="230832"/>
            </a:xfrm>
            <a:prstGeom prst="rect">
              <a:avLst/>
            </a:prstGeom>
            <a:noFill/>
            <a:effectLst/>
          </p:spPr>
          <p:txBody>
            <a:bodyPr wrap="none" rtlCol="0">
              <a:spAutoFit/>
            </a:bodyPr>
            <a:lstStyle/>
            <a:p>
              <a:pPr algn="ctr"/>
              <a:r>
                <a:rPr lang="zh-CN" altLang="en-US" sz="900" dirty="0">
                  <a:solidFill>
                    <a:srgbClr val="4472C4"/>
                  </a:solidFill>
                  <a:latin typeface="微软雅黑" panose="020B0503020204020204" charset="-122"/>
                  <a:ea typeface="微软雅黑" panose="020B0503020204020204" charset="-122"/>
                </a:rPr>
                <a:t>数据融合</a:t>
              </a:r>
              <a:endParaRPr lang="en-US" altLang="zh-CN" sz="900" dirty="0">
                <a:solidFill>
                  <a:srgbClr val="4472C4"/>
                </a:solidFill>
                <a:latin typeface="微软雅黑" panose="020B0503020204020204" charset="-122"/>
                <a:ea typeface="微软雅黑" panose="020B0503020204020204" charset="-122"/>
              </a:endParaRPr>
            </a:p>
          </p:txBody>
        </p:sp>
      </p:grpSp>
      <p:grpSp>
        <p:nvGrpSpPr>
          <p:cNvPr id="661" name="组合 660"/>
          <p:cNvGrpSpPr/>
          <p:nvPr/>
        </p:nvGrpSpPr>
        <p:grpSpPr>
          <a:xfrm>
            <a:off x="5033192" y="3968174"/>
            <a:ext cx="646331" cy="313737"/>
            <a:chOff x="8256421" y="1902973"/>
            <a:chExt cx="646331" cy="313737"/>
          </a:xfrm>
        </p:grpSpPr>
        <p:grpSp>
          <p:nvGrpSpPr>
            <p:cNvPr id="662" name="组合 661"/>
            <p:cNvGrpSpPr/>
            <p:nvPr/>
          </p:nvGrpSpPr>
          <p:grpSpPr>
            <a:xfrm>
              <a:off x="8457993" y="2124571"/>
              <a:ext cx="223237" cy="92139"/>
              <a:chOff x="11186710" y="2497496"/>
              <a:chExt cx="223237" cy="92139"/>
            </a:xfrm>
          </p:grpSpPr>
          <p:sp>
            <p:nvSpPr>
              <p:cNvPr id="664" name="任意多边形: 形状 663"/>
              <p:cNvSpPr/>
              <p:nvPr/>
            </p:nvSpPr>
            <p:spPr>
              <a:xfrm rot="16200000">
                <a:off x="11328320" y="2507980"/>
                <a:ext cx="92111"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665" name="任意多边形: 形状 664"/>
              <p:cNvSpPr/>
              <p:nvPr/>
            </p:nvSpPr>
            <p:spPr>
              <a:xfrm rot="16200000">
                <a:off x="11252272" y="2507992"/>
                <a:ext cx="92111"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sp>
            <p:nvSpPr>
              <p:cNvPr id="666" name="任意多边形: 形状 665"/>
              <p:cNvSpPr/>
              <p:nvPr/>
            </p:nvSpPr>
            <p:spPr>
              <a:xfrm rot="16200000">
                <a:off x="11176226" y="2508007"/>
                <a:ext cx="92112" cy="71143"/>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微软雅黑" panose="020B0503020204020204" charset="-122"/>
                  <a:ea typeface="微软雅黑" panose="020B0503020204020204" charset="-122"/>
                </a:endParaRPr>
              </a:p>
            </p:txBody>
          </p:sp>
        </p:grpSp>
        <p:sp>
          <p:nvSpPr>
            <p:cNvPr id="663" name="文本框 662"/>
            <p:cNvSpPr txBox="1"/>
            <p:nvPr/>
          </p:nvSpPr>
          <p:spPr>
            <a:xfrm>
              <a:off x="8256421" y="1902973"/>
              <a:ext cx="646331" cy="230832"/>
            </a:xfrm>
            <a:prstGeom prst="rect">
              <a:avLst/>
            </a:prstGeom>
            <a:noFill/>
            <a:effectLst/>
          </p:spPr>
          <p:txBody>
            <a:bodyPr wrap="none" rtlCol="0">
              <a:spAutoFit/>
            </a:bodyPr>
            <a:lstStyle/>
            <a:p>
              <a:pPr algn="ctr"/>
              <a:r>
                <a:rPr lang="zh-CN" altLang="en-US" sz="900" dirty="0">
                  <a:solidFill>
                    <a:srgbClr val="4472C4"/>
                  </a:solidFill>
                  <a:latin typeface="微软雅黑" panose="020B0503020204020204" charset="-122"/>
                  <a:ea typeface="微软雅黑" panose="020B0503020204020204" charset="-122"/>
                </a:rPr>
                <a:t>数据融合</a:t>
              </a:r>
              <a:endParaRPr lang="en-US" altLang="zh-CN" sz="900" dirty="0">
                <a:solidFill>
                  <a:srgbClr val="4472C4"/>
                </a:solidFill>
                <a:latin typeface="微软雅黑" panose="020B0503020204020204" charset="-122"/>
                <a:ea typeface="微软雅黑" panose="020B0503020204020204" charset="-122"/>
              </a:endParaRPr>
            </a:p>
          </p:txBody>
        </p:sp>
      </p:grpSp>
      <p:sp>
        <p:nvSpPr>
          <p:cNvPr id="2" name="文本框 1"/>
          <p:cNvSpPr txBox="1"/>
          <p:nvPr/>
        </p:nvSpPr>
        <p:spPr>
          <a:xfrm>
            <a:off x="2620593" y="5159075"/>
            <a:ext cx="816901" cy="246221"/>
          </a:xfrm>
          <a:prstGeom prst="rect">
            <a:avLst/>
          </a:prstGeom>
          <a:gradFill flip="none" rotWithShape="1">
            <a:gsLst>
              <a:gs pos="23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a:outerShdw blurRad="411480" dist="123444" dir="5400000" sx="108000" sy="108000" algn="ctr" rotWithShape="0">
              <a:srgbClr val="0F6FC6">
                <a:alpha val="40000"/>
              </a:srgbClr>
            </a:outerShdw>
          </a:effectLst>
        </p:spPr>
        <p:txBody>
          <a:bodyPr lIns="98755" tIns="49378" rIns="98755" bIns="49378" rtlCol="0" anchor="ctr"/>
          <a:lstStyle>
            <a:defPPr>
              <a:defRPr lang="zh-CN"/>
            </a:defPPr>
            <a:lvl1pPr marR="0" lvl="0" indent="0" algn="ctr" fontAlgn="auto">
              <a:lnSpc>
                <a:spcPct val="100000"/>
              </a:lnSpc>
              <a:spcBef>
                <a:spcPts val="0"/>
              </a:spcBef>
              <a:spcAft>
                <a:spcPts val="0"/>
              </a:spcAft>
              <a:buClrTx/>
              <a:buSzTx/>
              <a:buFontTx/>
              <a:buNone/>
              <a:defRPr kumimoji="0" sz="1000" b="0" i="0" u="none" strike="noStrike" kern="0" cap="none" spc="0" normalizeH="0" baseline="0">
                <a:ln>
                  <a:noFill/>
                </a:ln>
                <a:solidFill>
                  <a:srgbClr val="FFFFFF"/>
                </a:solidFill>
                <a:effectLst/>
                <a:uLnTx/>
                <a:uFillTx/>
                <a:latin typeface="微软雅黑" panose="020B0503020204020204" charset="-122"/>
                <a:ea typeface="微软雅黑" panose="020B050302020402020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100" b="1" dirty="0"/>
              <a:t>API</a:t>
            </a:r>
            <a:endParaRPr lang="en-US" altLang="zh-CN" sz="1100" b="1" dirty="0"/>
          </a:p>
        </p:txBody>
      </p:sp>
      <p:sp>
        <p:nvSpPr>
          <p:cNvPr id="3" name="文本框 2"/>
          <p:cNvSpPr txBox="1"/>
          <p:nvPr>
            <p:custDataLst>
              <p:tags r:id="rId69"/>
            </p:custDataLst>
          </p:nvPr>
        </p:nvSpPr>
        <p:spPr>
          <a:xfrm>
            <a:off x="10551636" y="5222808"/>
            <a:ext cx="1097280" cy="276999"/>
          </a:xfrm>
          <a:prstGeom prst="rect">
            <a:avLst/>
          </a:prstGeom>
          <a:solidFill>
            <a:srgbClr val="CCE5FF"/>
          </a:solidFill>
          <a:ln>
            <a:noFill/>
          </a:ln>
        </p:spPr>
        <p:txBody>
          <a:bodyPr wrap="square" rtlCol="0" anchor="ctr" anchorCtr="0">
            <a:sp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a:defRPr/>
            </a:pPr>
            <a:r>
              <a:rPr lang="zh-CN" altLang="en-US" sz="1200" kern="0" dirty="0">
                <a:solidFill>
                  <a:prstClr val="black"/>
                </a:solidFill>
                <a:latin typeface="微软雅黑" panose="020B0503020204020204" charset="-122"/>
                <a:ea typeface="微软雅黑" panose="020B0503020204020204" charset="-122"/>
                <a:sym typeface="+mn-ea"/>
              </a:rPr>
              <a:t>可视化中屏</a:t>
            </a:r>
            <a:endParaRPr lang="zh-CN" altLang="en-US" sz="1200" kern="0" dirty="0">
              <a:solidFill>
                <a:prstClr val="black"/>
              </a:solidFill>
              <a:latin typeface="微软雅黑" panose="020B0503020204020204" charset="-122"/>
              <a:ea typeface="微软雅黑" panose="020B0503020204020204" charset="-122"/>
              <a:sym typeface="+mn-ea"/>
            </a:endParaRPr>
          </a:p>
        </p:txBody>
      </p:sp>
      <p:sp>
        <p:nvSpPr>
          <p:cNvPr id="9" name="文本框 8"/>
          <p:cNvSpPr txBox="1"/>
          <p:nvPr>
            <p:custDataLst>
              <p:tags r:id="rId70"/>
            </p:custDataLst>
          </p:nvPr>
        </p:nvSpPr>
        <p:spPr>
          <a:xfrm>
            <a:off x="10551636" y="5606545"/>
            <a:ext cx="1097280" cy="276999"/>
          </a:xfrm>
          <a:prstGeom prst="rect">
            <a:avLst/>
          </a:prstGeom>
          <a:solidFill>
            <a:srgbClr val="CCE5FF"/>
          </a:solidFill>
          <a:ln>
            <a:noFill/>
          </a:ln>
        </p:spPr>
        <p:txBody>
          <a:bodyPr wrap="square" rtlCol="0" anchor="ctr" anchorCtr="0">
            <a:sp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a:defRPr/>
            </a:pPr>
            <a:r>
              <a:rPr lang="zh-CN" altLang="en-US" sz="1200" kern="0" dirty="0">
                <a:solidFill>
                  <a:prstClr val="black"/>
                </a:solidFill>
                <a:latin typeface="微软雅黑" panose="020B0503020204020204" charset="-122"/>
                <a:ea typeface="微软雅黑" panose="020B0503020204020204" charset="-122"/>
                <a:sym typeface="+mn-ea"/>
              </a:rPr>
              <a:t>可视化小屏</a:t>
            </a:r>
            <a:endParaRPr lang="zh-CN" altLang="en-US" sz="1200" kern="0" dirty="0">
              <a:solidFill>
                <a:prstClr val="black"/>
              </a:solidFill>
              <a:latin typeface="微软雅黑" panose="020B0503020204020204" charset="-122"/>
              <a:ea typeface="微软雅黑" panose="020B0503020204020204" charset="-122"/>
              <a:sym typeface="+mn-ea"/>
            </a:endParaRPr>
          </a:p>
        </p:txBody>
      </p:sp>
      <p:sp>
        <p:nvSpPr>
          <p:cNvPr id="10" name="文本框 9"/>
          <p:cNvSpPr txBox="1"/>
          <p:nvPr>
            <p:custDataLst>
              <p:tags r:id="rId71"/>
            </p:custDataLst>
          </p:nvPr>
        </p:nvSpPr>
        <p:spPr>
          <a:xfrm>
            <a:off x="10551636" y="4839072"/>
            <a:ext cx="1097280" cy="276999"/>
          </a:xfrm>
          <a:prstGeom prst="rect">
            <a:avLst/>
          </a:prstGeom>
          <a:solidFill>
            <a:srgbClr val="CCE5FF"/>
          </a:solidFill>
          <a:ln>
            <a:noFill/>
          </a:ln>
        </p:spPr>
        <p:txBody>
          <a:bodyPr wrap="square" rtlCol="0" anchor="ctr" anchorCtr="0">
            <a:spAutoFit/>
          </a:bodyPr>
          <a:lstStyle>
            <a:defPPr>
              <a:defRPr lang="zh-CN"/>
            </a:defPPr>
            <a:lvl1pPr marR="0" lvl="0" indent="0" algn="ctr" fontAlgn="auto">
              <a:lnSpc>
                <a:spcPct val="100000"/>
              </a:lnSpc>
              <a:spcBef>
                <a:spcPts val="0"/>
              </a:spcBef>
              <a:spcAft>
                <a:spcPts val="0"/>
              </a:spcAft>
              <a:buClrTx/>
              <a:buSzTx/>
              <a:buFontTx/>
              <a:buNone/>
              <a:defRPr kumimoji="0" sz="1050" b="0" i="0" u="none" strike="noStrike" cap="none" spc="0" normalizeH="0" baseline="0">
                <a:ln>
                  <a:noFill/>
                </a:ln>
                <a:solidFill>
                  <a:srgbClr val="000000"/>
                </a:solidFill>
                <a:effectLst/>
                <a:uLnTx/>
                <a:uFillTx/>
                <a:cs typeface="+mn-ea"/>
              </a:defRPr>
            </a:lvl1pPr>
          </a:lstStyle>
          <a:p>
            <a:pPr>
              <a:defRPr/>
            </a:pPr>
            <a:r>
              <a:rPr lang="zh-CN" altLang="en-US" sz="1200" kern="0" dirty="0">
                <a:solidFill>
                  <a:prstClr val="black"/>
                </a:solidFill>
                <a:latin typeface="微软雅黑" panose="020B0503020204020204" charset="-122"/>
                <a:ea typeface="微软雅黑" panose="020B0503020204020204" charset="-122"/>
                <a:sym typeface="+mn-ea"/>
              </a:rPr>
              <a:t>业务专报</a:t>
            </a:r>
            <a:endParaRPr lang="zh-CN" altLang="en-US" sz="1200" kern="0" dirty="0">
              <a:solidFill>
                <a:prstClr val="black"/>
              </a:solidFill>
              <a:latin typeface="微软雅黑" panose="020B0503020204020204" charset="-122"/>
              <a:ea typeface="微软雅黑" panose="020B0503020204020204" charset="-122"/>
              <a:sym typeface="+mn-ea"/>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UNIT_PLACING_PICTURE_USER_VIEWPORT" val="{&quot;height&quot;:260,&quot;width&quot;:265}"/>
</p:tagLst>
</file>

<file path=ppt/tags/tag59.xml><?xml version="1.0" encoding="utf-8"?>
<p:tagLst xmlns:p="http://schemas.openxmlformats.org/presentationml/2006/main">
  <p:tag name="KSO_WM_UNIT_PLACING_PICTURE_USER_VIEWPORT" val="{&quot;height&quot;:251,&quot;width&quot;:251}"/>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ADJUSTMENTS" val="12.57142"/>
</p:tagLst>
</file>

<file path=ppt/tags/tag148.xml><?xml version="1.0" encoding="utf-8"?>
<p:tagLst xmlns:p="http://schemas.openxmlformats.org/presentationml/2006/main">
  <p:tag name="SHADOWSIZE" val="100"/>
</p:tagLst>
</file>

<file path=ppt/tags/tag149.xml><?xml version="1.0" encoding="utf-8"?>
<p:tagLst xmlns:p="http://schemas.openxmlformats.org/presentationml/2006/main">
  <p:tag name="ADJUSTMENTS" val="12.57142"/>
</p:tagLst>
</file>

<file path=ppt/tags/tag150.xml><?xml version="1.0" encoding="utf-8"?>
<p:tagLst xmlns:p="http://schemas.openxmlformats.org/presentationml/2006/main">
  <p:tag name="SHADOWSIZE" val="100"/>
</p:tagLst>
</file>

<file path=ppt/tags/tag151.xml><?xml version="1.0" encoding="utf-8"?>
<p:tagLst xmlns:p="http://schemas.openxmlformats.org/presentationml/2006/main">
  <p:tag name="ADJUSTMENTS" val="12.57142"/>
</p:tagLst>
</file>

<file path=ppt/tags/tag152.xml><?xml version="1.0" encoding="utf-8"?>
<p:tagLst xmlns:p="http://schemas.openxmlformats.org/presentationml/2006/main">
  <p:tag name="SHADOWSIZE" val="100"/>
</p:tagLst>
</file>

<file path=ppt/tags/tag153.xml><?xml version="1.0" encoding="utf-8"?>
<p:tagLst xmlns:p="http://schemas.openxmlformats.org/presentationml/2006/main">
  <p:tag name="ADJUSTMENTS" val="12.57142"/>
</p:tagLst>
</file>

<file path=ppt/tags/tag154.xml><?xml version="1.0" encoding="utf-8"?>
<p:tagLst xmlns:p="http://schemas.openxmlformats.org/presentationml/2006/main">
  <p:tag name="SHADOWSIZE" val="100"/>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COMMONDATA" val="eyJoZGlkIjoiODAzMDg4MjgxN2FhMzVlNWE1YmIzZmU3ZmM1N2Q5YzI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5240</Words>
  <Application>WPS 演示</Application>
  <PresentationFormat>宽屏</PresentationFormat>
  <Paragraphs>1924</Paragraphs>
  <Slides>8</Slides>
  <Notes>8</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8</vt:i4>
      </vt:variant>
    </vt:vector>
  </HeadingPairs>
  <TitlesOfParts>
    <vt:vector size="23" baseType="lpstr">
      <vt:lpstr>Arial</vt:lpstr>
      <vt:lpstr>宋体</vt:lpstr>
      <vt:lpstr>Wingdings</vt:lpstr>
      <vt:lpstr>微软雅黑</vt:lpstr>
      <vt:lpstr>等线</vt:lpstr>
      <vt:lpstr>思源黑体 CN Normal</vt:lpstr>
      <vt:lpstr>黑体</vt:lpstr>
      <vt:lpstr>阿里巴巴普惠体</vt:lpstr>
      <vt:lpstr>Arial</vt:lpstr>
      <vt:lpstr>ENLAQQ+AdobeFangsongStd-Regular,Bold</vt:lpstr>
      <vt:lpstr>Segoe UI Symbol</vt:lpstr>
      <vt:lpstr>BJWQCI+AdobeFanHeitiStd-Bold</vt:lpstr>
      <vt:lpstr>Arial Unicode MS</vt:lpstr>
      <vt:lpstr>Calibri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gyz</dc:creator>
  <cp:lastModifiedBy>陈海勇</cp:lastModifiedBy>
  <cp:revision>127</cp:revision>
  <dcterms:created xsi:type="dcterms:W3CDTF">2023-08-09T12:44:00Z</dcterms:created>
  <dcterms:modified xsi:type="dcterms:W3CDTF">2026-06-04T05:52:36Z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2052-12.1.0.26375</vt:lpwstr>
  </property>
</Properties>
</file>